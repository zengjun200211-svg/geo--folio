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4" r:id="rId21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自有生态引用占比</c:v>
                </c:pt>
              </c:strCache>
            </c:strRef>
          </c:tx>
          <c:spPr>
            <a:solidFill>
              <a:srgbClr val="E8B8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rgbClr val="1F1F1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豆包 (字节)</c:v>
                </c:pt>
                <c:pt idx="1">
                  <c:v>文心一言 (百度)</c:v>
                </c:pt>
                <c:pt idx="2">
                  <c:v>混元 (腾讯)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</c:v>
                </c:pt>
                <c:pt idx="1">
                  <c:v>22</c:v>
                </c:pt>
                <c:pt idx="2">
                  <c:v>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1F1F1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6b06d81-9878-494e-86eb-cbda376baae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Y\DoubaoWork\chats\2026-09-15\new-chat-2\work\assets\waterfal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410">
              <a:alpha val="7000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822960" y="5486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GEO Insight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22960" y="41148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Generative Engine Optimization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841248" y="521208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E8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当用户不再搜索关键词，而是直接问 AI——品牌要被看见，就要被 AI 认识、引用、推荐。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41248" y="6035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C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曾俊  ·  GEO 项目助理应聘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GEO Insight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331720" y="457200"/>
            <a:ext cx="27432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51760" y="29260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 / Contents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54864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dirty="0">
                <a:solidFill>
                  <a:srgbClr val="2E2E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Contents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766560" y="228600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E2E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0" y="22402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认知篇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0" y="269748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从「搜链接」到「问 AI」的时代变化，以及 GEO 的本质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66560" y="333756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E2E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0" y="32918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执行篇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98080" y="374904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业务流程、内容工程、平台信源、监测与投放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43891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E2E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0" y="43434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我的理解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98080" y="480060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关键认知与趋势，以及我为什么适合这个岗位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Y\DoubaoWork\chats\2026-09-15\new-chat-2\work\assets\forest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48" y="0"/>
            <a:ext cx="60899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9260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GEO Insight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29260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B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Chapter.01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338328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认知篇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58368" y="44348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E2E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Search to Ask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GEO Insight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331720" y="457200"/>
            <a:ext cx="27432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51760" y="29260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认知篇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用户决策方式变了：从「搜」到「问」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Typing Keywords to Asking an 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52120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1488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过去 · 传统搜索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用户输入关键词，得到一排蓝色链接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0632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自己逐个点击、鉴别真假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5204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自己拼装信息、做决策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9776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繁琐、费时、易被误导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965960"/>
            <a:ext cx="5212080" cy="2834640"/>
          </a:xfrm>
          <a:prstGeom prst="roundRect">
            <a:avLst>
              <a:gd name="adj" fmla="val 3871"/>
            </a:avLst>
          </a:prstGeom>
          <a:solidFill>
            <a:srgbClr val="EFE7D6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21488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现在 · AI 问答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6060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用户用一句话直接提问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0" y="30632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检索、筛选、综合信源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0" y="35204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直接给出答案与推荐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0" y="39776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品牌在答案里被引用、被推荐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12064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2E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60%+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58368" y="58064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消费者把 AI 推荐作为决策依据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51206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2E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-25~30%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4590288" y="58064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传统搜索访问量下滑幅度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59436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数据来源：公开行业报告综合，2025–2026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GEO Insight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331720" y="457200"/>
            <a:ext cx="27432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51760" y="29260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认知篇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GEO 是什么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Generative Engine Optimization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让品牌在 AI 回答里，被认识、被引用、被推荐——不是给 SEO 换个名字，而是围绕 AI 生成答案的机制，建设品牌的知识资产。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87552" y="2953512"/>
            <a:ext cx="585216" cy="585216"/>
          </a:xfrm>
          <a:prstGeom prst="ellipse">
            <a:avLst/>
          </a:prstGeom>
          <a:solidFill>
            <a:srgbClr val="F3E6C2"/>
          </a:solidFill>
        </p:spPr>
      </p:sp>
      <p:sp>
        <p:nvSpPr>
          <p:cNvPr id="11" name="Text 9"/>
          <p:cNvSpPr/>
          <p:nvPr/>
        </p:nvSpPr>
        <p:spPr>
          <a:xfrm>
            <a:off x="1078992" y="303580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37947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被认识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78408" y="42519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2E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Recognized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4663440"/>
            <a:ext cx="2788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能稳定识别你的品牌实体——你是谁、做什么、在哪。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43400" y="26060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90872" y="2953512"/>
            <a:ext cx="585216" cy="585216"/>
          </a:xfrm>
          <a:prstGeom prst="ellipse">
            <a:avLst/>
          </a:prstGeom>
          <a:solidFill>
            <a:srgbClr val="D9E8DF"/>
          </a:solidFill>
        </p:spPr>
      </p:sp>
      <p:sp>
        <p:nvSpPr>
          <p:cNvPr id="17" name="Text 15"/>
          <p:cNvSpPr/>
          <p:nvPr/>
        </p:nvSpPr>
        <p:spPr>
          <a:xfrm>
            <a:off x="4782312" y="303580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37947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被引用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81728" y="42519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2E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Cited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4663440"/>
            <a:ext cx="2788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生成答案时，采用你的内容作为事实依据。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46720" y="26060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94192" y="2953512"/>
            <a:ext cx="585216" cy="585216"/>
          </a:xfrm>
          <a:prstGeom prst="ellipse">
            <a:avLst/>
          </a:prstGeom>
          <a:solidFill>
            <a:srgbClr val="E3E3F2"/>
          </a:solidFill>
        </p:spPr>
      </p:sp>
      <p:sp>
        <p:nvSpPr>
          <p:cNvPr id="23" name="Text 21"/>
          <p:cNvSpPr/>
          <p:nvPr/>
        </p:nvSpPr>
        <p:spPr>
          <a:xfrm>
            <a:off x="8485632" y="303580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66760" y="37947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被推荐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85048" y="42519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2E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Recommended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66760" y="4663440"/>
            <a:ext cx="2788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在推荐与对比中，把品牌列入候选清单。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GEO Insight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331720" y="457200"/>
            <a:ext cx="27432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51760" y="29260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认知篇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底层逻辑：RAG 决定 GEO 怎么做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Retrieval-Augmented Generation Pipeline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国内主流生成式搜索底层都是 RAG 架构，四步流水线对应四类优化动作。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331720"/>
            <a:ext cx="640080" cy="640080"/>
          </a:xfrm>
          <a:prstGeom prst="ellipse">
            <a:avLst/>
          </a:prstGeom>
          <a:solidFill>
            <a:srgbClr val="E8B84A"/>
          </a:solidFill>
        </p:spPr>
      </p:sp>
      <p:sp>
        <p:nvSpPr>
          <p:cNvPr id="10" name="Text 8"/>
          <p:cNvSpPr/>
          <p:nvPr/>
        </p:nvSpPr>
        <p:spPr>
          <a:xfrm>
            <a:off x="932688" y="24414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48716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意图拆解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200400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用户多意图检索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关键词/问题库覆盖真实问法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54680" y="2606040"/>
            <a:ext cx="274320" cy="182880"/>
          </a:xfrm>
          <a:prstGeom prst="rightArrow">
            <a:avLst/>
          </a:prstGeom>
          <a:solidFill>
            <a:srgbClr val="D8D4CC"/>
          </a:solidFill>
        </p:spPr>
      </p:sp>
      <p:sp>
        <p:nvSpPr>
          <p:cNvPr id="14" name="Shape 12"/>
          <p:cNvSpPr/>
          <p:nvPr/>
        </p:nvSpPr>
        <p:spPr>
          <a:xfrm>
            <a:off x="3657600" y="2331720"/>
            <a:ext cx="640080" cy="640080"/>
          </a:xfrm>
          <a:prstGeom prst="ellipse">
            <a:avLst/>
          </a:prstGeom>
          <a:solidFill>
            <a:srgbClr val="9FC9B8"/>
          </a:solidFill>
        </p:spPr>
      </p:sp>
      <p:sp>
        <p:nvSpPr>
          <p:cNvPr id="15" name="Text 13"/>
          <p:cNvSpPr/>
          <p:nvPr/>
        </p:nvSpPr>
        <p:spPr>
          <a:xfrm>
            <a:off x="3767328" y="24414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4840" y="248716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竞争筛选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3200400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多源素材被 AI 判定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高权威、高匹配才入候选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89320" y="2606040"/>
            <a:ext cx="274320" cy="182880"/>
          </a:xfrm>
          <a:prstGeom prst="rightArrow">
            <a:avLst/>
          </a:prstGeom>
          <a:solidFill>
            <a:srgbClr val="D8D4CC"/>
          </a:solidFill>
        </p:spPr>
      </p:sp>
      <p:sp>
        <p:nvSpPr>
          <p:cNvPr id="19" name="Shape 17"/>
          <p:cNvSpPr/>
          <p:nvPr/>
        </p:nvSpPr>
        <p:spPr>
          <a:xfrm>
            <a:off x="6492240" y="2331720"/>
            <a:ext cx="640080" cy="640080"/>
          </a:xfrm>
          <a:prstGeom prst="ellipse">
            <a:avLst/>
          </a:prstGeom>
          <a:solidFill>
            <a:srgbClr val="E8B84A"/>
          </a:solidFill>
        </p:spPr>
      </p:sp>
      <p:sp>
        <p:nvSpPr>
          <p:cNvPr id="20" name="Text 18"/>
          <p:cNvSpPr/>
          <p:nvPr/>
        </p:nvSpPr>
        <p:spPr>
          <a:xfrm>
            <a:off x="6601968" y="24414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69480" y="248716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生成答案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55080" y="3200400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内容块结论完整、含数据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逻辑自洽才容易被引用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23960" y="2606040"/>
            <a:ext cx="274320" cy="182880"/>
          </a:xfrm>
          <a:prstGeom prst="rightArrow">
            <a:avLst/>
          </a:prstGeom>
          <a:solidFill>
            <a:srgbClr val="D8D4CC"/>
          </a:solidFill>
        </p:spPr>
      </p:sp>
      <p:sp>
        <p:nvSpPr>
          <p:cNvPr id="24" name="Shape 22"/>
          <p:cNvSpPr/>
          <p:nvPr/>
        </p:nvSpPr>
        <p:spPr>
          <a:xfrm>
            <a:off x="9326880" y="2331720"/>
            <a:ext cx="640080" cy="640080"/>
          </a:xfrm>
          <a:prstGeom prst="ellipse">
            <a:avLst/>
          </a:prstGeom>
          <a:solidFill>
            <a:srgbClr val="9FC9B8"/>
          </a:solidFill>
        </p:spPr>
      </p:sp>
      <p:sp>
        <p:nvSpPr>
          <p:cNvPr id="25" name="Text 23"/>
          <p:cNvSpPr/>
          <p:nvPr/>
        </p:nvSpPr>
        <p:spPr>
          <a:xfrm>
            <a:off x="9436608" y="24414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104120" y="248716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溯源展示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89720" y="3200400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显性引用位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无竞价、长期稳定曝光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754880"/>
            <a:ext cx="10908792" cy="1234440"/>
          </a:xfrm>
          <a:prstGeom prst="roundRect">
            <a:avLst>
              <a:gd name="adj" fmla="val 8889"/>
            </a:avLst>
          </a:prstGeom>
          <a:solidFill>
            <a:srgbClr val="EFE7D6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4400" y="49377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引用概率提升三要素（实测）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0" y="489204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2E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+34.4%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943600" y="5120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引用来源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489204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2E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+32.1%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229600" y="5120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统计数据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0" y="489204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2E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+29.7%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10515600" y="5120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直接引语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4400" y="54864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这就是 GEO 内容必须「结论前置 + 数据支撑 + 来源标注」的原因。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GEO Insight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331720" y="457200"/>
            <a:ext cx="27432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51760" y="29260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认知篇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GEO 和 SEO，到底差在哪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SEO → GEO: Not a Rebrand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1031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B6B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搜索引擎优化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783080" y="31089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抢排名、抢点击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5661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783080" y="35661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关键词、外链、权重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衡量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83080" y="40233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流量、排名、点击率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44805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783080" y="44805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一串蓝色链接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4846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抢的是「第几名」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92024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E3E3F2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21031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E2E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GEO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83680" y="26060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生成式引擎优化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31089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52360" y="31089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 AI 引用、推荐你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83680" y="35661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52360" y="35661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E-E-A-T、信源、结构化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83680" y="40233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衡量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452360" y="40233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提及率、引用率、首推率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83680" y="44805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452360" y="44805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答案里的推荐与引文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83680" y="4846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抢的是「被引用几次」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关键：收录 ≠ 引用。能被搜到，不代表 AI 愿意推荐你。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GEO Insight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331720" y="457200"/>
            <a:ext cx="27432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51760" y="29260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认知篇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为什么现在做 GEO，正当其时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Now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46888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2E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286亿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987552" y="3611880"/>
            <a:ext cx="457200" cy="0"/>
          </a:xfrm>
          <a:prstGeom prst="line">
            <a:avLst/>
          </a:prstGeom>
          <a:noFill/>
          <a:ln w="25400">
            <a:solidFill>
              <a:srgbClr val="E8B8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7947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 国内 GEO 市场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42062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年复合增速约 125%，2030 望破 500 亿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210312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246888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2E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6.02亿</a:t>
            </a:r>
            <a:endParaRPr lang="en-US" sz="5400" dirty="0"/>
          </a:p>
        </p:txBody>
      </p:sp>
      <p:sp>
        <p:nvSpPr>
          <p:cNvPr id="15" name="Shape 13"/>
          <p:cNvSpPr/>
          <p:nvPr/>
        </p:nvSpPr>
        <p:spPr>
          <a:xfrm>
            <a:off x="4690872" y="3611880"/>
            <a:ext cx="457200" cy="0"/>
          </a:xfrm>
          <a:prstGeom prst="line">
            <a:avLst/>
          </a:prstGeom>
          <a:noFill/>
          <a:ln w="25400">
            <a:solidFill>
              <a:srgbClr val="E8B8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7947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国内生成式 AI 用户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42062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网民普及率突破 42.8%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210312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66760" y="246888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2E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85%</a:t>
            </a:r>
            <a:endParaRPr lang="en-US" sz="5400" dirty="0"/>
          </a:p>
        </p:txBody>
      </p:sp>
      <p:sp>
        <p:nvSpPr>
          <p:cNvPr id="20" name="Shape 18"/>
          <p:cNvSpPr/>
          <p:nvPr/>
        </p:nvSpPr>
        <p:spPr>
          <a:xfrm>
            <a:off x="8394192" y="3611880"/>
            <a:ext cx="457200" cy="0"/>
          </a:xfrm>
          <a:prstGeom prst="line">
            <a:avLst/>
          </a:prstGeom>
          <a:noFill/>
          <a:ln w="25400">
            <a:solidFill>
              <a:srgbClr val="E8B8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37947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高价值用户渗透率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66760" y="42062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选型/咨询/消费中，AI 成关键决策依据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信息消费习惯的迁移不可逆——品牌不进 AI 答案，就会在消费者初始考量中出局。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46720" y="61722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数据来源：公开行业报告综合，2025–2026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Y\DoubaoWork\chats\2026-09-15\new-chat-2\work\assets\plant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48" y="0"/>
            <a:ext cx="60899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9260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GEO Insight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29260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B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Chapter.02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338328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执行篇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58368" y="44348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E2E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GEO Gets Done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GEO Insight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331720" y="457200"/>
            <a:ext cx="27432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51760" y="29260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GEO 业务流程：六步闭环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Diagnose → Plan → Create → Distribute → Monitor → Iterate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6968" y="2258568"/>
            <a:ext cx="512064" cy="512064"/>
          </a:xfrm>
          <a:prstGeom prst="ellipse">
            <a:avLst/>
          </a:prstGeom>
          <a:solidFill>
            <a:srgbClr val="F3E6C2"/>
          </a:solidFill>
        </p:spPr>
      </p:sp>
      <p:sp>
        <p:nvSpPr>
          <p:cNvPr id="10" name="Text 8"/>
          <p:cNvSpPr/>
          <p:nvPr/>
        </p:nvSpPr>
        <p:spPr>
          <a:xfrm>
            <a:off x="1554480" y="22860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诊断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88036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 AI 怎么看这个品牌，看竞品、找缺口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201168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0288" y="2258568"/>
            <a:ext cx="512064" cy="512064"/>
          </a:xfrm>
          <a:prstGeom prst="ellipse">
            <a:avLst/>
          </a:prstGeom>
          <a:solidFill>
            <a:srgbClr val="D9E8DF"/>
          </a:solidFill>
        </p:spPr>
      </p:sp>
      <p:sp>
        <p:nvSpPr>
          <p:cNvPr id="14" name="Text 12"/>
          <p:cNvSpPr/>
          <p:nvPr/>
        </p:nvSpPr>
        <p:spPr>
          <a:xfrm>
            <a:off x="5257800" y="22860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288036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建问题库、排优先级、统一品牌信息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201168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93608" y="2258568"/>
            <a:ext cx="512064" cy="512064"/>
          </a:xfrm>
          <a:prstGeom prst="ellipse">
            <a:avLst/>
          </a:prstGeom>
          <a:solidFill>
            <a:srgbClr val="F3E6C2"/>
          </a:solidFill>
        </p:spPr>
      </p:sp>
      <p:sp>
        <p:nvSpPr>
          <p:cNvPr id="18" name="Text 16"/>
          <p:cNvSpPr/>
          <p:nvPr/>
        </p:nvSpPr>
        <p:spPr>
          <a:xfrm>
            <a:off x="8961120" y="22860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288036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先给结论、结构化、带数据、FAQ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86968" y="4041648"/>
            <a:ext cx="512064" cy="512064"/>
          </a:xfrm>
          <a:prstGeom prst="ellipse">
            <a:avLst/>
          </a:prstGeom>
          <a:solidFill>
            <a:srgbClr val="D9E8DF"/>
          </a:solidFill>
        </p:spPr>
      </p:sp>
      <p:sp>
        <p:nvSpPr>
          <p:cNvPr id="22" name="Text 20"/>
          <p:cNvSpPr/>
          <p:nvPr/>
        </p:nvSpPr>
        <p:spPr>
          <a:xfrm>
            <a:off x="1554480" y="406908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分发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466344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按平台偏好，铺知乎/百家号/第三方背书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79476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4041648"/>
            <a:ext cx="512064" cy="512064"/>
          </a:xfrm>
          <a:prstGeom prst="ellipse">
            <a:avLst/>
          </a:prstGeom>
          <a:solidFill>
            <a:srgbClr val="F3E6C2"/>
          </a:solidFill>
        </p:spPr>
      </p:sp>
      <p:sp>
        <p:nvSpPr>
          <p:cNvPr id="26" name="Text 24"/>
          <p:cNvSpPr/>
          <p:nvPr/>
        </p:nvSpPr>
        <p:spPr>
          <a:xfrm>
            <a:off x="5257800" y="406908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监测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63440" y="466344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固定问题库，分平台跑题，记提及率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379476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93608" y="4041648"/>
            <a:ext cx="512064" cy="512064"/>
          </a:xfrm>
          <a:prstGeom prst="ellipse">
            <a:avLst/>
          </a:prstGeom>
          <a:solidFill>
            <a:srgbClr val="D9E8DF"/>
          </a:solidFill>
        </p:spPr>
      </p:sp>
      <p:sp>
        <p:nvSpPr>
          <p:cNvPr id="30" name="Text 28"/>
          <p:cNvSpPr/>
          <p:nvPr/>
        </p:nvSpPr>
        <p:spPr>
          <a:xfrm>
            <a:off x="8961120" y="406908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复盘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66760" y="466344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定位归因，调整验证，形成闭环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核心是闭环：做完不运维，效果会清零。监测驱动持续迭代。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GEO Insight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331720" y="457200"/>
            <a:ext cx="27432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51760" y="29260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内容工程：五个库，缺一不可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Five Libraries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89888" y="2331720"/>
            <a:ext cx="548640" cy="548640"/>
          </a:xfrm>
          <a:prstGeom prst="ellipse">
            <a:avLst/>
          </a:prstGeom>
          <a:solidFill>
            <a:srgbClr val="F3E6C2"/>
          </a:solidFill>
        </p:spPr>
      </p:sp>
      <p:sp>
        <p:nvSpPr>
          <p:cNvPr id="10" name="Text 8"/>
          <p:cNvSpPr/>
          <p:nvPr/>
        </p:nvSpPr>
        <p:spPr>
          <a:xfrm>
            <a:off x="1453896" y="23957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52044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用户到底怎么问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160520"/>
            <a:ext cx="16916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场景词、决策词、长尾词、联想词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52928" y="201168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02736" y="2331720"/>
            <a:ext cx="548640" cy="548640"/>
          </a:xfrm>
          <a:prstGeom prst="ellipse">
            <a:avLst/>
          </a:prstGeom>
          <a:solidFill>
            <a:srgbClr val="D9E8DF"/>
          </a:solidFill>
        </p:spPr>
      </p:sp>
      <p:sp>
        <p:nvSpPr>
          <p:cNvPr id="16" name="Text 14"/>
          <p:cNvSpPr/>
          <p:nvPr/>
        </p:nvSpPr>
        <p:spPr>
          <a:xfrm>
            <a:off x="3666744" y="23957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35808" y="31089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事实库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35808" y="352044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品牌有什么可说可证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35808" y="4160520"/>
            <a:ext cx="16916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产品、案例、资质，每句话有据可查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65776" y="201168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15584" y="2331720"/>
            <a:ext cx="548640" cy="548640"/>
          </a:xfrm>
          <a:prstGeom prst="ellipse">
            <a:avLst/>
          </a:prstGeom>
          <a:solidFill>
            <a:srgbClr val="F3E6C2"/>
          </a:solidFill>
        </p:spPr>
      </p:sp>
      <p:sp>
        <p:nvSpPr>
          <p:cNvPr id="22" name="Text 20"/>
          <p:cNvSpPr/>
          <p:nvPr/>
        </p:nvSpPr>
        <p:spPr>
          <a:xfrm>
            <a:off x="5879592" y="23957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48656" y="31089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48656" y="352044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用什么承接问题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48656" y="4160520"/>
            <a:ext cx="16916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官网、FAQ、对比、案例、白皮书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78624" y="201168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28432" y="2331720"/>
            <a:ext cx="548640" cy="548640"/>
          </a:xfrm>
          <a:prstGeom prst="ellipse">
            <a:avLst/>
          </a:prstGeom>
          <a:solidFill>
            <a:srgbClr val="D9E8DF"/>
          </a:solidFill>
        </p:spPr>
      </p:sp>
      <p:sp>
        <p:nvSpPr>
          <p:cNvPr id="28" name="Text 26"/>
          <p:cNvSpPr/>
          <p:nvPr/>
        </p:nvSpPr>
        <p:spPr>
          <a:xfrm>
            <a:off x="8092440" y="23957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61504" y="31089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信源库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61504" y="352044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从哪里相信你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61504" y="4160520"/>
            <a:ext cx="16916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官网、媒体、平台、第三方口碑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91472" y="201168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241280" y="2331720"/>
            <a:ext cx="548640" cy="548640"/>
          </a:xfrm>
          <a:prstGeom prst="ellipse">
            <a:avLst/>
          </a:prstGeom>
          <a:solidFill>
            <a:srgbClr val="F3E6C2"/>
          </a:solidFill>
        </p:spPr>
      </p:sp>
      <p:sp>
        <p:nvSpPr>
          <p:cNvPr id="34" name="Text 32"/>
          <p:cNvSpPr/>
          <p:nvPr/>
        </p:nvSpPr>
        <p:spPr>
          <a:xfrm>
            <a:off x="10305288" y="23957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674352" y="31089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监测库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74352" y="352044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优化有没有效果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674352" y="4160520"/>
            <a:ext cx="16916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答案记录、竞品、错误事实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没事实库内容就空，没信源库 AI 不信，没监测库闭环不了。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GEO Insight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331720" y="457200"/>
            <a:ext cx="27432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51760" y="29260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平台信源：每个 AI 各认各的生态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Engine Source Landscape · 2026 Snapshot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0" y="1920240"/>
          <a:ext cx="56692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25780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主流引擎自有生态内容引用占比（%）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83680" y="1920240"/>
            <a:ext cx="49834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58000" y="20574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豆包信源分级（2026.09）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0" y="246888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T0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498080" y="249631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顶级法定权威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0058400" y="2496312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100%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858000" y="303580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E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T1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498080" y="30632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字节自有生态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058400" y="30632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80–90%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858000" y="3602736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6B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T2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498080" y="363016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第三方正规信源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0058400" y="363016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30–50%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858000" y="4169664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0413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T3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498080" y="419709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低价值信源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0058400" y="419709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B041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全域拦截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知乎是跨引擎公共信源（豆包/DeepSeek/Kimi 共同引用）；同一主张要在多平台出现形成「多源一致性」，AI 不相信单一信源。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58000" y="6263640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数据来源：11 引擎 7317 条引用统计（2026.08）；豆包信源分级（2026.09）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GEO Insight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331720" y="457200"/>
            <a:ext cx="27432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51760" y="29260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我的实测：六平台 3C 问答 GEO 测试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Self-run Test · 2026.10.14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平台（豆包 / Kimi / DeepSeek / 文心 / 元宝 / 千问）× 3 问题（5000 元安卓旗舰 · 骁龙 8 至尊 vs 天玑 9400 · 端侧 AI 手机），同账号同顺序，25+ 截图留存。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13232" y="2313432"/>
            <a:ext cx="402336" cy="402336"/>
          </a:xfrm>
          <a:prstGeom prst="ellipse">
            <a:avLst/>
          </a:prstGeom>
          <a:solidFill>
            <a:srgbClr val="F3E6C2"/>
          </a:solidFill>
        </p:spPr>
      </p:sp>
      <p:sp>
        <p:nvSpPr>
          <p:cNvPr id="10" name="Text 8"/>
          <p:cNvSpPr/>
          <p:nvPr/>
        </p:nvSpPr>
        <p:spPr>
          <a:xfrm>
            <a:off x="722376" y="2331720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2860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引用生态 = 厂商内容生态的镜像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257800" y="2313432"/>
            <a:ext cx="6263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文心首选百家号、元宝首选中关村在线/太平洋、千问首选 B站/抖音博主、豆包首选小红书种草图文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" y="3026664"/>
            <a:ext cx="402336" cy="402336"/>
          </a:xfrm>
          <a:prstGeom prst="ellipse">
            <a:avLst/>
          </a:prstGeom>
          <a:solidFill>
            <a:srgbClr val="D9E8DF"/>
          </a:solidFill>
        </p:spPr>
      </p:sp>
      <p:sp>
        <p:nvSpPr>
          <p:cNvPr id="14" name="Text 12"/>
          <p:cNvSpPr/>
          <p:nvPr/>
        </p:nvSpPr>
        <p:spPr>
          <a:xfrm>
            <a:off x="722376" y="3044952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99923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Kimi / DeepSeek 倚重中立网页长文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257800" y="3026664"/>
            <a:ext cx="6263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结构化长文、参数对比文在这两个平台更易被编号引用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739896"/>
            <a:ext cx="402336" cy="402336"/>
          </a:xfrm>
          <a:prstGeom prst="ellipse">
            <a:avLst/>
          </a:prstGeom>
          <a:solidFill>
            <a:srgbClr val="F3E6C2"/>
          </a:solidFill>
        </p:spPr>
      </p:sp>
      <p:sp>
        <p:nvSpPr>
          <p:cNvPr id="18" name="Text 16"/>
          <p:cNvSpPr/>
          <p:nvPr/>
        </p:nvSpPr>
        <p:spPr>
          <a:xfrm>
            <a:off x="722376" y="3758184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712464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短视频在字节系与阿里系命中率最高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57800" y="3739896"/>
            <a:ext cx="6263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千问三题引用短视频占比约 80%，豆包偏好短视频/种草风格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3232" y="4453128"/>
            <a:ext cx="402336" cy="402336"/>
          </a:xfrm>
          <a:prstGeom prst="ellipse">
            <a:avLst/>
          </a:prstGeom>
          <a:solidFill>
            <a:srgbClr val="D9E8DF"/>
          </a:solidFill>
        </p:spPr>
      </p:sp>
      <p:sp>
        <p:nvSpPr>
          <p:cNvPr id="22" name="Text 20"/>
          <p:cNvSpPr/>
          <p:nvPr/>
        </p:nvSpPr>
        <p:spPr>
          <a:xfrm>
            <a:off x="722376" y="4471416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4425696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引用透明度差异显著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257800" y="4453128"/>
            <a:ext cx="6263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元宝完整来源面板；Kimi/DeepSeek 站内编号；豆包仅「参考 N 篇」不列来源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3232" y="5166360"/>
            <a:ext cx="402336" cy="402336"/>
          </a:xfrm>
          <a:prstGeom prst="ellipse">
            <a:avLst/>
          </a:prstGeom>
          <a:solidFill>
            <a:srgbClr val="F3E6C2"/>
          </a:solidFill>
        </p:spPr>
      </p:sp>
      <p:sp>
        <p:nvSpPr>
          <p:cNvPr id="26" name="Text 24"/>
          <p:cNvSpPr/>
          <p:nvPr/>
        </p:nvSpPr>
        <p:spPr>
          <a:xfrm>
            <a:off x="722376" y="5184648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513892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结构化输出是共识，但营销化程度分化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257800" y="5166360"/>
            <a:ext cx="6263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Kimi/DeepSeek 最克制；文心/元宝/千问带电商导购痕迹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完整答题全文、引用来源与 25+ 截图见 captures/ 目录。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GEO Insight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331720" y="457200"/>
            <a:ext cx="27432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51760" y="29260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分平台布局：被谁引用，就按谁的规矩发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to Publish Where · From My Own Test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目标平台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920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重点内容形态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192024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10908792" cy="548640"/>
          </a:xfrm>
          <a:prstGeom prst="roundRect">
            <a:avLst>
              <a:gd name="adj" fmla="val 20000"/>
            </a:avLst>
          </a:prstGeom>
          <a:solidFill>
            <a:srgbClr val="FAF8F2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33172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被文心引用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33172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百家号图文长文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09360" y="233172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关键密度、参数完整、标题信息量；避免纯站群式标题党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2953512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被元宝引用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2953512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中关村 / 太平洋数据页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09360" y="2953512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结构化参数、价格、评测结论，与厂商参数库同构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529584"/>
            <a:ext cx="10908792" cy="548640"/>
          </a:xfrm>
          <a:prstGeom prst="roundRect">
            <a:avLst>
              <a:gd name="adj" fmla="val 20000"/>
            </a:avLst>
          </a:prstGeom>
          <a:solidFill>
            <a:srgbClr val="FAF8F2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575304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被千问引用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3575304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B站 / 抖音数码测评视频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3575304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标题含型号+对比+结论；简介结构化；博主名即品牌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" y="4197096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被豆包引用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4197096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抖音 / 小红书种草图文+视频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09360" y="4197096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口语化标题 + #话题标签，一眼看懂信息图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773168"/>
            <a:ext cx="10908792" cy="548640"/>
          </a:xfrm>
          <a:prstGeom prst="roundRect">
            <a:avLst>
              <a:gd name="adj" fmla="val 20000"/>
            </a:avLst>
          </a:prstGeom>
          <a:solidFill>
            <a:srgbClr val="FAF8F2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4818888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被 Kimi / DeepSeek 引用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4818888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官网 / 评测站长文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9360" y="4818888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H2 分节、表格化参数、可被编号引用的独立段落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1520" y="544068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跨平台公共信源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834640" y="544068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通用网页（IT之家 / CNMO / 新闻源）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09360" y="544068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中长内容、营销克制、中立第三方立场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结论：不要一稿多投——按平台偏好分别下注，再用跨平台公共信源兜底。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GEO Insight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331720" y="457200"/>
            <a:ext cx="27432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51760" y="29260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内容怎么生产：让 AI 好「抄」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Five Rules for AI-Citable Content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993392"/>
            <a:ext cx="402336" cy="402336"/>
          </a:xfrm>
          <a:prstGeom prst="ellipse">
            <a:avLst/>
          </a:prstGeom>
          <a:solidFill>
            <a:srgbClr val="F3E6C2"/>
          </a:solidFill>
        </p:spPr>
      </p:sp>
      <p:sp>
        <p:nvSpPr>
          <p:cNvPr id="9" name="Text 7"/>
          <p:cNvSpPr/>
          <p:nvPr/>
        </p:nvSpPr>
        <p:spPr>
          <a:xfrm>
            <a:off x="722376" y="2020824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0116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结论先行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202996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 60 字直接给答案，不绕弯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3232" y="2651760"/>
            <a:ext cx="402336" cy="402336"/>
          </a:xfrm>
          <a:prstGeom prst="ellipse">
            <a:avLst/>
          </a:prstGeom>
          <a:solidFill>
            <a:srgbClr val="D9E8DF"/>
          </a:solidFill>
        </p:spPr>
      </p:sp>
      <p:sp>
        <p:nvSpPr>
          <p:cNvPr id="13" name="Text 11"/>
          <p:cNvSpPr/>
          <p:nvPr/>
        </p:nvSpPr>
        <p:spPr>
          <a:xfrm>
            <a:off x="722376" y="2679192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67004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自包含小节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268833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 H2 独立成立，切碎也能读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3232" y="3310128"/>
            <a:ext cx="402336" cy="402336"/>
          </a:xfrm>
          <a:prstGeom prst="ellipse">
            <a:avLst/>
          </a:prstGeom>
          <a:solidFill>
            <a:srgbClr val="F3E6C2"/>
          </a:solidFill>
        </p:spPr>
      </p:sp>
      <p:sp>
        <p:nvSpPr>
          <p:cNvPr id="17" name="Text 15"/>
          <p:cNvSpPr/>
          <p:nvPr/>
        </p:nvSpPr>
        <p:spPr>
          <a:xfrm>
            <a:off x="722376" y="3337560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328416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善用 FAQ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334670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现成的「问题 + 答案」标准表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3232" y="3968496"/>
            <a:ext cx="402336" cy="402336"/>
          </a:xfrm>
          <a:prstGeom prst="ellipse">
            <a:avLst/>
          </a:prstGeom>
          <a:solidFill>
            <a:srgbClr val="D9E8DF"/>
          </a:solidFill>
        </p:spPr>
      </p:sp>
      <p:sp>
        <p:nvSpPr>
          <p:cNvPr id="21" name="Text 19"/>
          <p:cNvSpPr/>
          <p:nvPr/>
        </p:nvSpPr>
        <p:spPr>
          <a:xfrm>
            <a:off x="722376" y="3995928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3986784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Claim 级校验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26080" y="400507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每句话有据可查，没证据就删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3232" y="4626864"/>
            <a:ext cx="402336" cy="402336"/>
          </a:xfrm>
          <a:prstGeom prst="ellipse">
            <a:avLst/>
          </a:prstGeom>
          <a:solidFill>
            <a:srgbClr val="F3E6C2"/>
          </a:solidFill>
        </p:spPr>
      </p:sp>
      <p:sp>
        <p:nvSpPr>
          <p:cNvPr id="25" name="Text 23"/>
          <p:cNvSpPr/>
          <p:nvPr/>
        </p:nvSpPr>
        <p:spPr>
          <a:xfrm>
            <a:off x="722376" y="4654296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25880" y="464515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多源一致性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926080" y="46634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同一主张在多平台出现，AI 才采信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675120" y="1965960"/>
            <a:ext cx="48920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49440" y="21488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友好文章模板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9440" y="265176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H1 标题（点题）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949440" y="3090672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 60 字：直接给结论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949440" y="3529584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H2 维度一 → 结论 + 参数表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49440" y="3968496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H2 维度二 → 结论 + 样张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949440" y="440740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H2 维度三 → 结论 + 数据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949440" y="48463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FAQ：6 个常见追问（50 字内独立成立）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GEO Insight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331720" y="457200"/>
            <a:ext cx="27432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51760" y="29260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怎么监测：四个核心指标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Four Metrics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6968" y="2167128"/>
            <a:ext cx="512064" cy="512064"/>
          </a:xfrm>
          <a:prstGeom prst="ellipse">
            <a:avLst/>
          </a:prstGeom>
          <a:solidFill>
            <a:srgbClr val="F3E6C2"/>
          </a:solidFill>
        </p:spPr>
      </p:sp>
      <p:sp>
        <p:nvSpPr>
          <p:cNvPr id="10" name="Text 8"/>
          <p:cNvSpPr/>
          <p:nvPr/>
        </p:nvSpPr>
        <p:spPr>
          <a:xfrm>
            <a:off x="1554480" y="21488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提及率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260604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 100 个问题，AI 提到你几次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554480" y="292608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反映「有没有被看见」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1920240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10528" y="2167128"/>
            <a:ext cx="512064" cy="512064"/>
          </a:xfrm>
          <a:prstGeom prst="ellipse">
            <a:avLst/>
          </a:prstGeom>
          <a:solidFill>
            <a:srgbClr val="D9E8DF"/>
          </a:solidFill>
        </p:spPr>
      </p:sp>
      <p:sp>
        <p:nvSpPr>
          <p:cNvPr id="15" name="Text 13"/>
          <p:cNvSpPr/>
          <p:nvPr/>
        </p:nvSpPr>
        <p:spPr>
          <a:xfrm>
            <a:off x="7178040" y="21488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首推率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178040" y="260604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提到你时，排在第几位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78040" y="292608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反映「被推荐的深度」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86968" y="3767328"/>
            <a:ext cx="512064" cy="512064"/>
          </a:xfrm>
          <a:prstGeom prst="ellipse">
            <a:avLst/>
          </a:prstGeom>
          <a:solidFill>
            <a:srgbClr val="F3E6C2"/>
          </a:solidFill>
        </p:spPr>
      </p:sp>
      <p:sp>
        <p:nvSpPr>
          <p:cNvPr id="20" name="Text 18"/>
          <p:cNvSpPr/>
          <p:nvPr/>
        </p:nvSpPr>
        <p:spPr>
          <a:xfrm>
            <a:off x="1554480" y="37490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引用来源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54480" y="420624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引用你哪篇、哪家媒体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554480" y="452628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反映「信源是否有效」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3520440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0528" y="3767328"/>
            <a:ext cx="512064" cy="512064"/>
          </a:xfrm>
          <a:prstGeom prst="ellipse">
            <a:avLst/>
          </a:prstGeom>
          <a:solidFill>
            <a:srgbClr val="D9E8DF"/>
          </a:solidFill>
        </p:spPr>
      </p:sp>
      <p:sp>
        <p:nvSpPr>
          <p:cNvPr id="25" name="Text 23"/>
          <p:cNvSpPr/>
          <p:nvPr/>
        </p:nvSpPr>
        <p:spPr>
          <a:xfrm>
            <a:off x="7178040" y="37490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情感倾向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178040" y="420624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说你好话还是坏话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78040" y="452628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反映「口碑是否正向」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三原则：① 问题要固定（同一套反复问才看趋势）  ② 分平台各算各的  ③ 问中性问题（「哪款好」而非「XX 好不好」）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1F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GEO Insight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331720" y="457200"/>
            <a:ext cx="27432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51760" y="29260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怎么投放：顺着用户提问路径走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 → Concentrate → Top 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因果链：目标用户在哪个 AI 平台问 → 那个平台引用哪些媒体 → 把预算投到那些媒体上。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342900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6060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31089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2E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4–6 篇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60120" y="393192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分散投几家候选媒体，看谁真被引用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60520" y="3520440"/>
            <a:ext cx="228600" cy="182880"/>
          </a:xfrm>
          <a:prstGeom prst="rightArrow">
            <a:avLst/>
          </a:prstGeom>
          <a:solidFill>
            <a:srgbClr val="D8D4CC"/>
          </a:solidFill>
        </p:spPr>
      </p:sp>
      <p:sp>
        <p:nvSpPr>
          <p:cNvPr id="14" name="Shape 12"/>
          <p:cNvSpPr/>
          <p:nvPr/>
        </p:nvSpPr>
        <p:spPr>
          <a:xfrm>
            <a:off x="4343400" y="2377440"/>
            <a:ext cx="342900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26060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集中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31089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2E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14–16 篇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663440" y="393192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投到被验证的核心媒体，放大效果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63840" y="3520440"/>
            <a:ext cx="228600" cy="182880"/>
          </a:xfrm>
          <a:prstGeom prst="rightArrow">
            <a:avLst/>
          </a:prstGeom>
          <a:solidFill>
            <a:srgbClr val="D8D4CC"/>
          </a:solidFill>
        </p:spPr>
      </p:sp>
      <p:sp>
        <p:nvSpPr>
          <p:cNvPr id="19" name="Shape 17"/>
          <p:cNvSpPr/>
          <p:nvPr/>
        </p:nvSpPr>
        <p:spPr>
          <a:xfrm>
            <a:off x="8046720" y="2377440"/>
            <a:ext cx="342900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26060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66760" y="31089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2E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1–2 篇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366760" y="393192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扩覆盖面，锦上添花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2E2E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核心：先测试再集中，不平均撒。用户在哪问，就投哪。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DY\DoubaoWork\chats\2026-09-15\new-chat-2\work\assets\waterfal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410">
              <a:alpha val="6200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822960" y="5486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GEO Insight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GEO 的核心，不是操纵 AI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32004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E8C96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而是让 AI 愿意相信你、推荐你。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41248" y="429768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E8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用真实、稳定、有证据的品牌信息，建设一套可被 AI 理解与引用的知识资产。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58521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C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  ·  期待与您交流  ·  曾俊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3880</Words>
  <Application>WPS 演示</Application>
  <PresentationFormat>On-screen Show (16:9)</PresentationFormat>
  <Paragraphs>630</Paragraphs>
  <Slides>18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Arial</vt:lpstr>
      <vt:lpstr>宋体</vt:lpstr>
      <vt:lpstr>Wingdings</vt:lpstr>
      <vt:lpstr>Cambria</vt:lpstr>
      <vt:lpstr>Cambria</vt:lpstr>
      <vt:lpstr>Cambria</vt:lpstr>
      <vt:lpstr>微软雅黑</vt:lpstr>
      <vt:lpstr>微软雅黑</vt:lpstr>
      <vt:lpstr>Arial</vt:lpstr>
      <vt:lpstr>Arial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 Insight — 曾俊</dc:title>
  <dc:creator>Zeng Jun</dc:creator>
  <dc:subject>PptxGenJS Presentation</dc:subject>
  <cp:lastModifiedBy>Xxx.</cp:lastModifiedBy>
  <cp:revision>2</cp:revision>
  <dcterms:created xsi:type="dcterms:W3CDTF">2026-10-15T03:41:00Z</dcterms:created>
  <dcterms:modified xsi:type="dcterms:W3CDTF">2026-10-15T03:45:41Z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ACCFE952179C4FFB9A8BBFC185CBF5C3_13</vt:lpwstr>
  </property>
  <property fmtid="{D5CDD505-2E9C-101B-9397-08002B2CF9AE}" pid="3" name="KSOProductBuildVer">
    <vt:lpwstr>2052-12.1.0.28505</vt:lpwstr>
  </property>
</Properties>
</file>