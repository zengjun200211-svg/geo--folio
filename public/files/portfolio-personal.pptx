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您好，我是曾俊，一份新媒体运营的作品集。我的职业信条是：把每个账号都做成增长资产。接下来几分钟，我会用个人账号的真实增长数据、矩阵统筹和信息流项目的实战，向您证明这件事。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先介绍我的位置。我在广告公司 MCN 中心做新媒体运营，三块盘子：一是个人账号独立操盘，数码Π 做到 4346 万播放、14 条百万爆款；二是公司矩阵统筹，KVL 回声系列 6 个账号 10 个月 2404 万播放；三是信息流项目，供应商对接加视频内容审核都是我的权责。日常抓四件事：账号定位、选题策划、数据复盘、供应商对接。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的运营方法是六步闭环：账号定位先定赛道、人设和差异化；选题策划抓痛点、热点和栏目；内容制作覆盖脚本、拍摄、剪辑；发布运营管节奏、评论和互动；数据复盘看播放、完播、互动；最后迭代增长，把经验回流到下一个选题。最后一步永远指向第一步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接下来是第一个篇章：我个人独立操盘的账号。无投流冷启动，用自然流把账号做成增长资产。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先看结果。数码Π 这个账号，36 条内容，总播放 4346 万，总获赞 127.7 万；其中百万播放爆款 14 条，10 万+ 优质作品 17 条，单条平均获赞 3.57 万。右边是抖音数据中心截图，近 30 天获赞 1529.92 万。赞粉比超 90 比 1，远超同体量数码账号。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结果背后是全链路动作。定位上，我选泛 3C 全品类深度测评，跳出手机测评红海；制作上，选题、脚本、拍摄、剪辑、发布全部独立完成，单条最高播放 500 万+；迭代上，靠复盘持续优化内容结构。两个账号都是无投流冷启动，最快 5 条作品就出百万爆款，累计百万爆款 16 条。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爆款不是运气，是我总结出的可复制方法。第一，选题决定流量上限，抓受众痛点、信息增量、情绪价值三要素，来源有关键词挖掘、爆款复刻微创新、品牌关键词和热门评论淘金，我还建了选题库和黄金三秒开头库。第二，文案打造黄金三秒，悬念式、痛点式、反差式、利益式四类开头。第三，复刻式创新：锁定核心爆点、保留骨架、替换血肉、融入个人风格。案例验证：苹果免费换新那条完播率 30.56%，vivo 闹钟铃声 5 秒完播率 59.78%——选题至上，好选题能撬动数据。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第二个篇章：个人能力之外，还有矩阵协同与项目对接的实战。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公司矩阵这块，10 个月发布 470 条，播放 2404 万加，互动 55 万加，累计粉丝 19.5 万，10万+爆款 72 条。增长曲线上，3 月爆款起号、9 月播放达峰。我统筹 6 个账号的差异化定位——影像、屏幕、拆机、行业、系统、资讯，对接编导、供应商和外包剪辑，把控调性与布局。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信息流项目上，我的权责分两块：对外，供应商对接，管排期、交付、验收，让多方按同一节奏跑；对内，视频内容审核，合规、品牌表达、转化钩子逐项过审。三个执行复盘：iQOO 618 大促 72 篇、互动 1.9 万加、高互动率 18%；S60 长线 320 篇、互动 12.8 万加、高互动率 25%；Fold6 首销周 282 篇、阅读 20.1 万。每个项目交付加复盘成套：客户拿到结果，我拿到方法。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内容创意上，我擅长把抽象参数翻译成用户能感知的场景。比如「如何查看女朋友在看啥」，用生活化痛点加趣味反转，讲清 X300 Ultra 的 85mm 蔡司长焦；「大炮打蚊子」用打鸟硬核场景打动摄影用户，再用通俗梗让大众感知强大。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这面墙是矩阵十个月的部分爆款：B 站 180 万播放、曲面屏 63 万、深挖 Fold6 32.8 万，还有几条千赞内容。十个月爆款 72 条，单月播放峰值 388 万。内容感是亲手做出来的。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我的复盘盯三条曲线：2 秒跳出率、5 秒完播率、整体完播率；结合画面与文案逐条归因，每周迭代选题与节奏。增长验证：9 月单月播放 388 万创峰值。复盘不是收尾动作，而是下一个选题的起点。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第三个篇章：双鱼体育。没有人带教的新项目，我自己搭流程、自己扛结果。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页是我独立负责的最大一仗。先算清三个平衡，然后借势而不造势——借「人民满意的十五运」叙事，把品牌行动做成全民健康运动宣传，让政府、品牌、代言人三方都赢。执行分四阶段：星聚预热、星耀夺冠、星动全民、星续全民。右边是落地的纪念球礼盒和独家供应商主视觉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总结：四个被验证过的能力。第一，账号 0-1 独立操盘，证据是数码Π 4346 万播放；第二，爆款内容全链路，累计 16 条百万爆款；第三，数据驱动复盘，完播率归因体系；第四，项目统筹与供应商管理，矩阵加信息流项目。我不做自我评价式的罗列，只拿被数据验证过的证据说话。</a:t>
            </a:r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最后一页，一句话收尾：下一个账号，准备好从 0 增长了。这份作品集会持续更新，期待当面给您讲更多细节。我的电话是 15019181937，邮箱 1075584739@qq.com。谢谢您花时间看完。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ps-portfolio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9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4642" y="673418"/>
            <a:ext cx="310850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spc="150" dirty="0">
                <a:solidFill>
                  <a:schemeClr val="accent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OPS PORTFOLIO · NEW MEDIA</a:t>
            </a:r>
            <a:endParaRPr lang="zh-CN" sz="1350" spc="150" dirty="0">
              <a:solidFill>
                <a:schemeClr val="accent3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552450" y="2371725"/>
            <a:ext cx="7671054" cy="876300"/>
            <a:chOff x="552450" y="2371725"/>
            <a:chExt cx="7671054" cy="876300"/>
          </a:xfrm>
        </p:grpSpPr>
        <p:sp>
          <p:nvSpPr>
            <p:cNvPr id="3" name="TextBox 3"/>
            <p:cNvSpPr txBox="1"/>
            <p:nvPr/>
          </p:nvSpPr>
          <p:spPr>
            <a:xfrm>
              <a:off x="552450" y="2371725"/>
              <a:ext cx="7671054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把每个账号都做成增长资产</a:t>
              </a:r>
              <a:endParaRPr lang="zh-CN" sz="45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" name="Polygon 4"/>
            <p:cNvSpPr/>
            <p:nvPr/>
          </p:nvSpPr>
          <p:spPr>
            <a:xfrm>
              <a:off x="590550" y="3009900"/>
              <a:ext cx="4800600" cy="209550"/>
            </a:xfrm>
            <a:custGeom>
              <a:avLst/>
              <a:gdLst/>
              <a:ahLst/>
              <a:cxnLst/>
              <a:rect l="l" t="t" r="r" b="b"/>
              <a:pathLst>
                <a:path w="4800600" h="209550">
                  <a:moveTo>
                    <a:pt x="0" y="57150"/>
                  </a:moveTo>
                  <a:lnTo>
                    <a:pt x="4743450" y="0"/>
                  </a:lnTo>
                  <a:lnTo>
                    <a:pt x="4800600" y="152400"/>
                  </a:lnTo>
                  <a:lnTo>
                    <a:pt x="38100" y="2095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60832" y="3507105"/>
            <a:ext cx="6933400" cy="841629"/>
            <a:chOff x="560832" y="3507105"/>
            <a:chExt cx="6933400" cy="841629"/>
          </a:xfrm>
        </p:grpSpPr>
        <p:sp>
          <p:nvSpPr>
            <p:cNvPr id="6" name="TextBox 6"/>
            <p:cNvSpPr txBox="1"/>
            <p:nvPr/>
          </p:nvSpPr>
          <p:spPr>
            <a:xfrm>
              <a:off x="560832" y="3507105"/>
              <a:ext cx="693340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新媒体运营作品集 · 账号操盘 / 内容运营 / 信息流项目</a:t>
              </a:r>
              <a:endParaRPr lang="zh-CN" sz="21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62356" y="3996690"/>
              <a:ext cx="20919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曾俊 · 新媒体运营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64642" y="5569268"/>
            <a:ext cx="3284982" cy="264033"/>
            <a:chOff x="564642" y="5569268"/>
            <a:chExt cx="3284982" cy="264033"/>
          </a:xfrm>
        </p:grpSpPr>
        <p:sp>
          <p:nvSpPr>
            <p:cNvPr id="9" name="TextBox 9"/>
            <p:cNvSpPr txBox="1"/>
            <p:nvPr/>
          </p:nvSpPr>
          <p:spPr>
            <a:xfrm>
              <a:off x="564642" y="556926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>
                      <a:alphaMod val="72000"/>
                    </a:schemeClr>
                  </a:solidFill>
                  <a:latin typeface="+mn-lt"/>
                  <a:ea typeface="+mn-ea"/>
                  <a:cs typeface="+mn-cs"/>
                </a:rPr>
                <a:t>增长不是运气，是把每个动作都做到位。</a:t>
              </a:r>
              <a:endParaRPr lang="zh-CN" sz="1350" dirty="0">
                <a:solidFill>
                  <a:schemeClr val="dk1">
                    <a:alphaMod val="72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153400" y="120968"/>
            <a:ext cx="3657600" cy="6356032"/>
            <a:chOff x="8153400" y="120968"/>
            <a:chExt cx="3657600" cy="6356032"/>
          </a:xfrm>
        </p:grpSpPr>
        <p:sp>
          <p:nvSpPr>
            <p:cNvPr id="11" name="Polygon 11"/>
            <p:cNvSpPr/>
            <p:nvPr/>
          </p:nvSpPr>
          <p:spPr>
            <a:xfrm>
              <a:off x="8486775" y="381000"/>
              <a:ext cx="3324225" cy="6096000"/>
            </a:xfrm>
            <a:custGeom>
              <a:avLst/>
              <a:gdLst/>
              <a:ahLst/>
              <a:cxnLst/>
              <a:rect l="l" t="t" r="r" b="b"/>
              <a:pathLst>
                <a:path w="3324225" h="6096000">
                  <a:moveTo>
                    <a:pt x="238125" y="0"/>
                  </a:moveTo>
                  <a:lnTo>
                    <a:pt x="3324225" y="0"/>
                  </a:lnTo>
                  <a:lnTo>
                    <a:pt x="3324225" y="6096000"/>
                  </a:lnTo>
                  <a:lnTo>
                    <a:pt x="95250" y="6096000"/>
                  </a:lnTo>
                  <a:lnTo>
                    <a:pt x="285750" y="5715000"/>
                  </a:lnTo>
                  <a:lnTo>
                    <a:pt x="28575" y="5334000"/>
                  </a:lnTo>
                  <a:lnTo>
                    <a:pt x="219075" y="4914900"/>
                  </a:lnTo>
                  <a:lnTo>
                    <a:pt x="0" y="4495800"/>
                  </a:lnTo>
                  <a:lnTo>
                    <a:pt x="238125" y="4095750"/>
                  </a:lnTo>
                  <a:lnTo>
                    <a:pt x="47625" y="3695700"/>
                  </a:lnTo>
                  <a:lnTo>
                    <a:pt x="257175" y="3276600"/>
                  </a:lnTo>
                  <a:lnTo>
                    <a:pt x="28575" y="2857500"/>
                  </a:lnTo>
                  <a:lnTo>
                    <a:pt x="238125" y="2438400"/>
                  </a:lnTo>
                  <a:lnTo>
                    <a:pt x="66675" y="2019300"/>
                  </a:lnTo>
                  <a:lnTo>
                    <a:pt x="276225" y="1600200"/>
                  </a:lnTo>
                  <a:lnTo>
                    <a:pt x="47625" y="1181100"/>
                  </a:lnTo>
                  <a:lnTo>
                    <a:pt x="257175" y="762000"/>
                  </a:lnTo>
                  <a:lnTo>
                    <a:pt x="85725" y="381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1"/>
            <a:srcRect l="5074" r="5073"/>
            <a:stretch>
              <a:fillRect/>
            </a:stretch>
          </p:blipFill>
          <p:spPr>
            <a:xfrm>
              <a:off x="8572500" y="381000"/>
              <a:ext cx="3238500" cy="6096000"/>
            </a:xfrm>
            <a:custGeom>
              <a:avLst/>
              <a:gdLst/>
              <a:ahLst/>
              <a:cxnLst/>
              <a:rect l="l" t="t" r="r" b="b"/>
              <a:pathLst>
                <a:path w="3238500" h="6096000">
                  <a:moveTo>
                    <a:pt x="285750" y="0"/>
                  </a:moveTo>
                  <a:lnTo>
                    <a:pt x="3238500" y="0"/>
                  </a:lnTo>
                  <a:lnTo>
                    <a:pt x="3238500" y="6096000"/>
                  </a:lnTo>
                  <a:lnTo>
                    <a:pt x="142875" y="6096000"/>
                  </a:lnTo>
                  <a:lnTo>
                    <a:pt x="333375" y="5715000"/>
                  </a:lnTo>
                  <a:lnTo>
                    <a:pt x="76200" y="5334000"/>
                  </a:lnTo>
                  <a:lnTo>
                    <a:pt x="266700" y="4914900"/>
                  </a:lnTo>
                  <a:lnTo>
                    <a:pt x="47625" y="4495800"/>
                  </a:lnTo>
                  <a:lnTo>
                    <a:pt x="285750" y="4095750"/>
                  </a:lnTo>
                  <a:lnTo>
                    <a:pt x="95250" y="3695700"/>
                  </a:lnTo>
                  <a:lnTo>
                    <a:pt x="304800" y="3276600"/>
                  </a:lnTo>
                  <a:lnTo>
                    <a:pt x="76200" y="2857500"/>
                  </a:lnTo>
                  <a:lnTo>
                    <a:pt x="285750" y="2438400"/>
                  </a:lnTo>
                  <a:lnTo>
                    <a:pt x="114300" y="2019300"/>
                  </a:lnTo>
                  <a:lnTo>
                    <a:pt x="323850" y="1600200"/>
                  </a:lnTo>
                  <a:lnTo>
                    <a:pt x="95250" y="1181100"/>
                  </a:lnTo>
                  <a:lnTo>
                    <a:pt x="304800" y="762000"/>
                  </a:lnTo>
                  <a:lnTo>
                    <a:pt x="133350" y="381000"/>
                  </a:lnTo>
                  <a:close/>
                </a:path>
              </a:pathLst>
            </a:custGeom>
          </p:spPr>
        </p:pic>
        <p:sp>
          <p:nvSpPr>
            <p:cNvPr id="13" name="Polygon 13"/>
            <p:cNvSpPr/>
            <p:nvPr/>
          </p:nvSpPr>
          <p:spPr>
            <a:xfrm>
              <a:off x="8153400" y="5029200"/>
              <a:ext cx="1295400" cy="304800"/>
            </a:xfrm>
            <a:custGeom>
              <a:avLst/>
              <a:gdLst/>
              <a:ahLst/>
              <a:cxnLst/>
              <a:rect l="l" t="t" r="r" b="b"/>
              <a:pathLst>
                <a:path w="1295400" h="304800">
                  <a:moveTo>
                    <a:pt x="0" y="114300"/>
                  </a:moveTo>
                  <a:lnTo>
                    <a:pt x="1238250" y="0"/>
                  </a:lnTo>
                  <a:lnTo>
                    <a:pt x="1295400" y="190500"/>
                  </a:lnTo>
                  <a:lnTo>
                    <a:pt x="57150" y="3048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870442" y="120968"/>
              <a:ext cx="15369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>
                      <a:alphaMod val="60000"/>
                    </a:scheme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Waiting for a pull</a:t>
              </a:r>
              <a:endParaRPr lang="zh-CN" sz="1350" dirty="0">
                <a:solidFill>
                  <a:schemeClr val="dk1">
                    <a:alphaMod val="60000"/>
                  </a:scheme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66166" y="6497002"/>
            <a:ext cx="11250168" cy="205359"/>
            <a:chOff x="566166" y="6497002"/>
            <a:chExt cx="11250168" cy="205359"/>
          </a:xfrm>
        </p:grpSpPr>
        <p:sp>
          <p:nvSpPr>
            <p:cNvPr id="16" name="TextBox 16"/>
            <p:cNvSpPr txBox="1"/>
            <p:nvPr/>
          </p:nvSpPr>
          <p:spPr>
            <a:xfrm>
              <a:off x="566166" y="6497002"/>
              <a:ext cx="16236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55000"/>
                    </a:scheme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OPS PORTFOLIO · 2026</a:t>
              </a:r>
              <a:endParaRPr lang="zh-CN" sz="1050" dirty="0">
                <a:solidFill>
                  <a:schemeClr val="dk1">
                    <a:alphaMod val="55000"/>
                  </a:scheme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3214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dk1">
                      <a:alphaMod val="55000"/>
                    </a:scheme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01 / 16</a:t>
              </a:r>
              <a:endParaRPr lang="zh-CN" sz="1050" dirty="0">
                <a:solidFill>
                  <a:schemeClr val="dk1">
                    <a:alphaMod val="55000"/>
                  </a:scheme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051150" y="673418"/>
            <a:ext cx="2576208" cy="264033"/>
            <a:chOff x="9051150" y="673418"/>
            <a:chExt cx="2576208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9051150" y="673418"/>
              <a:ext cx="25762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accounts, content, projects</a:t>
              </a:r>
              <a:endParaRPr lang="zh-CN" sz="1350" dirty="0">
                <a:solidFill>
                  <a:schemeClr val="accent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55498" y="1564958"/>
            <a:ext cx="4232529" cy="1168527"/>
            <a:chOff x="555498" y="1564958"/>
            <a:chExt cx="4232529" cy="1168527"/>
          </a:xfrm>
        </p:grpSpPr>
        <p:sp>
          <p:nvSpPr>
            <p:cNvPr id="4" name="TextBox 4"/>
            <p:cNvSpPr txBox="1"/>
            <p:nvPr/>
          </p:nvSpPr>
          <p:spPr>
            <a:xfrm>
              <a:off x="555498" y="1564958"/>
              <a:ext cx="4232529" cy="11685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350"/>
                </a:lnSpc>
              </a:pPr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我是连接账号、内容与</a:t>
              </a:r>
              <a:b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</a:br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项目的运营枢纽</a:t>
              </a:r>
              <a:endPara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62356" y="3234690"/>
            <a:ext cx="3675888" cy="1075944"/>
            <a:chOff x="562356" y="3234690"/>
            <a:chExt cx="3675888" cy="1075944"/>
          </a:xfrm>
        </p:grpSpPr>
        <p:sp>
          <p:nvSpPr>
            <p:cNvPr id="6" name="TextBox 6"/>
            <p:cNvSpPr txBox="1"/>
            <p:nvPr/>
          </p:nvSpPr>
          <p:spPr>
            <a:xfrm>
              <a:off x="562356" y="3234690"/>
              <a:ext cx="3675888" cy="1075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广告公司 MCN 中心新媒体运营：</a:t>
              </a:r>
              <a:br>
                <a:rPr lang="zh-CN" sz="18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个人账号独立操盘、公司矩阵统筹、</a:t>
              </a:r>
              <a:br>
                <a:rPr lang="zh-CN" sz="18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信息流项目对接与内容审核。</a:t>
              </a:r>
              <a:endParaRPr lang="zh-CN" sz="1800" dirty="0">
                <a:solidFill>
                  <a:schemeClr val="dk1">
                    <a:alphaMod val="8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71500" y="4572000"/>
            <a:ext cx="6334125" cy="419100"/>
            <a:chOff x="571500" y="4572000"/>
            <a:chExt cx="6334125" cy="419100"/>
          </a:xfrm>
        </p:grpSpPr>
        <p:sp>
          <p:nvSpPr>
            <p:cNvPr id="8" name="Rectangle 8"/>
            <p:cNvSpPr/>
            <p:nvPr/>
          </p:nvSpPr>
          <p:spPr>
            <a:xfrm>
              <a:off x="571500" y="4572000"/>
              <a:ext cx="1428750" cy="419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854202" y="468630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账号定位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143125" y="4572000"/>
              <a:ext cx="1428750" cy="419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2425827" y="468630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选题策划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714750" y="4572000"/>
              <a:ext cx="1428750" cy="419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3997452" y="468630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数据复盘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286375" y="4572000"/>
              <a:ext cx="1619250" cy="419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5558314" y="4686300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供应商对接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 rot="-72000">
            <a:off x="7239000" y="1238250"/>
            <a:ext cx="4381500" cy="1333500"/>
            <a:chOff x="7239000" y="1238250"/>
            <a:chExt cx="4381500" cy="1333500"/>
          </a:xfrm>
        </p:grpSpPr>
        <p:sp>
          <p:nvSpPr>
            <p:cNvPr id="17" name="Rectangle 17"/>
            <p:cNvSpPr/>
            <p:nvPr/>
          </p:nvSpPr>
          <p:spPr>
            <a:xfrm>
              <a:off x="7239000" y="1238250"/>
              <a:ext cx="4381500" cy="133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21" name="Group 21"/>
            <p:cNvGrpSpPr/>
            <p:nvPr/>
          </p:nvGrpSpPr>
          <p:grpSpPr>
            <a:xfrm>
              <a:off x="7570034" y="1593850"/>
              <a:ext cx="284915" cy="284915"/>
              <a:chOff x="7570034" y="1593850"/>
              <a:chExt cx="284915" cy="28491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575550" y="1593850"/>
                <a:ext cx="279399" cy="279399"/>
              </a:xfrm>
              <a:custGeom>
                <a:avLst/>
                <a:gdLst/>
                <a:ahLst/>
                <a:cxnLst/>
                <a:rect l="l" t="t" r="r" b="b"/>
                <a:pathLst>
                  <a:path w="279399" h="279399">
                    <a:moveTo>
                      <a:pt x="0" y="157162"/>
                    </a:moveTo>
                    <a:cubicBezTo>
                      <a:pt x="64091" y="164779"/>
                      <a:pt x="114621" y="215309"/>
                      <a:pt x="122237" y="279399"/>
                    </a:cubicBezTo>
                    <a:cubicBezTo>
                      <a:pt x="153619" y="261308"/>
                      <a:pt x="173429" y="228290"/>
                      <a:pt x="174625" y="192087"/>
                    </a:cubicBezTo>
                    <a:cubicBezTo>
                      <a:pt x="234587" y="170993"/>
                      <a:pt x="275939" y="115857"/>
                      <a:pt x="279399" y="52387"/>
                    </a:cubicBezTo>
                    <a:cubicBezTo>
                      <a:pt x="279399" y="23455"/>
                      <a:pt x="255945" y="0"/>
                      <a:pt x="227012" y="0"/>
                    </a:cubicBezTo>
                    <a:cubicBezTo>
                      <a:pt x="163542" y="3461"/>
                      <a:pt x="108406" y="44813"/>
                      <a:pt x="87312" y="104775"/>
                    </a:cubicBezTo>
                    <a:cubicBezTo>
                      <a:pt x="51109" y="105970"/>
                      <a:pt x="18092" y="125781"/>
                      <a:pt x="0" y="157162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  <p:txBody>
              <a:bodyPr/>
              <a:p/>
            </p:txBody>
          </p:sp>
          <p:sp>
            <p:nvSpPr>
              <p:cNvPr id="19" name="Freeform 19"/>
              <p:cNvSpPr/>
              <p:nvPr/>
            </p:nvSpPr>
            <p:spPr>
              <a:xfrm>
                <a:off x="7570034" y="1768475"/>
                <a:ext cx="110290" cy="110290"/>
              </a:xfrm>
              <a:custGeom>
                <a:avLst/>
                <a:gdLst/>
                <a:ahLst/>
                <a:cxnLst/>
                <a:rect l="l" t="t" r="r" b="b"/>
                <a:pathLst>
                  <a:path w="110290" h="110290">
                    <a:moveTo>
                      <a:pt x="57903" y="0"/>
                    </a:moveTo>
                    <a:cubicBezTo>
                      <a:pt x="20724" y="20989"/>
                      <a:pt x="0" y="62438"/>
                      <a:pt x="5516" y="104775"/>
                    </a:cubicBezTo>
                    <a:cubicBezTo>
                      <a:pt x="47852" y="110290"/>
                      <a:pt x="89301" y="89566"/>
                      <a:pt x="110290" y="52387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  <p:txBody>
              <a:bodyPr/>
              <a:p/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7750175" y="1663700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2"/>
                    </a:moveTo>
                    <a:cubicBezTo>
                      <a:pt x="0" y="27107"/>
                      <a:pt x="7818" y="34925"/>
                      <a:pt x="17462" y="34925"/>
                    </a:cubicBezTo>
                    <a:cubicBezTo>
                      <a:pt x="27107" y="34925"/>
                      <a:pt x="34925" y="27107"/>
                      <a:pt x="34925" y="17462"/>
                    </a:cubicBezTo>
                    <a:cubicBezTo>
                      <a:pt x="34925" y="7818"/>
                      <a:pt x="27107" y="0"/>
                      <a:pt x="17462" y="0"/>
                    </a:cubicBezTo>
                    <a:cubicBezTo>
                      <a:pt x="7818" y="0"/>
                      <a:pt x="0" y="7818"/>
                      <a:pt x="0" y="17462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  <p:txBody>
              <a:bodyPr/>
              <a:p/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8106156" y="16344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个人账号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08442" y="2006918"/>
              <a:ext cx="18667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>
                      <a:alphaMod val="80000"/>
                    </a:schemeClr>
                  </a:solidFill>
                  <a:latin typeface="+mn-lt"/>
                  <a:ea typeface="+mn-ea"/>
                  <a:cs typeface="+mn-cs"/>
                </a:rPr>
                <a:t>数码Π · 0-1 独立操盘</a:t>
              </a:r>
              <a:endParaRPr lang="zh-CN" sz="1350" dirty="0">
                <a:solidFill>
                  <a:schemeClr val="dk1">
                    <a:alphaMod val="8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08442" y="2273618"/>
              <a:ext cx="23853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>
                      <a:alphaMod val="80000"/>
                    </a:schemeClr>
                  </a:solidFill>
                  <a:latin typeface="+mn-lt"/>
                  <a:ea typeface="+mn-ea"/>
                  <a:cs typeface="+mn-cs"/>
                </a:rPr>
                <a:t>4346 万播放 · 14 条百万爆款</a:t>
              </a:r>
              <a:endParaRPr lang="zh-CN" sz="1350" dirty="0">
                <a:solidFill>
                  <a:schemeClr val="dk1">
                    <a:alphaMod val="8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 rot="60000">
            <a:off x="7239831" y="2857507"/>
            <a:ext cx="4381500" cy="1333500"/>
            <a:chOff x="7239000" y="2857500"/>
            <a:chExt cx="4381500" cy="1333500"/>
          </a:xfrm>
        </p:grpSpPr>
        <p:sp>
          <p:nvSpPr>
            <p:cNvPr id="26" name="Rectangle 26"/>
            <p:cNvSpPr/>
            <p:nvPr/>
          </p:nvSpPr>
          <p:spPr>
            <a:xfrm>
              <a:off x="7239000" y="2857500"/>
              <a:ext cx="4381500" cy="133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31" name="Group 31"/>
            <p:cNvGrpSpPr/>
            <p:nvPr/>
          </p:nvGrpSpPr>
          <p:grpSpPr>
            <a:xfrm>
              <a:off x="7558087" y="3195637"/>
              <a:ext cx="314324" cy="314325"/>
              <a:chOff x="7558087" y="3195637"/>
              <a:chExt cx="314324" cy="31432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593012" y="3195637"/>
                <a:ext cx="13970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139700">
                    <a:moveTo>
                      <a:pt x="0" y="69850"/>
                    </a:moveTo>
                    <a:cubicBezTo>
                      <a:pt x="0" y="108427"/>
                      <a:pt x="31273" y="139700"/>
                      <a:pt x="69850" y="139700"/>
                    </a:cubicBezTo>
                    <a:cubicBezTo>
                      <a:pt x="108427" y="139700"/>
                      <a:pt x="139700" y="108427"/>
                      <a:pt x="139700" y="69850"/>
                    </a:cubicBezTo>
                    <a:cubicBezTo>
                      <a:pt x="139700" y="31273"/>
                      <a:pt x="108427" y="0"/>
                      <a:pt x="69850" y="0"/>
                    </a:cubicBezTo>
                    <a:cubicBezTo>
                      <a:pt x="31273" y="0"/>
                      <a:pt x="0" y="31273"/>
                      <a:pt x="0" y="69850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  <p:txBody>
              <a:bodyPr/>
              <a:p/>
            </p:txBody>
          </p:sp>
          <p:sp>
            <p:nvSpPr>
              <p:cNvPr id="28" name="Freeform 28"/>
              <p:cNvSpPr/>
              <p:nvPr/>
            </p:nvSpPr>
            <p:spPr>
              <a:xfrm>
                <a:off x="7558087" y="3405187"/>
                <a:ext cx="209550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04775">
                    <a:moveTo>
                      <a:pt x="0" y="104775"/>
                    </a:moveTo>
                    <a:lnTo>
                      <a:pt x="0" y="69850"/>
                    </a:lnTo>
                    <a:cubicBezTo>
                      <a:pt x="0" y="31273"/>
                      <a:pt x="31273" y="0"/>
                      <a:pt x="69850" y="0"/>
                    </a:cubicBezTo>
                    <a:lnTo>
                      <a:pt x="139700" y="0"/>
                    </a:lnTo>
                    <a:cubicBezTo>
                      <a:pt x="178277" y="0"/>
                      <a:pt x="209550" y="31273"/>
                      <a:pt x="209550" y="69850"/>
                    </a:cubicBezTo>
                    <a:lnTo>
                      <a:pt x="209550" y="104775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  <p:txBody>
              <a:bodyPr/>
              <a:p/>
            </p:txBody>
          </p:sp>
          <p:sp>
            <p:nvSpPr>
              <p:cNvPr id="29" name="Freeform 29"/>
              <p:cNvSpPr/>
              <p:nvPr/>
            </p:nvSpPr>
            <p:spPr>
              <a:xfrm>
                <a:off x="7785099" y="3197908"/>
                <a:ext cx="52524" cy="135334"/>
              </a:xfrm>
              <a:custGeom>
                <a:avLst/>
                <a:gdLst/>
                <a:ahLst/>
                <a:cxnLst/>
                <a:rect l="l" t="t" r="r" b="b"/>
                <a:pathLst>
                  <a:path w="52524" h="135334">
                    <a:moveTo>
                      <a:pt x="0" y="0"/>
                    </a:moveTo>
                    <a:cubicBezTo>
                      <a:pt x="30907" y="7913"/>
                      <a:pt x="52524" y="35763"/>
                      <a:pt x="52524" y="67667"/>
                    </a:cubicBezTo>
                    <a:cubicBezTo>
                      <a:pt x="52524" y="99571"/>
                      <a:pt x="30907" y="127421"/>
                      <a:pt x="0" y="135334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  <p:txBody>
              <a:bodyPr/>
              <a:p/>
            </p:txBody>
          </p:sp>
          <p:sp>
            <p:nvSpPr>
              <p:cNvPr id="30" name="Freeform 30"/>
              <p:cNvSpPr/>
              <p:nvPr/>
            </p:nvSpPr>
            <p:spPr>
              <a:xfrm>
                <a:off x="7820024" y="3407806"/>
                <a:ext cx="52387" cy="102155"/>
              </a:xfrm>
              <a:custGeom>
                <a:avLst/>
                <a:gdLst/>
                <a:ahLst/>
                <a:cxnLst/>
                <a:rect l="l" t="t" r="r" b="b"/>
                <a:pathLst>
                  <a:path w="52387" h="102155">
                    <a:moveTo>
                      <a:pt x="52387" y="102155"/>
                    </a:moveTo>
                    <a:lnTo>
                      <a:pt x="52387" y="67231"/>
                    </a:lnTo>
                    <a:cubicBezTo>
                      <a:pt x="52205" y="35529"/>
                      <a:pt x="30696" y="7925"/>
                      <a:pt x="0" y="0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  <p:txBody>
              <a:bodyPr/>
              <a:p/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8106156" y="32537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公司矩阵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08442" y="3626168"/>
              <a:ext cx="21451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>
                      <a:alphaMod val="80000"/>
                    </a:schemeClr>
                  </a:solidFill>
                  <a:latin typeface="+mn-lt"/>
                  <a:ea typeface="+mn-ea"/>
                  <a:cs typeface="+mn-cs"/>
                </a:rPr>
                <a:t>KVL 回声系列 6 账号统筹</a:t>
              </a:r>
              <a:endParaRPr lang="zh-CN" sz="1350" dirty="0">
                <a:solidFill>
                  <a:schemeClr val="dk1">
                    <a:alphaMod val="8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08442" y="3892868"/>
              <a:ext cx="15857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>
                      <a:alphaMod val="80000"/>
                    </a:schemeClr>
                  </a:solidFill>
                  <a:latin typeface="+mn-lt"/>
                  <a:ea typeface="+mn-ea"/>
                  <a:cs typeface="+mn-cs"/>
                </a:rPr>
                <a:t>10 个月 2404 万播放</a:t>
              </a:r>
              <a:endParaRPr lang="zh-CN" sz="1350" dirty="0">
                <a:solidFill>
                  <a:schemeClr val="dk1">
                    <a:alphaMod val="8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 rot="-60000">
            <a:off x="7239000" y="4476750"/>
            <a:ext cx="4381500" cy="1619250"/>
            <a:chOff x="7239000" y="4476750"/>
            <a:chExt cx="4381500" cy="1619250"/>
          </a:xfrm>
        </p:grpSpPr>
        <p:sp>
          <p:nvSpPr>
            <p:cNvPr id="36" name="Rectangle 36"/>
            <p:cNvSpPr/>
            <p:nvPr/>
          </p:nvSpPr>
          <p:spPr>
            <a:xfrm>
              <a:off x="7239000" y="4476750"/>
              <a:ext cx="4381500" cy="1619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534521" y="4814887"/>
              <a:ext cx="341011" cy="314325"/>
              <a:chOff x="7534521" y="4814887"/>
              <a:chExt cx="341011" cy="31432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534521" y="4814887"/>
                <a:ext cx="341011" cy="311635"/>
              </a:xfrm>
              <a:custGeom>
                <a:avLst/>
                <a:gdLst/>
                <a:ahLst/>
                <a:cxnLst/>
                <a:rect l="l" t="t" r="r" b="b"/>
                <a:pathLst>
                  <a:path w="341011" h="311635">
                    <a:moveTo>
                      <a:pt x="171299" y="311635"/>
                    </a:moveTo>
                    <a:cubicBezTo>
                      <a:pt x="61905" y="277725"/>
                      <a:pt x="0" y="162269"/>
                      <a:pt x="32298" y="52387"/>
                    </a:cubicBezTo>
                    <a:cubicBezTo>
                      <a:pt x="86703" y="54877"/>
                      <a:pt x="139939" y="36088"/>
                      <a:pt x="180729" y="0"/>
                    </a:cubicBezTo>
                    <a:cubicBezTo>
                      <a:pt x="221518" y="36088"/>
                      <a:pt x="274755" y="54877"/>
                      <a:pt x="329160" y="52387"/>
                    </a:cubicBezTo>
                    <a:cubicBezTo>
                      <a:pt x="341011" y="92710"/>
                      <a:pt x="340463" y="135665"/>
                      <a:pt x="327588" y="175672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767637" y="5059362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0" y="34925"/>
                    </a:moveTo>
                    <a:lnTo>
                      <a:pt x="34925" y="69850"/>
                    </a:ln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8106156" y="48729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信息流项目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108442" y="5245418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>
                      <a:alphaMod val="80000"/>
                    </a:schemeClr>
                  </a:solidFill>
                  <a:latin typeface="+mn-lt"/>
                  <a:ea typeface="+mn-ea"/>
                  <a:cs typeface="+mn-cs"/>
                </a:rPr>
                <a:t>供应商对接 + 视频内容审核</a:t>
              </a:r>
              <a:endParaRPr lang="zh-CN" sz="1350" dirty="0">
                <a:solidFill>
                  <a:schemeClr val="dk1">
                    <a:alphaMod val="8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108442" y="5512118"/>
              <a:ext cx="25068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>
                      <a:alphaMod val="80000"/>
                    </a:schemeClr>
                  </a:solidFill>
                  <a:latin typeface="+mn-lt"/>
                  <a:ea typeface="+mn-ea"/>
                  <a:cs typeface="+mn-cs"/>
                </a:rPr>
                <a:t>iQOO / S60 / Fold6 执行复盘</a:t>
              </a:r>
              <a:endParaRPr lang="zh-CN" sz="1350" dirty="0">
                <a:solidFill>
                  <a:schemeClr val="dk1">
                    <a:alphaMod val="8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66166" y="6497002"/>
            <a:ext cx="11250168" cy="205359"/>
            <a:chOff x="566166" y="6497002"/>
            <a:chExt cx="11250168" cy="205359"/>
          </a:xfrm>
        </p:grpSpPr>
        <p:sp>
          <p:nvSpPr>
            <p:cNvPr id="44" name="TextBox 44"/>
            <p:cNvSpPr txBox="1"/>
            <p:nvPr/>
          </p:nvSpPr>
          <p:spPr>
            <a:xfrm>
              <a:off x="566166" y="6497002"/>
              <a:ext cx="16236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55000"/>
                    </a:scheme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OPS PORTFOLIO · 2026</a:t>
              </a:r>
              <a:endParaRPr lang="zh-CN" sz="1050" dirty="0">
                <a:solidFill>
                  <a:schemeClr val="dk1">
                    <a:alphaMod val="55000"/>
                  </a:scheme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33214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dk1">
                      <a:alphaMod val="55000"/>
                    </a:scheme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02 / 16</a:t>
              </a:r>
              <a:endParaRPr lang="zh-CN" sz="1050" dirty="0">
                <a:solidFill>
                  <a:schemeClr val="dk1">
                    <a:alphaMod val="55000"/>
                  </a:scheme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605448" y="673418"/>
            <a:ext cx="2021910" cy="264033"/>
            <a:chOff x="9605448" y="673418"/>
            <a:chExt cx="2021910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9605448" y="673418"/>
              <a:ext cx="20219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growth loop, six steps</a:t>
              </a:r>
              <a:endParaRPr lang="zh-CN" sz="1350" dirty="0">
                <a:solidFill>
                  <a:schemeClr val="accent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55498" y="479108"/>
            <a:ext cx="8937117" cy="616077"/>
            <a:chOff x="555498" y="479108"/>
            <a:chExt cx="8937117" cy="616077"/>
          </a:xfrm>
        </p:grpSpPr>
        <p:sp>
          <p:nvSpPr>
            <p:cNvPr id="4" name="TextBox 4"/>
            <p:cNvSpPr txBox="1"/>
            <p:nvPr/>
          </p:nvSpPr>
          <p:spPr>
            <a:xfrm>
              <a:off x="555498" y="479108"/>
              <a:ext cx="893711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我的运营方法是六步闭环，不是六个孤立动作</a:t>
              </a:r>
              <a:endPara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806717" y="1704975"/>
            <a:ext cx="4578566" cy="4210050"/>
            <a:chOff x="3806717" y="1704975"/>
            <a:chExt cx="4578566" cy="4210050"/>
          </a:xfrm>
        </p:grpSpPr>
        <p:sp>
          <p:nvSpPr>
            <p:cNvPr id="6" name="Freeform 6"/>
            <p:cNvSpPr/>
            <p:nvPr/>
          </p:nvSpPr>
          <p:spPr>
            <a:xfrm>
              <a:off x="6991350" y="1704975"/>
              <a:ext cx="476250" cy="276225"/>
            </a:xfrm>
            <a:custGeom>
              <a:avLst/>
              <a:gdLst/>
              <a:ahLst/>
              <a:cxnLst/>
              <a:rect l="l" t="t" r="r" b="b"/>
              <a:pathLst>
                <a:path w="476250" h="276225">
                  <a:moveTo>
                    <a:pt x="0" y="0"/>
                  </a:moveTo>
                  <a:cubicBezTo>
                    <a:pt x="169298" y="72552"/>
                    <a:pt x="329208" y="165300"/>
                    <a:pt x="476250" y="276225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7" name="Freeform 7"/>
            <p:cNvSpPr/>
            <p:nvPr/>
          </p:nvSpPr>
          <p:spPr>
            <a:xfrm>
              <a:off x="8362950" y="3533775"/>
              <a:ext cx="22333" cy="552450"/>
            </a:xfrm>
            <a:custGeom>
              <a:avLst/>
              <a:gdLst/>
              <a:ahLst/>
              <a:cxnLst/>
              <a:rect l="l" t="t" r="r" b="b"/>
              <a:pathLst>
                <a:path w="22333" h="552450">
                  <a:moveTo>
                    <a:pt x="0" y="0"/>
                  </a:moveTo>
                  <a:cubicBezTo>
                    <a:pt x="22333" y="183473"/>
                    <a:pt x="22333" y="368977"/>
                    <a:pt x="0" y="55245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8" name="Freeform 8"/>
            <p:cNvSpPr/>
            <p:nvPr/>
          </p:nvSpPr>
          <p:spPr>
            <a:xfrm>
              <a:off x="6991350" y="5638800"/>
              <a:ext cx="476250" cy="276225"/>
            </a:xfrm>
            <a:custGeom>
              <a:avLst/>
              <a:gdLst/>
              <a:ahLst/>
              <a:cxnLst/>
              <a:rect l="l" t="t" r="r" b="b"/>
              <a:pathLst>
                <a:path w="476250" h="276225">
                  <a:moveTo>
                    <a:pt x="476250" y="0"/>
                  </a:moveTo>
                  <a:cubicBezTo>
                    <a:pt x="329208" y="110925"/>
                    <a:pt x="169298" y="203673"/>
                    <a:pt x="0" y="276225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9" name="Freeform 9"/>
            <p:cNvSpPr/>
            <p:nvPr/>
          </p:nvSpPr>
          <p:spPr>
            <a:xfrm>
              <a:off x="4724400" y="5638800"/>
              <a:ext cx="476250" cy="276225"/>
            </a:xfrm>
            <a:custGeom>
              <a:avLst/>
              <a:gdLst/>
              <a:ahLst/>
              <a:cxnLst/>
              <a:rect l="l" t="t" r="r" b="b"/>
              <a:pathLst>
                <a:path w="476250" h="276225">
                  <a:moveTo>
                    <a:pt x="476250" y="276225"/>
                  </a:moveTo>
                  <a:cubicBezTo>
                    <a:pt x="306952" y="203673"/>
                    <a:pt x="147042" y="110925"/>
                    <a:pt x="0" y="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0" name="Freeform 10"/>
            <p:cNvSpPr/>
            <p:nvPr/>
          </p:nvSpPr>
          <p:spPr>
            <a:xfrm>
              <a:off x="3806717" y="3533775"/>
              <a:ext cx="22333" cy="552450"/>
            </a:xfrm>
            <a:custGeom>
              <a:avLst/>
              <a:gdLst/>
              <a:ahLst/>
              <a:cxnLst/>
              <a:rect l="l" t="t" r="r" b="b"/>
              <a:pathLst>
                <a:path w="22333" h="552450">
                  <a:moveTo>
                    <a:pt x="22333" y="552450"/>
                  </a:moveTo>
                  <a:cubicBezTo>
                    <a:pt x="0" y="368977"/>
                    <a:pt x="0" y="183473"/>
                    <a:pt x="22333" y="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1" name="Freeform 11"/>
            <p:cNvSpPr/>
            <p:nvPr/>
          </p:nvSpPr>
          <p:spPr>
            <a:xfrm>
              <a:off x="4724400" y="1704975"/>
              <a:ext cx="476250" cy="276225"/>
            </a:xfrm>
            <a:custGeom>
              <a:avLst/>
              <a:gdLst/>
              <a:ahLst/>
              <a:cxnLst/>
              <a:rect l="l" t="t" r="r" b="b"/>
              <a:pathLst>
                <a:path w="476250" h="276225">
                  <a:moveTo>
                    <a:pt x="0" y="276225"/>
                  </a:moveTo>
                  <a:cubicBezTo>
                    <a:pt x="147042" y="165300"/>
                    <a:pt x="306952" y="72552"/>
                    <a:pt x="476250" y="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597804" y="3469958"/>
            <a:ext cx="996391" cy="736853"/>
            <a:chOff x="5597804" y="3469958"/>
            <a:chExt cx="996391" cy="736853"/>
          </a:xfrm>
        </p:grpSpPr>
        <p:sp>
          <p:nvSpPr>
            <p:cNvPr id="13" name="TextBox 13"/>
            <p:cNvSpPr txBox="1"/>
            <p:nvPr/>
          </p:nvSpPr>
          <p:spPr>
            <a:xfrm>
              <a:off x="5634742" y="3469958"/>
              <a:ext cx="92251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闭环</a:t>
              </a:r>
              <a:endParaRPr lang="zh-CN" sz="31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597804" y="4001452"/>
              <a:ext cx="9963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3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GROWTH LOOP</a:t>
              </a:r>
              <a:endParaRPr lang="zh-CN" sz="1050" dirty="0">
                <a:solidFill>
                  <a:schemeClr val="accent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191125" y="1104900"/>
            <a:ext cx="1809750" cy="838200"/>
            <a:chOff x="5191125" y="1104900"/>
            <a:chExt cx="1809750" cy="838200"/>
          </a:xfrm>
        </p:grpSpPr>
        <p:sp>
          <p:nvSpPr>
            <p:cNvPr id="16" name="Rectangle 16"/>
            <p:cNvSpPr/>
            <p:nvPr/>
          </p:nvSpPr>
          <p:spPr>
            <a:xfrm>
              <a:off x="5191125" y="1104900"/>
              <a:ext cx="1809750" cy="838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5355431" y="1288256"/>
              <a:ext cx="185737" cy="185737"/>
              <a:chOff x="5355431" y="1288256"/>
              <a:chExt cx="185737" cy="185737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5437981" y="1370806"/>
                <a:ext cx="20637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20637">
                    <a:moveTo>
                      <a:pt x="0" y="10319"/>
                    </a:moveTo>
                    <a:cubicBezTo>
                      <a:pt x="0" y="16018"/>
                      <a:pt x="4620" y="20637"/>
                      <a:pt x="10319" y="20637"/>
                    </a:cubicBezTo>
                    <a:cubicBezTo>
                      <a:pt x="16018" y="20637"/>
                      <a:pt x="20637" y="16018"/>
                      <a:pt x="20637" y="10319"/>
                    </a:cubicBezTo>
                    <a:cubicBezTo>
                      <a:pt x="20637" y="4620"/>
                      <a:pt x="16018" y="0"/>
                      <a:pt x="10319" y="0"/>
                    </a:cubicBezTo>
                    <a:cubicBezTo>
                      <a:pt x="4620" y="0"/>
                      <a:pt x="0" y="4620"/>
                      <a:pt x="0" y="10319"/>
                    </a:cubicBez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5396706" y="1329531"/>
                <a:ext cx="103187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103187" h="103187">
                    <a:moveTo>
                      <a:pt x="0" y="51594"/>
                    </a:moveTo>
                    <a:cubicBezTo>
                      <a:pt x="0" y="80088"/>
                      <a:pt x="23099" y="103187"/>
                      <a:pt x="51594" y="103187"/>
                    </a:cubicBezTo>
                    <a:cubicBezTo>
                      <a:pt x="80088" y="103187"/>
                      <a:pt x="103187" y="80088"/>
                      <a:pt x="103187" y="51594"/>
                    </a:cubicBezTo>
                    <a:cubicBezTo>
                      <a:pt x="103187" y="23099"/>
                      <a:pt x="80088" y="0"/>
                      <a:pt x="51594" y="0"/>
                    </a:cubicBezTo>
                    <a:cubicBezTo>
                      <a:pt x="23099" y="0"/>
                      <a:pt x="0" y="23099"/>
                      <a:pt x="0" y="51594"/>
                    </a:cubicBez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355431" y="1288256"/>
                <a:ext cx="185737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85737">
                    <a:moveTo>
                      <a:pt x="0" y="92868"/>
                    </a:moveTo>
                    <a:cubicBezTo>
                      <a:pt x="0" y="144158"/>
                      <a:pt x="41579" y="185737"/>
                      <a:pt x="92868" y="185737"/>
                    </a:cubicBezTo>
                    <a:cubicBezTo>
                      <a:pt x="144158" y="185737"/>
                      <a:pt x="185737" y="144158"/>
                      <a:pt x="185737" y="92868"/>
                    </a:cubicBezTo>
                    <a:cubicBezTo>
                      <a:pt x="185737" y="41579"/>
                      <a:pt x="144158" y="0"/>
                      <a:pt x="92868" y="0"/>
                    </a:cubicBezTo>
                    <a:cubicBezTo>
                      <a:pt x="41579" y="0"/>
                      <a:pt x="0" y="41579"/>
                      <a:pt x="0" y="92868"/>
                    </a:cubicBez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5658231" y="12725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账号定位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62041" y="1639252"/>
              <a:ext cx="11556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赛道·人设·差异化</a:t>
              </a:r>
              <a:endParaRPr lang="zh-CN" sz="1050" dirty="0">
                <a:solidFill>
                  <a:schemeClr val="dk1">
                    <a:alphaMod val="7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172325" y="2247900"/>
            <a:ext cx="1809750" cy="838200"/>
            <a:chOff x="7172325" y="2247900"/>
            <a:chExt cx="1809750" cy="838200"/>
          </a:xfrm>
        </p:grpSpPr>
        <p:sp>
          <p:nvSpPr>
            <p:cNvPr id="24" name="Rectangle 24"/>
            <p:cNvSpPr/>
            <p:nvPr/>
          </p:nvSpPr>
          <p:spPr>
            <a:xfrm>
              <a:off x="7172325" y="2247900"/>
              <a:ext cx="1809750" cy="838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36631" y="2431256"/>
              <a:ext cx="185737" cy="185737"/>
              <a:chOff x="7336631" y="2431256"/>
              <a:chExt cx="185737" cy="185737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336631" y="2431256"/>
                <a:ext cx="185737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92868">
                    <a:moveTo>
                      <a:pt x="0" y="92868"/>
                    </a:moveTo>
                    <a:lnTo>
                      <a:pt x="10319" y="92868"/>
                    </a:lnTo>
                    <a:moveTo>
                      <a:pt x="92868" y="0"/>
                    </a:moveTo>
                    <a:lnTo>
                      <a:pt x="92868" y="10319"/>
                    </a:lnTo>
                    <a:moveTo>
                      <a:pt x="175418" y="92868"/>
                    </a:moveTo>
                    <a:lnTo>
                      <a:pt x="185737" y="92868"/>
                    </a:lnTo>
                    <a:moveTo>
                      <a:pt x="26829" y="26829"/>
                    </a:moveTo>
                    <a:lnTo>
                      <a:pt x="34052" y="34052"/>
                    </a:lnTo>
                    <a:moveTo>
                      <a:pt x="158908" y="26829"/>
                    </a:moveTo>
                    <a:lnTo>
                      <a:pt x="151685" y="34052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373531" y="2472531"/>
                <a:ext cx="111937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111937" h="144462">
                    <a:moveTo>
                      <a:pt x="25012" y="92868"/>
                    </a:moveTo>
                    <a:cubicBezTo>
                      <a:pt x="7246" y="79544"/>
                      <a:pt x="0" y="56346"/>
                      <a:pt x="7023" y="35278"/>
                    </a:cubicBezTo>
                    <a:cubicBezTo>
                      <a:pt x="14045" y="14210"/>
                      <a:pt x="33761" y="0"/>
                      <a:pt x="55969" y="0"/>
                    </a:cubicBezTo>
                    <a:cubicBezTo>
                      <a:pt x="78176" y="0"/>
                      <a:pt x="97892" y="14210"/>
                      <a:pt x="104915" y="35278"/>
                    </a:cubicBezTo>
                    <a:cubicBezTo>
                      <a:pt x="111937" y="56346"/>
                      <a:pt x="104691" y="79544"/>
                      <a:pt x="86925" y="92868"/>
                    </a:cubicBezTo>
                    <a:cubicBezTo>
                      <a:pt x="78754" y="100957"/>
                      <a:pt x="74922" y="112452"/>
                      <a:pt x="76606" y="123825"/>
                    </a:cubicBezTo>
                    <a:cubicBezTo>
                      <a:pt x="76606" y="135222"/>
                      <a:pt x="67366" y="144462"/>
                      <a:pt x="55969" y="144462"/>
                    </a:cubicBezTo>
                    <a:cubicBezTo>
                      <a:pt x="44571" y="144462"/>
                      <a:pt x="35331" y="135222"/>
                      <a:pt x="35331" y="123825"/>
                    </a:cubicBezTo>
                    <a:cubicBezTo>
                      <a:pt x="37015" y="112452"/>
                      <a:pt x="33183" y="100957"/>
                      <a:pt x="25012" y="92868"/>
                    </a:cubicBez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405767" y="2575718"/>
                <a:ext cx="4746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466" h="9525">
                    <a:moveTo>
                      <a:pt x="0" y="0"/>
                    </a:moveTo>
                    <a:lnTo>
                      <a:pt x="47466" y="0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7639431" y="24155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选题策划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43241" y="2782252"/>
              <a:ext cx="10142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痛点·热点·栏目</a:t>
              </a:r>
              <a:endParaRPr lang="zh-CN" sz="1050" dirty="0">
                <a:solidFill>
                  <a:schemeClr val="dk1">
                    <a:alphaMod val="7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172325" y="4533900"/>
            <a:ext cx="1809750" cy="838200"/>
            <a:chOff x="7172325" y="4533900"/>
            <a:chExt cx="1809750" cy="838200"/>
          </a:xfrm>
        </p:grpSpPr>
        <p:sp>
          <p:nvSpPr>
            <p:cNvPr id="32" name="Rectangle 32"/>
            <p:cNvSpPr/>
            <p:nvPr/>
          </p:nvSpPr>
          <p:spPr>
            <a:xfrm>
              <a:off x="7172325" y="4533900"/>
              <a:ext cx="1809750" cy="838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36631" y="4748212"/>
              <a:ext cx="185737" cy="123825"/>
              <a:chOff x="7336631" y="4748212"/>
              <a:chExt cx="185737" cy="1238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460456" y="4764404"/>
                <a:ext cx="61912" cy="9144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1442">
                    <a:moveTo>
                      <a:pt x="0" y="25083"/>
                    </a:moveTo>
                    <a:lnTo>
                      <a:pt x="46981" y="1598"/>
                    </a:lnTo>
                    <a:cubicBezTo>
                      <a:pt x="50179" y="0"/>
                      <a:pt x="53976" y="171"/>
                      <a:pt x="57017" y="2050"/>
                    </a:cubicBezTo>
                    <a:cubicBezTo>
                      <a:pt x="60058" y="3929"/>
                      <a:pt x="61910" y="7248"/>
                      <a:pt x="61912" y="10823"/>
                    </a:cubicBezTo>
                    <a:lnTo>
                      <a:pt x="61912" y="80619"/>
                    </a:lnTo>
                    <a:cubicBezTo>
                      <a:pt x="61910" y="84194"/>
                      <a:pt x="60058" y="87513"/>
                      <a:pt x="57017" y="89392"/>
                    </a:cubicBezTo>
                    <a:cubicBezTo>
                      <a:pt x="53976" y="91271"/>
                      <a:pt x="50179" y="91442"/>
                      <a:pt x="46981" y="89844"/>
                    </a:cubicBezTo>
                    <a:lnTo>
                      <a:pt x="0" y="66358"/>
                    </a:lnTo>
                    <a:lnTo>
                      <a:pt x="0" y="25083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336631" y="4748212"/>
                <a:ext cx="1238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23825">
                    <a:moveTo>
                      <a:pt x="0" y="20637"/>
                    </a:moveTo>
                    <a:cubicBezTo>
                      <a:pt x="0" y="9240"/>
                      <a:pt x="9240" y="0"/>
                      <a:pt x="20637" y="0"/>
                    </a:cubicBezTo>
                    <a:lnTo>
                      <a:pt x="103187" y="0"/>
                    </a:lnTo>
                    <a:cubicBezTo>
                      <a:pt x="114585" y="0"/>
                      <a:pt x="123825" y="9240"/>
                      <a:pt x="123825" y="20637"/>
                    </a:cubicBezTo>
                    <a:lnTo>
                      <a:pt x="123825" y="103187"/>
                    </a:lnTo>
                    <a:cubicBezTo>
                      <a:pt x="123825" y="114585"/>
                      <a:pt x="114585" y="123825"/>
                      <a:pt x="103187" y="123825"/>
                    </a:cubicBezTo>
                    <a:lnTo>
                      <a:pt x="20637" y="123825"/>
                    </a:lnTo>
                    <a:cubicBezTo>
                      <a:pt x="9240" y="123825"/>
                      <a:pt x="0" y="114585"/>
                      <a:pt x="0" y="103187"/>
                    </a:cubicBezTo>
                    <a:lnTo>
                      <a:pt x="0" y="20637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7639431" y="47015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内容制作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43241" y="5068252"/>
              <a:ext cx="10142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脚本·拍摄·剪辑</a:t>
              </a:r>
              <a:endParaRPr lang="zh-CN" sz="1050" dirty="0">
                <a:solidFill>
                  <a:schemeClr val="dk1">
                    <a:alphaMod val="7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191125" y="5676900"/>
            <a:ext cx="1809750" cy="838200"/>
            <a:chOff x="5191125" y="5676900"/>
            <a:chExt cx="1809750" cy="838200"/>
          </a:xfrm>
        </p:grpSpPr>
        <p:sp>
          <p:nvSpPr>
            <p:cNvPr id="39" name="Rectangle 39"/>
            <p:cNvSpPr/>
            <p:nvPr/>
          </p:nvSpPr>
          <p:spPr>
            <a:xfrm>
              <a:off x="5191125" y="5676900"/>
              <a:ext cx="1809750" cy="838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5352120" y="5860256"/>
              <a:ext cx="189048" cy="189048"/>
              <a:chOff x="5352120" y="5860256"/>
              <a:chExt cx="189048" cy="189048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5427662" y="5860256"/>
                <a:ext cx="113506" cy="113506"/>
              </a:xfrm>
              <a:custGeom>
                <a:avLst/>
                <a:gdLst/>
                <a:ahLst/>
                <a:cxnLst/>
                <a:rect l="l" t="t" r="r" b="b"/>
                <a:pathLst>
                  <a:path w="113506" h="113506">
                    <a:moveTo>
                      <a:pt x="0" y="113506"/>
                    </a:moveTo>
                    <a:lnTo>
                      <a:pt x="113506" y="0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5352120" y="5860256"/>
                <a:ext cx="189048" cy="189048"/>
              </a:xfrm>
              <a:custGeom>
                <a:avLst/>
                <a:gdLst/>
                <a:ahLst/>
                <a:cxnLst/>
                <a:rect l="l" t="t" r="r" b="b"/>
                <a:pathLst>
                  <a:path w="189048" h="189048">
                    <a:moveTo>
                      <a:pt x="189048" y="0"/>
                    </a:moveTo>
                    <a:lnTo>
                      <a:pt x="121976" y="185737"/>
                    </a:lnTo>
                    <a:cubicBezTo>
                      <a:pt x="121052" y="187754"/>
                      <a:pt x="119036" y="189048"/>
                      <a:pt x="116817" y="189048"/>
                    </a:cubicBezTo>
                    <a:cubicBezTo>
                      <a:pt x="114598" y="189048"/>
                      <a:pt x="112582" y="187754"/>
                      <a:pt x="111658" y="185737"/>
                    </a:cubicBezTo>
                    <a:lnTo>
                      <a:pt x="75542" y="113506"/>
                    </a:lnTo>
                    <a:lnTo>
                      <a:pt x="3311" y="77390"/>
                    </a:lnTo>
                    <a:cubicBezTo>
                      <a:pt x="1294" y="76466"/>
                      <a:pt x="0" y="74450"/>
                      <a:pt x="0" y="72231"/>
                    </a:cubicBezTo>
                    <a:cubicBezTo>
                      <a:pt x="0" y="70012"/>
                      <a:pt x="1294" y="67996"/>
                      <a:pt x="3311" y="67072"/>
                    </a:cubicBezTo>
                    <a:lnTo>
                      <a:pt x="189048" y="0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5658231" y="58445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发布运营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662041" y="6211252"/>
              <a:ext cx="10142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节奏·评论·互动</a:t>
              </a:r>
              <a:endParaRPr lang="zh-CN" sz="1050" dirty="0">
                <a:solidFill>
                  <a:schemeClr val="dk1">
                    <a:alphaMod val="7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3209925" y="4533900"/>
            <a:ext cx="1809750" cy="838200"/>
            <a:chOff x="3209925" y="4533900"/>
            <a:chExt cx="1809750" cy="838200"/>
          </a:xfrm>
        </p:grpSpPr>
        <p:sp>
          <p:nvSpPr>
            <p:cNvPr id="46" name="Rectangle 46"/>
            <p:cNvSpPr/>
            <p:nvPr/>
          </p:nvSpPr>
          <p:spPr>
            <a:xfrm>
              <a:off x="3209925" y="4533900"/>
              <a:ext cx="1809750" cy="838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3374231" y="4727575"/>
              <a:ext cx="185737" cy="174624"/>
              <a:chOff x="3374231" y="4727575"/>
              <a:chExt cx="185737" cy="174624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3374231" y="4810125"/>
                <a:ext cx="61912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82550">
                    <a:moveTo>
                      <a:pt x="0" y="10319"/>
                    </a:moveTo>
                    <a:cubicBezTo>
                      <a:pt x="0" y="4620"/>
                      <a:pt x="4620" y="0"/>
                      <a:pt x="10319" y="0"/>
                    </a:cubicBezTo>
                    <a:lnTo>
                      <a:pt x="51594" y="0"/>
                    </a:lnTo>
                    <a:cubicBezTo>
                      <a:pt x="57292" y="0"/>
                      <a:pt x="61912" y="4620"/>
                      <a:pt x="61912" y="10319"/>
                    </a:cubicBezTo>
                    <a:lnTo>
                      <a:pt x="61912" y="72231"/>
                    </a:lnTo>
                    <a:cubicBezTo>
                      <a:pt x="61912" y="77930"/>
                      <a:pt x="57292" y="82550"/>
                      <a:pt x="51594" y="82550"/>
                    </a:cubicBezTo>
                    <a:lnTo>
                      <a:pt x="10319" y="82550"/>
                    </a:lnTo>
                    <a:cubicBezTo>
                      <a:pt x="4620" y="82550"/>
                      <a:pt x="0" y="77930"/>
                      <a:pt x="0" y="72231"/>
                    </a:cubicBezTo>
                    <a:lnTo>
                      <a:pt x="0" y="10319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3498056" y="4768850"/>
                <a:ext cx="61912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123825">
                    <a:moveTo>
                      <a:pt x="0" y="10319"/>
                    </a:moveTo>
                    <a:cubicBezTo>
                      <a:pt x="0" y="4620"/>
                      <a:pt x="4620" y="0"/>
                      <a:pt x="10319" y="0"/>
                    </a:cubicBezTo>
                    <a:lnTo>
                      <a:pt x="51594" y="0"/>
                    </a:lnTo>
                    <a:cubicBezTo>
                      <a:pt x="57292" y="0"/>
                      <a:pt x="61912" y="4620"/>
                      <a:pt x="61912" y="10319"/>
                    </a:cubicBezTo>
                    <a:lnTo>
                      <a:pt x="61912" y="113506"/>
                    </a:lnTo>
                    <a:cubicBezTo>
                      <a:pt x="61912" y="119205"/>
                      <a:pt x="57292" y="123825"/>
                      <a:pt x="51594" y="123825"/>
                    </a:cubicBezTo>
                    <a:lnTo>
                      <a:pt x="10319" y="123825"/>
                    </a:lnTo>
                    <a:cubicBezTo>
                      <a:pt x="4620" y="123825"/>
                      <a:pt x="0" y="119205"/>
                      <a:pt x="0" y="113506"/>
                    </a:cubicBezTo>
                    <a:lnTo>
                      <a:pt x="0" y="10319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3436143" y="4727575"/>
                <a:ext cx="61912" cy="165099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165099">
                    <a:moveTo>
                      <a:pt x="0" y="10319"/>
                    </a:moveTo>
                    <a:cubicBezTo>
                      <a:pt x="0" y="4620"/>
                      <a:pt x="4620" y="0"/>
                      <a:pt x="10319" y="0"/>
                    </a:cubicBezTo>
                    <a:lnTo>
                      <a:pt x="51594" y="0"/>
                    </a:lnTo>
                    <a:cubicBezTo>
                      <a:pt x="57292" y="0"/>
                      <a:pt x="61912" y="4620"/>
                      <a:pt x="61912" y="10319"/>
                    </a:cubicBezTo>
                    <a:lnTo>
                      <a:pt x="61912" y="154781"/>
                    </a:lnTo>
                    <a:cubicBezTo>
                      <a:pt x="61912" y="160480"/>
                      <a:pt x="57292" y="165099"/>
                      <a:pt x="51594" y="165099"/>
                    </a:cubicBezTo>
                    <a:lnTo>
                      <a:pt x="10319" y="165099"/>
                    </a:lnTo>
                    <a:cubicBezTo>
                      <a:pt x="4620" y="165099"/>
                      <a:pt x="0" y="160480"/>
                      <a:pt x="0" y="154781"/>
                    </a:cubicBezTo>
                    <a:lnTo>
                      <a:pt x="0" y="10319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3384550" y="4892674"/>
                <a:ext cx="1444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9525">
                    <a:moveTo>
                      <a:pt x="0" y="0"/>
                    </a:moveTo>
                    <a:lnTo>
                      <a:pt x="144462" y="0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3677031" y="47015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数据复盘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680841" y="5068252"/>
              <a:ext cx="10142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播放·完播·互动</a:t>
              </a:r>
              <a:endParaRPr lang="zh-CN" sz="1050" dirty="0">
                <a:solidFill>
                  <a:schemeClr val="dk1">
                    <a:alphaMod val="7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3209925" y="2247900"/>
            <a:ext cx="1809750" cy="838200"/>
            <a:chOff x="3209925" y="2247900"/>
            <a:chExt cx="1809750" cy="838200"/>
          </a:xfrm>
        </p:grpSpPr>
        <p:sp>
          <p:nvSpPr>
            <p:cNvPr id="55" name="Rectangle 55"/>
            <p:cNvSpPr/>
            <p:nvPr/>
          </p:nvSpPr>
          <p:spPr>
            <a:xfrm>
              <a:off x="3209925" y="2247900"/>
              <a:ext cx="1809750" cy="838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3384550" y="2437594"/>
              <a:ext cx="165099" cy="173061"/>
              <a:chOff x="3384550" y="2437594"/>
              <a:chExt cx="165099" cy="173061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3384550" y="2437594"/>
                <a:ext cx="165099" cy="76212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76212">
                    <a:moveTo>
                      <a:pt x="165099" y="76212"/>
                    </a:moveTo>
                    <a:cubicBezTo>
                      <a:pt x="159912" y="38885"/>
                      <a:pt x="130386" y="9646"/>
                      <a:pt x="93010" y="4823"/>
                    </a:cubicBezTo>
                    <a:cubicBezTo>
                      <a:pt x="55633" y="0"/>
                      <a:pt x="19652" y="20787"/>
                      <a:pt x="5159" y="55575"/>
                    </a:cubicBezTo>
                    <a:moveTo>
                      <a:pt x="0" y="14300"/>
                    </a:moveTo>
                    <a:lnTo>
                      <a:pt x="0" y="55575"/>
                    </a:lnTo>
                    <a:lnTo>
                      <a:pt x="41275" y="55575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3384550" y="2534443"/>
                <a:ext cx="165099" cy="76212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76212">
                    <a:moveTo>
                      <a:pt x="0" y="0"/>
                    </a:moveTo>
                    <a:cubicBezTo>
                      <a:pt x="5187" y="37328"/>
                      <a:pt x="34714" y="66567"/>
                      <a:pt x="72090" y="71390"/>
                    </a:cubicBezTo>
                    <a:cubicBezTo>
                      <a:pt x="109466" y="76212"/>
                      <a:pt x="145447" y="55426"/>
                      <a:pt x="159940" y="20637"/>
                    </a:cubicBezTo>
                    <a:moveTo>
                      <a:pt x="165099" y="61912"/>
                    </a:moveTo>
                    <a:lnTo>
                      <a:pt x="165099" y="20637"/>
                    </a:lnTo>
                    <a:lnTo>
                      <a:pt x="123825" y="20637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3677031" y="24155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迭代增长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680841" y="27822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经验回流选题</a:t>
              </a:r>
              <a:endParaRPr lang="zh-CN" sz="1050" dirty="0">
                <a:solidFill>
                  <a:schemeClr val="dk1">
                    <a:alphaMod val="7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66166" y="6497002"/>
            <a:ext cx="11250168" cy="205359"/>
            <a:chOff x="566166" y="6497002"/>
            <a:chExt cx="11250168" cy="205359"/>
          </a:xfrm>
        </p:grpSpPr>
        <p:sp>
          <p:nvSpPr>
            <p:cNvPr id="62" name="TextBox 62"/>
            <p:cNvSpPr txBox="1"/>
            <p:nvPr/>
          </p:nvSpPr>
          <p:spPr>
            <a:xfrm>
              <a:off x="566166" y="6497002"/>
              <a:ext cx="16236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55000"/>
                    </a:scheme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OPS PORTFOLIO · 2026</a:t>
              </a:r>
              <a:endParaRPr lang="zh-CN" sz="1050" dirty="0">
                <a:solidFill>
                  <a:schemeClr val="dk1">
                    <a:alphaMod val="55000"/>
                  </a:scheme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33214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dk1">
                      <a:alphaMod val="55000"/>
                    </a:scheme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03 / 16</a:t>
              </a:r>
              <a:endParaRPr lang="zh-CN" sz="1050" dirty="0">
                <a:solidFill>
                  <a:schemeClr val="dk1">
                    <a:alphaMod val="55000"/>
                  </a:scheme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200775" y="381000"/>
            <a:ext cx="5610225" cy="6096000"/>
            <a:chOff x="6200775" y="381000"/>
            <a:chExt cx="5610225" cy="6096000"/>
          </a:xfrm>
        </p:grpSpPr>
        <p:sp>
          <p:nvSpPr>
            <p:cNvPr id="2" name="Polygon 2"/>
            <p:cNvSpPr/>
            <p:nvPr/>
          </p:nvSpPr>
          <p:spPr>
            <a:xfrm>
              <a:off x="6200775" y="381000"/>
              <a:ext cx="5610225" cy="6096000"/>
            </a:xfrm>
            <a:custGeom>
              <a:avLst/>
              <a:gdLst/>
              <a:ahLst/>
              <a:cxnLst/>
              <a:rect l="l" t="t" r="r" b="b"/>
              <a:pathLst>
                <a:path w="5610225" h="6096000">
                  <a:moveTo>
                    <a:pt x="238125" y="0"/>
                  </a:moveTo>
                  <a:lnTo>
                    <a:pt x="5610225" y="0"/>
                  </a:lnTo>
                  <a:lnTo>
                    <a:pt x="5610225" y="6096000"/>
                  </a:lnTo>
                  <a:lnTo>
                    <a:pt x="95250" y="6096000"/>
                  </a:lnTo>
                  <a:lnTo>
                    <a:pt x="285750" y="5715000"/>
                  </a:lnTo>
                  <a:lnTo>
                    <a:pt x="28575" y="5334000"/>
                  </a:lnTo>
                  <a:lnTo>
                    <a:pt x="219075" y="4914900"/>
                  </a:lnTo>
                  <a:lnTo>
                    <a:pt x="0" y="4495800"/>
                  </a:lnTo>
                  <a:lnTo>
                    <a:pt x="238125" y="4095750"/>
                  </a:lnTo>
                  <a:lnTo>
                    <a:pt x="47625" y="3695700"/>
                  </a:lnTo>
                  <a:lnTo>
                    <a:pt x="257175" y="3276600"/>
                  </a:lnTo>
                  <a:lnTo>
                    <a:pt x="28575" y="2857500"/>
                  </a:lnTo>
                  <a:lnTo>
                    <a:pt x="238125" y="2438400"/>
                  </a:lnTo>
                  <a:lnTo>
                    <a:pt x="66675" y="2019300"/>
                  </a:lnTo>
                  <a:lnTo>
                    <a:pt x="276225" y="1600200"/>
                  </a:lnTo>
                  <a:lnTo>
                    <a:pt x="47625" y="1181100"/>
                  </a:lnTo>
                  <a:lnTo>
                    <a:pt x="257175" y="762000"/>
                  </a:lnTo>
                  <a:lnTo>
                    <a:pt x="85725" y="381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1"/>
            <a:srcRect t="16408" b="16408"/>
            <a:stretch>
              <a:fillRect/>
            </a:stretch>
          </p:blipFill>
          <p:spPr>
            <a:xfrm>
              <a:off x="6286500" y="381000"/>
              <a:ext cx="5524500" cy="6096000"/>
            </a:xfrm>
            <a:custGeom>
              <a:avLst/>
              <a:gdLst/>
              <a:ahLst/>
              <a:cxnLst/>
              <a:rect l="l" t="t" r="r" b="b"/>
              <a:pathLst>
                <a:path w="5524500" h="6096000">
                  <a:moveTo>
                    <a:pt x="285750" y="0"/>
                  </a:moveTo>
                  <a:lnTo>
                    <a:pt x="5524500" y="0"/>
                  </a:lnTo>
                  <a:lnTo>
                    <a:pt x="5524500" y="6096000"/>
                  </a:lnTo>
                  <a:lnTo>
                    <a:pt x="142875" y="6096000"/>
                  </a:lnTo>
                  <a:lnTo>
                    <a:pt x="333375" y="5715000"/>
                  </a:lnTo>
                  <a:lnTo>
                    <a:pt x="76200" y="5334000"/>
                  </a:lnTo>
                  <a:lnTo>
                    <a:pt x="266700" y="4914900"/>
                  </a:lnTo>
                  <a:lnTo>
                    <a:pt x="47625" y="4495800"/>
                  </a:lnTo>
                  <a:lnTo>
                    <a:pt x="285750" y="4095750"/>
                  </a:lnTo>
                  <a:lnTo>
                    <a:pt x="95250" y="3695700"/>
                  </a:lnTo>
                  <a:lnTo>
                    <a:pt x="304800" y="3276600"/>
                  </a:lnTo>
                  <a:lnTo>
                    <a:pt x="76200" y="2857500"/>
                  </a:lnTo>
                  <a:lnTo>
                    <a:pt x="285750" y="2438400"/>
                  </a:lnTo>
                  <a:lnTo>
                    <a:pt x="114300" y="2019300"/>
                  </a:lnTo>
                  <a:lnTo>
                    <a:pt x="323850" y="1600200"/>
                  </a:lnTo>
                  <a:lnTo>
                    <a:pt x="95250" y="1181100"/>
                  </a:lnTo>
                  <a:lnTo>
                    <a:pt x="304800" y="762000"/>
                  </a:lnTo>
                  <a:lnTo>
                    <a:pt x="133350" y="381000"/>
                  </a:lnTo>
                  <a:close/>
                </a:path>
              </a:pathLst>
            </a:custGeom>
          </p:spPr>
        </p:pic>
      </p:grpSp>
      <p:grpSp>
        <p:nvGrpSpPr>
          <p:cNvPr id="7" name="Group 7"/>
          <p:cNvGrpSpPr/>
          <p:nvPr/>
        </p:nvGrpSpPr>
        <p:grpSpPr>
          <a:xfrm>
            <a:off x="552450" y="2080260"/>
            <a:ext cx="4109141" cy="1739075"/>
            <a:chOff x="552450" y="2080260"/>
            <a:chExt cx="4109141" cy="1739075"/>
          </a:xfrm>
        </p:grpSpPr>
        <p:sp>
          <p:nvSpPr>
            <p:cNvPr id="5" name="TextBox 5"/>
            <p:cNvSpPr txBox="1"/>
            <p:nvPr/>
          </p:nvSpPr>
          <p:spPr>
            <a:xfrm>
              <a:off x="552450" y="2080260"/>
              <a:ext cx="1157600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01</a:t>
              </a:r>
              <a:endParaRPr lang="zh-CN" sz="72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5498" y="3203258"/>
              <a:ext cx="410609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个人账号 · 独立操盘</a:t>
              </a:r>
              <a:endPara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62356" y="3996690"/>
            <a:ext cx="3218688" cy="713994"/>
            <a:chOff x="562356" y="3996690"/>
            <a:chExt cx="3218688" cy="713994"/>
          </a:xfrm>
        </p:grpSpPr>
        <p:sp>
          <p:nvSpPr>
            <p:cNvPr id="8" name="TextBox 8"/>
            <p:cNvSpPr txBox="1"/>
            <p:nvPr/>
          </p:nvSpPr>
          <p:spPr>
            <a:xfrm>
              <a:off x="562356" y="3996690"/>
              <a:ext cx="321868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无投流冷启动，</a:t>
              </a:r>
              <a:br>
                <a:rPr lang="zh-CN" sz="18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用自然流把账号做成增长资产。</a:t>
              </a:r>
              <a:endParaRPr lang="zh-CN" sz="1800" dirty="0">
                <a:solidFill>
                  <a:schemeClr val="dk1">
                    <a:alphaMod val="8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64642" y="5245418"/>
            <a:ext cx="1064619" cy="264033"/>
            <a:chOff x="564642" y="5245418"/>
            <a:chExt cx="1064619" cy="264033"/>
          </a:xfrm>
        </p:grpSpPr>
        <p:sp>
          <p:nvSpPr>
            <p:cNvPr id="10" name="TextBox 10"/>
            <p:cNvSpPr txBox="1"/>
            <p:nvPr/>
          </p:nvSpPr>
          <p:spPr>
            <a:xfrm>
              <a:off x="564642" y="5245418"/>
              <a:ext cx="10646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Shore below</a:t>
              </a:r>
              <a:endParaRPr lang="zh-CN" sz="1350" dirty="0">
                <a:solidFill>
                  <a:schemeClr val="accent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66166" y="6497002"/>
            <a:ext cx="11250168" cy="205359"/>
            <a:chOff x="566166" y="6497002"/>
            <a:chExt cx="11250168" cy="205359"/>
          </a:xfrm>
        </p:grpSpPr>
        <p:sp>
          <p:nvSpPr>
            <p:cNvPr id="12" name="TextBox 12"/>
            <p:cNvSpPr txBox="1"/>
            <p:nvPr/>
          </p:nvSpPr>
          <p:spPr>
            <a:xfrm>
              <a:off x="566166" y="6497002"/>
              <a:ext cx="16236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55000"/>
                    </a:scheme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OPS PORTFOLIO · 2026</a:t>
              </a:r>
              <a:endParaRPr lang="zh-CN" sz="1050" dirty="0">
                <a:solidFill>
                  <a:schemeClr val="dk1">
                    <a:alphaMod val="55000"/>
                  </a:scheme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3214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dk1">
                      <a:alphaMod val="55000"/>
                    </a:scheme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04 / 16</a:t>
              </a:r>
              <a:endParaRPr lang="zh-CN" sz="1050" dirty="0">
                <a:solidFill>
                  <a:schemeClr val="dk1">
                    <a:alphaMod val="55000"/>
                  </a:scheme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479295" y="673418"/>
            <a:ext cx="2148063" cy="264033"/>
            <a:chOff x="9479295" y="673418"/>
            <a:chExt cx="2148063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9479295" y="673418"/>
              <a:ext cx="21480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digital pi · 43.46M plays</a:t>
              </a:r>
              <a:endParaRPr lang="zh-CN" sz="1350" dirty="0">
                <a:solidFill>
                  <a:schemeClr val="accent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55498" y="479108"/>
            <a:ext cx="10311529" cy="616077"/>
            <a:chOff x="555498" y="479108"/>
            <a:chExt cx="10311529" cy="616077"/>
          </a:xfrm>
        </p:grpSpPr>
        <p:sp>
          <p:nvSpPr>
            <p:cNvPr id="4" name="TextBox 4"/>
            <p:cNvSpPr txBox="1"/>
            <p:nvPr/>
          </p:nvSpPr>
          <p:spPr>
            <a:xfrm>
              <a:off x="555498" y="479108"/>
              <a:ext cx="1031152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数码Π：36 条内容，4346 万播放，14 条百万爆款</a:t>
              </a:r>
              <a:endPara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1500" y="1238250"/>
            <a:ext cx="7239000" cy="3048000"/>
            <a:chOff x="571500" y="1238250"/>
            <a:chExt cx="7239000" cy="3048000"/>
          </a:xfrm>
        </p:grpSpPr>
        <p:sp>
          <p:nvSpPr>
            <p:cNvPr id="6" name="Rectangle 6"/>
            <p:cNvSpPr/>
            <p:nvPr/>
          </p:nvSpPr>
          <p:spPr>
            <a:xfrm>
              <a:off x="571500" y="1238250"/>
              <a:ext cx="3524250" cy="91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84860" y="1314450"/>
              <a:ext cx="174789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1.06 万+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4766" y="18297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粉丝</a:t>
              </a:r>
              <a:endParaRPr lang="zh-CN" sz="1050" dirty="0">
                <a:solidFill>
                  <a:schemeClr val="dk1">
                    <a:alphaMod val="7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4286250" y="1238250"/>
              <a:ext cx="3524250" cy="91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499610" y="1314450"/>
              <a:ext cx="151466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4346 万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09516" y="18297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总播放量</a:t>
              </a:r>
              <a:endParaRPr lang="zh-CN" sz="1050" dirty="0">
                <a:solidFill>
                  <a:schemeClr val="dk1">
                    <a:alphaMod val="7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71500" y="2305050"/>
              <a:ext cx="3524250" cy="91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84860" y="2381250"/>
              <a:ext cx="198112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127.7 万+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4766" y="28965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总获赞</a:t>
              </a:r>
              <a:endParaRPr lang="zh-CN" sz="1050" dirty="0">
                <a:solidFill>
                  <a:schemeClr val="dk1">
                    <a:alphaMod val="7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286250" y="2305050"/>
              <a:ext cx="3524250" cy="91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499610" y="2381250"/>
              <a:ext cx="104820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14 条</a:t>
              </a:r>
              <a:endParaRPr lang="zh-CN" sz="30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09516" y="28965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百万播放爆款</a:t>
              </a:r>
              <a:endParaRPr lang="zh-CN" sz="1050" dirty="0">
                <a:solidFill>
                  <a:schemeClr val="dk1">
                    <a:alphaMod val="7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1500" y="3371850"/>
              <a:ext cx="3524250" cy="91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84860" y="3448050"/>
              <a:ext cx="104820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17 条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4766" y="3963352"/>
              <a:ext cx="13181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10 万+ 播放优质作品</a:t>
              </a:r>
              <a:endParaRPr lang="zh-CN" sz="1050" dirty="0">
                <a:solidFill>
                  <a:schemeClr val="dk1">
                    <a:alphaMod val="7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286250" y="3371850"/>
              <a:ext cx="3524250" cy="91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499610" y="3448050"/>
              <a:ext cx="174789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3.57 万+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09516" y="39633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单条平均获赞</a:t>
              </a:r>
              <a:endParaRPr lang="zh-CN" sz="1050" dirty="0">
                <a:solidFill>
                  <a:schemeClr val="dk1">
                    <a:alphaMod val="7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 rot="90000">
            <a:off x="8191277" y="1239494"/>
            <a:ext cx="3524250" cy="2301811"/>
            <a:chOff x="8191500" y="1238250"/>
            <a:chExt cx="3524250" cy="2301811"/>
          </a:xfrm>
        </p:grpSpPr>
        <p:sp>
          <p:nvSpPr>
            <p:cNvPr id="25" name="Rectangle 25"/>
            <p:cNvSpPr/>
            <p:nvPr/>
          </p:nvSpPr>
          <p:spPr>
            <a:xfrm>
              <a:off x="8191500" y="1238250"/>
              <a:ext cx="3524250" cy="2286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1"/>
            <a:srcRect t="208" b="208"/>
            <a:stretch>
              <a:fillRect/>
            </a:stretch>
          </p:blipFill>
          <p:spPr>
            <a:xfrm>
              <a:off x="8286750" y="1333500"/>
              <a:ext cx="3333750" cy="1971675"/>
            </a:xfrm>
            <a:prstGeom prst="rect">
              <a:avLst/>
            </a:prstGeom>
          </p:spPr>
        </p:pic>
        <p:sp>
          <p:nvSpPr>
            <p:cNvPr id="27" name="TextBox 27"/>
            <p:cNvSpPr txBox="1"/>
            <p:nvPr/>
          </p:nvSpPr>
          <p:spPr>
            <a:xfrm>
              <a:off x="8281416" y="3334702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75000"/>
                    </a:schemeClr>
                  </a:solidFill>
                  <a:latin typeface="+mn-lt"/>
                  <a:ea typeface="+mn-ea"/>
                  <a:cs typeface="+mn-cs"/>
                </a:rPr>
                <a:t>数据中心：近 30 天获赞 1529.92 万</a:t>
              </a:r>
              <a:endParaRPr lang="zh-CN" sz="1050" dirty="0">
                <a:solidFill>
                  <a:schemeClr val="dk1">
                    <a:alphaMod val="7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 rot="-90000">
            <a:off x="8190237" y="3808770"/>
            <a:ext cx="3524250" cy="1809750"/>
            <a:chOff x="8191500" y="3810000"/>
            <a:chExt cx="3524250" cy="1809750"/>
          </a:xfrm>
        </p:grpSpPr>
        <p:sp>
          <p:nvSpPr>
            <p:cNvPr id="29" name="Rectangle 29"/>
            <p:cNvSpPr/>
            <p:nvPr/>
          </p:nvSpPr>
          <p:spPr>
            <a:xfrm>
              <a:off x="8191500" y="3810000"/>
              <a:ext cx="3524250" cy="1809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2"/>
            <a:srcRect t="4262" b="4263"/>
            <a:stretch>
              <a:fillRect/>
            </a:stretch>
          </p:blipFill>
          <p:spPr>
            <a:xfrm>
              <a:off x="8286750" y="3905250"/>
              <a:ext cx="3333750" cy="1409700"/>
            </a:xfrm>
            <a:prstGeom prst="rect">
              <a:avLst/>
            </a:prstGeom>
          </p:spPr>
        </p:pic>
        <p:sp>
          <p:nvSpPr>
            <p:cNvPr id="31" name="TextBox 31"/>
            <p:cNvSpPr txBox="1"/>
            <p:nvPr/>
          </p:nvSpPr>
          <p:spPr>
            <a:xfrm>
              <a:off x="8281416" y="5411152"/>
              <a:ext cx="20581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75000"/>
                    </a:schemeClr>
                  </a:solidFill>
                  <a:latin typeface="+mn-lt"/>
                  <a:ea typeface="+mn-ea"/>
                  <a:cs typeface="+mn-cs"/>
                </a:rPr>
                <a:t>爆款截图：iPhone 给予的安全感</a:t>
              </a:r>
              <a:endParaRPr lang="zh-CN" sz="1050" dirty="0">
                <a:solidFill>
                  <a:schemeClr val="dk1">
                    <a:alphaMod val="7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66166" y="6039802"/>
            <a:ext cx="2952902" cy="205359"/>
            <a:chOff x="566166" y="6039802"/>
            <a:chExt cx="2952902" cy="205359"/>
          </a:xfrm>
        </p:grpSpPr>
        <p:sp>
          <p:nvSpPr>
            <p:cNvPr id="33" name="TextBox 33"/>
            <p:cNvSpPr txBox="1"/>
            <p:nvPr/>
          </p:nvSpPr>
          <p:spPr>
            <a:xfrm>
              <a:off x="566166" y="6039802"/>
              <a:ext cx="29529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60000"/>
                    </a:schemeClr>
                  </a:solidFill>
                  <a:latin typeface="+mn-lt"/>
                  <a:ea typeface="+mn-ea"/>
                  <a:cs typeface="+mn-cs"/>
                </a:rPr>
                <a:t>来源：抖音创作者服务中心 · 账号「数码Π」</a:t>
              </a:r>
              <a:endParaRPr lang="zh-CN" sz="1050" dirty="0">
                <a:solidFill>
                  <a:schemeClr val="dk1">
                    <a:alphaMod val="6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66166" y="6497002"/>
            <a:ext cx="11250168" cy="205359"/>
            <a:chOff x="566166" y="6497002"/>
            <a:chExt cx="11250168" cy="205359"/>
          </a:xfrm>
        </p:grpSpPr>
        <p:sp>
          <p:nvSpPr>
            <p:cNvPr id="35" name="TextBox 35"/>
            <p:cNvSpPr txBox="1"/>
            <p:nvPr/>
          </p:nvSpPr>
          <p:spPr>
            <a:xfrm>
              <a:off x="566166" y="6497002"/>
              <a:ext cx="16236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55000"/>
                    </a:scheme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OPS PORTFOLIO · 2026</a:t>
              </a:r>
              <a:endParaRPr lang="zh-CN" sz="1050" dirty="0">
                <a:solidFill>
                  <a:schemeClr val="dk1">
                    <a:alphaMod val="55000"/>
                  </a:scheme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33214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dk1">
                      <a:alphaMod val="55000"/>
                    </a:scheme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05 / 16</a:t>
              </a:r>
              <a:endParaRPr lang="zh-CN" sz="1050" dirty="0">
                <a:solidFill>
                  <a:schemeClr val="dk1">
                    <a:alphaMod val="55000"/>
                  </a:scheme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896227" y="673418"/>
            <a:ext cx="1731131" cy="264033"/>
            <a:chOff x="9896227" y="673418"/>
            <a:chExt cx="1731131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9896227" y="67341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zero to one, no ads</a:t>
              </a:r>
              <a:endParaRPr lang="zh-CN" sz="1350" dirty="0">
                <a:solidFill>
                  <a:schemeClr val="accent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55498" y="479108"/>
            <a:ext cx="4306570" cy="484505"/>
            <a:chOff x="555498" y="479108"/>
            <a:chExt cx="4306570" cy="484505"/>
          </a:xfrm>
        </p:grpSpPr>
        <p:sp>
          <p:nvSpPr>
            <p:cNvPr id="4" name="TextBox 4"/>
            <p:cNvSpPr txBox="1"/>
            <p:nvPr/>
          </p:nvSpPr>
          <p:spPr>
            <a:xfrm>
              <a:off x="555498" y="479108"/>
              <a:ext cx="4306570" cy="484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账号 0-1：从定位到爆款</a:t>
              </a:r>
              <a:endPara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 rot="-48000">
            <a:off x="561497" y="1428820"/>
            <a:ext cx="3439668" cy="2952750"/>
            <a:chOff x="560832" y="1428750"/>
            <a:chExt cx="3439668" cy="2952750"/>
          </a:xfrm>
        </p:grpSpPr>
        <p:sp>
          <p:nvSpPr>
            <p:cNvPr id="6" name="Rectangle 6"/>
            <p:cNvSpPr/>
            <p:nvPr/>
          </p:nvSpPr>
          <p:spPr>
            <a:xfrm>
              <a:off x="571500" y="1428750"/>
              <a:ext cx="3429000" cy="2952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619125" y="1762125"/>
              <a:ext cx="285751" cy="285751"/>
              <a:chOff x="619125" y="1762125"/>
              <a:chExt cx="285751" cy="28575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746125" y="1889125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82625" y="1825625"/>
                <a:ext cx="158750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158750">
                    <a:moveTo>
                      <a:pt x="0" y="79375"/>
                    </a:moveTo>
                    <a:cubicBezTo>
                      <a:pt x="0" y="123213"/>
                      <a:pt x="35537" y="158750"/>
                      <a:pt x="79375" y="158750"/>
                    </a:cubicBezTo>
                    <a:cubicBezTo>
                      <a:pt x="123213" y="158750"/>
                      <a:pt x="158750" y="123213"/>
                      <a:pt x="158750" y="79375"/>
                    </a:cubicBezTo>
                    <a:cubicBezTo>
                      <a:pt x="158750" y="35537"/>
                      <a:pt x="123213" y="0"/>
                      <a:pt x="79375" y="0"/>
                    </a:cubicBezTo>
                    <a:cubicBezTo>
                      <a:pt x="35537" y="0"/>
                      <a:pt x="0" y="35537"/>
                      <a:pt x="0" y="79375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19125" y="176212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cubicBezTo>
                      <a:pt x="0" y="221783"/>
                      <a:pt x="63967" y="285751"/>
                      <a:pt x="142875" y="285751"/>
                    </a:cubicBezTo>
                    <a:cubicBezTo>
                      <a:pt x="221783" y="285751"/>
                      <a:pt x="285751" y="221783"/>
                      <a:pt x="285751" y="142875"/>
                    </a:cubicBezTo>
                    <a:cubicBezTo>
                      <a:pt x="285751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560832" y="226885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定位与赛道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3880" y="2733675"/>
              <a:ext cx="2053590" cy="902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泛 3C 全品类深度测评，</a:t>
              </a:r>
              <a:b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跳出手机测评红海，</a:t>
              </a:r>
              <a:b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打造差异化内容优势。</a:t>
              </a:r>
              <a:endParaRPr lang="zh-CN" sz="1500" dirty="0">
                <a:solidFill>
                  <a:schemeClr val="dk1">
                    <a:alphaMod val="8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 rot="36000">
            <a:off x="4370334" y="1428692"/>
            <a:ext cx="3439668" cy="2952750"/>
            <a:chOff x="4370832" y="1428750"/>
            <a:chExt cx="3439668" cy="2952750"/>
          </a:xfrm>
        </p:grpSpPr>
        <p:sp>
          <p:nvSpPr>
            <p:cNvPr id="14" name="Rectangle 14"/>
            <p:cNvSpPr/>
            <p:nvPr/>
          </p:nvSpPr>
          <p:spPr>
            <a:xfrm>
              <a:off x="4381500" y="1428750"/>
              <a:ext cx="3429000" cy="2952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4429125" y="1809750"/>
              <a:ext cx="285750" cy="190500"/>
              <a:chOff x="4429125" y="1809750"/>
              <a:chExt cx="285750" cy="1905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4619625" y="1834660"/>
                <a:ext cx="95250" cy="14068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0680">
                    <a:moveTo>
                      <a:pt x="0" y="38590"/>
                    </a:moveTo>
                    <a:lnTo>
                      <a:pt x="72279" y="2458"/>
                    </a:lnTo>
                    <a:cubicBezTo>
                      <a:pt x="77199" y="0"/>
                      <a:pt x="83040" y="263"/>
                      <a:pt x="87719" y="3154"/>
                    </a:cubicBezTo>
                    <a:cubicBezTo>
                      <a:pt x="92398" y="6044"/>
                      <a:pt x="95247" y="11151"/>
                      <a:pt x="95250" y="16651"/>
                    </a:cubicBezTo>
                    <a:lnTo>
                      <a:pt x="95250" y="124029"/>
                    </a:lnTo>
                    <a:cubicBezTo>
                      <a:pt x="95247" y="129529"/>
                      <a:pt x="92398" y="134636"/>
                      <a:pt x="87719" y="137526"/>
                    </a:cubicBezTo>
                    <a:cubicBezTo>
                      <a:pt x="83040" y="140417"/>
                      <a:pt x="77199" y="140680"/>
                      <a:pt x="72279" y="138222"/>
                    </a:cubicBezTo>
                    <a:lnTo>
                      <a:pt x="0" y="102090"/>
                    </a:lnTo>
                    <a:lnTo>
                      <a:pt x="0" y="3859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4429125" y="18097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31750"/>
                    </a:moveTo>
                    <a:cubicBezTo>
                      <a:pt x="0" y="14215"/>
                      <a:pt x="14215" y="0"/>
                      <a:pt x="31750" y="0"/>
                    </a:cubicBezTo>
                    <a:lnTo>
                      <a:pt x="158750" y="0"/>
                    </a:lnTo>
                    <a:cubicBezTo>
                      <a:pt x="176285" y="0"/>
                      <a:pt x="190500" y="14215"/>
                      <a:pt x="190500" y="31750"/>
                    </a:cubicBezTo>
                    <a:lnTo>
                      <a:pt x="190500" y="158750"/>
                    </a:lnTo>
                    <a:cubicBezTo>
                      <a:pt x="190500" y="176285"/>
                      <a:pt x="176285" y="190500"/>
                      <a:pt x="158750" y="190500"/>
                    </a:cubicBezTo>
                    <a:lnTo>
                      <a:pt x="31750" y="190500"/>
                    </a:lnTo>
                    <a:cubicBezTo>
                      <a:pt x="14215" y="190500"/>
                      <a:pt x="0" y="176285"/>
                      <a:pt x="0" y="158750"/>
                    </a:cubicBezTo>
                    <a:lnTo>
                      <a:pt x="0" y="3175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4370832" y="226885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全链路制作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73880" y="2733675"/>
              <a:ext cx="2529840" cy="902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选题→脚本→拍摄→剪辑→发布，</a:t>
              </a:r>
              <a:b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单条最高播放 500 万+，</a:t>
              </a:r>
              <a:b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爆款能力可复制。</a:t>
              </a:r>
              <a:endParaRPr lang="zh-CN" sz="1500" dirty="0">
                <a:solidFill>
                  <a:schemeClr val="dk1">
                    <a:alphaMod val="8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 rot="-36000">
            <a:off x="8181331" y="1428803"/>
            <a:ext cx="3439668" cy="2952750"/>
            <a:chOff x="8180832" y="1428750"/>
            <a:chExt cx="3439668" cy="2952750"/>
          </a:xfrm>
        </p:grpSpPr>
        <p:sp>
          <p:nvSpPr>
            <p:cNvPr id="21" name="Rectangle 21"/>
            <p:cNvSpPr/>
            <p:nvPr/>
          </p:nvSpPr>
          <p:spPr>
            <a:xfrm>
              <a:off x="8191500" y="1428750"/>
              <a:ext cx="3429000" cy="2952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8239125" y="1778000"/>
              <a:ext cx="285750" cy="263526"/>
              <a:chOff x="8239125" y="1778000"/>
              <a:chExt cx="285750" cy="26352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8239125" y="1905000"/>
                <a:ext cx="952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2700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111125"/>
                    </a:lnTo>
                    <a:cubicBezTo>
                      <a:pt x="95250" y="119893"/>
                      <a:pt x="88143" y="127000"/>
                      <a:pt x="79375" y="127000"/>
                    </a:cubicBezTo>
                    <a:lnTo>
                      <a:pt x="15875" y="127000"/>
                    </a:lnTo>
                    <a:cubicBezTo>
                      <a:pt x="7107" y="127000"/>
                      <a:pt x="0" y="119893"/>
                      <a:pt x="0" y="11112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429625" y="1841500"/>
                <a:ext cx="952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9050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174625"/>
                    </a:lnTo>
                    <a:cubicBezTo>
                      <a:pt x="95250" y="183393"/>
                      <a:pt x="88143" y="190500"/>
                      <a:pt x="79375" y="190500"/>
                    </a:cubicBezTo>
                    <a:lnTo>
                      <a:pt x="15875" y="190500"/>
                    </a:lnTo>
                    <a:cubicBezTo>
                      <a:pt x="7107" y="190500"/>
                      <a:pt x="0" y="183393"/>
                      <a:pt x="0" y="17462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334375" y="1778000"/>
                <a:ext cx="95250" cy="254001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254001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238125"/>
                    </a:lnTo>
                    <a:cubicBezTo>
                      <a:pt x="95250" y="246893"/>
                      <a:pt x="88143" y="254001"/>
                      <a:pt x="79375" y="254001"/>
                    </a:cubicBezTo>
                    <a:lnTo>
                      <a:pt x="15875" y="254001"/>
                    </a:lnTo>
                    <a:cubicBezTo>
                      <a:pt x="7107" y="254001"/>
                      <a:pt x="0" y="246893"/>
                      <a:pt x="0" y="23812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255000" y="2032001"/>
                <a:ext cx="222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9525">
                    <a:moveTo>
                      <a:pt x="0" y="0"/>
                    </a:moveTo>
                    <a:lnTo>
                      <a:pt x="2222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8180832" y="22688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数据迭代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83880" y="2733675"/>
              <a:ext cx="1729740" cy="902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独立复盘账号数据，</a:t>
              </a:r>
              <a:b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持续优化内容结构</a:t>
              </a:r>
              <a:b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与选题方向。</a:t>
              </a:r>
              <a:endParaRPr lang="zh-CN" sz="1500" dirty="0">
                <a:solidFill>
                  <a:schemeClr val="dk1">
                    <a:alphaMod val="8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500" y="4857750"/>
            <a:ext cx="11049000" cy="666750"/>
            <a:chOff x="571500" y="4857750"/>
            <a:chExt cx="11049000" cy="666750"/>
          </a:xfrm>
        </p:grpSpPr>
        <p:sp>
          <p:nvSpPr>
            <p:cNvPr id="30" name="Rectangle 30"/>
            <p:cNvSpPr/>
            <p:nvPr/>
          </p:nvSpPr>
          <p:spPr>
            <a:xfrm>
              <a:off x="571500" y="4857750"/>
              <a:ext cx="11049000" cy="666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869649" y="5073015"/>
              <a:ext cx="84527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5F1E6"/>
                  </a:solidFill>
                  <a:latin typeface="+mn-lt"/>
                  <a:ea typeface="+mn-ea"/>
                  <a:cs typeface="+mn-cs"/>
                </a:rPr>
                <a:t>两个账号均无投流冷启动 · 最快 5 条作品出百万爆款 · 累计百万爆款 16 条</a:t>
              </a:r>
              <a:endParaRPr lang="zh-CN" sz="1800" b="1" dirty="0">
                <a:solidFill>
                  <a:srgbClr val="F5F1E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66166" y="6497002"/>
            <a:ext cx="11250168" cy="205359"/>
            <a:chOff x="566166" y="6497002"/>
            <a:chExt cx="11250168" cy="205359"/>
          </a:xfrm>
        </p:grpSpPr>
        <p:sp>
          <p:nvSpPr>
            <p:cNvPr id="33" name="TextBox 33"/>
            <p:cNvSpPr txBox="1"/>
            <p:nvPr/>
          </p:nvSpPr>
          <p:spPr>
            <a:xfrm>
              <a:off x="566166" y="6497002"/>
              <a:ext cx="16236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55000"/>
                    </a:scheme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OPS PORTFOLIO · 2026</a:t>
              </a:r>
              <a:endParaRPr lang="zh-CN" sz="1050" dirty="0">
                <a:solidFill>
                  <a:schemeClr val="dk1">
                    <a:alphaMod val="55000"/>
                  </a:scheme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33214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dk1">
                      <a:alphaMod val="55000"/>
                    </a:scheme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06 / 16</a:t>
              </a:r>
              <a:endParaRPr lang="zh-CN" sz="1050" dirty="0">
                <a:solidFill>
                  <a:schemeClr val="dk1">
                    <a:alphaMod val="55000"/>
                  </a:scheme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641796" y="673418"/>
            <a:ext cx="1985562" cy="264033"/>
            <a:chOff x="9641796" y="673418"/>
            <a:chExt cx="1985562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9641796" y="673418"/>
              <a:ext cx="19855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viral playbook, proven</a:t>
              </a:r>
              <a:endParaRPr lang="zh-CN" sz="1350" dirty="0">
                <a:solidFill>
                  <a:schemeClr val="accent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55498" y="479108"/>
            <a:ext cx="9382373" cy="616077"/>
            <a:chOff x="555498" y="479108"/>
            <a:chExt cx="9382373" cy="616077"/>
          </a:xfrm>
        </p:grpSpPr>
        <p:sp>
          <p:nvSpPr>
            <p:cNvPr id="4" name="TextBox 4"/>
            <p:cNvSpPr txBox="1"/>
            <p:nvPr/>
          </p:nvSpPr>
          <p:spPr>
            <a:xfrm>
              <a:off x="555498" y="479108"/>
              <a:ext cx="938237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爆款方法论：选题决定上限，黄金三秒决定留存</a:t>
              </a:r>
              <a:endPara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 rot="-48000">
            <a:off x="560833" y="1333574"/>
            <a:ext cx="3439668" cy="3810000"/>
            <a:chOff x="560832" y="1333500"/>
            <a:chExt cx="3439668" cy="3810000"/>
          </a:xfrm>
        </p:grpSpPr>
        <p:sp>
          <p:nvSpPr>
            <p:cNvPr id="6" name="Rectangle 6"/>
            <p:cNvSpPr/>
            <p:nvPr/>
          </p:nvSpPr>
          <p:spPr>
            <a:xfrm>
              <a:off x="571500" y="1333500"/>
              <a:ext cx="3429000" cy="381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619125" y="1647825"/>
              <a:ext cx="285751" cy="285751"/>
              <a:chOff x="619125" y="1647825"/>
              <a:chExt cx="285751" cy="28575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746125" y="1774825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82625" y="1711325"/>
                <a:ext cx="158750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158750">
                    <a:moveTo>
                      <a:pt x="0" y="79375"/>
                    </a:moveTo>
                    <a:cubicBezTo>
                      <a:pt x="0" y="123213"/>
                      <a:pt x="35537" y="158750"/>
                      <a:pt x="79375" y="158750"/>
                    </a:cubicBezTo>
                    <a:cubicBezTo>
                      <a:pt x="123213" y="158750"/>
                      <a:pt x="158750" y="123213"/>
                      <a:pt x="158750" y="79375"/>
                    </a:cubicBezTo>
                    <a:cubicBezTo>
                      <a:pt x="158750" y="35537"/>
                      <a:pt x="123213" y="0"/>
                      <a:pt x="79375" y="0"/>
                    </a:cubicBezTo>
                    <a:cubicBezTo>
                      <a:pt x="35537" y="0"/>
                      <a:pt x="0" y="35537"/>
                      <a:pt x="0" y="79375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19125" y="164782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cubicBezTo>
                      <a:pt x="0" y="221783"/>
                      <a:pt x="63967" y="285751"/>
                      <a:pt x="142875" y="285751"/>
                    </a:cubicBezTo>
                    <a:cubicBezTo>
                      <a:pt x="221783" y="285751"/>
                      <a:pt x="285751" y="221783"/>
                      <a:pt x="285751" y="142875"/>
                    </a:cubicBezTo>
                    <a:cubicBezTo>
                      <a:pt x="285751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560832" y="2135505"/>
              <a:ext cx="214372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选题 = 流量上限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3880" y="2581275"/>
              <a:ext cx="1758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三要素：受众痛点 /</a:t>
              </a:r>
              <a:b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信息增量 / 情绪价值</a:t>
              </a:r>
              <a:endParaRPr lang="zh-CN" sz="1500" dirty="0">
                <a:solidFill>
                  <a:schemeClr val="dk1">
                    <a:alphaMod val="8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3880" y="3228975"/>
              <a:ext cx="2682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四大来源：关键词挖掘、</a:t>
              </a:r>
              <a:b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爆款复刻微创新、品牌关键词、</a:t>
              </a:r>
              <a:b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热门评论区淘金</a:t>
              </a:r>
              <a:endParaRPr lang="zh-CN" sz="1500" dirty="0">
                <a:solidFill>
                  <a:schemeClr val="dk1">
                    <a:alphaMod val="8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4642" y="4254818"/>
              <a:ext cx="1873948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灵感宝库：爆款选题库 +</a:t>
              </a:r>
              <a:br>
                <a:rPr lang="zh-CN" sz="1350" dirty="0">
                  <a:solidFill>
                    <a:schemeClr val="dk1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黄金三秒开头整合库</a:t>
              </a:r>
              <a:endParaRPr lang="zh-CN" sz="1350" dirty="0">
                <a:solidFill>
                  <a:schemeClr val="dk1">
                    <a:alphaMod val="7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 rot="36000">
            <a:off x="4370832" y="1333444"/>
            <a:ext cx="3439668" cy="3810000"/>
            <a:chOff x="4370832" y="1333500"/>
            <a:chExt cx="3439668" cy="3810000"/>
          </a:xfrm>
        </p:grpSpPr>
        <p:sp>
          <p:nvSpPr>
            <p:cNvPr id="16" name="Rectangle 16"/>
            <p:cNvSpPr/>
            <p:nvPr/>
          </p:nvSpPr>
          <p:spPr>
            <a:xfrm>
              <a:off x="4381500" y="1333500"/>
              <a:ext cx="3429000" cy="381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4429125" y="1647825"/>
              <a:ext cx="285751" cy="285750"/>
              <a:chOff x="4429125" y="1647825"/>
              <a:chExt cx="285751" cy="28575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4429125" y="1647825"/>
                <a:ext cx="285751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42875">
                    <a:moveTo>
                      <a:pt x="0" y="142875"/>
                    </a:moveTo>
                    <a:lnTo>
                      <a:pt x="15875" y="142875"/>
                    </a:lnTo>
                    <a:moveTo>
                      <a:pt x="142875" y="0"/>
                    </a:moveTo>
                    <a:lnTo>
                      <a:pt x="142875" y="15875"/>
                    </a:lnTo>
                    <a:moveTo>
                      <a:pt x="269876" y="142875"/>
                    </a:moveTo>
                    <a:lnTo>
                      <a:pt x="285751" y="142875"/>
                    </a:lnTo>
                    <a:moveTo>
                      <a:pt x="41275" y="41275"/>
                    </a:moveTo>
                    <a:lnTo>
                      <a:pt x="52388" y="52388"/>
                    </a:lnTo>
                    <a:moveTo>
                      <a:pt x="244475" y="41275"/>
                    </a:moveTo>
                    <a:lnTo>
                      <a:pt x="233363" y="52388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4485894" y="1711325"/>
                <a:ext cx="172212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172212" h="222250">
                    <a:moveTo>
                      <a:pt x="38481" y="142875"/>
                    </a:moveTo>
                    <a:cubicBezTo>
                      <a:pt x="11148" y="122376"/>
                      <a:pt x="0" y="86687"/>
                      <a:pt x="10804" y="54275"/>
                    </a:cubicBezTo>
                    <a:cubicBezTo>
                      <a:pt x="21608" y="21862"/>
                      <a:pt x="51940" y="0"/>
                      <a:pt x="86106" y="0"/>
                    </a:cubicBezTo>
                    <a:cubicBezTo>
                      <a:pt x="120271" y="0"/>
                      <a:pt x="150604" y="21862"/>
                      <a:pt x="161408" y="54275"/>
                    </a:cubicBezTo>
                    <a:cubicBezTo>
                      <a:pt x="172212" y="86687"/>
                      <a:pt x="161063" y="122376"/>
                      <a:pt x="133731" y="142875"/>
                    </a:cubicBezTo>
                    <a:cubicBezTo>
                      <a:pt x="121161" y="155319"/>
                      <a:pt x="115266" y="173003"/>
                      <a:pt x="117856" y="190500"/>
                    </a:cubicBezTo>
                    <a:cubicBezTo>
                      <a:pt x="117856" y="208035"/>
                      <a:pt x="103641" y="222250"/>
                      <a:pt x="86106" y="222250"/>
                    </a:cubicBezTo>
                    <a:cubicBezTo>
                      <a:pt x="68571" y="222250"/>
                      <a:pt x="54356" y="208035"/>
                      <a:pt x="54356" y="190500"/>
                    </a:cubicBezTo>
                    <a:cubicBezTo>
                      <a:pt x="56946" y="173003"/>
                      <a:pt x="51051" y="155319"/>
                      <a:pt x="38481" y="142875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4535488" y="1870076"/>
                <a:ext cx="73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9525">
                    <a:moveTo>
                      <a:pt x="0" y="0"/>
                    </a:moveTo>
                    <a:lnTo>
                      <a:pt x="73025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4370832" y="213550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黄金三秒文案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73880" y="2581275"/>
              <a:ext cx="134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开头留不住人，</a:t>
              </a:r>
              <a:b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一切都白搭。</a:t>
              </a:r>
              <a:endParaRPr lang="zh-CN" sz="1500" dirty="0">
                <a:solidFill>
                  <a:schemeClr val="dk1">
                    <a:alphaMod val="8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373880" y="3228975"/>
              <a:ext cx="2030730" cy="5765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四类开头：悬念式 /</a:t>
              </a:r>
              <a:endParaRPr lang="zh-CN" sz="1500" dirty="0">
                <a:solidFill>
                  <a:schemeClr val="dk1">
                    <a:alphaMod val="85000"/>
                  </a:schemeClr>
                </a:solidFill>
                <a:latin typeface="+mn-lt"/>
                <a:ea typeface="+mn-ea"/>
                <a:cs typeface="+mn-cs"/>
              </a:endParaRPr>
            </a:p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痛点式 / 反差式 / 利益式</a:t>
              </a:r>
              <a:endParaRPr lang="zh-CN" sz="1500" dirty="0">
                <a:solidFill>
                  <a:schemeClr val="dk1">
                    <a:alphaMod val="8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74642" y="4254818"/>
              <a:ext cx="138531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三秒内给用户一个</a:t>
              </a:r>
              <a:br>
                <a:rPr lang="zh-CN" sz="1350" dirty="0">
                  <a:solidFill>
                    <a:schemeClr val="dk1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继续看下去的理由</a:t>
              </a:r>
              <a:endParaRPr lang="zh-CN" sz="1350" dirty="0">
                <a:solidFill>
                  <a:schemeClr val="dk1">
                    <a:alphaMod val="7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 rot="-36000">
            <a:off x="8180832" y="1333556"/>
            <a:ext cx="3439668" cy="3810000"/>
            <a:chOff x="8180832" y="1333500"/>
            <a:chExt cx="3439668" cy="3810000"/>
          </a:xfrm>
        </p:grpSpPr>
        <p:sp>
          <p:nvSpPr>
            <p:cNvPr id="26" name="Rectangle 26"/>
            <p:cNvSpPr/>
            <p:nvPr/>
          </p:nvSpPr>
          <p:spPr>
            <a:xfrm>
              <a:off x="8191500" y="1333500"/>
              <a:ext cx="3429000" cy="381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8255000" y="1657575"/>
              <a:ext cx="254001" cy="266250"/>
              <a:chOff x="8255000" y="1657575"/>
              <a:chExt cx="254001" cy="26625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8255000" y="1657575"/>
                <a:ext cx="254001" cy="117250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117250">
                    <a:moveTo>
                      <a:pt x="254001" y="117250"/>
                    </a:moveTo>
                    <a:cubicBezTo>
                      <a:pt x="246020" y="59823"/>
                      <a:pt x="200595" y="14839"/>
                      <a:pt x="143092" y="7420"/>
                    </a:cubicBezTo>
                    <a:cubicBezTo>
                      <a:pt x="85590" y="0"/>
                      <a:pt x="30234" y="31980"/>
                      <a:pt x="7938" y="85500"/>
                    </a:cubicBezTo>
                    <a:moveTo>
                      <a:pt x="0" y="22000"/>
                    </a:moveTo>
                    <a:lnTo>
                      <a:pt x="0" y="85500"/>
                    </a:lnTo>
                    <a:lnTo>
                      <a:pt x="63500" y="8550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255000" y="1806575"/>
                <a:ext cx="254001" cy="117250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117250">
                    <a:moveTo>
                      <a:pt x="0" y="0"/>
                    </a:moveTo>
                    <a:cubicBezTo>
                      <a:pt x="7981" y="57427"/>
                      <a:pt x="53406" y="102411"/>
                      <a:pt x="110908" y="109831"/>
                    </a:cubicBezTo>
                    <a:cubicBezTo>
                      <a:pt x="168411" y="117250"/>
                      <a:pt x="223766" y="85271"/>
                      <a:pt x="246063" y="31750"/>
                    </a:cubicBezTo>
                    <a:moveTo>
                      <a:pt x="254001" y="95250"/>
                    </a:moveTo>
                    <a:lnTo>
                      <a:pt x="254001" y="31750"/>
                    </a:lnTo>
                    <a:lnTo>
                      <a:pt x="190500" y="3175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8180832" y="213550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复刻式创新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83880" y="2581275"/>
              <a:ext cx="1320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锁定核心爆点 →</a:t>
              </a:r>
              <a:b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保留核心骨架 →</a:t>
              </a:r>
              <a:endParaRPr lang="zh-CN" sz="1500" dirty="0">
                <a:solidFill>
                  <a:schemeClr val="dk1">
                    <a:alphaMod val="8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83880" y="3228975"/>
              <a:ext cx="1320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替换血肉细节 →</a:t>
              </a:r>
              <a:b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融入个人风格</a:t>
              </a:r>
              <a:endParaRPr lang="zh-CN" sz="1500" dirty="0">
                <a:solidFill>
                  <a:schemeClr val="dk1">
                    <a:alphaMod val="8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84642" y="4254818"/>
              <a:ext cx="138531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站在巨人肩膀上，</a:t>
              </a:r>
              <a:br>
                <a:rPr lang="zh-CN" sz="1350" dirty="0">
                  <a:solidFill>
                    <a:schemeClr val="dk1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从复刻走向原创</a:t>
              </a:r>
              <a:endParaRPr lang="zh-CN" sz="1350" dirty="0">
                <a:solidFill>
                  <a:schemeClr val="dk1">
                    <a:alphaMod val="7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71500" y="5505450"/>
            <a:ext cx="11049000" cy="590550"/>
            <a:chOff x="571500" y="5505450"/>
            <a:chExt cx="11049000" cy="590550"/>
          </a:xfrm>
        </p:grpSpPr>
        <p:sp>
          <p:nvSpPr>
            <p:cNvPr id="35" name="Rectangle 35"/>
            <p:cNvSpPr/>
            <p:nvPr/>
          </p:nvSpPr>
          <p:spPr>
            <a:xfrm>
              <a:off x="571500" y="5505450"/>
              <a:ext cx="11049000" cy="590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57339" y="5715000"/>
              <a:ext cx="10277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5F1E6"/>
                  </a:solidFill>
                  <a:latin typeface="+mn-lt"/>
                  <a:ea typeface="+mn-ea"/>
                  <a:cs typeface="+mn-cs"/>
                </a:rPr>
                <a:t>案例验证：苹果免费换新完播率 30.56% · vivo 闹钟铃声 5s 完播率 59.78% —— 选题至上，好选题能撬动数据</a:t>
              </a:r>
              <a:endParaRPr lang="zh-CN" sz="1500" b="1" dirty="0">
                <a:solidFill>
                  <a:srgbClr val="F5F1E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66166" y="6497002"/>
            <a:ext cx="11250168" cy="205359"/>
            <a:chOff x="566166" y="6497002"/>
            <a:chExt cx="11250168" cy="205359"/>
          </a:xfrm>
        </p:grpSpPr>
        <p:sp>
          <p:nvSpPr>
            <p:cNvPr id="38" name="TextBox 38"/>
            <p:cNvSpPr txBox="1"/>
            <p:nvPr/>
          </p:nvSpPr>
          <p:spPr>
            <a:xfrm>
              <a:off x="566166" y="6497002"/>
              <a:ext cx="16236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55000"/>
                    </a:scheme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OPS PORTFOLIO · 2026</a:t>
              </a:r>
              <a:endParaRPr lang="zh-CN" sz="1050" dirty="0">
                <a:solidFill>
                  <a:schemeClr val="dk1">
                    <a:alphaMod val="55000"/>
                  </a:scheme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33214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dk1">
                      <a:alphaMod val="55000"/>
                    </a:scheme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07 / 17</a:t>
              </a:r>
              <a:endParaRPr lang="zh-CN" sz="1050" dirty="0">
                <a:solidFill>
                  <a:schemeClr val="dk1">
                    <a:alphaMod val="55000"/>
                  </a:scheme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81000" y="381000"/>
            <a:ext cx="6915150" cy="6096000"/>
            <a:chOff x="381000" y="381000"/>
            <a:chExt cx="6915150" cy="6096000"/>
          </a:xfrm>
        </p:grpSpPr>
        <p:sp>
          <p:nvSpPr>
            <p:cNvPr id="2" name="Polygon 2"/>
            <p:cNvSpPr/>
            <p:nvPr/>
          </p:nvSpPr>
          <p:spPr>
            <a:xfrm>
              <a:off x="381000" y="381000"/>
              <a:ext cx="5429250" cy="6096000"/>
            </a:xfrm>
            <a:custGeom>
              <a:avLst/>
              <a:gdLst/>
              <a:ahLst/>
              <a:cxnLst/>
              <a:rect l="l" t="t" r="r" b="b"/>
              <a:pathLst>
                <a:path w="5429250" h="6096000">
                  <a:moveTo>
                    <a:pt x="0" y="0"/>
                  </a:moveTo>
                  <a:lnTo>
                    <a:pt x="5372100" y="0"/>
                  </a:lnTo>
                  <a:lnTo>
                    <a:pt x="5181600" y="381000"/>
                  </a:lnTo>
                  <a:lnTo>
                    <a:pt x="5429250" y="762000"/>
                  </a:lnTo>
                  <a:lnTo>
                    <a:pt x="5200650" y="1181100"/>
                  </a:lnTo>
                  <a:lnTo>
                    <a:pt x="5410200" y="1600200"/>
                  </a:lnTo>
                  <a:lnTo>
                    <a:pt x="5181600" y="2019300"/>
                  </a:lnTo>
                  <a:lnTo>
                    <a:pt x="5391150" y="2438400"/>
                  </a:lnTo>
                  <a:lnTo>
                    <a:pt x="5162550" y="2857500"/>
                  </a:lnTo>
                  <a:lnTo>
                    <a:pt x="5391150" y="3276600"/>
                  </a:lnTo>
                  <a:lnTo>
                    <a:pt x="5181600" y="3695700"/>
                  </a:lnTo>
                  <a:lnTo>
                    <a:pt x="5410200" y="4095750"/>
                  </a:lnTo>
                  <a:lnTo>
                    <a:pt x="5181600" y="4495800"/>
                  </a:lnTo>
                  <a:lnTo>
                    <a:pt x="5410200" y="4914900"/>
                  </a:lnTo>
                  <a:lnTo>
                    <a:pt x="5200650" y="5334000"/>
                  </a:lnTo>
                  <a:lnTo>
                    <a:pt x="5429250" y="5715000"/>
                  </a:lnTo>
                  <a:lnTo>
                    <a:pt x="5238750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1"/>
            <a:srcRect t="14745" b="14745"/>
            <a:stretch>
              <a:fillRect/>
            </a:stretch>
          </p:blipFill>
          <p:spPr>
            <a:xfrm>
              <a:off x="381000" y="381000"/>
              <a:ext cx="5238750" cy="6096000"/>
            </a:xfrm>
            <a:custGeom>
              <a:avLst/>
              <a:gdLst/>
              <a:ahLst/>
              <a:cxnLst/>
              <a:rect l="l" t="t" r="r" b="b"/>
              <a:pathLst>
                <a:path w="5238750" h="6096000">
                  <a:moveTo>
                    <a:pt x="0" y="0"/>
                  </a:moveTo>
                  <a:lnTo>
                    <a:pt x="5238750" y="0"/>
                  </a:lnTo>
                  <a:lnTo>
                    <a:pt x="5048250" y="381000"/>
                  </a:lnTo>
                  <a:lnTo>
                    <a:pt x="5295900" y="762000"/>
                  </a:lnTo>
                  <a:lnTo>
                    <a:pt x="5067300" y="1181100"/>
                  </a:lnTo>
                  <a:lnTo>
                    <a:pt x="5276850" y="1600200"/>
                  </a:lnTo>
                  <a:lnTo>
                    <a:pt x="5048250" y="2019300"/>
                  </a:lnTo>
                  <a:lnTo>
                    <a:pt x="5257800" y="2438400"/>
                  </a:lnTo>
                  <a:lnTo>
                    <a:pt x="5029200" y="2857500"/>
                  </a:lnTo>
                  <a:lnTo>
                    <a:pt x="5257800" y="3276600"/>
                  </a:lnTo>
                  <a:lnTo>
                    <a:pt x="5048250" y="3695700"/>
                  </a:lnTo>
                  <a:lnTo>
                    <a:pt x="5276850" y="4095750"/>
                  </a:lnTo>
                  <a:lnTo>
                    <a:pt x="5048250" y="4495800"/>
                  </a:lnTo>
                  <a:lnTo>
                    <a:pt x="5276850" y="4914900"/>
                  </a:lnTo>
                  <a:lnTo>
                    <a:pt x="5067300" y="5334000"/>
                  </a:lnTo>
                  <a:lnTo>
                    <a:pt x="5295900" y="5715000"/>
                  </a:lnTo>
                  <a:lnTo>
                    <a:pt x="5105400" y="6096000"/>
                  </a:lnTo>
                  <a:lnTo>
                    <a:pt x="0" y="6096000"/>
                  </a:lnTo>
                  <a:close/>
                </a:path>
              </a:pathLst>
            </a:custGeom>
          </p:spPr>
        </p:pic>
        <p:sp>
          <p:nvSpPr>
            <p:cNvPr id="4" name="Polygon 4"/>
            <p:cNvSpPr/>
            <p:nvPr/>
          </p:nvSpPr>
          <p:spPr>
            <a:xfrm>
              <a:off x="5676900" y="4838700"/>
              <a:ext cx="1619250" cy="304800"/>
            </a:xfrm>
            <a:custGeom>
              <a:avLst/>
              <a:gdLst/>
              <a:ahLst/>
              <a:cxnLst/>
              <a:rect l="l" t="t" r="r" b="b"/>
              <a:pathLst>
                <a:path w="1619250" h="304800">
                  <a:moveTo>
                    <a:pt x="0" y="114300"/>
                  </a:moveTo>
                  <a:lnTo>
                    <a:pt x="1562100" y="0"/>
                  </a:lnTo>
                  <a:lnTo>
                    <a:pt x="1619250" y="190500"/>
                  </a:lnTo>
                  <a:lnTo>
                    <a:pt x="57150" y="3048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648450" y="2080260"/>
            <a:ext cx="4554397" cy="1739075"/>
            <a:chOff x="6648450" y="2080260"/>
            <a:chExt cx="4554397" cy="1739075"/>
          </a:xfrm>
        </p:grpSpPr>
        <p:sp>
          <p:nvSpPr>
            <p:cNvPr id="6" name="TextBox 6"/>
            <p:cNvSpPr txBox="1"/>
            <p:nvPr/>
          </p:nvSpPr>
          <p:spPr>
            <a:xfrm>
              <a:off x="6648450" y="2080260"/>
              <a:ext cx="1157600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02</a:t>
              </a:r>
              <a:endParaRPr lang="zh-CN" sz="72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51498" y="3203258"/>
              <a:ext cx="455134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矩阵统筹 · 信息流项目</a:t>
              </a:r>
              <a:endPara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658356" y="3996690"/>
            <a:ext cx="3447288" cy="713994"/>
            <a:chOff x="6658356" y="3996690"/>
            <a:chExt cx="3447288" cy="713994"/>
          </a:xfrm>
        </p:grpSpPr>
        <p:sp>
          <p:nvSpPr>
            <p:cNvPr id="9" name="TextBox 9"/>
            <p:cNvSpPr txBox="1"/>
            <p:nvPr/>
          </p:nvSpPr>
          <p:spPr>
            <a:xfrm>
              <a:off x="6658356" y="3996690"/>
              <a:ext cx="344728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个人能力之外，</a:t>
              </a:r>
              <a:br>
                <a:rPr lang="zh-CN" sz="18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还有矩阵协同与项目对接的实战。</a:t>
              </a:r>
              <a:endParaRPr lang="zh-CN" sz="1800" dirty="0">
                <a:solidFill>
                  <a:schemeClr val="dk1">
                    <a:alphaMod val="8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660642" y="5245418"/>
            <a:ext cx="1782435" cy="264033"/>
            <a:chOff x="6660642" y="5245418"/>
            <a:chExt cx="1782435" cy="264033"/>
          </a:xfrm>
        </p:grpSpPr>
        <p:sp>
          <p:nvSpPr>
            <p:cNvPr id="11" name="TextBox 11"/>
            <p:cNvSpPr txBox="1"/>
            <p:nvPr/>
          </p:nvSpPr>
          <p:spPr>
            <a:xfrm>
              <a:off x="6660642" y="5245418"/>
              <a:ext cx="17824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Crossing the harbor</a:t>
              </a:r>
              <a:endParaRPr lang="zh-CN" sz="1350" dirty="0">
                <a:solidFill>
                  <a:schemeClr val="accent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66166" y="6497002"/>
            <a:ext cx="11250168" cy="205359"/>
            <a:chOff x="566166" y="6497002"/>
            <a:chExt cx="11250168" cy="205359"/>
          </a:xfrm>
        </p:grpSpPr>
        <p:sp>
          <p:nvSpPr>
            <p:cNvPr id="13" name="TextBox 13"/>
            <p:cNvSpPr txBox="1"/>
            <p:nvPr/>
          </p:nvSpPr>
          <p:spPr>
            <a:xfrm>
              <a:off x="566166" y="6497002"/>
              <a:ext cx="16236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55000"/>
                    </a:scheme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OPS PORTFOLIO · 2026</a:t>
              </a:r>
              <a:endParaRPr lang="zh-CN" sz="1050" dirty="0">
                <a:solidFill>
                  <a:schemeClr val="dk1">
                    <a:alphaMod val="55000"/>
                  </a:scheme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3214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dk1">
                      <a:alphaMod val="55000"/>
                    </a:scheme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08 / 17</a:t>
              </a:r>
              <a:endParaRPr lang="zh-CN" sz="1050" dirty="0">
                <a:solidFill>
                  <a:schemeClr val="dk1">
                    <a:alphaMod val="55000"/>
                  </a:scheme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360103" y="673418"/>
            <a:ext cx="2267255" cy="264033"/>
            <a:chOff x="9360103" y="673418"/>
            <a:chExt cx="2267255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9360103" y="673418"/>
              <a:ext cx="22672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six accounts, one rhythm</a:t>
              </a:r>
              <a:endParaRPr lang="zh-CN" sz="1350" dirty="0">
                <a:solidFill>
                  <a:schemeClr val="accent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55498" y="479108"/>
            <a:ext cx="11111309" cy="616077"/>
            <a:chOff x="555498" y="479108"/>
            <a:chExt cx="11111309" cy="616077"/>
          </a:xfrm>
        </p:grpSpPr>
        <p:sp>
          <p:nvSpPr>
            <p:cNvPr id="4" name="TextBox 4"/>
            <p:cNvSpPr txBox="1"/>
            <p:nvPr/>
          </p:nvSpPr>
          <p:spPr>
            <a:xfrm>
              <a:off x="555498" y="479108"/>
              <a:ext cx="1111130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KVL 回声矩阵：10 个月 2404 万播放，累计粉丝 19.5 万</a:t>
              </a:r>
              <a:endPara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21" name="Group 21"/>
          <p:cNvGrpSpPr/>
          <p:nvPr>
            <p:custDataLst>
              <p:tags r:id="rId1"/>
            </p:custDataLst>
          </p:nvPr>
        </p:nvGrpSpPr>
        <p:grpSpPr>
          <a:xfrm>
            <a:off x="571500" y="1162050"/>
            <a:ext cx="11049000" cy="800100"/>
            <a:chOff x="571500" y="1162050"/>
            <a:chExt cx="11049000" cy="800100"/>
          </a:xfrm>
        </p:grpSpPr>
        <p:sp>
          <p:nvSpPr>
            <p:cNvPr id="6" name="Rectangle 6"/>
            <p:cNvSpPr/>
            <p:nvPr>
              <p:custDataLst>
                <p:tags r:id="rId2"/>
              </p:custDataLst>
            </p:nvPr>
          </p:nvSpPr>
          <p:spPr>
            <a:xfrm>
              <a:off x="571500" y="1162050"/>
              <a:ext cx="2057400" cy="800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>
              <p:custDataLst>
                <p:tags r:id="rId3"/>
              </p:custDataLst>
            </p:nvPr>
          </p:nvSpPr>
          <p:spPr>
            <a:xfrm>
              <a:off x="746760" y="1219200"/>
              <a:ext cx="73016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470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>
              <p:custDataLst>
                <p:tags r:id="rId4"/>
              </p:custDataLst>
            </p:nvPr>
          </p:nvSpPr>
          <p:spPr>
            <a:xfrm>
              <a:off x="756666" y="17154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发布总数</a:t>
              </a:r>
              <a:endParaRPr lang="zh-CN" sz="1050" dirty="0">
                <a:solidFill>
                  <a:schemeClr val="dk1">
                    <a:alphaMod val="7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>
              <p:custDataLst>
                <p:tags r:id="rId5"/>
              </p:custDataLst>
            </p:nvPr>
          </p:nvSpPr>
          <p:spPr>
            <a:xfrm>
              <a:off x="2819400" y="1162050"/>
              <a:ext cx="2057400" cy="800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0" name="TextBox 10"/>
            <p:cNvSpPr txBox="1"/>
            <p:nvPr>
              <p:custDataLst>
                <p:tags r:id="rId6"/>
              </p:custDataLst>
            </p:nvPr>
          </p:nvSpPr>
          <p:spPr>
            <a:xfrm>
              <a:off x="2994660" y="1219200"/>
              <a:ext cx="1451610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2404</a:t>
              </a:r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万+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>
              <p:custDataLst>
                <p:tags r:id="rId7"/>
              </p:custDataLst>
            </p:nvPr>
          </p:nvSpPr>
          <p:spPr>
            <a:xfrm>
              <a:off x="3004566" y="17154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总播放量</a:t>
              </a:r>
              <a:endParaRPr lang="zh-CN" sz="1050" dirty="0">
                <a:solidFill>
                  <a:schemeClr val="dk1">
                    <a:alphaMod val="7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>
              <p:custDataLst>
                <p:tags r:id="rId8"/>
              </p:custDataLst>
            </p:nvPr>
          </p:nvSpPr>
          <p:spPr>
            <a:xfrm>
              <a:off x="5067300" y="1162050"/>
              <a:ext cx="2057400" cy="800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>
              <p:custDataLst>
                <p:tags r:id="rId9"/>
              </p:custDataLst>
            </p:nvPr>
          </p:nvSpPr>
          <p:spPr>
            <a:xfrm>
              <a:off x="5242560" y="1219200"/>
              <a:ext cx="1027430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55</a:t>
              </a:r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万+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>
              <p:custDataLst>
                <p:tags r:id="rId10"/>
              </p:custDataLst>
            </p:nvPr>
          </p:nvSpPr>
          <p:spPr>
            <a:xfrm>
              <a:off x="5252466" y="17154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总互动量</a:t>
              </a:r>
              <a:endParaRPr lang="zh-CN" sz="1050" dirty="0">
                <a:solidFill>
                  <a:schemeClr val="dk1">
                    <a:alphaMod val="7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>
              <p:custDataLst>
                <p:tags r:id="rId11"/>
              </p:custDataLst>
            </p:nvPr>
          </p:nvSpPr>
          <p:spPr>
            <a:xfrm>
              <a:off x="7315200" y="1162050"/>
              <a:ext cx="2057400" cy="800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>
              <p:custDataLst>
                <p:tags r:id="rId12"/>
              </p:custDataLst>
            </p:nvPr>
          </p:nvSpPr>
          <p:spPr>
            <a:xfrm>
              <a:off x="7490460" y="1219200"/>
              <a:ext cx="138745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19.5万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>
              <p:custDataLst>
                <p:tags r:id="rId13"/>
              </p:custDataLst>
            </p:nvPr>
          </p:nvSpPr>
          <p:spPr>
            <a:xfrm>
              <a:off x="7500366" y="17154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累计粉丝</a:t>
              </a:r>
              <a:endParaRPr lang="zh-CN" sz="1050" dirty="0">
                <a:solidFill>
                  <a:schemeClr val="dk1">
                    <a:alphaMod val="7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>
              <p:custDataLst>
                <p:tags r:id="rId14"/>
              </p:custDataLst>
            </p:nvPr>
          </p:nvSpPr>
          <p:spPr>
            <a:xfrm>
              <a:off x="9563100" y="1162050"/>
              <a:ext cx="2057400" cy="800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>
              <p:custDataLst>
                <p:tags r:id="rId15"/>
              </p:custDataLst>
            </p:nvPr>
          </p:nvSpPr>
          <p:spPr>
            <a:xfrm>
              <a:off x="9738360" y="121920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72</a:t>
              </a:r>
              <a:endParaRPr lang="zh-CN" sz="30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>
              <p:custDataLst>
                <p:tags r:id="rId16"/>
              </p:custDataLst>
            </p:nvPr>
          </p:nvSpPr>
          <p:spPr>
            <a:xfrm>
              <a:off x="9748266" y="17154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爆款条数</a:t>
              </a:r>
              <a:endParaRPr lang="zh-CN" sz="1050" dirty="0">
                <a:solidFill>
                  <a:schemeClr val="dk1">
                    <a:alphaMod val="7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23875" y="2345055"/>
            <a:ext cx="6391275" cy="3069146"/>
            <a:chOff x="523875" y="2345055"/>
            <a:chExt cx="6391275" cy="3069146"/>
          </a:xfrm>
        </p:grpSpPr>
        <p:sp>
          <p:nvSpPr>
            <p:cNvPr id="22" name="TextBox 22"/>
            <p:cNvSpPr txBox="1"/>
            <p:nvPr/>
          </p:nvSpPr>
          <p:spPr>
            <a:xfrm>
              <a:off x="560832" y="234505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粉丝增长曲线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Polyline 23"/>
            <p:cNvSpPr/>
            <p:nvPr/>
          </p:nvSpPr>
          <p:spPr>
            <a:xfrm>
              <a:off x="571500" y="3810000"/>
              <a:ext cx="6286500" cy="952500"/>
            </a:xfrm>
            <a:custGeom>
              <a:avLst/>
              <a:gdLst/>
              <a:ahLst/>
              <a:cxnLst/>
              <a:rect l="l" t="t" r="r" b="b"/>
              <a:pathLst>
                <a:path w="6286500" h="952500">
                  <a:moveTo>
                    <a:pt x="0" y="952500"/>
                  </a:moveTo>
                  <a:lnTo>
                    <a:pt x="1047750" y="933450"/>
                  </a:lnTo>
                  <a:lnTo>
                    <a:pt x="2095500" y="666750"/>
                  </a:lnTo>
                  <a:lnTo>
                    <a:pt x="3143250" y="742950"/>
                  </a:lnTo>
                  <a:lnTo>
                    <a:pt x="4191000" y="704850"/>
                  </a:lnTo>
                  <a:lnTo>
                    <a:pt x="5238750" y="476250"/>
                  </a:lnTo>
                  <a:lnTo>
                    <a:pt x="62865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  <p:txBody>
            <a:bodyPr/>
            <a:p/>
          </p:txBody>
        </p:sp>
        <p:sp>
          <p:nvSpPr>
            <p:cNvPr id="24" name="Ellipse 24"/>
            <p:cNvSpPr/>
            <p:nvPr/>
          </p:nvSpPr>
          <p:spPr>
            <a:xfrm>
              <a:off x="523875" y="47148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5" name="Ellipse 25"/>
            <p:cNvSpPr/>
            <p:nvPr/>
          </p:nvSpPr>
          <p:spPr>
            <a:xfrm>
              <a:off x="2619375" y="44291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6" name="Ellipse 26"/>
            <p:cNvSpPr/>
            <p:nvPr/>
          </p:nvSpPr>
          <p:spPr>
            <a:xfrm>
              <a:off x="6800850" y="375285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7" name="TextBox 27"/>
            <p:cNvSpPr txBox="1"/>
            <p:nvPr/>
          </p:nvSpPr>
          <p:spPr>
            <a:xfrm>
              <a:off x="566166" y="4934902"/>
              <a:ext cx="8093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矩阵起步</a:t>
              </a:r>
              <a:endParaRPr lang="zh-CN" sz="1050" dirty="0">
                <a:solidFill>
                  <a:schemeClr val="dk1">
                    <a:alphaMod val="7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912682" y="3506152"/>
              <a:ext cx="9506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dk1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10月 · 19.5万 粉</a:t>
              </a:r>
              <a:endParaRPr lang="zh-CN" sz="1050" dirty="0">
                <a:solidFill>
                  <a:schemeClr val="dk1">
                    <a:alphaMod val="7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4642" y="5150168"/>
              <a:ext cx="34303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两个拐点：3 月爆款起号、6-7 月矩阵共振</a:t>
              </a:r>
              <a:endParaRPr lang="zh-CN" sz="1350" dirty="0">
                <a:solidFill>
                  <a:schemeClr val="dk1">
                    <a:alphaMod val="8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171719" y="2357451"/>
            <a:ext cx="3468562" cy="2905098"/>
            <a:chOff x="8171719" y="2357451"/>
            <a:chExt cx="3468562" cy="2905098"/>
          </a:xfrm>
        </p:grpSpPr>
        <p:sp>
          <p:nvSpPr>
            <p:cNvPr id="31" name="Rectangle 31"/>
            <p:cNvSpPr/>
            <p:nvPr/>
          </p:nvSpPr>
          <p:spPr>
            <a:xfrm rot="48000">
              <a:off x="8191500" y="2381250"/>
              <a:ext cx="3429000" cy="2857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2" name="TextBox 32"/>
            <p:cNvSpPr txBox="1"/>
            <p:nvPr/>
          </p:nvSpPr>
          <p:spPr>
            <a:xfrm>
              <a:off x="8409432" y="2554605"/>
              <a:ext cx="235150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 账号差异化定位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12480" y="3019425"/>
              <a:ext cx="16912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影像 · 屏幕 · 拆机</a:t>
              </a:r>
              <a:endParaRPr lang="zh-CN" sz="1500" dirty="0">
                <a:solidFill>
                  <a:schemeClr val="dk1">
                    <a:alphaMod val="8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12480" y="3362325"/>
              <a:ext cx="16912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行业 · 系统 · 资讯</a:t>
              </a:r>
              <a:endParaRPr lang="zh-CN" sz="1500" dirty="0">
                <a:solidFill>
                  <a:schemeClr val="dk1">
                    <a:alphaMod val="8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Line 35"/>
            <p:cNvSpPr/>
            <p:nvPr/>
          </p:nvSpPr>
          <p:spPr>
            <a:xfrm>
              <a:off x="8420100" y="377190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19050">
              <a:solidFill>
                <a:srgbClr val="EAE3D2"/>
              </a:solidFill>
            </a:ln>
          </p:spPr>
          <p:txBody>
            <a:bodyPr/>
            <a:p/>
          </p:txBody>
        </p:sp>
        <p:sp>
          <p:nvSpPr>
            <p:cNvPr id="36" name="TextBox 36"/>
            <p:cNvSpPr txBox="1"/>
            <p:nvPr/>
          </p:nvSpPr>
          <p:spPr>
            <a:xfrm>
              <a:off x="8412480" y="3952875"/>
              <a:ext cx="25107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统筹选题会与内容排期，</a:t>
              </a:r>
              <a:b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对接编导/供应商/外包剪辑，</a:t>
              </a:r>
              <a:b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把控调性与差异化布局。</a:t>
              </a:r>
              <a:endParaRPr lang="zh-CN" sz="1500" dirty="0">
                <a:solidFill>
                  <a:schemeClr val="dk1">
                    <a:alphaMod val="8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66166" y="6497002"/>
            <a:ext cx="11250168" cy="205359"/>
            <a:chOff x="566166" y="6497002"/>
            <a:chExt cx="11250168" cy="205359"/>
          </a:xfrm>
        </p:grpSpPr>
        <p:sp>
          <p:nvSpPr>
            <p:cNvPr id="38" name="TextBox 38"/>
            <p:cNvSpPr txBox="1"/>
            <p:nvPr/>
          </p:nvSpPr>
          <p:spPr>
            <a:xfrm>
              <a:off x="566166" y="6497002"/>
              <a:ext cx="16236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55000"/>
                    </a:scheme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OPS PORTFOLIO · 2026</a:t>
              </a:r>
              <a:endParaRPr lang="zh-CN" sz="1050" dirty="0">
                <a:solidFill>
                  <a:schemeClr val="dk1">
                    <a:alphaMod val="55000"/>
                  </a:scheme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33214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dk1">
                      <a:alphaMod val="55000"/>
                    </a:scheme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09 / 17</a:t>
              </a:r>
              <a:endParaRPr lang="zh-CN" sz="1050" dirty="0">
                <a:solidFill>
                  <a:schemeClr val="dk1">
                    <a:alphaMod val="55000"/>
                  </a:scheme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069324" y="673418"/>
            <a:ext cx="2558034" cy="264033"/>
            <a:chOff x="9069324" y="673418"/>
            <a:chExt cx="255803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9069324" y="6734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feed projects, my ownership</a:t>
              </a:r>
              <a:endParaRPr lang="zh-CN" sz="1350" dirty="0">
                <a:solidFill>
                  <a:schemeClr val="accent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55498" y="479108"/>
            <a:ext cx="10272884" cy="616077"/>
            <a:chOff x="555498" y="479108"/>
            <a:chExt cx="10272884" cy="616077"/>
          </a:xfrm>
        </p:grpSpPr>
        <p:sp>
          <p:nvSpPr>
            <p:cNvPr id="4" name="TextBox 4"/>
            <p:cNvSpPr txBox="1"/>
            <p:nvPr/>
          </p:nvSpPr>
          <p:spPr>
            <a:xfrm>
              <a:off x="555498" y="479108"/>
              <a:ext cx="1027288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信息流项目：供应商对接与内容审核，都是我的权责</a:t>
              </a:r>
              <a:endPara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42938" y="1262062"/>
            <a:ext cx="10624546" cy="355283"/>
            <a:chOff x="642938" y="1262062"/>
            <a:chExt cx="10624546" cy="355283"/>
          </a:xfrm>
        </p:grpSpPr>
        <p:grpSp>
          <p:nvGrpSpPr>
            <p:cNvPr id="12" name="Group 12"/>
            <p:cNvGrpSpPr/>
            <p:nvPr/>
          </p:nvGrpSpPr>
          <p:grpSpPr>
            <a:xfrm>
              <a:off x="642938" y="1262062"/>
              <a:ext cx="200025" cy="257176"/>
              <a:chOff x="642938" y="1262062"/>
              <a:chExt cx="200025" cy="257176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642938" y="1290638"/>
                <a:ext cx="2000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28600">
                    <a:moveTo>
                      <a:pt x="57150" y="0"/>
                    </a:moveTo>
                    <a:lnTo>
                      <a:pt x="28575" y="0"/>
                    </a:lnTo>
                    <a:cubicBezTo>
                      <a:pt x="12793" y="0"/>
                      <a:pt x="0" y="12793"/>
                      <a:pt x="0" y="28575"/>
                    </a:cubicBezTo>
                    <a:lnTo>
                      <a:pt x="0" y="200025"/>
                    </a:lnTo>
                    <a:cubicBezTo>
                      <a:pt x="0" y="215807"/>
                      <a:pt x="12793" y="228600"/>
                      <a:pt x="28575" y="228600"/>
                    </a:cubicBezTo>
                    <a:lnTo>
                      <a:pt x="171450" y="228600"/>
                    </a:lnTo>
                    <a:cubicBezTo>
                      <a:pt x="187232" y="228600"/>
                      <a:pt x="200025" y="215807"/>
                      <a:pt x="200025" y="200025"/>
                    </a:cubicBezTo>
                    <a:lnTo>
                      <a:pt x="200025" y="28575"/>
                    </a:lnTo>
                    <a:cubicBezTo>
                      <a:pt x="200025" y="12793"/>
                      <a:pt x="187232" y="0"/>
                      <a:pt x="171450" y="0"/>
                    </a:cubicBezTo>
                    <a:lnTo>
                      <a:pt x="142875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700088" y="1262062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57150" y="0"/>
                    </a:lnTo>
                    <a:cubicBezTo>
                      <a:pt x="72932" y="0"/>
                      <a:pt x="85725" y="12793"/>
                      <a:pt x="85725" y="28575"/>
                    </a:cubicBezTo>
                    <a:cubicBezTo>
                      <a:pt x="85725" y="44357"/>
                      <a:pt x="72932" y="57150"/>
                      <a:pt x="57150" y="57150"/>
                    </a:cubicBezTo>
                    <a:lnTo>
                      <a:pt x="28575" y="57150"/>
                    </a:lnTo>
                    <a:cubicBezTo>
                      <a:pt x="12793" y="57150"/>
                      <a:pt x="0" y="44357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700088" y="1390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757238" y="1390650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00088" y="1447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57238" y="1447800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021080" y="1323975"/>
              <a:ext cx="51674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供应商对接：排期 / 交付 / 验收，让多方按同一节奏跑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6310081" y="1262062"/>
              <a:ext cx="279010" cy="257176"/>
              <a:chOff x="6310081" y="1262062"/>
              <a:chExt cx="279010" cy="25717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6310081" y="1262062"/>
                <a:ext cx="279010" cy="254975"/>
              </a:xfrm>
              <a:custGeom>
                <a:avLst/>
                <a:gdLst/>
                <a:ahLst/>
                <a:cxnLst/>
                <a:rect l="l" t="t" r="r" b="b"/>
                <a:pathLst>
                  <a:path w="279010" h="254975">
                    <a:moveTo>
                      <a:pt x="140154" y="254975"/>
                    </a:moveTo>
                    <a:cubicBezTo>
                      <a:pt x="50649" y="227230"/>
                      <a:pt x="0" y="132765"/>
                      <a:pt x="26425" y="42862"/>
                    </a:cubicBezTo>
                    <a:cubicBezTo>
                      <a:pt x="70939" y="44899"/>
                      <a:pt x="114496" y="29526"/>
                      <a:pt x="147869" y="0"/>
                    </a:cubicBezTo>
                    <a:cubicBezTo>
                      <a:pt x="181242" y="29526"/>
                      <a:pt x="224800" y="44899"/>
                      <a:pt x="269313" y="42862"/>
                    </a:cubicBezTo>
                    <a:cubicBezTo>
                      <a:pt x="279010" y="75854"/>
                      <a:pt x="278561" y="110999"/>
                      <a:pt x="268027" y="143732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6500812" y="1462088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6736080" y="1323975"/>
              <a:ext cx="45314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内容审核：合规 / 品牌表达 / 转化钩子逐项过审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 rot="-48000">
            <a:off x="571500" y="2000250"/>
            <a:ext cx="3429000" cy="3238500"/>
            <a:chOff x="571500" y="2000250"/>
            <a:chExt cx="3429000" cy="3238500"/>
          </a:xfrm>
        </p:grpSpPr>
        <p:sp>
          <p:nvSpPr>
            <p:cNvPr id="19" name="Rectangle 19"/>
            <p:cNvSpPr/>
            <p:nvPr/>
          </p:nvSpPr>
          <p:spPr>
            <a:xfrm>
              <a:off x="571500" y="2000250"/>
              <a:ext cx="3429000" cy="3238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71500" y="2000250"/>
              <a:ext cx="20955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68254" y="2130742"/>
              <a:ext cx="13019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5F1E6"/>
                  </a:solidFill>
                  <a:latin typeface="+mn-lt"/>
                  <a:ea typeface="+mn-ea"/>
                  <a:cs typeface="+mn-cs"/>
                </a:rPr>
                <a:t>iQOO 618 大促</a:t>
              </a:r>
              <a:endParaRPr lang="zh-CN" sz="1350" dirty="0">
                <a:solidFill>
                  <a:srgbClr val="F5F1E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9432" y="2554605"/>
              <a:ext cx="7337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72 篇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4766" y="29156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种草内容</a:t>
              </a:r>
              <a:endParaRPr lang="zh-CN" sz="1050" dirty="0">
                <a:solidFill>
                  <a:schemeClr val="dk1">
                    <a:alphaMod val="7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9432" y="3183255"/>
              <a:ext cx="10602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1.9 万+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4766" y="35442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总互动量</a:t>
              </a:r>
              <a:endParaRPr lang="zh-CN" sz="1050" dirty="0">
                <a:solidFill>
                  <a:schemeClr val="dk1">
                    <a:alphaMod val="7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9432" y="3811905"/>
              <a:ext cx="57048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18%</a:t>
              </a:r>
              <a:endParaRPr lang="zh-CN" sz="21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4766" y="41729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高互动率占比</a:t>
              </a:r>
              <a:endParaRPr lang="zh-CN" sz="1050" dirty="0">
                <a:solidFill>
                  <a:schemeClr val="dk1">
                    <a:alphaMod val="7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3242" y="4559618"/>
              <a:ext cx="1479614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好价攻略+教育优惠</a:t>
              </a:r>
              <a:br>
                <a:rPr lang="zh-CN" sz="135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两阶段精准锁人群</a:t>
              </a:r>
              <a:endParaRPr lang="zh-CN" sz="1350" dirty="0">
                <a:solidFill>
                  <a:schemeClr val="dk1">
                    <a:alphaMod val="8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 rot="36000">
            <a:off x="4381500" y="2000250"/>
            <a:ext cx="3429000" cy="3238500"/>
            <a:chOff x="4381500" y="2000250"/>
            <a:chExt cx="3429000" cy="3238500"/>
          </a:xfrm>
        </p:grpSpPr>
        <p:sp>
          <p:nvSpPr>
            <p:cNvPr id="30" name="Rectangle 30"/>
            <p:cNvSpPr/>
            <p:nvPr/>
          </p:nvSpPr>
          <p:spPr>
            <a:xfrm>
              <a:off x="4381500" y="2000250"/>
              <a:ext cx="3429000" cy="3238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381500" y="2000250"/>
              <a:ext cx="20955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851121" y="2130742"/>
              <a:ext cx="11562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5F1E6"/>
                  </a:solidFill>
                  <a:latin typeface="+mn-lt"/>
                  <a:ea typeface="+mn-ea"/>
                  <a:cs typeface="+mn-cs"/>
                </a:rPr>
                <a:t>S60 长线种草</a:t>
              </a:r>
              <a:endParaRPr lang="zh-CN" sz="1350" dirty="0">
                <a:solidFill>
                  <a:srgbClr val="F5F1E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99432" y="2554605"/>
              <a:ext cx="89700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320 篇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04766" y="2915602"/>
              <a:ext cx="1077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红书+抖音双平台</a:t>
              </a:r>
              <a:endParaRPr lang="zh-CN" sz="1050" dirty="0">
                <a:solidFill>
                  <a:schemeClr val="dk1">
                    <a:alphaMod val="7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99432" y="3183255"/>
              <a:ext cx="12235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12.8 万+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604766" y="35442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总互动量</a:t>
              </a:r>
              <a:endParaRPr lang="zh-CN" sz="1050" dirty="0">
                <a:solidFill>
                  <a:schemeClr val="dk1">
                    <a:alphaMod val="7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599432" y="3811905"/>
              <a:ext cx="57048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25%</a:t>
              </a:r>
              <a:endParaRPr lang="zh-CN" sz="21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04766" y="41729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高互动率占比</a:t>
              </a:r>
              <a:endParaRPr lang="zh-CN" sz="1050" dirty="0">
                <a:solidFill>
                  <a:schemeClr val="dk1">
                    <a:alphaMod val="7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603242" y="4559618"/>
              <a:ext cx="155676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决策+产品力双轨，</a:t>
              </a:r>
              <a:br>
                <a:rPr lang="zh-CN" sz="135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预热引爆到长尾转化</a:t>
              </a:r>
              <a:endParaRPr lang="zh-CN" sz="1350" dirty="0">
                <a:solidFill>
                  <a:schemeClr val="dk1">
                    <a:alphaMod val="8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1" name="Group 51"/>
          <p:cNvGrpSpPr/>
          <p:nvPr/>
        </p:nvGrpSpPr>
        <p:grpSpPr>
          <a:xfrm rot="-36000">
            <a:off x="8191500" y="2000250"/>
            <a:ext cx="3429000" cy="3238500"/>
            <a:chOff x="8191500" y="2000250"/>
            <a:chExt cx="3429000" cy="3238500"/>
          </a:xfrm>
        </p:grpSpPr>
        <p:sp>
          <p:nvSpPr>
            <p:cNvPr id="41" name="Rectangle 41"/>
            <p:cNvSpPr/>
            <p:nvPr/>
          </p:nvSpPr>
          <p:spPr>
            <a:xfrm>
              <a:off x="8191500" y="2000250"/>
              <a:ext cx="3429000" cy="3238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2000250"/>
              <a:ext cx="238125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757310" y="2130742"/>
              <a:ext cx="12496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5F1E6"/>
                  </a:solidFill>
                  <a:latin typeface="+mn-lt"/>
                  <a:ea typeface="+mn-ea"/>
                  <a:cs typeface="+mn-cs"/>
                </a:rPr>
                <a:t>X Fold6 首销周</a:t>
              </a:r>
              <a:endParaRPr lang="zh-CN" sz="1350" dirty="0">
                <a:solidFill>
                  <a:srgbClr val="F5F1E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09432" y="2554605"/>
              <a:ext cx="89700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282 篇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14766" y="2915602"/>
              <a:ext cx="12898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图文 162 + 视频 120</a:t>
              </a:r>
              <a:endParaRPr lang="zh-CN" sz="1050" dirty="0">
                <a:solidFill>
                  <a:schemeClr val="dk1">
                    <a:alphaMod val="7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09432" y="3183255"/>
              <a:ext cx="10602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20.1 万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14766" y="35442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总阅读量</a:t>
              </a:r>
              <a:endParaRPr lang="zh-CN" sz="1050" dirty="0">
                <a:solidFill>
                  <a:schemeClr val="dk1">
                    <a:alphaMod val="7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409432" y="3811905"/>
              <a:ext cx="8376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5000+</a:t>
              </a:r>
              <a:endParaRPr lang="zh-CN" sz="21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14766" y="41729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总互动量</a:t>
              </a:r>
              <a:endParaRPr lang="zh-CN" sz="1050" dirty="0">
                <a:solidFill>
                  <a:schemeClr val="dk1">
                    <a:alphaMod val="7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413242" y="4559618"/>
              <a:ext cx="1505331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苹果搭子+AI 轻办公</a:t>
              </a:r>
              <a:br>
                <a:rPr lang="zh-CN" sz="135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首销周口碑破圈</a:t>
              </a:r>
              <a:endParaRPr lang="zh-CN" sz="1350" dirty="0">
                <a:solidFill>
                  <a:schemeClr val="dk1">
                    <a:alphaMod val="8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62356" y="5673090"/>
            <a:ext cx="6264589" cy="480060"/>
            <a:chOff x="562356" y="5673090"/>
            <a:chExt cx="6264589" cy="480060"/>
          </a:xfrm>
        </p:grpSpPr>
        <p:sp>
          <p:nvSpPr>
            <p:cNvPr id="52" name="TextBox 52"/>
            <p:cNvSpPr txBox="1"/>
            <p:nvPr/>
          </p:nvSpPr>
          <p:spPr>
            <a:xfrm>
              <a:off x="562356" y="5673090"/>
              <a:ext cx="62645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每个项目交付+复盘成套：客户拿到结果，我拿到方法。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Polygon 53"/>
            <p:cNvSpPr/>
            <p:nvPr/>
          </p:nvSpPr>
          <p:spPr>
            <a:xfrm>
              <a:off x="571500" y="5943600"/>
              <a:ext cx="5581650" cy="209550"/>
            </a:xfrm>
            <a:custGeom>
              <a:avLst/>
              <a:gdLst/>
              <a:ahLst/>
              <a:cxnLst/>
              <a:rect l="l" t="t" r="r" b="b"/>
              <a:pathLst>
                <a:path w="5581650" h="209550">
                  <a:moveTo>
                    <a:pt x="0" y="57150"/>
                  </a:moveTo>
                  <a:lnTo>
                    <a:pt x="5524500" y="0"/>
                  </a:lnTo>
                  <a:lnTo>
                    <a:pt x="5581650" y="152400"/>
                  </a:lnTo>
                  <a:lnTo>
                    <a:pt x="57150" y="209550"/>
                  </a:lnTo>
                  <a:close/>
                </a:path>
              </a:pathLst>
            </a:custGeom>
            <a:solidFill>
              <a:schemeClr val="accent2">
                <a:alpha val="85000"/>
              </a:schemeClr>
            </a:solidFill>
            <a:ln>
              <a:noFill/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566166" y="6497002"/>
            <a:ext cx="11250168" cy="205359"/>
            <a:chOff x="566166" y="6497002"/>
            <a:chExt cx="11250168" cy="205359"/>
          </a:xfrm>
        </p:grpSpPr>
        <p:sp>
          <p:nvSpPr>
            <p:cNvPr id="55" name="TextBox 55"/>
            <p:cNvSpPr txBox="1"/>
            <p:nvPr/>
          </p:nvSpPr>
          <p:spPr>
            <a:xfrm>
              <a:off x="566166" y="6497002"/>
              <a:ext cx="16236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55000"/>
                    </a:scheme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OPS PORTFOLIO · 2026</a:t>
              </a:r>
              <a:endParaRPr lang="zh-CN" sz="1050" dirty="0">
                <a:solidFill>
                  <a:schemeClr val="dk1">
                    <a:alphaMod val="55000"/>
                  </a:scheme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33214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dk1">
                      <a:alphaMod val="55000"/>
                    </a:scheme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10 / 17</a:t>
              </a:r>
              <a:endParaRPr lang="zh-CN" sz="1050" dirty="0">
                <a:solidFill>
                  <a:schemeClr val="dk1">
                    <a:alphaMod val="55000"/>
                  </a:scheme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005716" y="673418"/>
            <a:ext cx="2621642" cy="264033"/>
            <a:chOff x="9005716" y="673418"/>
            <a:chExt cx="2621642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9005716" y="673418"/>
              <a:ext cx="26216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soft marketing, hard results</a:t>
              </a:r>
              <a:endParaRPr lang="zh-CN" sz="1350" dirty="0">
                <a:solidFill>
                  <a:schemeClr val="accent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55498" y="479108"/>
            <a:ext cx="9382373" cy="616077"/>
            <a:chOff x="555498" y="479108"/>
            <a:chExt cx="9382373" cy="616077"/>
          </a:xfrm>
        </p:grpSpPr>
        <p:sp>
          <p:nvSpPr>
            <p:cNvPr id="4" name="TextBox 4"/>
            <p:cNvSpPr txBox="1"/>
            <p:nvPr/>
          </p:nvSpPr>
          <p:spPr>
            <a:xfrm>
              <a:off x="555498" y="479108"/>
              <a:ext cx="938237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创意商单：把技术参数翻译成用户能感知的场景</a:t>
              </a:r>
              <a:endPara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-36000">
            <a:off x="571497" y="1428251"/>
            <a:ext cx="5429250" cy="4000500"/>
            <a:chOff x="571500" y="1428750"/>
            <a:chExt cx="5429250" cy="4000500"/>
          </a:xfrm>
        </p:grpSpPr>
        <p:sp>
          <p:nvSpPr>
            <p:cNvPr id="6" name="Rectangle 6"/>
            <p:cNvSpPr/>
            <p:nvPr/>
          </p:nvSpPr>
          <p:spPr>
            <a:xfrm>
              <a:off x="571500" y="1428750"/>
              <a:ext cx="5429250" cy="4000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62000" y="1619250"/>
              <a:ext cx="5048250" cy="2333625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751332" y="4078605"/>
              <a:ext cx="358338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「如何查看女朋友在看啥」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4380" y="4524375"/>
              <a:ext cx="3091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X300 Ultra 85mm 蔡司云台长焦，</a:t>
              </a:r>
              <a:b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生活化痛点 + 趣味反转剧情软营销。</a:t>
              </a:r>
              <a:endParaRPr lang="zh-CN" sz="1500" dirty="0">
                <a:solidFill>
                  <a:schemeClr val="dk1">
                    <a:alphaMod val="8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 rot="36000">
            <a:off x="6286497" y="1429249"/>
            <a:ext cx="5429250" cy="4000500"/>
            <a:chOff x="6286500" y="1428750"/>
            <a:chExt cx="5429250" cy="4000500"/>
          </a:xfrm>
        </p:grpSpPr>
        <p:sp>
          <p:nvSpPr>
            <p:cNvPr id="11" name="Rectangle 11"/>
            <p:cNvSpPr/>
            <p:nvPr/>
          </p:nvSpPr>
          <p:spPr>
            <a:xfrm>
              <a:off x="6286500" y="1428750"/>
              <a:ext cx="5429250" cy="4000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0" y="1619250"/>
              <a:ext cx="5048250" cy="2333625"/>
            </a:xfrm>
            <a:prstGeom prst="rect">
              <a:avLst/>
            </a:prstGeom>
          </p:spPr>
        </p:pic>
        <p:sp>
          <p:nvSpPr>
            <p:cNvPr id="13" name="TextBox 13"/>
            <p:cNvSpPr txBox="1"/>
            <p:nvPr/>
          </p:nvSpPr>
          <p:spPr>
            <a:xfrm>
              <a:off x="6466332" y="4078605"/>
              <a:ext cx="20991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「大炮打蚊子」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69380" y="4524375"/>
              <a:ext cx="2491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打鸟硬核场景打动摄影用户，</a:t>
              </a:r>
              <a:b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通俗梗让大众直观感知强大。</a:t>
              </a:r>
              <a:endParaRPr lang="zh-CN" sz="1500" dirty="0">
                <a:solidFill>
                  <a:schemeClr val="dk1">
                    <a:alphaMod val="8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63880" y="5857875"/>
            <a:ext cx="4286060" cy="293370"/>
            <a:chOff x="563880" y="5857875"/>
            <a:chExt cx="4286060" cy="293370"/>
          </a:xfrm>
        </p:grpSpPr>
        <p:sp>
          <p:nvSpPr>
            <p:cNvPr id="16" name="TextBox 16"/>
            <p:cNvSpPr txBox="1"/>
            <p:nvPr/>
          </p:nvSpPr>
          <p:spPr>
            <a:xfrm>
              <a:off x="563880" y="5857875"/>
              <a:ext cx="42860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抽象参数 → 可感知价值：内容运营的翻译能力。</a:t>
              </a:r>
              <a:endParaRPr lang="zh-CN" sz="1500" dirty="0">
                <a:solidFill>
                  <a:schemeClr val="dk1">
                    <a:alphaMod val="8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66166" y="6497002"/>
            <a:ext cx="11250168" cy="205359"/>
            <a:chOff x="566166" y="6497002"/>
            <a:chExt cx="11250168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566166" y="6497002"/>
              <a:ext cx="16236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55000"/>
                    </a:scheme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OPS PORTFOLIO · 2026</a:t>
              </a:r>
              <a:endParaRPr lang="zh-CN" sz="1050" dirty="0">
                <a:solidFill>
                  <a:schemeClr val="dk1">
                    <a:alphaMod val="55000"/>
                  </a:scheme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3214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dk1">
                      <a:alphaMod val="55000"/>
                    </a:scheme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11 / 17</a:t>
              </a:r>
              <a:endParaRPr lang="zh-CN" sz="1050" dirty="0">
                <a:solidFill>
                  <a:schemeClr val="dk1">
                    <a:alphaMod val="55000"/>
                  </a:scheme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5498" y="1270000"/>
            <a:ext cx="4232529" cy="1749235"/>
            <a:chOff x="555498" y="1270000"/>
            <a:chExt cx="4232529" cy="1749235"/>
          </a:xfrm>
        </p:grpSpPr>
        <p:sp>
          <p:nvSpPr>
            <p:cNvPr id="2" name="Freeform 2"/>
            <p:cNvSpPr/>
            <p:nvPr/>
          </p:nvSpPr>
          <p:spPr>
            <a:xfrm>
              <a:off x="650875" y="1270000"/>
              <a:ext cx="222250" cy="301626"/>
            </a:xfrm>
            <a:custGeom>
              <a:avLst/>
              <a:gdLst/>
              <a:ahLst/>
              <a:cxnLst/>
              <a:rect l="l" t="t" r="r" b="b"/>
              <a:pathLst>
                <a:path w="222250" h="301626">
                  <a:moveTo>
                    <a:pt x="111125" y="141939"/>
                  </a:moveTo>
                  <a:cubicBezTo>
                    <a:pt x="148162" y="89424"/>
                    <a:pt x="113776" y="17748"/>
                    <a:pt x="95250" y="0"/>
                  </a:cubicBezTo>
                  <a:cubicBezTo>
                    <a:pt x="95250" y="53896"/>
                    <a:pt x="59769" y="84122"/>
                    <a:pt x="37036" y="106458"/>
                  </a:cubicBezTo>
                  <a:cubicBezTo>
                    <a:pt x="14335" y="128810"/>
                    <a:pt x="0" y="158750"/>
                    <a:pt x="0" y="195168"/>
                  </a:cubicBezTo>
                  <a:cubicBezTo>
                    <a:pt x="0" y="253969"/>
                    <a:pt x="49752" y="301626"/>
                    <a:pt x="111125" y="301626"/>
                  </a:cubicBezTo>
                  <a:cubicBezTo>
                    <a:pt x="172498" y="301626"/>
                    <a:pt x="222250" y="253969"/>
                    <a:pt x="222250" y="195168"/>
                  </a:cubicBezTo>
                  <a:cubicBezTo>
                    <a:pt x="222250" y="167990"/>
                    <a:pt x="202692" y="125270"/>
                    <a:pt x="185214" y="106458"/>
                  </a:cubicBezTo>
                  <a:cubicBezTo>
                    <a:pt x="152130" y="159687"/>
                    <a:pt x="133509" y="159687"/>
                    <a:pt x="111125" y="141939"/>
                  </a:cubicBezTo>
                </a:path>
              </a:pathLst>
            </a:custGeom>
            <a:noFill/>
            <a:ln w="31750">
              <a:solidFill>
                <a:schemeClr val="accent2"/>
              </a:solidFill>
            </a:ln>
          </p:spPr>
          <p:txBody>
            <a:bodyPr/>
            <a:p/>
          </p:txBody>
        </p:sp>
        <p:sp>
          <p:nvSpPr>
            <p:cNvPr id="3" name="TextBox 3"/>
            <p:cNvSpPr txBox="1"/>
            <p:nvPr/>
          </p:nvSpPr>
          <p:spPr>
            <a:xfrm>
              <a:off x="555498" y="1850708"/>
              <a:ext cx="4232529" cy="11685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350"/>
                </a:lnSpc>
              </a:pPr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爆款墙：数字背后</a:t>
              </a:r>
              <a:b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</a:br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是一条条做出来的内容</a:t>
              </a:r>
              <a:endPara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63880" y="3743325"/>
            <a:ext cx="2350770" cy="885825"/>
            <a:chOff x="563880" y="3743325"/>
            <a:chExt cx="2350770" cy="885825"/>
          </a:xfrm>
        </p:grpSpPr>
        <p:sp>
          <p:nvSpPr>
            <p:cNvPr id="5" name="TextBox 5"/>
            <p:cNvSpPr txBox="1"/>
            <p:nvPr/>
          </p:nvSpPr>
          <p:spPr>
            <a:xfrm>
              <a:off x="563880" y="3743325"/>
              <a:ext cx="21107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矩阵 10 个月 · 爆款 72 条</a:t>
              </a:r>
              <a:b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单月播放峰值 388 万</a:t>
              </a:r>
              <a:endParaRPr lang="zh-CN" sz="1500" dirty="0">
                <a:solidFill>
                  <a:schemeClr val="dk1">
                    <a:alphaMod val="8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Polygon 6"/>
            <p:cNvSpPr/>
            <p:nvPr/>
          </p:nvSpPr>
          <p:spPr>
            <a:xfrm>
              <a:off x="571500" y="4419600"/>
              <a:ext cx="2343150" cy="209550"/>
            </a:xfrm>
            <a:custGeom>
              <a:avLst/>
              <a:gdLst/>
              <a:ahLst/>
              <a:cxnLst/>
              <a:rect l="l" t="t" r="r" b="b"/>
              <a:pathLst>
                <a:path w="2343150" h="209550">
                  <a:moveTo>
                    <a:pt x="0" y="57150"/>
                  </a:moveTo>
                  <a:lnTo>
                    <a:pt x="2286000" y="0"/>
                  </a:lnTo>
                  <a:lnTo>
                    <a:pt x="2343150" y="152400"/>
                  </a:lnTo>
                  <a:lnTo>
                    <a:pt x="57150" y="209550"/>
                  </a:lnTo>
                  <a:close/>
                </a:path>
              </a:pathLst>
            </a:custGeom>
            <a:solidFill>
              <a:schemeClr val="accent2">
                <a:alpha val="85000"/>
              </a:schemeClr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 rot="-120000">
            <a:off x="4690954" y="590469"/>
            <a:ext cx="3009900" cy="2705100"/>
            <a:chOff x="4686300" y="590550"/>
            <a:chExt cx="3009900" cy="2705100"/>
          </a:xfrm>
        </p:grpSpPr>
        <p:sp>
          <p:nvSpPr>
            <p:cNvPr id="8" name="Rectangle 8"/>
            <p:cNvSpPr/>
            <p:nvPr/>
          </p:nvSpPr>
          <p:spPr>
            <a:xfrm>
              <a:off x="4686300" y="590550"/>
              <a:ext cx="3009900" cy="2705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1"/>
            <a:srcRect t="94" b="93"/>
            <a:stretch>
              <a:fillRect/>
            </a:stretch>
          </p:blipFill>
          <p:spPr>
            <a:xfrm>
              <a:off x="4762500" y="666750"/>
              <a:ext cx="2857500" cy="2305050"/>
            </a:xfrm>
            <a:prstGeom prst="rect">
              <a:avLst/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4757166" y="3068002"/>
              <a:ext cx="20269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75000"/>
                    </a:schemeClr>
                  </a:solidFill>
                  <a:latin typeface="+mn-lt"/>
                  <a:ea typeface="+mn-ea"/>
                  <a:cs typeface="+mn-cs"/>
                </a:rPr>
                <a:t>B站「提防身边人」180 万播放</a:t>
              </a:r>
              <a:endParaRPr lang="zh-CN" sz="1050" dirty="0">
                <a:solidFill>
                  <a:schemeClr val="dk1">
                    <a:alphaMod val="7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 rot="120000">
            <a:off x="8015895" y="685727"/>
            <a:ext cx="3009900" cy="1724025"/>
            <a:chOff x="8020050" y="685800"/>
            <a:chExt cx="3009900" cy="1724025"/>
          </a:xfrm>
        </p:grpSpPr>
        <p:sp>
          <p:nvSpPr>
            <p:cNvPr id="12" name="Rectangle 12"/>
            <p:cNvSpPr/>
            <p:nvPr/>
          </p:nvSpPr>
          <p:spPr>
            <a:xfrm>
              <a:off x="8020050" y="685800"/>
              <a:ext cx="3009900" cy="17240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2"/>
            <a:srcRect l="116" r="115"/>
            <a:stretch>
              <a:fillRect/>
            </a:stretch>
          </p:blipFill>
          <p:spPr>
            <a:xfrm>
              <a:off x="8096250" y="762000"/>
              <a:ext cx="2857500" cy="1323975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8090916" y="2182178"/>
              <a:ext cx="18552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75000"/>
                    </a:schemeClr>
                  </a:solidFill>
                  <a:latin typeface="+mn-lt"/>
                  <a:ea typeface="+mn-ea"/>
                  <a:cs typeface="+mn-cs"/>
                </a:rPr>
                <a:t>「曲面屏消失」63.15 万播放</a:t>
              </a:r>
              <a:endParaRPr lang="zh-CN" sz="1050" dirty="0">
                <a:solidFill>
                  <a:schemeClr val="dk1">
                    <a:alphaMod val="7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 rot="-120000">
            <a:off x="8024205" y="2590727"/>
            <a:ext cx="3009900" cy="1724025"/>
            <a:chOff x="8020050" y="2590800"/>
            <a:chExt cx="3009900" cy="1724025"/>
          </a:xfrm>
        </p:grpSpPr>
        <p:sp>
          <p:nvSpPr>
            <p:cNvPr id="16" name="Rectangle 16"/>
            <p:cNvSpPr/>
            <p:nvPr/>
          </p:nvSpPr>
          <p:spPr>
            <a:xfrm>
              <a:off x="8020050" y="2590800"/>
              <a:ext cx="3009900" cy="17240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3"/>
            <a:srcRect l="116" r="115"/>
            <a:stretch>
              <a:fillRect/>
            </a:stretch>
          </p:blipFill>
          <p:spPr>
            <a:xfrm>
              <a:off x="8096250" y="2667000"/>
              <a:ext cx="2857500" cy="1323975"/>
            </a:xfrm>
            <a:prstGeom prst="rect">
              <a:avLst/>
            </a:prstGeom>
          </p:spPr>
        </p:pic>
        <p:sp>
          <p:nvSpPr>
            <p:cNvPr id="18" name="TextBox 18"/>
            <p:cNvSpPr txBox="1"/>
            <p:nvPr/>
          </p:nvSpPr>
          <p:spPr>
            <a:xfrm>
              <a:off x="8090916" y="4087178"/>
              <a:ext cx="17452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75000"/>
                    </a:schemeClr>
                  </a:solidFill>
                  <a:latin typeface="+mn-lt"/>
                  <a:ea typeface="+mn-ea"/>
                  <a:cs typeface="+mn-cs"/>
                </a:rPr>
                <a:t>Fold6 原子工作台 千赞内容</a:t>
              </a:r>
              <a:endParaRPr lang="zh-CN" sz="1050" dirty="0">
                <a:solidFill>
                  <a:schemeClr val="dk1">
                    <a:alphaMod val="7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 rot="90000">
            <a:off x="4683183" y="3448009"/>
            <a:ext cx="3009900" cy="1724025"/>
            <a:chOff x="4686300" y="3448050"/>
            <a:chExt cx="3009900" cy="1724025"/>
          </a:xfrm>
        </p:grpSpPr>
        <p:sp>
          <p:nvSpPr>
            <p:cNvPr id="20" name="Rectangle 20"/>
            <p:cNvSpPr/>
            <p:nvPr/>
          </p:nvSpPr>
          <p:spPr>
            <a:xfrm>
              <a:off x="4686300" y="3448050"/>
              <a:ext cx="3009900" cy="17240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4"/>
            <a:srcRect l="116" r="115"/>
            <a:stretch>
              <a:fillRect/>
            </a:stretch>
          </p:blipFill>
          <p:spPr>
            <a:xfrm>
              <a:off x="4762500" y="3524250"/>
              <a:ext cx="2857500" cy="1323975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4757166" y="4944428"/>
              <a:ext cx="19115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75000"/>
                    </a:schemeClr>
                  </a:solidFill>
                  <a:latin typeface="+mn-lt"/>
                  <a:ea typeface="+mn-ea"/>
                  <a:cs typeface="+mn-cs"/>
                </a:rPr>
                <a:t>「深挖 X Fold6」32.8 万播放</a:t>
              </a:r>
              <a:endParaRPr lang="zh-CN" sz="1050" dirty="0">
                <a:solidFill>
                  <a:schemeClr val="dk1">
                    <a:alphaMod val="7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 rot="120000">
            <a:off x="8015895" y="4590977"/>
            <a:ext cx="3009900" cy="1724025"/>
            <a:chOff x="8020050" y="4591050"/>
            <a:chExt cx="3009900" cy="1724025"/>
          </a:xfrm>
        </p:grpSpPr>
        <p:sp>
          <p:nvSpPr>
            <p:cNvPr id="24" name="Rectangle 24"/>
            <p:cNvSpPr/>
            <p:nvPr/>
          </p:nvSpPr>
          <p:spPr>
            <a:xfrm>
              <a:off x="8020050" y="4591050"/>
              <a:ext cx="3009900" cy="17240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5"/>
            <a:srcRect l="116" r="115"/>
            <a:stretch>
              <a:fillRect/>
            </a:stretch>
          </p:blipFill>
          <p:spPr>
            <a:xfrm>
              <a:off x="8096250" y="4667250"/>
              <a:ext cx="2857500" cy="1323975"/>
            </a:xfrm>
            <a:prstGeom prst="rect">
              <a:avLst/>
            </a:prstGeom>
          </p:spPr>
        </p:pic>
        <p:sp>
          <p:nvSpPr>
            <p:cNvPr id="26" name="TextBox 26"/>
            <p:cNvSpPr txBox="1"/>
            <p:nvPr/>
          </p:nvSpPr>
          <p:spPr>
            <a:xfrm>
              <a:off x="8090916" y="6087428"/>
              <a:ext cx="18551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75000"/>
                    </a:schemeClr>
                  </a:solidFill>
                  <a:latin typeface="+mn-lt"/>
                  <a:ea typeface="+mn-ea"/>
                  <a:cs typeface="+mn-cs"/>
                </a:rPr>
                <a:t>X300E 沉浸式开箱 千赞内容</a:t>
              </a:r>
              <a:endParaRPr lang="zh-CN" sz="1050" dirty="0">
                <a:solidFill>
                  <a:schemeClr val="dk1">
                    <a:alphaMod val="7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 rot="-90000">
            <a:off x="4688544" y="5391121"/>
            <a:ext cx="3009900" cy="1200150"/>
            <a:chOff x="4686300" y="5391150"/>
            <a:chExt cx="3009900" cy="1200150"/>
          </a:xfrm>
        </p:grpSpPr>
        <p:sp>
          <p:nvSpPr>
            <p:cNvPr id="28" name="Rectangle 28"/>
            <p:cNvSpPr/>
            <p:nvPr/>
          </p:nvSpPr>
          <p:spPr>
            <a:xfrm>
              <a:off x="4686300" y="5391150"/>
              <a:ext cx="3009900" cy="1200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6"/>
            <a:srcRect t="17551" b="17551"/>
            <a:stretch>
              <a:fillRect/>
            </a:stretch>
          </p:blipFill>
          <p:spPr>
            <a:xfrm>
              <a:off x="4762500" y="5448300"/>
              <a:ext cx="2857500" cy="857250"/>
            </a:xfrm>
            <a:prstGeom prst="rect">
              <a:avLst/>
            </a:prstGeom>
          </p:spPr>
        </p:pic>
        <p:sp>
          <p:nvSpPr>
            <p:cNvPr id="30" name="TextBox 30"/>
            <p:cNvSpPr txBox="1"/>
            <p:nvPr/>
          </p:nvSpPr>
          <p:spPr>
            <a:xfrm>
              <a:off x="4757166" y="6382702"/>
              <a:ext cx="13068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75000"/>
                    </a:schemeClr>
                  </a:solidFill>
                  <a:latin typeface="+mn-lt"/>
                  <a:ea typeface="+mn-ea"/>
                  <a:cs typeface="+mn-cs"/>
                </a:rPr>
                <a:t>X300Ultra 影像测评</a:t>
              </a:r>
              <a:endParaRPr lang="zh-CN" sz="1050" dirty="0">
                <a:solidFill>
                  <a:schemeClr val="dk1">
                    <a:alphaMod val="7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66166" y="6497002"/>
            <a:ext cx="3820668" cy="205359"/>
            <a:chOff x="566166" y="6497002"/>
            <a:chExt cx="3820668" cy="205359"/>
          </a:xfrm>
        </p:grpSpPr>
        <p:sp>
          <p:nvSpPr>
            <p:cNvPr id="32" name="TextBox 32"/>
            <p:cNvSpPr txBox="1"/>
            <p:nvPr/>
          </p:nvSpPr>
          <p:spPr>
            <a:xfrm>
              <a:off x="566166" y="6497002"/>
              <a:ext cx="16236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55000"/>
                    </a:scheme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OPS PORTFOLIO · 2026</a:t>
              </a:r>
              <a:endParaRPr lang="zh-CN" sz="1050" dirty="0">
                <a:solidFill>
                  <a:schemeClr val="dk1">
                    <a:alphaMod val="55000"/>
                  </a:scheme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90264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dk1">
                      <a:alphaMod val="55000"/>
                    </a:scheme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12 / 17</a:t>
              </a:r>
              <a:endParaRPr lang="zh-CN" sz="1050" dirty="0">
                <a:solidFill>
                  <a:schemeClr val="dk1">
                    <a:alphaMod val="55000"/>
                  </a:scheme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514580" y="673418"/>
            <a:ext cx="2112778" cy="264033"/>
            <a:chOff x="9514580" y="673418"/>
            <a:chExt cx="2112778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9514580" y="673418"/>
              <a:ext cx="2112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review is the new start</a:t>
              </a:r>
              <a:endParaRPr lang="zh-CN" sz="1350" dirty="0">
                <a:solidFill>
                  <a:schemeClr val="accent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55498" y="479108"/>
            <a:ext cx="8046606" cy="616077"/>
            <a:chOff x="555498" y="479108"/>
            <a:chExt cx="8046606" cy="616077"/>
          </a:xfrm>
        </p:grpSpPr>
        <p:sp>
          <p:nvSpPr>
            <p:cNvPr id="4" name="TextBox 4"/>
            <p:cNvSpPr txBox="1"/>
            <p:nvPr/>
          </p:nvSpPr>
          <p:spPr>
            <a:xfrm>
              <a:off x="555498" y="479108"/>
              <a:ext cx="804660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我的数据复盘：盯着完播曲线，逐条归因</a:t>
              </a:r>
              <a:endPara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60832" y="1638300"/>
            <a:ext cx="1834896" cy="2213801"/>
            <a:chOff x="560832" y="1638300"/>
            <a:chExt cx="1834896" cy="2213801"/>
          </a:xfrm>
        </p:grpSpPr>
        <p:grpSp>
          <p:nvGrpSpPr>
            <p:cNvPr id="10" name="Group 10"/>
            <p:cNvGrpSpPr/>
            <p:nvPr/>
          </p:nvGrpSpPr>
          <p:grpSpPr>
            <a:xfrm>
              <a:off x="614362" y="1638300"/>
              <a:ext cx="257175" cy="238125"/>
              <a:chOff x="614362" y="1638300"/>
              <a:chExt cx="257175" cy="23812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614362" y="1752600"/>
                <a:ext cx="857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14300">
                    <a:moveTo>
                      <a:pt x="0" y="14288"/>
                    </a:moveTo>
                    <a:cubicBezTo>
                      <a:pt x="0" y="6397"/>
                      <a:pt x="6397" y="0"/>
                      <a:pt x="14288" y="0"/>
                    </a:cubicBezTo>
                    <a:lnTo>
                      <a:pt x="71438" y="0"/>
                    </a:lnTo>
                    <a:cubicBezTo>
                      <a:pt x="79328" y="0"/>
                      <a:pt x="85725" y="6397"/>
                      <a:pt x="85725" y="14288"/>
                    </a:cubicBezTo>
                    <a:lnTo>
                      <a:pt x="85725" y="100012"/>
                    </a:lnTo>
                    <a:cubicBezTo>
                      <a:pt x="85725" y="107903"/>
                      <a:pt x="79328" y="114300"/>
                      <a:pt x="71438" y="114300"/>
                    </a:cubicBezTo>
                    <a:lnTo>
                      <a:pt x="14288" y="114300"/>
                    </a:lnTo>
                    <a:cubicBezTo>
                      <a:pt x="6397" y="114300"/>
                      <a:pt x="0" y="107903"/>
                      <a:pt x="0" y="100012"/>
                    </a:cubicBezTo>
                    <a:lnTo>
                      <a:pt x="0" y="14288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  <p:txBody>
              <a:bodyPr/>
              <a:p/>
            </p:txBody>
          </p:sp>
          <p:sp>
            <p:nvSpPr>
              <p:cNvPr id="7" name="Freeform 7"/>
              <p:cNvSpPr/>
              <p:nvPr/>
            </p:nvSpPr>
            <p:spPr>
              <a:xfrm>
                <a:off x="785812" y="1695450"/>
                <a:ext cx="8572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71450">
                    <a:moveTo>
                      <a:pt x="0" y="14288"/>
                    </a:moveTo>
                    <a:cubicBezTo>
                      <a:pt x="0" y="6397"/>
                      <a:pt x="6397" y="0"/>
                      <a:pt x="14288" y="0"/>
                    </a:cubicBezTo>
                    <a:lnTo>
                      <a:pt x="71438" y="0"/>
                    </a:lnTo>
                    <a:cubicBezTo>
                      <a:pt x="79328" y="0"/>
                      <a:pt x="85725" y="6397"/>
                      <a:pt x="85725" y="14288"/>
                    </a:cubicBezTo>
                    <a:lnTo>
                      <a:pt x="85725" y="157162"/>
                    </a:lnTo>
                    <a:cubicBezTo>
                      <a:pt x="85725" y="165053"/>
                      <a:pt x="79328" y="171450"/>
                      <a:pt x="71438" y="171450"/>
                    </a:cubicBezTo>
                    <a:lnTo>
                      <a:pt x="14288" y="171450"/>
                    </a:lnTo>
                    <a:cubicBezTo>
                      <a:pt x="6397" y="171450"/>
                      <a:pt x="0" y="165053"/>
                      <a:pt x="0" y="157162"/>
                    </a:cubicBezTo>
                    <a:lnTo>
                      <a:pt x="0" y="14288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  <p:txBody>
              <a:bodyPr/>
              <a:p/>
            </p:txBody>
          </p:sp>
          <p:sp>
            <p:nvSpPr>
              <p:cNvPr id="8" name="Freeform 8"/>
              <p:cNvSpPr/>
              <p:nvPr/>
            </p:nvSpPr>
            <p:spPr>
              <a:xfrm>
                <a:off x="700088" y="1638300"/>
                <a:ext cx="857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228600">
                    <a:moveTo>
                      <a:pt x="0" y="14288"/>
                    </a:moveTo>
                    <a:cubicBezTo>
                      <a:pt x="0" y="6397"/>
                      <a:pt x="6397" y="0"/>
                      <a:pt x="14288" y="0"/>
                    </a:cubicBezTo>
                    <a:lnTo>
                      <a:pt x="71438" y="0"/>
                    </a:lnTo>
                    <a:cubicBezTo>
                      <a:pt x="79328" y="0"/>
                      <a:pt x="85725" y="6397"/>
                      <a:pt x="85725" y="14288"/>
                    </a:cubicBezTo>
                    <a:lnTo>
                      <a:pt x="85725" y="214312"/>
                    </a:lnTo>
                    <a:cubicBezTo>
                      <a:pt x="85725" y="222203"/>
                      <a:pt x="79328" y="228600"/>
                      <a:pt x="71438" y="228600"/>
                    </a:cubicBezTo>
                    <a:lnTo>
                      <a:pt x="14288" y="228600"/>
                    </a:lnTo>
                    <a:cubicBezTo>
                      <a:pt x="6397" y="228600"/>
                      <a:pt x="0" y="222203"/>
                      <a:pt x="0" y="214312"/>
                    </a:cubicBezTo>
                    <a:lnTo>
                      <a:pt x="0" y="14288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  <p:txBody>
              <a:bodyPr/>
              <a:p/>
            </p:txBody>
          </p:sp>
          <p:sp>
            <p:nvSpPr>
              <p:cNvPr id="9" name="Freeform 9"/>
              <p:cNvSpPr/>
              <p:nvPr/>
            </p:nvSpPr>
            <p:spPr>
              <a:xfrm>
                <a:off x="628650" y="1866900"/>
                <a:ext cx="200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9525">
                    <a:moveTo>
                      <a:pt x="0" y="0"/>
                    </a:moveTo>
                    <a:lnTo>
                      <a:pt x="200025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  <p:txBody>
              <a:bodyPr/>
              <a:p/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560832" y="207835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完播率指标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3880" y="2524125"/>
              <a:ext cx="9037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2s 跳出率</a:t>
              </a:r>
              <a:endParaRPr lang="zh-CN" sz="1500" dirty="0">
                <a:solidFill>
                  <a:schemeClr val="dk1">
                    <a:alphaMod val="8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3880" y="2828925"/>
              <a:ext cx="9037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5s 完播率</a:t>
              </a:r>
              <a:endParaRPr lang="zh-CN" sz="1500" dirty="0">
                <a:solidFill>
                  <a:schemeClr val="dk1">
                    <a:alphaMod val="8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3880" y="31337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整体完播率</a:t>
              </a:r>
              <a:endParaRPr lang="zh-CN" sz="1500" dirty="0">
                <a:solidFill>
                  <a:schemeClr val="dk1">
                    <a:alphaMod val="8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4642" y="35880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三条曲线定位流失节点</a:t>
              </a:r>
              <a:endParaRPr lang="zh-CN" sz="1350" dirty="0">
                <a:solidFill>
                  <a:schemeClr val="dk1">
                    <a:alphaMod val="7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370832" y="1632787"/>
            <a:ext cx="2239518" cy="1794308"/>
            <a:chOff x="4370832" y="1632787"/>
            <a:chExt cx="2239518" cy="1794308"/>
          </a:xfrm>
        </p:grpSpPr>
        <p:grpSp>
          <p:nvGrpSpPr>
            <p:cNvPr id="19" name="Group 19"/>
            <p:cNvGrpSpPr/>
            <p:nvPr/>
          </p:nvGrpSpPr>
          <p:grpSpPr>
            <a:xfrm>
              <a:off x="4438650" y="1632787"/>
              <a:ext cx="228600" cy="239626"/>
              <a:chOff x="4438650" y="1632787"/>
              <a:chExt cx="228600" cy="239626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4438650" y="1632787"/>
                <a:ext cx="228600" cy="105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5525">
                    <a:moveTo>
                      <a:pt x="228600" y="105525"/>
                    </a:moveTo>
                    <a:cubicBezTo>
                      <a:pt x="221417" y="53841"/>
                      <a:pt x="180535" y="13355"/>
                      <a:pt x="128783" y="6678"/>
                    </a:cubicBezTo>
                    <a:cubicBezTo>
                      <a:pt x="77031" y="0"/>
                      <a:pt x="27211" y="28782"/>
                      <a:pt x="7144" y="76950"/>
                    </a:cubicBezTo>
                    <a:moveTo>
                      <a:pt x="0" y="19800"/>
                    </a:moveTo>
                    <a:lnTo>
                      <a:pt x="0" y="76950"/>
                    </a:lnTo>
                    <a:lnTo>
                      <a:pt x="57150" y="7695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  <p:txBody>
              <a:bodyPr/>
              <a:p/>
            </p:txBody>
          </p:sp>
          <p:sp>
            <p:nvSpPr>
              <p:cNvPr id="18" name="Freeform 18"/>
              <p:cNvSpPr/>
              <p:nvPr/>
            </p:nvSpPr>
            <p:spPr>
              <a:xfrm>
                <a:off x="4438650" y="1766888"/>
                <a:ext cx="228600" cy="105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5525">
                    <a:moveTo>
                      <a:pt x="0" y="0"/>
                    </a:moveTo>
                    <a:cubicBezTo>
                      <a:pt x="7183" y="51684"/>
                      <a:pt x="48065" y="92170"/>
                      <a:pt x="99817" y="98847"/>
                    </a:cubicBezTo>
                    <a:cubicBezTo>
                      <a:pt x="151569" y="105525"/>
                      <a:pt x="201389" y="76743"/>
                      <a:pt x="221456" y="28575"/>
                    </a:cubicBezTo>
                    <a:moveTo>
                      <a:pt x="228600" y="85725"/>
                    </a:moveTo>
                    <a:lnTo>
                      <a:pt x="228600" y="28575"/>
                    </a:lnTo>
                    <a:lnTo>
                      <a:pt x="171450" y="28575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  <p:txBody>
              <a:bodyPr/>
              <a:p/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4370832" y="20783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归因维度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73880" y="25241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结合画面与文案逐条归因</a:t>
              </a:r>
              <a:endParaRPr lang="zh-CN" sz="1500" dirty="0">
                <a:solidFill>
                  <a:schemeClr val="dk1">
                    <a:alphaMod val="8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73880" y="28289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每周迭代选题与节奏</a:t>
              </a:r>
              <a:endParaRPr lang="zh-CN" sz="1500" dirty="0">
                <a:solidFill>
                  <a:schemeClr val="dk1">
                    <a:alphaMod val="8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373880" y="31337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提炼可复制的爆款逻辑</a:t>
              </a:r>
              <a:endParaRPr lang="zh-CN" sz="1500" dirty="0">
                <a:solidFill>
                  <a:schemeClr val="dk1">
                    <a:alphaMod val="8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180832" y="1609725"/>
            <a:ext cx="2259711" cy="1817370"/>
            <a:chOff x="8180832" y="1609725"/>
            <a:chExt cx="2259711" cy="1817370"/>
          </a:xfrm>
        </p:grpSpPr>
        <p:sp>
          <p:nvSpPr>
            <p:cNvPr id="25" name="Freeform 25"/>
            <p:cNvSpPr/>
            <p:nvPr/>
          </p:nvSpPr>
          <p:spPr>
            <a:xfrm>
              <a:off x="8262938" y="1609725"/>
              <a:ext cx="200025" cy="271462"/>
            </a:xfrm>
            <a:custGeom>
              <a:avLst/>
              <a:gdLst/>
              <a:ahLst/>
              <a:cxnLst/>
              <a:rect l="l" t="t" r="r" b="b"/>
              <a:pathLst>
                <a:path w="200025" h="271462">
                  <a:moveTo>
                    <a:pt x="100012" y="127745"/>
                  </a:moveTo>
                  <a:cubicBezTo>
                    <a:pt x="133345" y="80481"/>
                    <a:pt x="102399" y="15973"/>
                    <a:pt x="85725" y="0"/>
                  </a:cubicBezTo>
                  <a:cubicBezTo>
                    <a:pt x="85725" y="48506"/>
                    <a:pt x="53792" y="75709"/>
                    <a:pt x="33333" y="95812"/>
                  </a:cubicBezTo>
                  <a:cubicBezTo>
                    <a:pt x="12902" y="115929"/>
                    <a:pt x="0" y="142875"/>
                    <a:pt x="0" y="175651"/>
                  </a:cubicBezTo>
                  <a:cubicBezTo>
                    <a:pt x="0" y="228571"/>
                    <a:pt x="44777" y="271462"/>
                    <a:pt x="100012" y="271462"/>
                  </a:cubicBezTo>
                  <a:cubicBezTo>
                    <a:pt x="155248" y="271462"/>
                    <a:pt x="200025" y="228571"/>
                    <a:pt x="200025" y="175651"/>
                  </a:cubicBezTo>
                  <a:cubicBezTo>
                    <a:pt x="200025" y="151190"/>
                    <a:pt x="182423" y="112743"/>
                    <a:pt x="166692" y="95812"/>
                  </a:cubicBezTo>
                  <a:cubicBezTo>
                    <a:pt x="136917" y="143718"/>
                    <a:pt x="120158" y="143718"/>
                    <a:pt x="100012" y="127745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  <p:txBody>
            <a:bodyPr/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8180832" y="20783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增长验证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83880" y="2524125"/>
              <a:ext cx="22566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9 月单月播放 388 万峰值</a:t>
              </a:r>
              <a:endParaRPr lang="zh-CN" sz="1500" dirty="0">
                <a:solidFill>
                  <a:schemeClr val="dk1">
                    <a:alphaMod val="8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83880" y="28289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矩阵协同效应全面释放</a:t>
              </a:r>
              <a:endParaRPr lang="zh-CN" sz="1500" dirty="0">
                <a:solidFill>
                  <a:schemeClr val="dk1">
                    <a:alphaMod val="8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83880" y="31337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复盘结论直接进下个排期</a:t>
              </a:r>
              <a:endParaRPr lang="zh-CN" sz="1500" dirty="0">
                <a:solidFill>
                  <a:schemeClr val="dk1">
                    <a:alphaMod val="8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60832" y="5545455"/>
            <a:ext cx="5958078" cy="512445"/>
            <a:chOff x="560832" y="5545455"/>
            <a:chExt cx="5958078" cy="512445"/>
          </a:xfrm>
        </p:grpSpPr>
        <p:sp>
          <p:nvSpPr>
            <p:cNvPr id="31" name="TextBox 31"/>
            <p:cNvSpPr txBox="1"/>
            <p:nvPr/>
          </p:nvSpPr>
          <p:spPr>
            <a:xfrm>
              <a:off x="560832" y="5545455"/>
              <a:ext cx="59580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复盘不是收尾动作，而是下一个选题的起点。</a:t>
              </a:r>
              <a:endPara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Polygon 32"/>
            <p:cNvSpPr/>
            <p:nvPr/>
          </p:nvSpPr>
          <p:spPr>
            <a:xfrm>
              <a:off x="571500" y="5867400"/>
              <a:ext cx="5391150" cy="190500"/>
            </a:xfrm>
            <a:custGeom>
              <a:avLst/>
              <a:gdLst/>
              <a:ahLst/>
              <a:cxnLst/>
              <a:rect l="l" t="t" r="r" b="b"/>
              <a:pathLst>
                <a:path w="5391150" h="190500">
                  <a:moveTo>
                    <a:pt x="0" y="57150"/>
                  </a:moveTo>
                  <a:lnTo>
                    <a:pt x="5334000" y="0"/>
                  </a:lnTo>
                  <a:lnTo>
                    <a:pt x="5391150" y="133350"/>
                  </a:lnTo>
                  <a:lnTo>
                    <a:pt x="57150" y="190500"/>
                  </a:lnTo>
                  <a:close/>
                </a:path>
              </a:pathLst>
            </a:custGeom>
            <a:solidFill>
              <a:schemeClr val="accent2">
                <a:alpha val="85000"/>
              </a:schemeClr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566166" y="6497002"/>
            <a:ext cx="11250168" cy="205359"/>
            <a:chOff x="566166" y="6497002"/>
            <a:chExt cx="11250168" cy="205359"/>
          </a:xfrm>
        </p:grpSpPr>
        <p:sp>
          <p:nvSpPr>
            <p:cNvPr id="34" name="TextBox 34"/>
            <p:cNvSpPr txBox="1"/>
            <p:nvPr/>
          </p:nvSpPr>
          <p:spPr>
            <a:xfrm>
              <a:off x="566166" y="6497002"/>
              <a:ext cx="16236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55000"/>
                    </a:scheme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OPS PORTFOLIO · 2026</a:t>
              </a:r>
              <a:endParaRPr lang="zh-CN" sz="1050" dirty="0">
                <a:solidFill>
                  <a:schemeClr val="dk1">
                    <a:alphaMod val="55000"/>
                  </a:scheme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33214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dk1">
                      <a:alphaMod val="55000"/>
                    </a:scheme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13 / 17</a:t>
              </a:r>
              <a:endParaRPr lang="zh-CN" sz="1050" dirty="0">
                <a:solidFill>
                  <a:schemeClr val="dk1">
                    <a:alphaMod val="55000"/>
                  </a:scheme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81000" y="381000"/>
            <a:ext cx="6915150" cy="6096000"/>
            <a:chOff x="381000" y="381000"/>
            <a:chExt cx="6915150" cy="6096000"/>
          </a:xfrm>
        </p:grpSpPr>
        <p:sp>
          <p:nvSpPr>
            <p:cNvPr id="2" name="Polygon 2"/>
            <p:cNvSpPr/>
            <p:nvPr/>
          </p:nvSpPr>
          <p:spPr>
            <a:xfrm>
              <a:off x="381000" y="381000"/>
              <a:ext cx="5429250" cy="6096000"/>
            </a:xfrm>
            <a:custGeom>
              <a:avLst/>
              <a:gdLst/>
              <a:ahLst/>
              <a:cxnLst/>
              <a:rect l="l" t="t" r="r" b="b"/>
              <a:pathLst>
                <a:path w="5429250" h="6096000">
                  <a:moveTo>
                    <a:pt x="0" y="0"/>
                  </a:moveTo>
                  <a:lnTo>
                    <a:pt x="5372100" y="0"/>
                  </a:lnTo>
                  <a:lnTo>
                    <a:pt x="5181600" y="381000"/>
                  </a:lnTo>
                  <a:lnTo>
                    <a:pt x="5429250" y="762000"/>
                  </a:lnTo>
                  <a:lnTo>
                    <a:pt x="5200650" y="1181100"/>
                  </a:lnTo>
                  <a:lnTo>
                    <a:pt x="5410200" y="1600200"/>
                  </a:lnTo>
                  <a:lnTo>
                    <a:pt x="5181600" y="2019300"/>
                  </a:lnTo>
                  <a:lnTo>
                    <a:pt x="5391150" y="2438400"/>
                  </a:lnTo>
                  <a:lnTo>
                    <a:pt x="5162550" y="2857500"/>
                  </a:lnTo>
                  <a:lnTo>
                    <a:pt x="5391150" y="3276600"/>
                  </a:lnTo>
                  <a:lnTo>
                    <a:pt x="5181600" y="3695700"/>
                  </a:lnTo>
                  <a:lnTo>
                    <a:pt x="5410200" y="4095750"/>
                  </a:lnTo>
                  <a:lnTo>
                    <a:pt x="5181600" y="4495800"/>
                  </a:lnTo>
                  <a:lnTo>
                    <a:pt x="5410200" y="4914900"/>
                  </a:lnTo>
                  <a:lnTo>
                    <a:pt x="5200650" y="5334000"/>
                  </a:lnTo>
                  <a:lnTo>
                    <a:pt x="5429250" y="5715000"/>
                  </a:lnTo>
                  <a:lnTo>
                    <a:pt x="5238750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1"/>
            <a:srcRect t="15600" b="15601"/>
            <a:stretch>
              <a:fillRect/>
            </a:stretch>
          </p:blipFill>
          <p:spPr>
            <a:xfrm>
              <a:off x="381000" y="381000"/>
              <a:ext cx="5238750" cy="6096000"/>
            </a:xfrm>
            <a:custGeom>
              <a:avLst/>
              <a:gdLst/>
              <a:ahLst/>
              <a:cxnLst/>
              <a:rect l="l" t="t" r="r" b="b"/>
              <a:pathLst>
                <a:path w="5238750" h="6096000">
                  <a:moveTo>
                    <a:pt x="0" y="0"/>
                  </a:moveTo>
                  <a:lnTo>
                    <a:pt x="5238750" y="0"/>
                  </a:lnTo>
                  <a:lnTo>
                    <a:pt x="5048250" y="381000"/>
                  </a:lnTo>
                  <a:lnTo>
                    <a:pt x="5295900" y="762000"/>
                  </a:lnTo>
                  <a:lnTo>
                    <a:pt x="5067300" y="1181100"/>
                  </a:lnTo>
                  <a:lnTo>
                    <a:pt x="5276850" y="1600200"/>
                  </a:lnTo>
                  <a:lnTo>
                    <a:pt x="5048250" y="2019300"/>
                  </a:lnTo>
                  <a:lnTo>
                    <a:pt x="5257800" y="2438400"/>
                  </a:lnTo>
                  <a:lnTo>
                    <a:pt x="5029200" y="2857500"/>
                  </a:lnTo>
                  <a:lnTo>
                    <a:pt x="5257800" y="3276600"/>
                  </a:lnTo>
                  <a:lnTo>
                    <a:pt x="5048250" y="3695700"/>
                  </a:lnTo>
                  <a:lnTo>
                    <a:pt x="5276850" y="4095750"/>
                  </a:lnTo>
                  <a:lnTo>
                    <a:pt x="5048250" y="4495800"/>
                  </a:lnTo>
                  <a:lnTo>
                    <a:pt x="5276850" y="4914900"/>
                  </a:lnTo>
                  <a:lnTo>
                    <a:pt x="5067300" y="5334000"/>
                  </a:lnTo>
                  <a:lnTo>
                    <a:pt x="5295900" y="5715000"/>
                  </a:lnTo>
                  <a:lnTo>
                    <a:pt x="5105400" y="6096000"/>
                  </a:lnTo>
                  <a:lnTo>
                    <a:pt x="0" y="6096000"/>
                  </a:lnTo>
                  <a:close/>
                </a:path>
              </a:pathLst>
            </a:custGeom>
          </p:spPr>
        </p:pic>
        <p:sp>
          <p:nvSpPr>
            <p:cNvPr id="4" name="Polygon 4"/>
            <p:cNvSpPr/>
            <p:nvPr/>
          </p:nvSpPr>
          <p:spPr>
            <a:xfrm>
              <a:off x="5676900" y="4838700"/>
              <a:ext cx="1619250" cy="304800"/>
            </a:xfrm>
            <a:custGeom>
              <a:avLst/>
              <a:gdLst/>
              <a:ahLst/>
              <a:cxnLst/>
              <a:rect l="l" t="t" r="r" b="b"/>
              <a:pathLst>
                <a:path w="1619250" h="304800">
                  <a:moveTo>
                    <a:pt x="0" y="114300"/>
                  </a:moveTo>
                  <a:lnTo>
                    <a:pt x="1562100" y="0"/>
                  </a:lnTo>
                  <a:lnTo>
                    <a:pt x="1619250" y="190500"/>
                  </a:lnTo>
                  <a:lnTo>
                    <a:pt x="57150" y="3048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648450" y="2080260"/>
            <a:ext cx="4378198" cy="1607503"/>
            <a:chOff x="6648450" y="2080260"/>
            <a:chExt cx="4378198" cy="1607503"/>
          </a:xfrm>
        </p:grpSpPr>
        <p:sp>
          <p:nvSpPr>
            <p:cNvPr id="6" name="TextBox 6"/>
            <p:cNvSpPr txBox="1"/>
            <p:nvPr/>
          </p:nvSpPr>
          <p:spPr>
            <a:xfrm>
              <a:off x="6648450" y="2080260"/>
              <a:ext cx="1157600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03</a:t>
              </a:r>
              <a:endParaRPr lang="zh-CN" sz="72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51498" y="3203258"/>
              <a:ext cx="4375150" cy="484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独立</a:t>
              </a:r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项目运营 · 双鱼体育</a:t>
              </a:r>
              <a:endPara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658356" y="3996690"/>
            <a:ext cx="2990088" cy="713994"/>
            <a:chOff x="6658356" y="3996690"/>
            <a:chExt cx="2990088" cy="713994"/>
          </a:xfrm>
        </p:grpSpPr>
        <p:sp>
          <p:nvSpPr>
            <p:cNvPr id="9" name="TextBox 9"/>
            <p:cNvSpPr txBox="1"/>
            <p:nvPr/>
          </p:nvSpPr>
          <p:spPr>
            <a:xfrm>
              <a:off x="6658356" y="3996690"/>
              <a:ext cx="299008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没有人带教的新项目，</a:t>
              </a:r>
              <a:br>
                <a:rPr lang="zh-CN" sz="18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我自己搭流程、自己扛结果。</a:t>
              </a:r>
              <a:endParaRPr lang="zh-CN" sz="1800" dirty="0">
                <a:solidFill>
                  <a:schemeClr val="dk1">
                    <a:alphaMod val="8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660642" y="5245418"/>
            <a:ext cx="1536946" cy="264033"/>
            <a:chOff x="6660642" y="5245418"/>
            <a:chExt cx="1536946" cy="264033"/>
          </a:xfrm>
        </p:grpSpPr>
        <p:sp>
          <p:nvSpPr>
            <p:cNvPr id="11" name="TextBox 11"/>
            <p:cNvSpPr txBox="1"/>
            <p:nvPr/>
          </p:nvSpPr>
          <p:spPr>
            <a:xfrm>
              <a:off x="6660642" y="5245418"/>
              <a:ext cx="15369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Waiting for a pull</a:t>
              </a:r>
              <a:endParaRPr lang="zh-CN" sz="1350" dirty="0">
                <a:solidFill>
                  <a:schemeClr val="accent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66166" y="6497002"/>
            <a:ext cx="11250168" cy="205359"/>
            <a:chOff x="566166" y="6497002"/>
            <a:chExt cx="11250168" cy="205359"/>
          </a:xfrm>
        </p:grpSpPr>
        <p:sp>
          <p:nvSpPr>
            <p:cNvPr id="13" name="TextBox 13"/>
            <p:cNvSpPr txBox="1"/>
            <p:nvPr/>
          </p:nvSpPr>
          <p:spPr>
            <a:xfrm>
              <a:off x="566166" y="6497002"/>
              <a:ext cx="16236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55000"/>
                    </a:scheme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OPS PORTFOLIO · 2026</a:t>
              </a:r>
              <a:endParaRPr lang="zh-CN" sz="1050" dirty="0">
                <a:solidFill>
                  <a:schemeClr val="dk1">
                    <a:alphaMod val="55000"/>
                  </a:scheme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3214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dk1">
                      <a:alphaMod val="55000"/>
                    </a:scheme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14 / 17</a:t>
              </a:r>
              <a:endParaRPr lang="zh-CN" sz="1050" dirty="0">
                <a:solidFill>
                  <a:schemeClr val="dk1">
                    <a:alphaMod val="55000"/>
                  </a:scheme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369190" y="673418"/>
            <a:ext cx="2258168" cy="264033"/>
            <a:chOff x="9369190" y="673418"/>
            <a:chExt cx="2258168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9369190" y="673418"/>
              <a:ext cx="22581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one win, three-way value</a:t>
              </a:r>
              <a:endParaRPr lang="zh-CN" sz="1350" dirty="0">
                <a:solidFill>
                  <a:schemeClr val="accent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55498" y="479108"/>
            <a:ext cx="8113394" cy="616077"/>
            <a:chOff x="555498" y="479108"/>
            <a:chExt cx="8113394" cy="616077"/>
          </a:xfrm>
        </p:grpSpPr>
        <p:sp>
          <p:nvSpPr>
            <p:cNvPr id="4" name="TextBox 4"/>
            <p:cNvSpPr txBox="1"/>
            <p:nvPr/>
          </p:nvSpPr>
          <p:spPr>
            <a:xfrm>
              <a:off x="555498" y="479108"/>
              <a:ext cx="811339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双鱼 × 十五运：把夺冠做成三方共赢事件</a:t>
              </a:r>
              <a:endPara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1500" y="1104900"/>
            <a:ext cx="3143250" cy="381000"/>
            <a:chOff x="571500" y="1104900"/>
            <a:chExt cx="3143250" cy="381000"/>
          </a:xfrm>
        </p:grpSpPr>
        <p:sp>
          <p:nvSpPr>
            <p:cNvPr id="6" name="Rectangle 6"/>
            <p:cNvSpPr/>
            <p:nvPr/>
          </p:nvSpPr>
          <p:spPr>
            <a:xfrm>
              <a:off x="571500" y="1104900"/>
              <a:ext cx="314325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27627" y="1216342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5F1E6"/>
                  </a:solidFill>
                  <a:latin typeface="+mn-lt"/>
                  <a:ea typeface="+mn-ea"/>
                  <a:cs typeface="+mn-cs"/>
                </a:rPr>
                <a:t>#诗与远方乒出广东力量#</a:t>
              </a:r>
              <a:endParaRPr lang="zh-CN" sz="1350" dirty="0">
                <a:solidFill>
                  <a:srgbClr val="F5F1E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50684" y="1746824"/>
            <a:ext cx="4804132" cy="4050152"/>
            <a:chOff x="550684" y="1746824"/>
            <a:chExt cx="4804132" cy="4050152"/>
          </a:xfrm>
        </p:grpSpPr>
        <p:sp>
          <p:nvSpPr>
            <p:cNvPr id="9" name="Rectangle 9"/>
            <p:cNvSpPr/>
            <p:nvPr/>
          </p:nvSpPr>
          <p:spPr>
            <a:xfrm rot="-36000">
              <a:off x="571500" y="1771650"/>
              <a:ext cx="4762500" cy="4000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89432" y="1945005"/>
              <a:ext cx="298970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策略：先算清三个平衡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2480" y="2371725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品牌宣传 × 公众共鸣</a:t>
              </a:r>
              <a:endParaRPr lang="zh-CN" sz="1500" dirty="0">
                <a:solidFill>
                  <a:schemeClr val="dk1">
                    <a:alphaMod val="8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2480" y="2676525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内容锐度 × 渠道力度</a:t>
              </a:r>
              <a:endParaRPr lang="zh-CN" sz="1500" dirty="0">
                <a:solidFill>
                  <a:schemeClr val="dk1">
                    <a:alphaMod val="8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2480" y="2981325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团队荣誉 × 团队美誉</a:t>
              </a:r>
              <a:endParaRPr lang="zh-CN" sz="1500" dirty="0">
                <a:solidFill>
                  <a:schemeClr val="dk1">
                    <a:alphaMod val="8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Line 14"/>
            <p:cNvSpPr/>
            <p:nvPr/>
          </p:nvSpPr>
          <p:spPr>
            <a:xfrm>
              <a:off x="800100" y="3390900"/>
              <a:ext cx="4305300" cy="9525"/>
            </a:xfrm>
            <a:custGeom>
              <a:avLst/>
              <a:gdLst/>
              <a:ahLst/>
              <a:cxnLst/>
              <a:rect l="l" t="t" r="r" b="b"/>
              <a:pathLst>
                <a:path w="4305300" h="9525">
                  <a:moveTo>
                    <a:pt x="0" y="0"/>
                  </a:moveTo>
                  <a:lnTo>
                    <a:pt x="4305300" y="0"/>
                  </a:lnTo>
                </a:path>
              </a:pathLst>
            </a:custGeom>
            <a:noFill/>
            <a:ln w="19050">
              <a:solidFill>
                <a:srgbClr val="EAE3D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89432" y="3526155"/>
              <a:ext cx="26928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破题：借势而不造势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2480" y="3933825"/>
              <a:ext cx="3063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借"人民满意的十五运"叙事，</a:t>
              </a:r>
              <a:b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把品牌行动做成全民健康运动宣传。</a:t>
              </a:r>
              <a:endParaRPr lang="zh-CN" sz="1500" dirty="0">
                <a:solidFill>
                  <a:schemeClr val="dk1">
                    <a:alphaMod val="8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Line 17"/>
            <p:cNvSpPr/>
            <p:nvPr/>
          </p:nvSpPr>
          <p:spPr>
            <a:xfrm>
              <a:off x="800100" y="4648200"/>
              <a:ext cx="4305300" cy="9525"/>
            </a:xfrm>
            <a:custGeom>
              <a:avLst/>
              <a:gdLst/>
              <a:ahLst/>
              <a:cxnLst/>
              <a:rect l="l" t="t" r="r" b="b"/>
              <a:pathLst>
                <a:path w="4305300" h="9525">
                  <a:moveTo>
                    <a:pt x="0" y="0"/>
                  </a:moveTo>
                  <a:lnTo>
                    <a:pt x="4305300" y="0"/>
                  </a:lnTo>
                </a:path>
              </a:pathLst>
            </a:custGeom>
            <a:noFill/>
            <a:ln w="19050">
              <a:solidFill>
                <a:srgbClr val="EAE3D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92480" y="4829175"/>
              <a:ext cx="21297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政府赢：口号具象化</a:t>
              </a:r>
              <a:b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品牌赢：美誉+流量+转化</a:t>
              </a:r>
              <a:b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代言人赢：形象进阶</a:t>
              </a:r>
              <a:endParaRPr lang="zh-CN" sz="1500" dirty="0">
                <a:solidFill>
                  <a:schemeClr val="dk1">
                    <a:alphaMod val="8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810250" y="1920240"/>
            <a:ext cx="3241129" cy="3794760"/>
            <a:chOff x="5810250" y="1920240"/>
            <a:chExt cx="3241129" cy="3794760"/>
          </a:xfrm>
        </p:grpSpPr>
        <p:sp>
          <p:nvSpPr>
            <p:cNvPr id="20" name="Line 20"/>
            <p:cNvSpPr/>
            <p:nvPr/>
          </p:nvSpPr>
          <p:spPr>
            <a:xfrm>
              <a:off x="5905500" y="1962150"/>
              <a:ext cx="9525" cy="3752850"/>
            </a:xfrm>
            <a:custGeom>
              <a:avLst/>
              <a:gdLst/>
              <a:ahLst/>
              <a:cxnLst/>
              <a:rect l="l" t="t" r="r" b="b"/>
              <a:pathLst>
                <a:path w="9525" h="3752850">
                  <a:moveTo>
                    <a:pt x="0" y="0"/>
                  </a:moveTo>
                  <a:lnTo>
                    <a:pt x="0" y="37528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5810250" y="205740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182106" y="19202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星聚预热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184392" y="22545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>
                      <a:alphaMod val="80000"/>
                    </a:schemeClr>
                  </a:solidFill>
                  <a:latin typeface="+mn-lt"/>
                  <a:ea typeface="+mn-ea"/>
                  <a:cs typeface="+mn-cs"/>
                </a:rPr>
                <a:t>赛前持续铺双鱼预热稿件</a:t>
              </a:r>
              <a:endParaRPr lang="zh-CN" sz="1350" dirty="0">
                <a:solidFill>
                  <a:schemeClr val="dk1">
                    <a:alphaMod val="8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Ellipse 24"/>
            <p:cNvSpPr/>
            <p:nvPr/>
          </p:nvSpPr>
          <p:spPr>
            <a:xfrm>
              <a:off x="5810250" y="300990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182106" y="28727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星耀夺冠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84392" y="3207068"/>
              <a:ext cx="28669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>
                      <a:alphaMod val="80000"/>
                    </a:schemeClr>
                  </a:solidFill>
                  <a:latin typeface="+mn-lt"/>
                  <a:ea typeface="+mn-ea"/>
                  <a:cs typeface="+mn-cs"/>
                </a:rPr>
                <a:t>夺冠夜官微联动矩阵 30 分钟内齐发</a:t>
              </a:r>
              <a:endParaRPr lang="zh-CN" sz="1350" dirty="0">
                <a:solidFill>
                  <a:schemeClr val="dk1">
                    <a:alphaMod val="8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Ellipse 27"/>
            <p:cNvSpPr/>
            <p:nvPr/>
          </p:nvSpPr>
          <p:spPr>
            <a:xfrm>
              <a:off x="5810250" y="396240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182106" y="38252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星动全民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84392" y="4159568"/>
              <a:ext cx="18492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>
                      <a:alphaMod val="80000"/>
                    </a:schemeClr>
                  </a:solidFill>
                  <a:latin typeface="+mn-lt"/>
                  <a:ea typeface="+mn-ea"/>
                  <a:cs typeface="+mn-cs"/>
                </a:rPr>
                <a:t>"全民运动时"官宣号召</a:t>
              </a:r>
              <a:endParaRPr lang="zh-CN" sz="1350" dirty="0">
                <a:solidFill>
                  <a:schemeClr val="dk1">
                    <a:alphaMod val="8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Ellipse 30"/>
            <p:cNvSpPr/>
            <p:nvPr/>
          </p:nvSpPr>
          <p:spPr>
            <a:xfrm>
              <a:off x="5810250" y="491490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182106" y="47777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星续全民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84392" y="5112068"/>
              <a:ext cx="19310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>
                      <a:alphaMod val="80000"/>
                    </a:schemeClr>
                  </a:solidFill>
                  <a:latin typeface="+mn-lt"/>
                  <a:ea typeface="+mn-ea"/>
                  <a:cs typeface="+mn-cs"/>
                </a:rPr>
                <a:t>深度稿+体验稿长效沉淀</a:t>
              </a:r>
              <a:endParaRPr lang="zh-CN" sz="1350" dirty="0">
                <a:solidFill>
                  <a:schemeClr val="dk1">
                    <a:alphaMod val="8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 rot="90000">
            <a:off x="9772151" y="1771643"/>
            <a:ext cx="1981200" cy="1828800"/>
            <a:chOff x="9772650" y="1771650"/>
            <a:chExt cx="1981200" cy="1828800"/>
          </a:xfrm>
        </p:grpSpPr>
        <p:sp>
          <p:nvSpPr>
            <p:cNvPr id="34" name="Rectangle 34"/>
            <p:cNvSpPr/>
            <p:nvPr/>
          </p:nvSpPr>
          <p:spPr>
            <a:xfrm>
              <a:off x="9772650" y="1771650"/>
              <a:ext cx="1981200" cy="182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1"/>
            <a:srcRect l="10" r="10"/>
            <a:stretch>
              <a:fillRect/>
            </a:stretch>
          </p:blipFill>
          <p:spPr>
            <a:xfrm>
              <a:off x="9848850" y="1847850"/>
              <a:ext cx="1828800" cy="1371600"/>
            </a:xfrm>
            <a:prstGeom prst="rect">
              <a:avLst/>
            </a:prstGeom>
          </p:spPr>
        </p:pic>
        <p:sp>
          <p:nvSpPr>
            <p:cNvPr id="36" name="TextBox 36"/>
            <p:cNvSpPr txBox="1"/>
            <p:nvPr/>
          </p:nvSpPr>
          <p:spPr>
            <a:xfrm>
              <a:off x="9843516" y="33347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75000"/>
                    </a:schemeClr>
                  </a:solidFill>
                  <a:latin typeface="+mn-lt"/>
                  <a:ea typeface="+mn-ea"/>
                  <a:cs typeface="+mn-cs"/>
                </a:rPr>
                <a:t>湾区十五纪念球礼盒</a:t>
              </a:r>
              <a:endParaRPr lang="zh-CN" sz="1050" dirty="0">
                <a:solidFill>
                  <a:schemeClr val="dk1">
                    <a:alphaMod val="7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 rot="-90000">
            <a:off x="9773897" y="3905234"/>
            <a:ext cx="1981200" cy="2000250"/>
            <a:chOff x="9772650" y="3905250"/>
            <a:chExt cx="1981200" cy="2000250"/>
          </a:xfrm>
        </p:grpSpPr>
        <p:sp>
          <p:nvSpPr>
            <p:cNvPr id="38" name="Rectangle 38"/>
            <p:cNvSpPr/>
            <p:nvPr/>
          </p:nvSpPr>
          <p:spPr>
            <a:xfrm>
              <a:off x="9772650" y="3905250"/>
              <a:ext cx="1981200" cy="2000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2"/>
            <a:srcRect t="286" b="287"/>
            <a:stretch>
              <a:fillRect/>
            </a:stretch>
          </p:blipFill>
          <p:spPr>
            <a:xfrm>
              <a:off x="9848850" y="3981450"/>
              <a:ext cx="1828800" cy="1581150"/>
            </a:xfrm>
            <a:prstGeom prst="rect">
              <a:avLst/>
            </a:prstGeom>
          </p:spPr>
        </p:pic>
        <p:sp>
          <p:nvSpPr>
            <p:cNvPr id="40" name="TextBox 40"/>
            <p:cNvSpPr txBox="1"/>
            <p:nvPr/>
          </p:nvSpPr>
          <p:spPr>
            <a:xfrm>
              <a:off x="9843516" y="56397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75000"/>
                    </a:schemeClr>
                  </a:solidFill>
                  <a:latin typeface="+mn-lt"/>
                  <a:ea typeface="+mn-ea"/>
                  <a:cs typeface="+mn-cs"/>
                </a:rPr>
                <a:t>十五运乒乓器材独家供应商</a:t>
              </a:r>
              <a:endParaRPr lang="zh-CN" sz="1050" dirty="0">
                <a:solidFill>
                  <a:schemeClr val="dk1">
                    <a:alphaMod val="7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66166" y="6497002"/>
            <a:ext cx="11250168" cy="205359"/>
            <a:chOff x="566166" y="6497002"/>
            <a:chExt cx="11250168" cy="205359"/>
          </a:xfrm>
        </p:grpSpPr>
        <p:sp>
          <p:nvSpPr>
            <p:cNvPr id="42" name="TextBox 42"/>
            <p:cNvSpPr txBox="1"/>
            <p:nvPr/>
          </p:nvSpPr>
          <p:spPr>
            <a:xfrm>
              <a:off x="566166" y="6497002"/>
              <a:ext cx="16236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55000"/>
                    </a:scheme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OPS PORTFOLIO · 2026</a:t>
              </a:r>
              <a:endParaRPr lang="zh-CN" sz="1050" dirty="0">
                <a:solidFill>
                  <a:schemeClr val="dk1">
                    <a:alphaMod val="55000"/>
                  </a:scheme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33214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dk1">
                      <a:alphaMod val="55000"/>
                    </a:scheme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15 / 17</a:t>
              </a:r>
              <a:endParaRPr lang="zh-CN" sz="1050" dirty="0">
                <a:solidFill>
                  <a:schemeClr val="dk1">
                    <a:alphaMod val="55000"/>
                  </a:scheme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787185" y="673418"/>
            <a:ext cx="1840173" cy="264033"/>
            <a:chOff x="9787185" y="673418"/>
            <a:chExt cx="1840173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9787185" y="673418"/>
              <a:ext cx="18401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four proven abilities</a:t>
              </a:r>
              <a:endParaRPr lang="zh-CN" sz="1350" dirty="0">
                <a:solidFill>
                  <a:schemeClr val="accent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55498" y="479108"/>
            <a:ext cx="7601350" cy="616077"/>
            <a:chOff x="555498" y="479108"/>
            <a:chExt cx="7601350" cy="616077"/>
          </a:xfrm>
        </p:grpSpPr>
        <p:sp>
          <p:nvSpPr>
            <p:cNvPr id="4" name="TextBox 4"/>
            <p:cNvSpPr txBox="1"/>
            <p:nvPr/>
          </p:nvSpPr>
          <p:spPr>
            <a:xfrm>
              <a:off x="555498" y="479108"/>
              <a:ext cx="760135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适合新媒体运营：四个被验证过的能力</a:t>
              </a:r>
              <a:endPara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-36000">
            <a:off x="571497" y="1428251"/>
            <a:ext cx="5429250" cy="1905000"/>
            <a:chOff x="571500" y="1428750"/>
            <a:chExt cx="5429250" cy="1905000"/>
          </a:xfrm>
        </p:grpSpPr>
        <p:sp>
          <p:nvSpPr>
            <p:cNvPr id="6" name="Rectangle 6"/>
            <p:cNvSpPr/>
            <p:nvPr/>
          </p:nvSpPr>
          <p:spPr>
            <a:xfrm>
              <a:off x="571500" y="1428750"/>
              <a:ext cx="5429250" cy="1905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858586" y="1758950"/>
              <a:ext cx="259015" cy="259014"/>
              <a:chOff x="858586" y="1758950"/>
              <a:chExt cx="259015" cy="259014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863600" y="1758950"/>
                <a:ext cx="254001" cy="254001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254001">
                    <a:moveTo>
                      <a:pt x="0" y="142875"/>
                    </a:moveTo>
                    <a:cubicBezTo>
                      <a:pt x="58264" y="149800"/>
                      <a:pt x="104201" y="195736"/>
                      <a:pt x="111125" y="254001"/>
                    </a:cubicBezTo>
                    <a:cubicBezTo>
                      <a:pt x="139654" y="237553"/>
                      <a:pt x="157663" y="207537"/>
                      <a:pt x="158750" y="174625"/>
                    </a:cubicBezTo>
                    <a:cubicBezTo>
                      <a:pt x="213262" y="155449"/>
                      <a:pt x="250854" y="105325"/>
                      <a:pt x="254001" y="47625"/>
                    </a:cubicBezTo>
                    <a:cubicBezTo>
                      <a:pt x="254001" y="21322"/>
                      <a:pt x="232678" y="0"/>
                      <a:pt x="206375" y="0"/>
                    </a:cubicBezTo>
                    <a:cubicBezTo>
                      <a:pt x="148675" y="3146"/>
                      <a:pt x="98551" y="40739"/>
                      <a:pt x="79375" y="95250"/>
                    </a:cubicBezTo>
                    <a:cubicBezTo>
                      <a:pt x="46463" y="96337"/>
                      <a:pt x="16447" y="114347"/>
                      <a:pt x="0" y="142875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858586" y="1917700"/>
                <a:ext cx="100264" cy="100264"/>
              </a:xfrm>
              <a:custGeom>
                <a:avLst/>
                <a:gdLst/>
                <a:ahLst/>
                <a:cxnLst/>
                <a:rect l="l" t="t" r="r" b="b"/>
                <a:pathLst>
                  <a:path w="100264" h="100264">
                    <a:moveTo>
                      <a:pt x="52639" y="0"/>
                    </a:moveTo>
                    <a:cubicBezTo>
                      <a:pt x="18840" y="19081"/>
                      <a:pt x="0" y="56762"/>
                      <a:pt x="5014" y="95250"/>
                    </a:cubicBezTo>
                    <a:cubicBezTo>
                      <a:pt x="43502" y="100264"/>
                      <a:pt x="81183" y="81424"/>
                      <a:pt x="100264" y="47625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22350" y="1822450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322832" y="1773555"/>
              <a:ext cx="24702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账号 0-1 独立操盘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25880" y="2238375"/>
              <a:ext cx="3962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证据：数码Π 4346 万播放 · 无投流冷启动</a:t>
              </a:r>
              <a:endParaRPr lang="zh-CN" sz="1500" dirty="0">
                <a:solidFill>
                  <a:schemeClr val="dk1">
                    <a:alphaMod val="8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6642" y="2597468"/>
              <a:ext cx="25762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定位/制作/迭代全链路一人闭环</a:t>
              </a:r>
              <a:endParaRPr lang="zh-CN" sz="1350" dirty="0">
                <a:solidFill>
                  <a:schemeClr val="dk1">
                    <a:alphaMod val="7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 rot="36000">
            <a:off x="6286497" y="1429249"/>
            <a:ext cx="5429250" cy="1905000"/>
            <a:chOff x="6286500" y="1428750"/>
            <a:chExt cx="5429250" cy="1905000"/>
          </a:xfrm>
        </p:grpSpPr>
        <p:sp>
          <p:nvSpPr>
            <p:cNvPr id="15" name="Rectangle 15"/>
            <p:cNvSpPr/>
            <p:nvPr/>
          </p:nvSpPr>
          <p:spPr>
            <a:xfrm>
              <a:off x="6286500" y="1428750"/>
              <a:ext cx="5429250" cy="1905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6594475" y="1727200"/>
              <a:ext cx="222250" cy="301626"/>
            </a:xfrm>
            <a:custGeom>
              <a:avLst/>
              <a:gdLst/>
              <a:ahLst/>
              <a:cxnLst/>
              <a:rect l="l" t="t" r="r" b="b"/>
              <a:pathLst>
                <a:path w="222250" h="301626">
                  <a:moveTo>
                    <a:pt x="111125" y="141939"/>
                  </a:moveTo>
                  <a:cubicBezTo>
                    <a:pt x="148162" y="89424"/>
                    <a:pt x="113776" y="17748"/>
                    <a:pt x="95250" y="0"/>
                  </a:cubicBezTo>
                  <a:cubicBezTo>
                    <a:pt x="95250" y="53896"/>
                    <a:pt x="59769" y="84122"/>
                    <a:pt x="37036" y="106458"/>
                  </a:cubicBezTo>
                  <a:cubicBezTo>
                    <a:pt x="14335" y="128810"/>
                    <a:pt x="0" y="158750"/>
                    <a:pt x="0" y="195168"/>
                  </a:cubicBezTo>
                  <a:cubicBezTo>
                    <a:pt x="0" y="253969"/>
                    <a:pt x="49752" y="301626"/>
                    <a:pt x="111125" y="301626"/>
                  </a:cubicBezTo>
                  <a:cubicBezTo>
                    <a:pt x="172498" y="301626"/>
                    <a:pt x="222250" y="253969"/>
                    <a:pt x="222250" y="195168"/>
                  </a:cubicBezTo>
                  <a:cubicBezTo>
                    <a:pt x="222250" y="167990"/>
                    <a:pt x="202692" y="125270"/>
                    <a:pt x="185214" y="106458"/>
                  </a:cubicBezTo>
                  <a:cubicBezTo>
                    <a:pt x="152130" y="159687"/>
                    <a:pt x="133509" y="159687"/>
                    <a:pt x="111125" y="141939"/>
                  </a:cubicBezTo>
                </a:path>
              </a:pathLst>
            </a:custGeom>
            <a:noFill/>
            <a:ln w="31750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037832" y="1773555"/>
              <a:ext cx="20991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爆款内容全链路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40880" y="2238375"/>
              <a:ext cx="27816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证据：累计 16 条百万播放爆款</a:t>
              </a:r>
              <a:endParaRPr lang="zh-CN" sz="1500" dirty="0">
                <a:solidFill>
                  <a:schemeClr val="dk1">
                    <a:alphaMod val="8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41642" y="2597468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选题三要素 + 黄金三秒 + 复刻创新</a:t>
              </a:r>
              <a:endParaRPr lang="zh-CN" sz="1350" dirty="0">
                <a:solidFill>
                  <a:schemeClr val="dk1">
                    <a:alphaMod val="7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 rot="36000">
            <a:off x="571497" y="3715249"/>
            <a:ext cx="5429250" cy="1905000"/>
            <a:chOff x="571500" y="3714750"/>
            <a:chExt cx="5429250" cy="1905000"/>
          </a:xfrm>
        </p:grpSpPr>
        <p:sp>
          <p:nvSpPr>
            <p:cNvPr id="21" name="Rectangle 21"/>
            <p:cNvSpPr/>
            <p:nvPr/>
          </p:nvSpPr>
          <p:spPr>
            <a:xfrm>
              <a:off x="571500" y="3714750"/>
              <a:ext cx="5429250" cy="1905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847725" y="4044950"/>
              <a:ext cx="285750" cy="263526"/>
              <a:chOff x="847725" y="4044950"/>
              <a:chExt cx="285750" cy="26352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847725" y="4171950"/>
                <a:ext cx="952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2700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111125"/>
                    </a:lnTo>
                    <a:cubicBezTo>
                      <a:pt x="95250" y="119893"/>
                      <a:pt x="88143" y="127000"/>
                      <a:pt x="79375" y="127000"/>
                    </a:cubicBezTo>
                    <a:lnTo>
                      <a:pt x="15875" y="127000"/>
                    </a:lnTo>
                    <a:cubicBezTo>
                      <a:pt x="7107" y="127000"/>
                      <a:pt x="0" y="119893"/>
                      <a:pt x="0" y="11112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038225" y="4108450"/>
                <a:ext cx="952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9050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174625"/>
                    </a:lnTo>
                    <a:cubicBezTo>
                      <a:pt x="95250" y="183393"/>
                      <a:pt x="88143" y="190500"/>
                      <a:pt x="79375" y="190500"/>
                    </a:cubicBezTo>
                    <a:lnTo>
                      <a:pt x="15875" y="190500"/>
                    </a:lnTo>
                    <a:cubicBezTo>
                      <a:pt x="7107" y="190500"/>
                      <a:pt x="0" y="183393"/>
                      <a:pt x="0" y="17462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942975" y="4044950"/>
                <a:ext cx="95250" cy="254001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254001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238125"/>
                    </a:lnTo>
                    <a:cubicBezTo>
                      <a:pt x="95250" y="246893"/>
                      <a:pt x="88143" y="254001"/>
                      <a:pt x="79375" y="254001"/>
                    </a:cubicBezTo>
                    <a:lnTo>
                      <a:pt x="15875" y="254001"/>
                    </a:lnTo>
                    <a:cubicBezTo>
                      <a:pt x="7107" y="254001"/>
                      <a:pt x="0" y="246893"/>
                      <a:pt x="0" y="23812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63600" y="4298951"/>
                <a:ext cx="222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9525">
                    <a:moveTo>
                      <a:pt x="0" y="0"/>
                    </a:moveTo>
                    <a:lnTo>
                      <a:pt x="2222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322832" y="405955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数据驱动复盘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25880" y="4524375"/>
              <a:ext cx="30744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证据：完播率归因体系 · 每周迭代</a:t>
              </a:r>
              <a:endParaRPr lang="zh-CN" sz="1500" dirty="0">
                <a:solidFill>
                  <a:schemeClr val="dk1">
                    <a:alphaMod val="8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26642" y="4883468"/>
              <a:ext cx="29396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2s 跳出 / 5s 完播 / 整体完播三曲线</a:t>
              </a:r>
              <a:endParaRPr lang="zh-CN" sz="1350" dirty="0">
                <a:solidFill>
                  <a:schemeClr val="dk1">
                    <a:alphaMod val="7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 rot="-36000">
            <a:off x="6286497" y="3714251"/>
            <a:ext cx="5429250" cy="1905000"/>
            <a:chOff x="6286500" y="3714750"/>
            <a:chExt cx="5429250" cy="1905000"/>
          </a:xfrm>
        </p:grpSpPr>
        <p:sp>
          <p:nvSpPr>
            <p:cNvPr id="31" name="Rectangle 31"/>
            <p:cNvSpPr/>
            <p:nvPr/>
          </p:nvSpPr>
          <p:spPr>
            <a:xfrm>
              <a:off x="6286500" y="3714750"/>
              <a:ext cx="5429250" cy="1905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562725" y="4029075"/>
              <a:ext cx="285751" cy="285751"/>
              <a:chOff x="6562725" y="4029075"/>
              <a:chExt cx="285751" cy="285751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594475" y="4029075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562725" y="4219575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0" y="95250"/>
                    </a:move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lnTo>
                      <a:pt x="127000" y="0"/>
                    </a:lnTo>
                    <a:cubicBezTo>
                      <a:pt x="162070" y="0"/>
                      <a:pt x="190500" y="28430"/>
                      <a:pt x="190500" y="63500"/>
                    </a:cubicBezTo>
                    <a:lnTo>
                      <a:pt x="190500" y="9525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769101" y="4031139"/>
                <a:ext cx="47750" cy="123031"/>
              </a:xfrm>
              <a:custGeom>
                <a:avLst/>
                <a:gdLst/>
                <a:ahLst/>
                <a:cxnLst/>
                <a:rect l="l" t="t" r="r" b="b"/>
                <a:pathLst>
                  <a:path w="47750" h="123031">
                    <a:moveTo>
                      <a:pt x="0" y="0"/>
                    </a:moveTo>
                    <a:cubicBezTo>
                      <a:pt x="28097" y="7194"/>
                      <a:pt x="47750" y="32512"/>
                      <a:pt x="47750" y="61516"/>
                    </a:cubicBezTo>
                    <a:cubicBezTo>
                      <a:pt x="47750" y="90520"/>
                      <a:pt x="28097" y="115837"/>
                      <a:pt x="0" y="123031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800851" y="4221957"/>
                <a:ext cx="47625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2869">
                    <a:moveTo>
                      <a:pt x="47625" y="92869"/>
                    </a:moveTo>
                    <a:lnTo>
                      <a:pt x="47625" y="61119"/>
                    </a:lnTo>
                    <a:cubicBezTo>
                      <a:pt x="47459" y="32299"/>
                      <a:pt x="27905" y="7205"/>
                      <a:pt x="0" y="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7037832" y="4059555"/>
              <a:ext cx="298970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项目统筹与供应商管理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40880" y="4524375"/>
              <a:ext cx="36636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证据：KVL 矩阵 + 信息流项目执行复盘</a:t>
              </a:r>
              <a:endParaRPr lang="zh-CN" sz="1500" dirty="0">
                <a:solidFill>
                  <a:schemeClr val="dk1">
                    <a:alphaMod val="8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41642" y="4883468"/>
              <a:ext cx="25852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对接供应商 + 视频内容审核权责</a:t>
              </a:r>
              <a:endParaRPr lang="zh-CN" sz="1350" dirty="0">
                <a:solidFill>
                  <a:schemeClr val="dk1">
                    <a:alphaMod val="7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62356" y="5996940"/>
            <a:ext cx="5615788" cy="352044"/>
            <a:chOff x="562356" y="5996940"/>
            <a:chExt cx="5615788" cy="352044"/>
          </a:xfrm>
        </p:grpSpPr>
        <p:sp>
          <p:nvSpPr>
            <p:cNvPr id="41" name="TextBox 41"/>
            <p:cNvSpPr txBox="1"/>
            <p:nvPr/>
          </p:nvSpPr>
          <p:spPr>
            <a:xfrm>
              <a:off x="562356" y="5996940"/>
              <a:ext cx="56157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用数据复盘说话，把经验变成下一个账号的起点。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66166" y="6497002"/>
            <a:ext cx="11250168" cy="205359"/>
            <a:chOff x="566166" y="6497002"/>
            <a:chExt cx="11250168" cy="205359"/>
          </a:xfrm>
        </p:grpSpPr>
        <p:sp>
          <p:nvSpPr>
            <p:cNvPr id="43" name="TextBox 43"/>
            <p:cNvSpPr txBox="1"/>
            <p:nvPr/>
          </p:nvSpPr>
          <p:spPr>
            <a:xfrm>
              <a:off x="566166" y="6497002"/>
              <a:ext cx="16236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55000"/>
                    </a:scheme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OPS PORTFOLIO · 2026</a:t>
              </a:r>
              <a:endParaRPr lang="zh-CN" sz="1050" dirty="0">
                <a:solidFill>
                  <a:schemeClr val="dk1">
                    <a:alphaMod val="55000"/>
                  </a:scheme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33214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dk1">
                      <a:alphaMod val="55000"/>
                    </a:scheme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16 / 17</a:t>
              </a:r>
              <a:endParaRPr lang="zh-CN" sz="1050" dirty="0">
                <a:solidFill>
                  <a:schemeClr val="dk1">
                    <a:alphaMod val="55000"/>
                  </a:scheme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4642" y="673418"/>
            <a:ext cx="310850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spc="150" dirty="0">
                <a:solidFill>
                  <a:schemeClr val="accent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OPS PORTFOLIO · NEW MEDIA</a:t>
            </a:r>
            <a:endParaRPr lang="zh-CN" sz="1350" spc="150" dirty="0">
              <a:solidFill>
                <a:schemeClr val="accent3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2707186" y="2612708"/>
            <a:ext cx="6777627" cy="701992"/>
            <a:chOff x="2707186" y="2612708"/>
            <a:chExt cx="6777627" cy="701992"/>
          </a:xfrm>
        </p:grpSpPr>
        <p:sp>
          <p:nvSpPr>
            <p:cNvPr id="3" name="TextBox 3"/>
            <p:cNvSpPr txBox="1"/>
            <p:nvPr/>
          </p:nvSpPr>
          <p:spPr>
            <a:xfrm>
              <a:off x="2707186" y="2612708"/>
              <a:ext cx="67776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下一个账号，准备好从 0 增长了。</a:t>
              </a:r>
              <a:endPara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" name="Polygon 4"/>
            <p:cNvSpPr/>
            <p:nvPr/>
          </p:nvSpPr>
          <p:spPr>
            <a:xfrm>
              <a:off x="3810000" y="3105150"/>
              <a:ext cx="4629150" cy="209550"/>
            </a:xfrm>
            <a:custGeom>
              <a:avLst/>
              <a:gdLst/>
              <a:ahLst/>
              <a:cxnLst/>
              <a:rect l="l" t="t" r="r" b="b"/>
              <a:pathLst>
                <a:path w="4629150" h="209550">
                  <a:moveTo>
                    <a:pt x="0" y="57150"/>
                  </a:moveTo>
                  <a:lnTo>
                    <a:pt x="4572000" y="0"/>
                  </a:lnTo>
                  <a:lnTo>
                    <a:pt x="4629150" y="152400"/>
                  </a:lnTo>
                  <a:lnTo>
                    <a:pt x="57150" y="2095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057460" y="3710940"/>
            <a:ext cx="4077081" cy="686371"/>
            <a:chOff x="4057460" y="3710940"/>
            <a:chExt cx="4077081" cy="686371"/>
          </a:xfrm>
        </p:grpSpPr>
        <p:sp>
          <p:nvSpPr>
            <p:cNvPr id="6" name="TextBox 6"/>
            <p:cNvSpPr txBox="1"/>
            <p:nvPr/>
          </p:nvSpPr>
          <p:spPr>
            <a:xfrm>
              <a:off x="4057460" y="3710940"/>
              <a:ext cx="40770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15019181937 · 1075584739@qq.com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062337" y="4191952"/>
              <a:ext cx="20673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1">
                      <a:alphaMod val="60000"/>
                    </a:schemeClr>
                  </a:solidFill>
                  <a:latin typeface="+mn-lt"/>
                  <a:ea typeface="+mn-ea"/>
                  <a:cs typeface="+mn-cs"/>
                </a:rPr>
                <a:t>本作品集将持续更新 · v2026-08</a:t>
              </a:r>
              <a:endParaRPr lang="zh-CN" sz="1050" dirty="0">
                <a:solidFill>
                  <a:schemeClr val="dk1">
                    <a:alphaMod val="60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791700" y="3772852"/>
            <a:ext cx="2019300" cy="2704148"/>
            <a:chOff x="9791700" y="3772852"/>
            <a:chExt cx="2019300" cy="2704148"/>
          </a:xfrm>
        </p:grpSpPr>
        <p:sp>
          <p:nvSpPr>
            <p:cNvPr id="9" name="Polygon 9"/>
            <p:cNvSpPr/>
            <p:nvPr/>
          </p:nvSpPr>
          <p:spPr>
            <a:xfrm>
              <a:off x="9791700" y="4000500"/>
              <a:ext cx="2019300" cy="2476500"/>
            </a:xfrm>
            <a:custGeom>
              <a:avLst/>
              <a:gdLst/>
              <a:ahLst/>
              <a:cxnLst/>
              <a:rect l="l" t="t" r="r" b="b"/>
              <a:pathLst>
                <a:path w="2019300" h="2476500">
                  <a:moveTo>
                    <a:pt x="171450" y="0"/>
                  </a:moveTo>
                  <a:lnTo>
                    <a:pt x="2019300" y="0"/>
                  </a:lnTo>
                  <a:lnTo>
                    <a:pt x="2019300" y="2476500"/>
                  </a:lnTo>
                  <a:lnTo>
                    <a:pt x="57150" y="2476500"/>
                  </a:lnTo>
                  <a:lnTo>
                    <a:pt x="209550" y="2152650"/>
                  </a:lnTo>
                  <a:lnTo>
                    <a:pt x="19050" y="1828800"/>
                  </a:lnTo>
                  <a:lnTo>
                    <a:pt x="190500" y="1504950"/>
                  </a:lnTo>
                  <a:lnTo>
                    <a:pt x="0" y="1181100"/>
                  </a:lnTo>
                  <a:lnTo>
                    <a:pt x="190500" y="857250"/>
                  </a:lnTo>
                  <a:lnTo>
                    <a:pt x="38100" y="533400"/>
                  </a:lnTo>
                  <a:lnTo>
                    <a:pt x="209550" y="2667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1"/>
            <a:srcRect t="11570" b="11569"/>
            <a:stretch>
              <a:fillRect/>
            </a:stretch>
          </p:blipFill>
          <p:spPr>
            <a:xfrm>
              <a:off x="9906000" y="4000500"/>
              <a:ext cx="1905000" cy="2476500"/>
            </a:xfrm>
            <a:custGeom>
              <a:avLst/>
              <a:gdLst/>
              <a:ahLst/>
              <a:cxnLst/>
              <a:rect l="l" t="t" r="r" b="b"/>
              <a:pathLst>
                <a:path w="1905000" h="2476500">
                  <a:moveTo>
                    <a:pt x="190500" y="0"/>
                  </a:moveTo>
                  <a:lnTo>
                    <a:pt x="1905000" y="0"/>
                  </a:lnTo>
                  <a:lnTo>
                    <a:pt x="1905000" y="2476500"/>
                  </a:lnTo>
                  <a:lnTo>
                    <a:pt x="76200" y="2476500"/>
                  </a:lnTo>
                  <a:lnTo>
                    <a:pt x="228600" y="2152650"/>
                  </a:lnTo>
                  <a:lnTo>
                    <a:pt x="38100" y="1828800"/>
                  </a:lnTo>
                  <a:lnTo>
                    <a:pt x="209550" y="1504950"/>
                  </a:lnTo>
                  <a:lnTo>
                    <a:pt x="19050" y="1181100"/>
                  </a:lnTo>
                  <a:lnTo>
                    <a:pt x="209550" y="857250"/>
                  </a:lnTo>
                  <a:lnTo>
                    <a:pt x="57150" y="533400"/>
                  </a:lnTo>
                  <a:lnTo>
                    <a:pt x="228600" y="266700"/>
                  </a:lnTo>
                  <a:close/>
                </a:path>
              </a:pathLst>
            </a:custGeom>
          </p:spPr>
        </p:pic>
        <p:sp>
          <p:nvSpPr>
            <p:cNvPr id="11" name="TextBox 11"/>
            <p:cNvSpPr txBox="1"/>
            <p:nvPr/>
          </p:nvSpPr>
          <p:spPr>
            <a:xfrm>
              <a:off x="9900666" y="3772852"/>
              <a:ext cx="15867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60000"/>
                    </a:scheme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ready for the next pull</a:t>
              </a:r>
              <a:endParaRPr lang="zh-CN" sz="1050" dirty="0">
                <a:solidFill>
                  <a:schemeClr val="dk1">
                    <a:alphaMod val="60000"/>
                  </a:scheme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66166" y="6497002"/>
            <a:ext cx="8964168" cy="205359"/>
            <a:chOff x="566166" y="6497002"/>
            <a:chExt cx="8964168" cy="205359"/>
          </a:xfrm>
        </p:grpSpPr>
        <p:sp>
          <p:nvSpPr>
            <p:cNvPr id="13" name="TextBox 13"/>
            <p:cNvSpPr txBox="1"/>
            <p:nvPr/>
          </p:nvSpPr>
          <p:spPr>
            <a:xfrm>
              <a:off x="566166" y="6497002"/>
              <a:ext cx="16236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>
                      <a:alphaMod val="55000"/>
                    </a:scheme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OPS PORTFOLIO · 2026</a:t>
              </a:r>
              <a:endParaRPr lang="zh-CN" sz="1050" dirty="0">
                <a:solidFill>
                  <a:schemeClr val="dk1">
                    <a:alphaMod val="55000"/>
                  </a:scheme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4614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dk1">
                      <a:alphaMod val="55000"/>
                    </a:scheme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17 / 17</a:t>
              </a:r>
              <a:endParaRPr lang="zh-CN" sz="1050" dirty="0">
                <a:solidFill>
                  <a:schemeClr val="dk1">
                    <a:alphaMod val="55000"/>
                  </a:scheme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63,&quot;left&quot;:45,&quot;top&quot;:91.5,&quot;width&quot;:870}"/>
</p:tagLst>
</file>

<file path=ppt/tags/tag2.xml><?xml version="1.0" encoding="utf-8"?>
<p:tagLst xmlns:p="http://schemas.openxmlformats.org/presentationml/2006/main">
  <p:tag name="KSO_WM_DIAGRAM_VIRTUALLY_FRAME" val="{&quot;height&quot;:63,&quot;left&quot;:45,&quot;top&quot;:91.5,&quot;width&quot;:870}"/>
</p:tagLst>
</file>

<file path=ppt/tags/tag3.xml><?xml version="1.0" encoding="utf-8"?>
<p:tagLst xmlns:p="http://schemas.openxmlformats.org/presentationml/2006/main">
  <p:tag name="KSO_WM_DIAGRAM_VIRTUALLY_FRAME" val="{&quot;height&quot;:63,&quot;left&quot;:45,&quot;top&quot;:91.5,&quot;width&quot;:870}"/>
</p:tagLst>
</file>

<file path=ppt/tags/tag4.xml><?xml version="1.0" encoding="utf-8"?>
<p:tagLst xmlns:p="http://schemas.openxmlformats.org/presentationml/2006/main">
  <p:tag name="KSO_WM_DIAGRAM_VIRTUALLY_FRAME" val="{&quot;height&quot;:63,&quot;left&quot;:45,&quot;top&quot;:91.5,&quot;width&quot;:870}"/>
</p:tagLst>
</file>

<file path=ppt/tags/tag5.xml><?xml version="1.0" encoding="utf-8"?>
<p:tagLst xmlns:p="http://schemas.openxmlformats.org/presentationml/2006/main">
  <p:tag name="KSO_WM_DIAGRAM_VIRTUALLY_FRAME" val="{&quot;height&quot;:63,&quot;left&quot;:45,&quot;top&quot;:91.5,&quot;width&quot;:870}"/>
</p:tagLst>
</file>

<file path=ppt/tags/tag6.xml><?xml version="1.0" encoding="utf-8"?>
<p:tagLst xmlns:p="http://schemas.openxmlformats.org/presentationml/2006/main">
  <p:tag name="KSO_WM_DIAGRAM_VIRTUALLY_FRAME" val="{&quot;height&quot;:63,&quot;left&quot;:45,&quot;top&quot;:91.5,&quot;width&quot;:870}"/>
</p:tagLst>
</file>

<file path=ppt/tags/tag7.xml><?xml version="1.0" encoding="utf-8"?>
<p:tagLst xmlns:p="http://schemas.openxmlformats.org/presentationml/2006/main">
  <p:tag name="KSO_WM_DIAGRAM_VIRTUALLY_FRAME" val="{&quot;height&quot;:63,&quot;left&quot;:45,&quot;top&quot;:91.5,&quot;width&quot;:870}"/>
</p:tagLst>
</file>

<file path=ppt/tags/tag8.xml><?xml version="1.0" encoding="utf-8"?>
<p:tagLst xmlns:p="http://schemas.openxmlformats.org/presentationml/2006/main">
  <p:tag name="KSO_WM_DIAGRAM_VIRTUALLY_FRAME" val="{&quot;height&quot;:63,&quot;left&quot;:45,&quot;top&quot;:91.5,&quot;width&quot;:870}"/>
</p:tagLst>
</file>

<file path=ppt/tags/tag9.xml><?xml version="1.0" encoding="utf-8"?>
<p:tagLst xmlns:p="http://schemas.openxmlformats.org/presentationml/2006/main">
  <p:tag name="KSO_WM_DIAGRAM_VIRTUALLY_FRAME" val="{&quot;height&quot;:63,&quot;left&quot;:45,&quot;top&quot;:91.5,&quot;width&quot;:870}"/>
</p:tagLst>
</file>

<file path=ppt/tags/tag10.xml><?xml version="1.0" encoding="utf-8"?>
<p:tagLst xmlns:p="http://schemas.openxmlformats.org/presentationml/2006/main">
  <p:tag name="KSO_WM_DIAGRAM_VIRTUALLY_FRAME" val="{&quot;height&quot;:63,&quot;left&quot;:45,&quot;top&quot;:91.5,&quot;width&quot;:870}"/>
</p:tagLst>
</file>

<file path=ppt/tags/tag11.xml><?xml version="1.0" encoding="utf-8"?>
<p:tagLst xmlns:p="http://schemas.openxmlformats.org/presentationml/2006/main">
  <p:tag name="KSO_WM_DIAGRAM_VIRTUALLY_FRAME" val="{&quot;height&quot;:63,&quot;left&quot;:45,&quot;top&quot;:91.5,&quot;width&quot;:870}"/>
</p:tagLst>
</file>

<file path=ppt/tags/tag12.xml><?xml version="1.0" encoding="utf-8"?>
<p:tagLst xmlns:p="http://schemas.openxmlformats.org/presentationml/2006/main">
  <p:tag name="KSO_WM_DIAGRAM_VIRTUALLY_FRAME" val="{&quot;height&quot;:63,&quot;left&quot;:45,&quot;top&quot;:91.5,&quot;width&quot;:870}"/>
</p:tagLst>
</file>

<file path=ppt/tags/tag13.xml><?xml version="1.0" encoding="utf-8"?>
<p:tagLst xmlns:p="http://schemas.openxmlformats.org/presentationml/2006/main">
  <p:tag name="KSO_WM_DIAGRAM_VIRTUALLY_FRAME" val="{&quot;height&quot;:63,&quot;left&quot;:45,&quot;top&quot;:91.5,&quot;width&quot;:870}"/>
</p:tagLst>
</file>

<file path=ppt/tags/tag14.xml><?xml version="1.0" encoding="utf-8"?>
<p:tagLst xmlns:p="http://schemas.openxmlformats.org/presentationml/2006/main">
  <p:tag name="KSO_WM_DIAGRAM_VIRTUALLY_FRAME" val="{&quot;height&quot;:63,&quot;left&quot;:45,&quot;top&quot;:91.5,&quot;width&quot;:870}"/>
</p:tagLst>
</file>

<file path=ppt/tags/tag15.xml><?xml version="1.0" encoding="utf-8"?>
<p:tagLst xmlns:p="http://schemas.openxmlformats.org/presentationml/2006/main">
  <p:tag name="KSO_WM_DIAGRAM_VIRTUALLY_FRAME" val="{&quot;height&quot;:63,&quot;left&quot;:45,&quot;top&quot;:91.5,&quot;width&quot;:870}"/>
</p:tagLst>
</file>

<file path=ppt/tags/tag16.xml><?xml version="1.0" encoding="utf-8"?>
<p:tagLst xmlns:p="http://schemas.openxmlformats.org/presentationml/2006/main">
  <p:tag name="KSO_WM_DIAGRAM_VIRTUALLY_FRAME" val="{&quot;height&quot;:63,&quot;left&quot;:45,&quot;top&quot;:91.5,&quot;width&quot;:870}"/>
</p:tagLst>
</file>

<file path=ppt/theme/theme1.xml><?xml version="1.0" encoding="utf-8"?>
<a:theme xmlns:a="http://schemas.openxmlformats.org/drawingml/2006/main" name="ops-portfolio">
  <a:themeElements>
    <a:clrScheme name="ops-portfolio">
      <a:dk1>
        <a:srgbClr val="26221A"/>
      </a:dk1>
      <a:lt1>
        <a:srgbClr val="F5F1E6"/>
      </a:lt1>
      <a:dk2>
        <a:srgbClr val="1F497D"/>
      </a:dk2>
      <a:lt2>
        <a:srgbClr val="EAE3D2"/>
      </a:lt2>
      <a:accent1>
        <a:srgbClr val="1E4E79"/>
      </a:accent1>
      <a:accent2>
        <a:srgbClr val="F2B705"/>
      </a:accent2>
      <a:accent3>
        <a:srgbClr val="7FA8C9"/>
      </a:accent3>
      <a:accent4>
        <a:srgbClr val="1E4E79"/>
      </a:accent4>
      <a:accent5>
        <a:srgbClr val="4BACC6"/>
      </a:accent5>
      <a:accent6>
        <a:srgbClr val="F79646"/>
      </a:accent6>
      <a:hlink>
        <a:srgbClr val="F2B705"/>
      </a:hlink>
      <a:folHlink>
        <a:srgbClr val="7FA8C9"/>
      </a:folHlink>
    </a:clrScheme>
    <a:fontScheme name="ops-portfolio">
      <a:majorFont>
        <a:latin typeface="Arial"/>
        <a:ea typeface="SimHei"/>
        <a:cs typeface="Arial"/>
        <a:font script="Jpan" typeface="SimHei"/>
        <a:font script="Hang" typeface="SimHei"/>
        <a:font script="Hans" typeface="SimHei"/>
        <a:font script="Hant" typeface="Sim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ps-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ps-portfolio">
  <a:themeElements>
    <a:clrScheme name="ops-portfolio">
      <a:dk1>
        <a:srgbClr val="26221A"/>
      </a:dk1>
      <a:lt1>
        <a:srgbClr val="F5F1E6"/>
      </a:lt1>
      <a:dk2>
        <a:srgbClr val="1F497D"/>
      </a:dk2>
      <a:lt2>
        <a:srgbClr val="EAE3D2"/>
      </a:lt2>
      <a:accent1>
        <a:srgbClr val="1E4E79"/>
      </a:accent1>
      <a:accent2>
        <a:srgbClr val="F2B705"/>
      </a:accent2>
      <a:accent3>
        <a:srgbClr val="7FA8C9"/>
      </a:accent3>
      <a:accent4>
        <a:srgbClr val="1E4E79"/>
      </a:accent4>
      <a:accent5>
        <a:srgbClr val="4BACC6"/>
      </a:accent5>
      <a:accent6>
        <a:srgbClr val="F79646"/>
      </a:accent6>
      <a:hlink>
        <a:srgbClr val="F2B705"/>
      </a:hlink>
      <a:folHlink>
        <a:srgbClr val="7FA8C9"/>
      </a:folHlink>
    </a:clrScheme>
    <a:fontScheme name="ops-portfolio">
      <a:majorFont>
        <a:latin typeface="Arial"/>
        <a:ea typeface="SimHei"/>
        <a:cs typeface="Arial"/>
        <a:font script="Jpan" typeface="SimHei"/>
        <a:font script="Hang" typeface="SimHei"/>
        <a:font script="Hans" typeface="SimHei"/>
        <a:font script="Hant" typeface="Sim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ps-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3381</Words>
  <Application>WPS 演示</Application>
  <PresentationFormat>On-screen Show (16:9)</PresentationFormat>
  <Paragraphs>491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Arial</vt:lpstr>
      <vt:lpstr>宋体</vt:lpstr>
      <vt:lpstr>Wingdings</vt:lpstr>
      <vt:lpstr>Arial</vt:lpstr>
      <vt:lpstr>Courier New</vt:lpstr>
      <vt:lpstr>黑体</vt:lpstr>
      <vt:lpstr>微软雅黑</vt:lpstr>
      <vt:lpstr>Arial Unicode MS</vt:lpstr>
      <vt:lpstr>ops-portfolio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Xxx.</cp:lastModifiedBy>
  <cp:revision>4</cp:revision>
  <dcterms:created xsi:type="dcterms:W3CDTF">2026-08-13T06:31:00Z</dcterms:created>
  <dcterms:modified xsi:type="dcterms:W3CDTF">2026-10-23T07:12:04Z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86123E4EB3B041E7A5E708F4CBB2C24E_13</vt:lpwstr>
  </property>
</Properties>
</file>