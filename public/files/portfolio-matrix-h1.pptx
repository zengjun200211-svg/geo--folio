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tiff" ContentType="image/tif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media/image33.svg" ContentType="image/svg+xml"/>
  <Override PartName="/ppt/media/image3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6" r:id="rId4"/>
  </p:sldMasterIdLst>
  <p:notesMasterIdLst>
    <p:notesMasterId r:id="rId6"/>
  </p:notesMasterIdLst>
  <p:sldIdLst>
    <p:sldId id="256" r:id="rId5"/>
    <p:sldId id="257" r:id="rId7"/>
    <p:sldId id="258" r:id="rId8"/>
    <p:sldId id="259" r:id="rId9"/>
    <p:sldId id="260" r:id="rId10"/>
    <p:sldId id="261" r:id="rId11"/>
    <p:sldId id="262" r:id="rId12"/>
    <p:sldId id="265" r:id="rId13"/>
    <p:sldId id="266" r:id="rId14"/>
    <p:sldId id="294" r:id="rId15"/>
    <p:sldId id="268" r:id="rId16"/>
    <p:sldId id="295" r:id="rId17"/>
    <p:sldId id="269" r:id="rId18"/>
    <p:sldId id="297" r:id="rId19"/>
    <p:sldId id="296" r:id="rId20"/>
    <p:sldId id="312" r:id="rId21"/>
    <p:sldId id="273" r:id="rId22"/>
    <p:sldId id="274" r:id="rId23"/>
    <p:sldId id="306" r:id="rId24"/>
    <p:sldId id="308" r:id="rId25"/>
    <p:sldId id="310" r:id="rId26"/>
  </p:sldIdLst>
  <p:sldSz cx="12192000" cy="6858000"/>
  <p:notesSz cx="6858000" cy="9144000"/>
  <p:custDataLst>
    <p:tags r:id="rId31"/>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230A5"/>
    <a:srgbClr val="315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1" Type="http://schemas.openxmlformats.org/officeDocument/2006/relationships/tags" Target="tags/tag3.xml"/><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percentStacked"/>
        <c:varyColors val="0"/>
        <c:ser>
          <c:idx val="0"/>
          <c:order val="0"/>
          <c:tx>
            <c:strRef>
              <c:f>Sheet1!$B$1</c:f>
              <c:strCache>
                <c:ptCount val="1"/>
                <c:pt idx="0">
                  <c:v>主V</c:v>
                </c:pt>
              </c:strCache>
            </c:strRef>
          </c:tx>
          <c:spPr>
            <a:solidFill>
              <a:srgbClr val="3333FF"/>
            </a:solidFill>
            <a:ln w="50800" cmpd="thickThin">
              <a:solidFill>
                <a:schemeClr val="bg1"/>
              </a:solidFill>
              <a:prstDash val="solid"/>
            </a:ln>
            <a:effectLst/>
            <a:sp3d contourW="50800"/>
          </c:spPr>
          <c:invertIfNegative val="0"/>
          <c:dLbls>
            <c:dLbl>
              <c:idx val="3"/>
              <c:layout/>
              <c:tx>
                <c:rich>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r>
                      <a:rPr lang="en-US" altLang="zh-CN" sz="800" b="1">
                        <a:solidFill>
                          <a:schemeClr val="bg1"/>
                        </a:solidFill>
                      </a:rPr>
                      <a:t>18%</a:t>
                    </a:r>
                    <a:endParaRPr lang="en-US" altLang="zh-CN" sz="800" b="1">
                      <a:solidFill>
                        <a:schemeClr val="bg1"/>
                      </a:solidFill>
                    </a:endParaRPr>
                  </a:p>
                </c:rich>
              </c:tx>
              <c:numFmt formatCode="General" sourceLinked="1"/>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bg1"/>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回声系统测评</c:v>
                </c:pt>
                <c:pt idx="1">
                  <c:v>回声拆机少女</c:v>
                </c:pt>
                <c:pt idx="2">
                  <c:v>回声行业观察</c:v>
                </c:pt>
                <c:pt idx="3">
                  <c:v>回声屏幕所</c:v>
                </c:pt>
                <c:pt idx="4">
                  <c:v>回声现场影像对比</c:v>
                </c:pt>
              </c:strCache>
            </c:strRef>
          </c:cat>
          <c:val>
            <c:numRef>
              <c:f>Sheet1!$B$2:$B$6</c:f>
              <c:numCache>
                <c:formatCode>0%</c:formatCode>
                <c:ptCount val="5"/>
                <c:pt idx="0">
                  <c:v>0.224</c:v>
                </c:pt>
                <c:pt idx="1">
                  <c:v>0.22</c:v>
                </c:pt>
                <c:pt idx="2">
                  <c:v>0.179</c:v>
                </c:pt>
                <c:pt idx="3">
                  <c:v>0.171</c:v>
                </c:pt>
                <c:pt idx="4">
                  <c:v>0.464</c:v>
                </c:pt>
              </c:numCache>
            </c:numRef>
          </c:val>
        </c:ser>
        <c:ser>
          <c:idx val="1"/>
          <c:order val="1"/>
          <c:tx>
            <c:strRef>
              <c:f>Sheet1!$C$1</c:f>
              <c:strCache>
                <c:ptCount val="1"/>
                <c:pt idx="0">
                  <c:v>含V</c:v>
                </c:pt>
              </c:strCache>
            </c:strRef>
          </c:tx>
          <c:spPr>
            <a:solidFill>
              <a:srgbClr val="3366FF"/>
            </a:solidFill>
            <a:ln w="50800" cmpd="thickThin">
              <a:solidFill>
                <a:schemeClr val="bg1"/>
              </a:solidFill>
            </a:ln>
            <a:effectLst/>
            <a:sp3d contourW="50800"/>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bg1"/>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回声系统测评</c:v>
                </c:pt>
                <c:pt idx="1">
                  <c:v>回声拆机少女</c:v>
                </c:pt>
                <c:pt idx="2">
                  <c:v>回声行业观察</c:v>
                </c:pt>
                <c:pt idx="3">
                  <c:v>回声屏幕所</c:v>
                </c:pt>
                <c:pt idx="4">
                  <c:v>回声现场影像对比</c:v>
                </c:pt>
              </c:strCache>
            </c:strRef>
          </c:cat>
          <c:val>
            <c:numRef>
              <c:f>Sheet1!$C$2:$C$6</c:f>
              <c:numCache>
                <c:formatCode>0%</c:formatCode>
                <c:ptCount val="5"/>
                <c:pt idx="0">
                  <c:v>0.104</c:v>
                </c:pt>
                <c:pt idx="1">
                  <c:v>0</c:v>
                </c:pt>
                <c:pt idx="2">
                  <c:v>0.128</c:v>
                </c:pt>
                <c:pt idx="3">
                  <c:v>0.314</c:v>
                </c:pt>
                <c:pt idx="4">
                  <c:v>0.33</c:v>
                </c:pt>
              </c:numCache>
            </c:numRef>
          </c:val>
        </c:ser>
        <c:ser>
          <c:idx val="2"/>
          <c:order val="2"/>
          <c:tx>
            <c:strRef>
              <c:f>Sheet1!$D$1</c:f>
              <c:strCache>
                <c:ptCount val="1"/>
                <c:pt idx="0">
                  <c:v>其他</c:v>
                </c:pt>
              </c:strCache>
            </c:strRef>
          </c:tx>
          <c:spPr>
            <a:solidFill>
              <a:sysClr val="window" lastClr="FFFFFF">
                <a:lumMod val="85000"/>
              </a:sysClr>
            </a:solidFill>
            <a:ln w="50800" cmpd="thickThin">
              <a:solidFill>
                <a:schemeClr val="bg1"/>
              </a:solidFill>
            </a:ln>
            <a:effectLst/>
            <a:sp3d contourW="50800"/>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50000"/>
                        <a:lumOff val="50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回声系统测评</c:v>
                </c:pt>
                <c:pt idx="1">
                  <c:v>回声拆机少女</c:v>
                </c:pt>
                <c:pt idx="2">
                  <c:v>回声行业观察</c:v>
                </c:pt>
                <c:pt idx="3">
                  <c:v>回声屏幕所</c:v>
                </c:pt>
                <c:pt idx="4">
                  <c:v>回声现场影像对比</c:v>
                </c:pt>
              </c:strCache>
            </c:strRef>
          </c:cat>
          <c:val>
            <c:numRef>
              <c:f>Sheet1!$D$2:$D$6</c:f>
              <c:numCache>
                <c:formatCode>0%</c:formatCode>
                <c:ptCount val="5"/>
                <c:pt idx="0">
                  <c:v>0.672</c:v>
                </c:pt>
                <c:pt idx="1">
                  <c:v>0.78</c:v>
                </c:pt>
                <c:pt idx="2">
                  <c:v>0.692</c:v>
                </c:pt>
                <c:pt idx="3">
                  <c:v>0.514</c:v>
                </c:pt>
                <c:pt idx="4">
                  <c:v>0.203</c:v>
                </c:pt>
              </c:numCache>
            </c:numRef>
          </c:val>
        </c:ser>
        <c:dLbls>
          <c:showLegendKey val="0"/>
          <c:showVal val="1"/>
          <c:showCatName val="0"/>
          <c:showSerName val="0"/>
          <c:showPercent val="0"/>
          <c:showBubbleSize val="0"/>
        </c:dLbls>
        <c:gapWidth val="95"/>
        <c:overlap val="100"/>
        <c:axId val="187008348"/>
        <c:axId val="910945088"/>
      </c:barChart>
      <c:catAx>
        <c:axId val="187008348"/>
        <c:scaling>
          <c:orientation val="minMax"/>
        </c:scaling>
        <c:delete val="0"/>
        <c:axPos val="l"/>
        <c:numFmt formatCode="General" sourceLinked="1"/>
        <c:majorTickMark val="none"/>
        <c:minorTickMark val="none"/>
        <c:tickLblPos val="nextTo"/>
        <c:spPr>
          <a:noFill/>
          <a:ln w="6350" cap="flat" cmpd="sng" algn="ctr">
            <a:solidFill>
              <a:schemeClr val="tx1">
                <a:lumMod val="50000"/>
                <a:lumOff val="50000"/>
                <a:alpha val="2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crossAx val="910945088"/>
        <c:crosses val="autoZero"/>
        <c:auto val="1"/>
        <c:lblAlgn val="ctr"/>
        <c:lblOffset val="100"/>
        <c:noMultiLvlLbl val="0"/>
      </c:catAx>
      <c:valAx>
        <c:axId val="910945088"/>
        <c:scaling>
          <c:orientation val="minMax"/>
        </c:scaling>
        <c:delete val="1"/>
        <c:axPos val="b"/>
        <c:numFmt formatCode="0%"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crossAx val="187008348"/>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legendEntry>
      <c:legendEntry>
        <c:idx val="1"/>
        <c:txPr>
          <a:bodyPr rot="0" spcFirstLastPara="1" vertOverflow="ellipsis" vert="horz" wrap="square"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legendEntry>
      <c:legendEntry>
        <c:idx val="2"/>
        <c:txPr>
          <a:bodyPr rot="0" spcFirstLastPara="1" vertOverflow="ellipsis" vert="horz" wrap="square"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legendEntry>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legend>
    <c:plotVisOnly val="1"/>
    <c:dispBlanksAs val="gap"/>
    <c:showDLblsOverMax val="0"/>
    <c:extLst>
      <c:ext uri="{0b15fc19-7d7d-44ad-8c2d-2c3a37ce22c3}">
        <chartProps xmlns="https://web.wps.cn/et/2018/main" chartId="{84c5f48b-470c-4e11-83d2-ef4f0db2b477}"/>
      </c:ext>
    </c:extLst>
  </c:chart>
  <c:spPr>
    <a:solidFill>
      <a:schemeClr val="bg1"/>
    </a:solidFill>
    <a:ln w="6350" cap="flat" cmpd="sng" algn="ctr">
      <a:noFill/>
      <a:round/>
    </a:ln>
    <a:effectLst/>
  </c:spPr>
  <c:txPr>
    <a:bodyPr/>
    <a:lstStyle/>
    <a:p>
      <a:pPr>
        <a:defRPr lang="zh-CN" sz="800" b="0">
          <a:solidFill>
            <a:schemeClr val="tx1">
              <a:lumMod val="75000"/>
              <a:lumOff val="25000"/>
            </a:schemeClr>
          </a:solidFill>
          <a:latin typeface="vivo Sans" panose="02000300000000000000" charset="-122"/>
          <a:ea typeface="vivo Sans" panose="02000300000000000000" charset="-122"/>
          <a:cs typeface="vivo Sans" panose="02000300000000000000"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播放量</c:v>
                </c:pt>
              </c:strCache>
            </c:strRef>
          </c:tx>
          <c:spPr>
            <a:ln w="28575" cap="rnd">
              <a:solidFill>
                <a:srgbClr val="FFC000"/>
              </a:solidFill>
              <a:prstDash val="solid"/>
              <a:round/>
            </a:ln>
          </c:spPr>
          <c:marker>
            <c:symbol val="none"/>
          </c:marker>
          <c:dLbls>
            <c:delete val="1"/>
          </c:dLbls>
          <c:cat>
            <c:strRef>
              <c:f>Sheet1!$A$2:$A$8</c:f>
              <c:strCache>
                <c:ptCount val="7"/>
                <c:pt idx="0">
                  <c:v>1月</c:v>
                </c:pt>
                <c:pt idx="1">
                  <c:v>2月</c:v>
                </c:pt>
                <c:pt idx="2">
                  <c:v>3月</c:v>
                </c:pt>
                <c:pt idx="3">
                  <c:v>4月</c:v>
                </c:pt>
                <c:pt idx="4">
                  <c:v>5月</c:v>
                </c:pt>
                <c:pt idx="5">
                  <c:v>6月</c:v>
                </c:pt>
                <c:pt idx="6">
                  <c:v>7月</c:v>
                </c:pt>
              </c:strCache>
            </c:strRef>
          </c:cat>
          <c:val>
            <c:numRef>
              <c:f>Sheet1!$B$2:$B$8</c:f>
              <c:numCache>
                <c:formatCode>General</c:formatCode>
                <c:ptCount val="7"/>
                <c:pt idx="0">
                  <c:v>1633.5</c:v>
                </c:pt>
                <c:pt idx="1">
                  <c:v>875.8</c:v>
                </c:pt>
                <c:pt idx="2">
                  <c:v>770.6</c:v>
                </c:pt>
                <c:pt idx="3">
                  <c:v>1415.4</c:v>
                </c:pt>
                <c:pt idx="4">
                  <c:v>1126.8</c:v>
                </c:pt>
                <c:pt idx="5">
                  <c:v>2553.9</c:v>
                </c:pt>
                <c:pt idx="6">
                  <c:v>11632.3</c:v>
                </c:pt>
              </c:numCache>
            </c:numRef>
          </c:val>
          <c:smooth val="1"/>
        </c:ser>
        <c:dLbls>
          <c:showLegendKey val="0"/>
          <c:showVal val="1"/>
          <c:showCatName val="0"/>
          <c:showSerName val="0"/>
          <c:showPercent val="0"/>
          <c:showBubbleSize val="0"/>
        </c:dLbls>
        <c:marker val="0"/>
        <c:smooth val="1"/>
        <c:axId val="808238665"/>
        <c:axId val="98172415"/>
      </c:lineChart>
      <c:lineChart>
        <c:grouping val="standard"/>
        <c:varyColors val="0"/>
        <c:ser>
          <c:idx val="1"/>
          <c:order val="1"/>
          <c:tx>
            <c:strRef>
              <c:f>Sheet1!$C$1</c:f>
              <c:strCache>
                <c:ptCount val="1"/>
                <c:pt idx="0">
                  <c:v>粉丝量</c:v>
                </c:pt>
              </c:strCache>
            </c:strRef>
          </c:tx>
          <c:spPr>
            <a:ln w="28575" cap="rnd">
              <a:solidFill>
                <a:srgbClr val="3333FF"/>
              </a:solidFill>
              <a:prstDash val="solid"/>
              <a:round/>
            </a:ln>
          </c:spPr>
          <c:marker>
            <c:symbol val="none"/>
          </c:marker>
          <c:dLbls>
            <c:delete val="1"/>
          </c:dLbls>
          <c:cat>
            <c:strRef>
              <c:f>Sheet1!$A$2:$A$8</c:f>
              <c:strCache>
                <c:ptCount val="7"/>
                <c:pt idx="0">
                  <c:v>1月</c:v>
                </c:pt>
                <c:pt idx="1">
                  <c:v>2月</c:v>
                </c:pt>
                <c:pt idx="2">
                  <c:v>3月</c:v>
                </c:pt>
                <c:pt idx="3">
                  <c:v>4月</c:v>
                </c:pt>
                <c:pt idx="4">
                  <c:v>5月</c:v>
                </c:pt>
                <c:pt idx="5">
                  <c:v>6月</c:v>
                </c:pt>
                <c:pt idx="6">
                  <c:v>7月</c:v>
                </c:pt>
              </c:strCache>
            </c:strRef>
          </c:cat>
          <c:val>
            <c:numRef>
              <c:f>Sheet1!$C$2:$C$8</c:f>
              <c:numCache>
                <c:formatCode>General</c:formatCode>
                <c:ptCount val="7"/>
                <c:pt idx="0">
                  <c:v>0.4</c:v>
                </c:pt>
                <c:pt idx="1">
                  <c:v>0.7</c:v>
                </c:pt>
                <c:pt idx="2">
                  <c:v>7.3</c:v>
                </c:pt>
                <c:pt idx="3">
                  <c:v>4.6</c:v>
                </c:pt>
                <c:pt idx="4">
                  <c:v>5.9</c:v>
                </c:pt>
                <c:pt idx="5">
                  <c:v>17.4</c:v>
                </c:pt>
                <c:pt idx="6">
                  <c:v>66.4</c:v>
                </c:pt>
              </c:numCache>
            </c:numRef>
          </c:val>
          <c:smooth val="1"/>
        </c:ser>
        <c:dLbls>
          <c:showLegendKey val="0"/>
          <c:showVal val="0"/>
          <c:showCatName val="0"/>
          <c:showSerName val="0"/>
          <c:showPercent val="0"/>
          <c:showBubbleSize val="0"/>
        </c:dLbls>
        <c:marker val="0"/>
        <c:smooth val="1"/>
        <c:axId val="918416942"/>
        <c:axId val="82185955"/>
      </c:lineChart>
      <c:catAx>
        <c:axId val="808238665"/>
        <c:scaling>
          <c:orientation val="minMax"/>
        </c:scaling>
        <c:delete val="0"/>
        <c:axPos val="b"/>
        <c:numFmt formatCode="General" sourceLinked="1"/>
        <c:majorTickMark val="out"/>
        <c:minorTickMark val="none"/>
        <c:tickLblPos val="nextTo"/>
        <c:spPr>
          <a:ln w="6350" cmpd="sng">
            <a:solidFill>
              <a:schemeClr val="tx1">
                <a:lumMod val="50000"/>
                <a:lumOff val="50000"/>
                <a:alpha val="25000"/>
              </a:schemeClr>
            </a:solidFill>
            <a:prstDash val="solid"/>
            <a:round/>
          </a:ln>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vivo Sans" panose="02000300000000000000" charset="-122"/>
                <a:ea typeface="vivo Sans" panose="02000300000000000000" charset="-122"/>
                <a:cs typeface="vivo Sans" panose="02000300000000000000" charset="-122"/>
              </a:defRPr>
            </a:pPr>
          </a:p>
        </c:txPr>
        <c:crossAx val="98172415"/>
        <c:crossesAt val="0"/>
        <c:auto val="1"/>
        <c:lblAlgn val="ctr"/>
        <c:lblOffset val="100"/>
        <c:noMultiLvlLbl val="0"/>
      </c:catAx>
      <c:valAx>
        <c:axId val="98172415"/>
        <c:scaling>
          <c:orientation val="minMax"/>
          <c:max val="10000"/>
        </c:scaling>
        <c:delete val="0"/>
        <c:axPos val="l"/>
        <c:majorGridlines>
          <c:spPr>
            <a:ln w="9525" cmpd="sng">
              <a:solidFill>
                <a:schemeClr val="tx1">
                  <a:lumMod val="15000"/>
                  <a:lumOff val="85000"/>
                </a:schemeClr>
              </a:solidFill>
              <a:prstDash val="solid"/>
              <a:round/>
            </a:ln>
          </c:spPr>
        </c:majorGridlines>
        <c:numFmt formatCode="General" sourceLinked="1"/>
        <c:majorTickMark val="out"/>
        <c:minorTickMark val="none"/>
        <c:tickLblPos val="nextTo"/>
        <c:spPr>
          <a:ln w="12700">
            <a:noFill/>
            <a:prstDash val="solid"/>
            <a:round/>
          </a:ln>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vivo Sans" panose="02000300000000000000" charset="-122"/>
                <a:ea typeface="vivo Sans" panose="02000300000000000000" charset="-122"/>
                <a:cs typeface="vivo Sans" panose="02000300000000000000" charset="-122"/>
              </a:defRPr>
            </a:pPr>
          </a:p>
        </c:txPr>
        <c:crossAx val="808238665"/>
        <c:crosses val="autoZero"/>
        <c:crossBetween val="between"/>
        <c:majorUnit val="2000"/>
      </c:valAx>
      <c:catAx>
        <c:axId val="91841694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vivo Sans" panose="02000300000000000000" charset="-122"/>
                <a:ea typeface="vivo Sans" panose="02000300000000000000" charset="-122"/>
                <a:cs typeface="vivo Sans" panose="02000300000000000000" charset="-122"/>
              </a:defRPr>
            </a:pPr>
          </a:p>
        </c:txPr>
        <c:crossAx val="82185955"/>
        <c:crosses val="autoZero"/>
        <c:auto val="1"/>
        <c:lblAlgn val="ctr"/>
        <c:lblOffset val="100"/>
        <c:noMultiLvlLbl val="0"/>
      </c:catAx>
      <c:valAx>
        <c:axId val="82185955"/>
        <c:scaling>
          <c:orientation val="minMax"/>
        </c:scaling>
        <c:delete val="0"/>
        <c:axPos val="r"/>
        <c:numFmt formatCode="General" sourceLinked="1"/>
        <c:majorTickMark val="none"/>
        <c:minorTickMark val="none"/>
        <c:tickLblPos val="nextTo"/>
        <c:spPr>
          <a:ln w="12700">
            <a:noFill/>
            <a:prstDash val="solid"/>
            <a:round/>
          </a:ln>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vivo Sans" panose="02000300000000000000" charset="-122"/>
                <a:ea typeface="vivo Sans" panose="02000300000000000000" charset="-122"/>
                <a:cs typeface="vivo Sans" panose="02000300000000000000" charset="-122"/>
              </a:defRPr>
            </a:pPr>
          </a:p>
        </c:txPr>
        <c:crossAx val="918416942"/>
        <c:crosses val="max"/>
        <c:crossBetween val="between"/>
      </c:valAx>
      <c:spPr>
        <a:noFill/>
        <a:ln>
          <a:noFill/>
        </a:ln>
      </c:spPr>
    </c:plotArea>
    <c:legend>
      <c:legendPos val="b"/>
      <c:layout/>
      <c:overlay val="0"/>
      <c:spPr>
        <a:noFill/>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vivo Sans" panose="02000300000000000000" charset="-122"/>
              <a:ea typeface="vivo Sans" panose="02000300000000000000" charset="-122"/>
              <a:cs typeface="vivo Sans" panose="02000300000000000000" charset="-122"/>
            </a:defRPr>
          </a:pPr>
        </a:p>
      </c:txPr>
    </c:legend>
    <c:plotVisOnly val="1"/>
    <c:dispBlanksAs val="gap"/>
    <c:showDLblsOverMax val="0"/>
    <c:extLst>
      <c:ext uri="{0b15fc19-7d7d-44ad-8c2d-2c3a37ce22c3}">
        <chartProps xmlns="https://web.wps.cn/et/2018/main" chartId="{9b5a5e20-b88d-4125-9e20-fee3a02200e8}"/>
      </c:ext>
    </c:extLst>
  </c:chart>
  <c:spPr>
    <a:solidFill>
      <a:schemeClr val="bg1"/>
    </a:solidFill>
    <a:ln w="6350" cmpd="sng">
      <a:solidFill>
        <a:schemeClr val="tx1">
          <a:lumMod val="50000"/>
          <a:lumOff val="50000"/>
          <a:alpha val="25000"/>
        </a:schemeClr>
      </a:solidFill>
    </a:ln>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播放量</c:f>
              <c:strCache>
                <c:ptCount val="1"/>
                <c:pt idx="0">
                  <c:v>播放量</c:v>
                </c:pt>
              </c:strCache>
            </c:strRef>
          </c:tx>
          <c:spPr>
            <a:solidFill>
              <a:srgbClr val="3157FF"/>
            </a:solidFill>
          </c:spPr>
          <c:invertIfNegative val="0"/>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{1627.2,585.7,476,318.8,179.6,387.4,871.9}</c:f>
              <c:numCache>
                <c:formatCode>General</c:formatCode>
                <c:ptCount val="7"/>
                <c:pt idx="0">
                  <c:v>1627.2</c:v>
                </c:pt>
                <c:pt idx="1">
                  <c:v>585.7</c:v>
                </c:pt>
                <c:pt idx="2">
                  <c:v>476</c:v>
                </c:pt>
                <c:pt idx="3">
                  <c:v>318.8</c:v>
                </c:pt>
                <c:pt idx="4">
                  <c:v>179.6</c:v>
                </c:pt>
                <c:pt idx="5">
                  <c:v>387.4</c:v>
                </c:pt>
                <c:pt idx="6">
                  <c:v>871.9</c:v>
                </c:pt>
              </c:numCache>
            </c:numRef>
          </c:val>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cae77d1b-92f6-4ee5-808e-1a01c7633da3}"/>
      </c:ext>
    </c:extLst>
  </c:chart>
  <c:spPr>
    <a:solidFill>
      <a:srgbClr val="FFFFFF"/>
    </a:solidFill>
    <a:ln w="0">
      <a:noFill/>
      <a:prstDash val="solid"/>
    </a:ln>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粉丝量</c:f>
              <c:strCache>
                <c:ptCount val="1"/>
                <c:pt idx="0">
                  <c:v>粉丝量</c:v>
                </c:pt>
              </c:strCache>
            </c:strRef>
          </c:tx>
          <c:spPr>
            <a:ln w="28575" cap="rnd">
              <a:solidFill>
                <a:srgbClr val="F3A31C"/>
              </a:solidFill>
              <a:prstDash val="solid"/>
              <a:round/>
            </a:ln>
          </c:spPr>
          <c:marker>
            <c:symbol val="circle"/>
            <c:size val="6"/>
          </c:marker>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{0.4,0.5,4.5,8.5,11,13,18}</c:f>
              <c:numCache>
                <c:formatCode>General</c:formatCode>
                <c:ptCount val="7"/>
                <c:pt idx="0">
                  <c:v>0.4</c:v>
                </c:pt>
                <c:pt idx="1">
                  <c:v>0.5</c:v>
                </c:pt>
                <c:pt idx="2">
                  <c:v>4.5</c:v>
                </c:pt>
                <c:pt idx="3">
                  <c:v>8.5</c:v>
                </c:pt>
                <c:pt idx="4">
                  <c:v>11</c:v>
                </c:pt>
                <c:pt idx="5">
                  <c:v>13</c:v>
                </c:pt>
                <c:pt idx="6">
                  <c:v>18</c:v>
                </c:pt>
              </c:numCache>
            </c:numRef>
          </c:val>
          <c:smooth val="1"/>
        </c:ser>
        <c:dLbls>
          <c:showLegendKey val="0"/>
          <c:showVal val="0"/>
          <c:showCatName val="0"/>
          <c:showSerName val="0"/>
          <c:showPercent val="0"/>
          <c:showBubbleSize val="0"/>
        </c:dLbls>
        <c:marker val="1"/>
        <c:smooth val="1"/>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f3780706-6f2f-44ed-ac6a-eccf8d75cc81}"/>
      </c:ext>
    </c:extLst>
  </c:chart>
  <c:spPr>
    <a:solidFill>
      <a:srgbClr val="FFFFFF"/>
    </a:solidFill>
    <a:ln w="0">
      <a:noFill/>
      <a:prstDash val="solid"/>
    </a:ln>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播放量</c:f>
              <c:strCache>
                <c:ptCount val="1"/>
                <c:pt idx="0">
                  <c:v>播放量</c:v>
                </c:pt>
              </c:strCache>
            </c:strRef>
          </c:tx>
          <c:spPr>
            <a:solidFill>
              <a:srgbClr val="3157FF"/>
            </a:solidFill>
          </c:spPr>
          <c:invertIfNegative val="0"/>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{0,143.4,211.3,892.6,281,697.1,309.9}</c:f>
              <c:numCache>
                <c:formatCode>General</c:formatCode>
                <c:ptCount val="7"/>
                <c:pt idx="0">
                  <c:v>0</c:v>
                </c:pt>
                <c:pt idx="1">
                  <c:v>143.4</c:v>
                </c:pt>
                <c:pt idx="2">
                  <c:v>211.3</c:v>
                </c:pt>
                <c:pt idx="3">
                  <c:v>892.6</c:v>
                </c:pt>
                <c:pt idx="4">
                  <c:v>281</c:v>
                </c:pt>
                <c:pt idx="5">
                  <c:v>697.1</c:v>
                </c:pt>
                <c:pt idx="6">
                  <c:v>309.9</c:v>
                </c:pt>
              </c:numCache>
            </c:numRef>
          </c:val>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9dc9ec27-ccab-467d-883b-54fda71d0af8}"/>
      </c:ext>
    </c:extLst>
  </c:chart>
  <c:spPr>
    <a:solidFill>
      <a:srgbClr val="FFFFFF"/>
    </a:solidFill>
    <a:ln w="0">
      <a:noFill/>
      <a:prstDash val="solid"/>
    </a:ln>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粉丝量</c:f>
              <c:strCache>
                <c:ptCount val="1"/>
                <c:pt idx="0">
                  <c:v>粉丝量</c:v>
                </c:pt>
              </c:strCache>
            </c:strRef>
          </c:tx>
          <c:spPr>
            <a:ln w="28575" cap="rnd">
              <a:solidFill>
                <a:srgbClr val="F3A31C"/>
              </a:solidFill>
              <a:prstDash val="solid"/>
              <a:round/>
            </a:ln>
          </c:spPr>
          <c:marker>
            <c:symbol val="circle"/>
            <c:size val="6"/>
          </c:marker>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{0,0.1,1.1,1.3,2.3,5.6,11}</c:f>
              <c:numCache>
                <c:formatCode>General</c:formatCode>
                <c:ptCount val="7"/>
                <c:pt idx="0">
                  <c:v>0</c:v>
                </c:pt>
                <c:pt idx="1">
                  <c:v>0.1</c:v>
                </c:pt>
                <c:pt idx="2">
                  <c:v>1.1</c:v>
                </c:pt>
                <c:pt idx="3">
                  <c:v>1.3</c:v>
                </c:pt>
                <c:pt idx="4">
                  <c:v>2.3</c:v>
                </c:pt>
                <c:pt idx="5">
                  <c:v>5.6</c:v>
                </c:pt>
                <c:pt idx="6">
                  <c:v>11</c:v>
                </c:pt>
              </c:numCache>
            </c:numRef>
          </c:val>
          <c:smooth val="1"/>
        </c:ser>
        <c:dLbls>
          <c:showLegendKey val="0"/>
          <c:showVal val="0"/>
          <c:showCatName val="0"/>
          <c:showSerName val="0"/>
          <c:showPercent val="0"/>
          <c:showBubbleSize val="0"/>
        </c:dLbls>
        <c:marker val="1"/>
        <c:smooth val="1"/>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df13cdad-8762-4804-908d-949a866e8e20}"/>
      </c:ext>
    </c:extLst>
  </c:chart>
  <c:spPr>
    <a:solidFill>
      <a:srgbClr val="FFFFFF"/>
    </a:solidFill>
    <a:ln w="0">
      <a:noFill/>
      <a:prstDash val="solid"/>
    </a:ln>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播放量</c:f>
              <c:strCache>
                <c:ptCount val="1"/>
                <c:pt idx="0">
                  <c:v>播放量</c:v>
                </c:pt>
              </c:strCache>
            </c:strRef>
          </c:tx>
          <c:spPr>
            <a:solidFill>
              <a:srgbClr val="3157FF"/>
            </a:solidFill>
          </c:spPr>
          <c:invertIfNegative val="0"/>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{1,8.7,52.8,1.6,148.9,370.2,419.9}</c:f>
              <c:numCache>
                <c:formatCode>General</c:formatCode>
                <c:ptCount val="7"/>
                <c:pt idx="0">
                  <c:v>1</c:v>
                </c:pt>
                <c:pt idx="1">
                  <c:v>8.7</c:v>
                </c:pt>
                <c:pt idx="2">
                  <c:v>52.8</c:v>
                </c:pt>
                <c:pt idx="3">
                  <c:v>1.6</c:v>
                </c:pt>
                <c:pt idx="4">
                  <c:v>148.9</c:v>
                </c:pt>
                <c:pt idx="5">
                  <c:v>370.2</c:v>
                </c:pt>
                <c:pt idx="6">
                  <c:v>419.9</c:v>
                </c:pt>
              </c:numCache>
            </c:numRef>
          </c:val>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d13832dc-a1e1-41fa-a216-142813dd426a}"/>
      </c:ext>
    </c:extLst>
  </c:chart>
  <c:spPr>
    <a:solidFill>
      <a:srgbClr val="FFFFFF"/>
    </a:solidFill>
    <a:ln w="0">
      <a:noFill/>
      <a:prstDash val="solid"/>
    </a:ln>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粉丝量</c:f>
              <c:strCache>
                <c:ptCount val="1"/>
                <c:pt idx="0">
                  <c:v>粉丝量</c:v>
                </c:pt>
              </c:strCache>
            </c:strRef>
          </c:tx>
          <c:spPr>
            <a:ln w="28575" cap="rnd">
              <a:solidFill>
                <a:srgbClr val="F3A31C"/>
              </a:solidFill>
              <a:prstDash val="solid"/>
              <a:round/>
            </a:ln>
          </c:spPr>
          <c:marker>
            <c:symbol val="circle"/>
            <c:size val="6"/>
          </c:marker>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{0.01,0.01,1,1,2.1,5.2,10}</c:f>
              <c:numCache>
                <c:formatCode>General</c:formatCode>
                <c:ptCount val="7"/>
                <c:pt idx="0">
                  <c:v>0.01</c:v>
                </c:pt>
                <c:pt idx="1">
                  <c:v>0.01</c:v>
                </c:pt>
                <c:pt idx="2">
                  <c:v>1</c:v>
                </c:pt>
                <c:pt idx="3">
                  <c:v>1</c:v>
                </c:pt>
                <c:pt idx="4">
                  <c:v>2.1</c:v>
                </c:pt>
                <c:pt idx="5">
                  <c:v>5.2</c:v>
                </c:pt>
                <c:pt idx="6">
                  <c:v>10</c:v>
                </c:pt>
              </c:numCache>
            </c:numRef>
          </c:val>
          <c:smooth val="1"/>
        </c:ser>
        <c:dLbls>
          <c:showLegendKey val="0"/>
          <c:showVal val="0"/>
          <c:showCatName val="0"/>
          <c:showSerName val="0"/>
          <c:showPercent val="0"/>
          <c:showBubbleSize val="0"/>
        </c:dLbls>
        <c:marker val="1"/>
        <c:smooth val="1"/>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bdac298d-0fe5-4e49-b3b6-9ce41732f899}"/>
      </c:ext>
    </c:extLst>
  </c:chart>
  <c:spPr>
    <a:solidFill>
      <a:srgbClr val="FFFFFF"/>
    </a:solidFill>
    <a:ln w="0">
      <a:noFill/>
      <a:prstDash val="solid"/>
    </a:ln>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播放量</c:f>
              <c:strCache>
                <c:ptCount val="1"/>
                <c:pt idx="0">
                  <c:v>播放量</c:v>
                </c:pt>
              </c:strCache>
            </c:strRef>
          </c:tx>
          <c:spPr>
            <a:solidFill>
              <a:srgbClr val="3157FF"/>
            </a:solidFill>
          </c:spPr>
          <c:invertIfNegative val="0"/>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{2.9,66.6,25.3,200,399.3,386.9,406.6}</c:f>
              <c:numCache>
                <c:formatCode>General</c:formatCode>
                <c:ptCount val="7"/>
                <c:pt idx="0">
                  <c:v>2.9</c:v>
                </c:pt>
                <c:pt idx="1">
                  <c:v>66.6</c:v>
                </c:pt>
                <c:pt idx="2">
                  <c:v>25.3</c:v>
                </c:pt>
                <c:pt idx="3">
                  <c:v>200</c:v>
                </c:pt>
                <c:pt idx="4">
                  <c:v>399.3</c:v>
                </c:pt>
                <c:pt idx="5">
                  <c:v>386.9</c:v>
                </c:pt>
                <c:pt idx="6">
                  <c:v>406.6</c:v>
                </c:pt>
              </c:numCache>
            </c:numRef>
          </c:val>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aa22be6a-3117-4750-a7a6-8a7a87778fbf}"/>
      </c:ext>
    </c:extLst>
  </c:chart>
  <c:spPr>
    <a:solidFill>
      <a:srgbClr val="FFFFFF"/>
    </a:solidFill>
    <a:ln w="0">
      <a:noFill/>
      <a:prstDash val="solid"/>
    </a:ln>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粉丝量</c:f>
              <c:strCache>
                <c:ptCount val="1"/>
                <c:pt idx="0">
                  <c:v>粉丝量</c:v>
                </c:pt>
              </c:strCache>
            </c:strRef>
          </c:tx>
          <c:spPr>
            <a:ln w="28575" cap="rnd">
              <a:solidFill>
                <a:srgbClr val="F3A31C"/>
              </a:solidFill>
              <a:prstDash val="solid"/>
              <a:round/>
            </a:ln>
          </c:spPr>
          <c:marker>
            <c:symbol val="circle"/>
            <c:size val="6"/>
          </c:marker>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{0.01,0.1,0.7,1.1,1.4,5.5,10}</c:f>
              <c:numCache>
                <c:formatCode>General</c:formatCode>
                <c:ptCount val="7"/>
                <c:pt idx="0">
                  <c:v>0.01</c:v>
                </c:pt>
                <c:pt idx="1">
                  <c:v>0.1</c:v>
                </c:pt>
                <c:pt idx="2">
                  <c:v>0.7</c:v>
                </c:pt>
                <c:pt idx="3">
                  <c:v>1.1</c:v>
                </c:pt>
                <c:pt idx="4">
                  <c:v>1.4</c:v>
                </c:pt>
                <c:pt idx="5">
                  <c:v>5.5</c:v>
                </c:pt>
                <c:pt idx="6">
                  <c:v>10</c:v>
                </c:pt>
              </c:numCache>
            </c:numRef>
          </c:val>
          <c:smooth val="1"/>
        </c:ser>
        <c:dLbls>
          <c:showLegendKey val="0"/>
          <c:showVal val="0"/>
          <c:showCatName val="0"/>
          <c:showSerName val="0"/>
          <c:showPercent val="0"/>
          <c:showBubbleSize val="0"/>
        </c:dLbls>
        <c:marker val="1"/>
        <c:smooth val="1"/>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f3e35f7d-fb0a-47de-97ba-e02e42296247}"/>
      </c:ext>
    </c:extLst>
  </c:chart>
  <c:spPr>
    <a:solidFill>
      <a:srgbClr val="FFFFFF"/>
    </a:solidFill>
    <a:ln w="0">
      <a:noFill/>
      <a:prstDash val="solid"/>
    </a:ln>
  </c:spPr>
  <c:txPr>
    <a:bodyPr/>
    <a:lstStyle/>
    <a:p>
      <a:pPr>
        <a:defRPr lang="zh-CN"/>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播放量</c:f>
              <c:strCache>
                <c:ptCount val="1"/>
                <c:pt idx="0">
                  <c:v>播放量</c:v>
                </c:pt>
              </c:strCache>
            </c:strRef>
          </c:tx>
          <c:spPr>
            <a:solidFill>
              <a:srgbClr val="3157FF"/>
            </a:solidFill>
          </c:spPr>
          <c:invertIfNegative val="0"/>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{2.82,9.375,5.206,2.444,114.81,698.012,324.419}</c:f>
              <c:numCache>
                <c:formatCode>General</c:formatCode>
                <c:ptCount val="7"/>
                <c:pt idx="0">
                  <c:v>2.82</c:v>
                </c:pt>
                <c:pt idx="1">
                  <c:v>9.375</c:v>
                </c:pt>
                <c:pt idx="2">
                  <c:v>5.206</c:v>
                </c:pt>
                <c:pt idx="3">
                  <c:v>2.444</c:v>
                </c:pt>
                <c:pt idx="4">
                  <c:v>114.81</c:v>
                </c:pt>
                <c:pt idx="5">
                  <c:v>698.012</c:v>
                </c:pt>
                <c:pt idx="6">
                  <c:v>324.419</c:v>
                </c:pt>
              </c:numCache>
            </c:numRef>
          </c:val>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5aa46dc1-307a-4dc0-983a-9f31783f57f2}"/>
      </c:ext>
    </c:extLst>
  </c:chart>
  <c:spPr>
    <a:solidFill>
      <a:srgbClr val="FFFFFF"/>
    </a:solidFill>
    <a:ln w="0">
      <a:noFill/>
      <a:prstDash val="solid"/>
    </a:ln>
  </c:spPr>
  <c:txPr>
    <a:bodyPr/>
    <a:lstStyle/>
    <a:p>
      <a:pPr>
        <a:defRPr lang="zh-CN"/>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粉丝量</c:f>
              <c:strCache>
                <c:ptCount val="1"/>
                <c:pt idx="0">
                  <c:v>粉丝量</c:v>
                </c:pt>
              </c:strCache>
            </c:strRef>
          </c:tx>
          <c:spPr>
            <a:ln w="28575" cap="rnd">
              <a:solidFill>
                <a:srgbClr val="F3A31C"/>
              </a:solidFill>
              <a:prstDash val="solid"/>
              <a:round/>
            </a:ln>
          </c:spPr>
          <c:marker>
            <c:symbol val="circle"/>
            <c:size val="6"/>
          </c:marker>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{0.01,0.014,0.018,0.02,1.1,6.07,11}</c:f>
              <c:numCache>
                <c:formatCode>General</c:formatCode>
                <c:ptCount val="7"/>
                <c:pt idx="0">
                  <c:v>0.01</c:v>
                </c:pt>
                <c:pt idx="1">
                  <c:v>0.014</c:v>
                </c:pt>
                <c:pt idx="2">
                  <c:v>0.018</c:v>
                </c:pt>
                <c:pt idx="3">
                  <c:v>0.02</c:v>
                </c:pt>
                <c:pt idx="4">
                  <c:v>1.1</c:v>
                </c:pt>
                <c:pt idx="5">
                  <c:v>6.07</c:v>
                </c:pt>
                <c:pt idx="6">
                  <c:v>11</c:v>
                </c:pt>
              </c:numCache>
            </c:numRef>
          </c:val>
          <c:smooth val="1"/>
        </c:ser>
        <c:dLbls>
          <c:showLegendKey val="0"/>
          <c:showVal val="0"/>
          <c:showCatName val="0"/>
          <c:showSerName val="0"/>
          <c:showPercent val="0"/>
          <c:showBubbleSize val="0"/>
        </c:dLbls>
        <c:marker val="1"/>
        <c:smooth val="1"/>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462f3782-4046-4d6c-bb9f-c1f267ba28c7}"/>
      </c:ext>
    </c:extLst>
  </c:chart>
  <c:spPr>
    <a:solidFill>
      <a:srgbClr val="FFFFFF"/>
    </a:solidFill>
    <a:ln w="0">
      <a:noFill/>
      <a:prstDash val="solid"/>
    </a:ln>
  </c:spPr>
  <c:txPr>
    <a:bodyPr/>
    <a:lstStyle/>
    <a:p>
      <a:pPr>
        <a:defRPr lang="zh-CN"/>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播放量</c:f>
              <c:strCache>
                <c:ptCount val="1"/>
                <c:pt idx="0">
                  <c:v>播放量</c:v>
                </c:pt>
              </c:strCache>
            </c:strRef>
          </c:tx>
          <c:spPr>
            <a:solidFill>
              <a:srgbClr val="3157FF"/>
            </a:solidFill>
          </c:spPr>
          <c:invertIfNegative val="0"/>
          <c:dLbls>
            <c:delete val="1"/>
          </c:dLbls>
          <c:cat>
            <c:strRef>
              <c:f>{"1月","2月","3月","4月","5月","6月","7月"}</c:f>
              <c:strCache>
                <c:ptCount val="7"/>
                <c:pt idx="0">
                  <c:v>1月</c:v>
                </c:pt>
                <c:pt idx="1">
                  <c:v>2月</c:v>
                </c:pt>
                <c:pt idx="2">
                  <c:v>3月</c:v>
                </c:pt>
                <c:pt idx="3">
                  <c:v>4月</c:v>
                </c:pt>
                <c:pt idx="4">
                  <c:v>5月</c:v>
                </c:pt>
                <c:pt idx="5">
                  <c:v>6月</c:v>
                </c:pt>
                <c:pt idx="6">
                  <c:v>7月</c:v>
                </c:pt>
              </c:strCache>
            </c:strRef>
          </c:cat>
          <c:val>
            <c:numRef>
              <c:f>{0,61.9,0,0,3.21,14.25,17.43}</c:f>
              <c:numCache>
                <c:formatCode>General</c:formatCode>
                <c:ptCount val="7"/>
                <c:pt idx="0">
                  <c:v>0</c:v>
                </c:pt>
                <c:pt idx="1">
                  <c:v>61.9</c:v>
                </c:pt>
                <c:pt idx="2">
                  <c:v>0</c:v>
                </c:pt>
                <c:pt idx="3">
                  <c:v>0</c:v>
                </c:pt>
                <c:pt idx="4">
                  <c:v>3.21</c:v>
                </c:pt>
                <c:pt idx="5">
                  <c:v>14.25</c:v>
                </c:pt>
                <c:pt idx="6">
                  <c:v>17.43</c:v>
                </c:pt>
              </c:numCache>
            </c:numRef>
          </c:val>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750" b="0" i="0" u="none" strike="noStrike" kern="1200" baseline="0">
                <a:solidFill>
                  <a:srgbClr val="667085"/>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E8ECF4"/>
              </a:solidFill>
              <a:prstDash val="solid"/>
              <a:round/>
            </a:ln>
          </c:spPr>
        </c:majorGridlines>
        <c:numFmt formatCode="General" sourceLinked="1"/>
        <c:majorTickMark val="none"/>
        <c:minorTickMark val="none"/>
        <c:tickLblPos val="nextTo"/>
        <c:spPr>
          <a:ln w="9525">
            <a:solidFill>
              <a:srgbClr val="DCE3F2"/>
            </a:solidFill>
            <a:prstDash val="solid"/>
            <a:round/>
          </a:ln>
        </c:spPr>
        <c:txPr>
          <a:bodyPr rot="-60000000" spcFirstLastPara="0" vertOverflow="ellipsis" vert="horz" wrap="square" anchor="ctr" anchorCtr="1"/>
          <a:lstStyle/>
          <a:p>
            <a:pPr>
              <a:defRPr lang="zh-CN" sz="675" b="0" i="0" u="none" strike="noStrike" kern="1200" baseline="0">
                <a:solidFill>
                  <a:srgbClr val="667085"/>
                </a:solidFill>
                <a:latin typeface="+mn-lt"/>
                <a:ea typeface="+mn-ea"/>
                <a:cs typeface="+mn-cs"/>
              </a:defRPr>
            </a:pPr>
          </a:p>
        </c:txPr>
        <c:crossAx val="48650112"/>
        <c:crosses val="autoZero"/>
        <c:crossBetween val="between"/>
      </c:valAx>
      <c:spPr>
        <a:solidFill>
          <a:srgbClr val="FFFFFF"/>
        </a:solidFill>
        <a:ln w="0">
          <a:noFill/>
          <a:prstDash val="solid"/>
        </a:ln>
      </c:spPr>
    </c:plotArea>
    <c:plotVisOnly val="1"/>
    <c:dispBlanksAs val="gap"/>
    <c:showDLblsOverMax val="0"/>
    <c:extLst>
      <c:ext uri="{0b15fc19-7d7d-44ad-8c2d-2c3a37ce22c3}">
        <chartProps xmlns="https://web.wps.cn/et/2018/main" chartId="{686d751c-81d7-4645-922a-a1eb07519b4c}"/>
      </c:ext>
    </c:extLst>
  </c:chart>
  <c:spPr>
    <a:solidFill>
      <a:srgbClr val="FFFFFF"/>
    </a:solidFill>
    <a:ln w="0">
      <a:noFill/>
      <a:prstDash val="solid"/>
    </a:ln>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a:r>
              <a:t>本次汇报</a:t>
            </a:r>
            <a:r>
              <a:rPr lang="zh-CN"/>
              <a:t>主要</a:t>
            </a:r>
            <a:r>
              <a:t>围绕KVL六</a:t>
            </a:r>
            <a:r>
              <a:rPr lang="zh-CN"/>
              <a:t>个核心</a:t>
            </a:r>
            <a:r>
              <a:t>账号</a:t>
            </a:r>
            <a:r>
              <a:rPr lang="zh-CN"/>
              <a:t>的</a:t>
            </a:r>
            <a:r>
              <a:t>H1孵化结果、方法沉淀与H2规划展开。</a:t>
            </a:r>
          </a:p>
          <a:p>
            <a:r>
              <a:t>重点</a:t>
            </a:r>
            <a:r>
              <a:rPr lang="zh-CN"/>
              <a:t>向各位老师展示我们在</a:t>
            </a:r>
            <a:r>
              <a:rPr lang="en-US" altLang="zh-CN"/>
              <a:t>H1</a:t>
            </a:r>
            <a:r>
              <a:rPr lang="zh-CN" altLang="en-US"/>
              <a:t>做成了什么</a:t>
            </a:r>
            <a:r>
              <a:rPr lang="en-US" altLang="zh-CN"/>
              <a:t>、</a:t>
            </a:r>
            <a:r>
              <a:rPr lang="zh-CN" altLang="en-US"/>
              <a:t>亮点规律总结</a:t>
            </a:r>
            <a:r>
              <a:rPr lang="en-US" altLang="zh-CN"/>
              <a:t>，</a:t>
            </a:r>
            <a:r>
              <a:rPr lang="zh-CN" altLang="en-US"/>
              <a:t>以及在</a:t>
            </a:r>
            <a:r>
              <a:rPr lang="en-US" altLang="zh-CN"/>
              <a:t>H2</a:t>
            </a:r>
            <a:r>
              <a:rPr lang="zh-CN" altLang="en-US"/>
              <a:t>如何优化升级。</a:t>
            </a:r>
            <a:endParaRPr lang="zh-CN" altLang="en-US"/>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首先我们先一起快速看看</a:t>
            </a:r>
            <a:r>
              <a:rPr lang="en-US" altLang="zh-CN"/>
              <a:t>6</a:t>
            </a:r>
            <a:r>
              <a:rPr lang="zh-CN" altLang="en-US"/>
              <a:t>个账号的现阶段状况</a:t>
            </a:r>
            <a:r>
              <a:rPr lang="en-US" altLang="zh-CN"/>
              <a:t>。</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zh-CN"/>
              <a:t>在上半年</a:t>
            </a:r>
            <a:r>
              <a:rPr lang="en-US" altLang="zh-CN"/>
              <a:t>，</a:t>
            </a:r>
            <a:r>
              <a:rPr lang="zh-CN" altLang="en-US"/>
              <a:t>我们成功启动孵化</a:t>
            </a:r>
            <a:r>
              <a:rPr lang="en-US" altLang="zh-CN"/>
              <a:t>，6</a:t>
            </a:r>
            <a:r>
              <a:rPr lang="zh-CN" altLang="en-US"/>
              <a:t>个垂类账号基本</a:t>
            </a:r>
            <a:r>
              <a:rPr lang="zh-CN" altLang="en-US"/>
              <a:t>形成矩阵</a:t>
            </a:r>
            <a:endParaRPr lang="zh-CN" altLang="en-US"/>
          </a:p>
          <a:p>
            <a:pPr marL="0" marR="0" lvl="0" indent="0" algn="l" defTabSz="914400">
              <a:lnSpc>
                <a:spcPct val="100000"/>
              </a:lnSpc>
              <a:spcBef>
                <a:spcPts val="0"/>
              </a:spcBef>
              <a:spcAft>
                <a:spcPts val="0"/>
              </a:spcAft>
              <a:buClrTx/>
              <a:buSzTx/>
              <a:buFontTx/>
              <a:buNone/>
            </a:pPr>
            <a:r>
              <a:rPr lang="zh-CN"/>
              <a:t>类型</a:t>
            </a:r>
            <a:r>
              <a:t>覆盖影像、屏幕、拆机、行业、系统和数码资讯，能够从不同用户需求进入数码3C流量池。</a:t>
            </a:r>
          </a:p>
          <a:p>
            <a:pPr marL="0" marR="0" lvl="0" indent="0" algn="l" defTabSz="914400">
              <a:lnSpc>
                <a:spcPct val="100000"/>
              </a:lnSpc>
              <a:spcBef>
                <a:spcPts val="0"/>
              </a:spcBef>
              <a:spcAft>
                <a:spcPts val="0"/>
              </a:spcAft>
              <a:buClrTx/>
              <a:buSzTx/>
              <a:buFontTx/>
              <a:buNone/>
            </a:pPr>
            <a:r>
              <a:t>累计</a:t>
            </a:r>
            <a:r>
              <a:rPr lang="zh-CN"/>
              <a:t>产出</a:t>
            </a:r>
            <a:r>
              <a:t>286条内容、1413万+播放、21万+互动，</a:t>
            </a:r>
            <a:r>
              <a:rPr lang="zh-CN"/>
              <a:t>目前已有</a:t>
            </a:r>
            <a:r>
              <a:t>5个账号达到万粉</a:t>
            </a:r>
            <a:r>
              <a:rPr lang="zh-CN"/>
              <a:t>量级</a:t>
            </a:r>
            <a:r>
              <a: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上半年</a:t>
            </a:r>
            <a:r>
              <a:rPr lang="en-US" altLang="zh-CN"/>
              <a:t>，KVL</a:t>
            </a:r>
            <a:r>
              <a:rPr lang="zh-CN" altLang="en-US"/>
              <a:t>针对</a:t>
            </a:r>
            <a:r>
              <a:rPr lang="en-US" altLang="zh-CN"/>
              <a:t>vivo</a:t>
            </a:r>
            <a:r>
              <a:rPr lang="zh-CN" altLang="en-US"/>
              <a:t>新品传播内容执行</a:t>
            </a:r>
            <a:r>
              <a:rPr lang="en-US" altLang="zh-CN"/>
              <a:t>，</a:t>
            </a:r>
            <a:r>
              <a:rPr lang="zh-CN" altLang="en-US"/>
              <a:t>一共</a:t>
            </a:r>
            <a:r>
              <a:t>覆盖</a:t>
            </a:r>
            <a:r>
              <a:rPr lang="zh-CN"/>
              <a:t>了</a:t>
            </a:r>
            <a:r>
              <a:t>5款核心机型，</a:t>
            </a:r>
            <a:r>
              <a:rPr lang="zh-CN"/>
              <a:t>共</a:t>
            </a:r>
            <a:r>
              <a:t>产出24条</a:t>
            </a:r>
            <a:r>
              <a:rPr lang="zh-CN"/>
              <a:t>视频</a:t>
            </a:r>
            <a:r>
              <a:t>内容。</a:t>
            </a:r>
            <a:br/>
            <a:r>
              <a:rPr lang="zh-CN"/>
              <a:t>过程中也产生了很多传播效果很好的高曝光内容</a:t>
            </a:r>
            <a:r>
              <a:rPr lang="en-US" altLang="zh-CN"/>
              <a:t>：</a:t>
            </a:r>
            <a:br>
              <a:rPr lang="en-US" altLang="zh-CN"/>
            </a:br>
            <a:r>
              <a:rPr lang="zh-CN" altLang="en-US"/>
              <a:t>其中表现最好的是</a:t>
            </a:r>
            <a:r>
              <a:rPr lang="en-US" altLang="zh-CN"/>
              <a:t>S60</a:t>
            </a:r>
            <a:r>
              <a:rPr lang="zh-CN" altLang="en-US"/>
              <a:t>的新品传播</a:t>
            </a:r>
            <a:r>
              <a:rPr lang="en-US" altLang="zh-CN"/>
              <a:t>，</a:t>
            </a:r>
            <a:r>
              <a:rPr lang="zh-CN" altLang="en-US"/>
              <a:t>单机型的影像实测达到了</a:t>
            </a:r>
            <a:r>
              <a:rPr lang="en-US" altLang="zh-CN"/>
              <a:t>78</a:t>
            </a:r>
            <a:r>
              <a:rPr lang="zh-CN" altLang="en-US"/>
              <a:t>万</a:t>
            </a:r>
            <a:r>
              <a:rPr lang="en-US" altLang="zh-CN"/>
              <a:t>+</a:t>
            </a:r>
            <a:r>
              <a:rPr lang="zh-CN" altLang="en-US"/>
              <a:t>的高播放</a:t>
            </a:r>
            <a:r>
              <a:rPr lang="en-US" altLang="zh-CN"/>
              <a:t>，</a:t>
            </a:r>
            <a:endParaRPr lang="en-US" altLang="zh-CN"/>
          </a:p>
          <a:p>
            <a:r>
              <a:rPr lang="zh-CN" altLang="en-US"/>
              <a:t>执行时期</a:t>
            </a:r>
            <a:r>
              <a:rPr lang="en-US" altLang="zh-CN"/>
              <a:t>，</a:t>
            </a:r>
            <a:r>
              <a:rPr lang="zh-CN" altLang="en-US"/>
              <a:t>为了更好地体现</a:t>
            </a:r>
            <a:r>
              <a:rPr lang="en-US" altLang="zh-CN"/>
              <a:t>S60</a:t>
            </a:r>
            <a:r>
              <a:rPr lang="zh-CN" altLang="en-US"/>
              <a:t>的</a:t>
            </a:r>
            <a:r>
              <a:rPr lang="en-US" altLang="zh-CN"/>
              <a:t>4Klive</a:t>
            </a:r>
            <a:r>
              <a:rPr lang="zh-CN" altLang="en-US"/>
              <a:t>质感</a:t>
            </a:r>
            <a:r>
              <a:rPr lang="en-US" altLang="zh-CN"/>
              <a:t>，</a:t>
            </a:r>
            <a:r>
              <a:rPr lang="zh-CN" altLang="en-US"/>
              <a:t>我们挑选了和产品调性适配的元气演员</a:t>
            </a:r>
            <a:r>
              <a:rPr lang="en-US" altLang="zh-CN"/>
              <a:t>，</a:t>
            </a:r>
            <a:r>
              <a:rPr lang="zh-CN" altLang="en-US">
                <a:sym typeface="+mn-ea"/>
              </a:rPr>
              <a:t>拍摄场地选在了深圳海边和欧式庄园</a:t>
            </a:r>
            <a:r>
              <a:rPr lang="en-US" altLang="zh-CN">
                <a:sym typeface="+mn-ea"/>
              </a:rPr>
              <a:t>，</a:t>
            </a:r>
            <a:r>
              <a:rPr lang="zh-CN" altLang="en-US">
                <a:sym typeface="+mn-ea"/>
              </a:rPr>
              <a:t>搭配精美道具</a:t>
            </a:r>
            <a:endParaRPr lang="en-US" altLang="zh-CN"/>
          </a:p>
          <a:p>
            <a:r>
              <a:rPr lang="zh-CN" altLang="en-US"/>
              <a:t>成片发布后</a:t>
            </a:r>
            <a:r>
              <a:rPr lang="en-US" altLang="zh-CN"/>
              <a:t>，</a:t>
            </a:r>
            <a:r>
              <a:rPr lang="zh-CN" altLang="en-US"/>
              <a:t>确实通过清新好看的</a:t>
            </a:r>
            <a:r>
              <a:rPr lang="en-US" altLang="zh-CN"/>
              <a:t>live</a:t>
            </a:r>
            <a:r>
              <a:rPr lang="zh-CN" altLang="en-US"/>
              <a:t>画质和可爱元气的拼贴照片</a:t>
            </a:r>
            <a:r>
              <a:rPr lang="en-US" altLang="zh-CN"/>
              <a:t>，</a:t>
            </a:r>
            <a:r>
              <a:rPr lang="zh-CN" altLang="en-US"/>
              <a:t>吸引了大量用户追问好评</a:t>
            </a:r>
            <a:endParaRPr lang="zh-CN" altLang="en-US"/>
          </a:p>
          <a:p>
            <a:r>
              <a:rPr lang="zh-CN" altLang="en-US"/>
              <a:t>同期</a:t>
            </a:r>
            <a:r>
              <a:rPr lang="en-US" altLang="zh-CN"/>
              <a:t>，S60</a:t>
            </a:r>
            <a:r>
              <a:rPr lang="zh-CN" altLang="en-US"/>
              <a:t>的屏幕实测首发</a:t>
            </a:r>
            <a:r>
              <a:rPr lang="en-US" altLang="zh-CN"/>
              <a:t>，</a:t>
            </a:r>
            <a:r>
              <a:rPr lang="zh-CN" altLang="en-US"/>
              <a:t>也赢得一波高流量</a:t>
            </a:r>
            <a:r>
              <a:rPr lang="en-US" altLang="zh-CN"/>
              <a:t>，</a:t>
            </a:r>
            <a:r>
              <a:rPr lang="zh-CN" altLang="en-US"/>
              <a:t>播放高达</a:t>
            </a:r>
            <a:r>
              <a:rPr lang="en-US" altLang="zh-CN"/>
              <a:t>98</a:t>
            </a:r>
            <a:r>
              <a:rPr lang="zh-CN" altLang="en-US"/>
              <a:t>万</a:t>
            </a:r>
            <a:r>
              <a:rPr lang="en-US" altLang="zh-CN"/>
              <a:t>+，1</a:t>
            </a:r>
            <a:r>
              <a:rPr lang="zh-CN" altLang="en-US"/>
              <a:t>方面是新品首发成功获得流量夹持</a:t>
            </a:r>
            <a:r>
              <a:rPr lang="en-US" altLang="zh-CN"/>
              <a:t>，</a:t>
            </a:r>
            <a:r>
              <a:rPr lang="zh-CN" altLang="en-US"/>
              <a:t>另一方面</a:t>
            </a:r>
            <a:r>
              <a:rPr lang="en-US" altLang="zh-CN"/>
              <a:t>，</a:t>
            </a:r>
            <a:r>
              <a:rPr lang="zh-CN" altLang="en-US"/>
              <a:t>专业标准</a:t>
            </a:r>
            <a:r>
              <a:rPr lang="zh-CN" altLang="en-US"/>
              <a:t>化流程的实测确实也赢得了用户的信任</a:t>
            </a:r>
            <a:br>
              <a:rPr lang="zh-CN" altLang="en-US"/>
            </a:br>
            <a:endParaRPr lang="en-US" altLang="zh-CN"/>
          </a:p>
          <a:p>
            <a:r>
              <a:rPr lang="zh-CN" altLang="en-US"/>
              <a:t>那我们也对各个账号的含</a:t>
            </a:r>
            <a:r>
              <a:rPr lang="en-US" altLang="zh-CN"/>
              <a:t>v</a:t>
            </a:r>
            <a:r>
              <a:rPr lang="zh-CN" altLang="en-US"/>
              <a:t>内容比例进行了统计</a:t>
            </a:r>
            <a:br>
              <a:rPr lang="zh-CN" altLang="en-US"/>
            </a:br>
            <a:r>
              <a:rPr lang="zh-CN" altLang="en-US"/>
              <a:t>大家可以明显得看到，影像账号是含量最高的</a:t>
            </a:r>
            <a:r>
              <a:rPr lang="en-US" altLang="zh-CN"/>
              <a:t>，</a:t>
            </a:r>
            <a:r>
              <a:rPr lang="zh-CN" altLang="en-US"/>
              <a:t>但在我们看来这是必然的</a:t>
            </a:r>
            <a:r>
              <a:rPr lang="en-US" altLang="zh-CN"/>
              <a:t>，</a:t>
            </a:r>
            <a:r>
              <a:rPr lang="zh-CN" altLang="en-US"/>
              <a:t>毕竟</a:t>
            </a:r>
            <a:r>
              <a:rPr lang="en-US" altLang="zh-CN"/>
              <a:t>X300Ultra</a:t>
            </a:r>
            <a:r>
              <a:rPr lang="zh-CN" altLang="en-US"/>
              <a:t>影像旗舰确实是支撑了很多内容的产出</a:t>
            </a:r>
            <a:br>
              <a:rPr lang="zh-CN" altLang="en-US"/>
            </a:br>
            <a:r>
              <a:rPr lang="zh-CN" altLang="en-US"/>
              <a:t>后续我们会留意整体含</a:t>
            </a:r>
            <a:r>
              <a:rPr lang="en-US" altLang="zh-CN"/>
              <a:t>v，</a:t>
            </a:r>
            <a:r>
              <a:rPr lang="zh-CN" altLang="en-US"/>
              <a:t>在保障咱们自己品牌的价值传达到位的同时</a:t>
            </a:r>
            <a:r>
              <a:rPr lang="en-US" altLang="zh-CN"/>
              <a:t>，</a:t>
            </a:r>
            <a:r>
              <a:rPr lang="zh-CN" altLang="en-US"/>
              <a:t>同比增加其他日常内容的量</a:t>
            </a:r>
            <a:r>
              <a:rPr lang="en-US" altLang="zh-CN"/>
              <a:t>，</a:t>
            </a:r>
            <a:r>
              <a:rPr>
                <a:sym typeface="+mn-ea"/>
              </a:rPr>
              <a:t>避免连续高密度露出削弱</a:t>
            </a:r>
            <a:r>
              <a:rPr lang="zh-CN">
                <a:sym typeface="+mn-ea"/>
              </a:rPr>
              <a:t>平台</a:t>
            </a:r>
            <a:r>
              <a:rPr>
                <a:sym typeface="+mn-ea"/>
              </a:rPr>
              <a:t>信任。</a:t>
            </a:r>
            <a:br>
              <a:rPr>
                <a:sym typeface="+mn-ea"/>
              </a:rPr>
            </a:br>
            <a:endParaRPr>
              <a:sym typeface="+mn-ea"/>
            </a:endParaRP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其实目前</a:t>
            </a:r>
            <a:r>
              <a:rPr lang="en-US" altLang="zh-CN"/>
              <a:t>，</a:t>
            </a:r>
            <a:r>
              <a:rPr lang="zh-CN" altLang="en-US"/>
              <a:t>根据各个账号的数据表现和平台稳定程度</a:t>
            </a:r>
            <a:r>
              <a:rPr lang="en-US" altLang="zh-CN"/>
              <a:t>，</a:t>
            </a:r>
            <a:r>
              <a:rPr lang="zh-CN" altLang="en-US"/>
              <a:t>已经形成了梯队分级</a:t>
            </a:r>
            <a:br>
              <a:rPr lang="zh-CN" altLang="en-US"/>
            </a:br>
            <a:endParaRPr lang="zh-CN" altLang="en-US"/>
          </a:p>
          <a:p>
            <a:pPr marL="0" marR="0" lvl="0" indent="0" algn="l" defTabSz="914400">
              <a:lnSpc>
                <a:spcPct val="100000"/>
              </a:lnSpc>
              <a:spcBef>
                <a:spcPts val="0"/>
              </a:spcBef>
              <a:spcAft>
                <a:spcPts val="0"/>
              </a:spcAft>
              <a:buClrTx/>
              <a:buSzTx/>
              <a:buFontTx/>
              <a:buNone/>
            </a:pPr>
            <a:r>
              <a:t>第一梯队负责流量和标杆，</a:t>
            </a:r>
            <a:br/>
            <a:r>
              <a:rPr lang="zh-CN"/>
              <a:t>目前核心是影像和屏幕账号</a:t>
            </a:r>
            <a:r>
              <a:rPr lang="en-US" altLang="zh-CN"/>
              <a:t>，</a:t>
            </a:r>
            <a:r>
              <a:rPr lang="zh-CN" altLang="en-US"/>
              <a:t>影像账号在前期因为演唱会热点快速积累的流量分粉丝基础</a:t>
            </a:r>
            <a:r>
              <a:rPr lang="en-US" altLang="zh-CN"/>
              <a:t>，</a:t>
            </a:r>
            <a:r>
              <a:rPr lang="zh-CN" altLang="en-US"/>
              <a:t>目前还维持着稳定的数据表现和粉丝增长</a:t>
            </a:r>
            <a:endParaRPr lang="zh-CN" altLang="en-US"/>
          </a:p>
          <a:p>
            <a:pPr marL="0" marR="0" lvl="0" indent="0" algn="l" defTabSz="914400">
              <a:lnSpc>
                <a:spcPct val="100000"/>
              </a:lnSpc>
              <a:spcBef>
                <a:spcPts val="0"/>
              </a:spcBef>
              <a:spcAft>
                <a:spcPts val="0"/>
              </a:spcAft>
              <a:buClrTx/>
              <a:buSzTx/>
              <a:buFontTx/>
              <a:buNone/>
            </a:pPr>
            <a:r>
              <a:rPr lang="zh-CN" altLang="en-US"/>
              <a:t>屏幕账号虽然起步晚</a:t>
            </a:r>
            <a:r>
              <a:rPr lang="en-US" altLang="zh-CN"/>
              <a:t>，</a:t>
            </a:r>
            <a:r>
              <a:rPr lang="zh-CN" altLang="en-US"/>
              <a:t>但通过争议性选题和实测环节标准流程化</a:t>
            </a:r>
            <a:r>
              <a:rPr lang="en-US" altLang="zh-CN"/>
              <a:t>，</a:t>
            </a:r>
            <a:r>
              <a:rPr lang="zh-CN" altLang="en-US"/>
              <a:t>在后期快速追上</a:t>
            </a:r>
            <a:r>
              <a:rPr lang="en-US" altLang="zh-CN"/>
              <a:t>，</a:t>
            </a:r>
            <a:r>
              <a:rPr lang="zh-CN" altLang="en-US"/>
              <a:t>目前和影像属于同一梯队</a:t>
            </a:r>
            <a:br>
              <a:rPr lang="zh-CN" altLang="en-US"/>
            </a:br>
            <a:r>
              <a:rPr lang="en-US" altLang="zh-CN"/>
              <a:t>2</a:t>
            </a:r>
            <a:r>
              <a:rPr lang="zh-CN" altLang="en-US"/>
              <a:t>个账号拥有</a:t>
            </a:r>
            <a:r>
              <a:rPr lang="en-US" altLang="zh-CN"/>
              <a:t>20%</a:t>
            </a:r>
            <a:r>
              <a:rPr lang="zh-CN" altLang="en-US"/>
              <a:t>的爆款率</a:t>
            </a:r>
            <a:r>
              <a:rPr lang="en-US" altLang="zh-CN"/>
              <a:t>，</a:t>
            </a:r>
            <a:r>
              <a:rPr lang="zh-CN" altLang="en-US"/>
              <a:t>成为咱们整个</a:t>
            </a:r>
            <a:r>
              <a:rPr lang="zh-CN" altLang="en-US"/>
              <a:t>孵化矩阵的流量发动机</a:t>
            </a:r>
            <a:br>
              <a:rPr lang="zh-CN" altLang="en-US"/>
            </a:br>
            <a:endParaRPr lang="zh-CN" altLang="en-US"/>
          </a:p>
          <a:p>
            <a:pPr marL="0" marR="0" lvl="0" indent="0" algn="l" defTabSz="914400">
              <a:lnSpc>
                <a:spcPct val="100000"/>
              </a:lnSpc>
              <a:spcBef>
                <a:spcPts val="0"/>
              </a:spcBef>
              <a:spcAft>
                <a:spcPts val="0"/>
              </a:spcAft>
              <a:buClrTx/>
              <a:buSzTx/>
              <a:buFontTx/>
              <a:buNone/>
            </a:pPr>
            <a:r>
              <a:t>第二梯队负责专业影响力</a:t>
            </a:r>
            <a:br/>
            <a:r>
              <a:rPr lang="zh-CN"/>
              <a:t>拆机</a:t>
            </a:r>
            <a:r>
              <a:rPr lang="en-US" altLang="zh-CN"/>
              <a:t>、</a:t>
            </a:r>
            <a:r>
              <a:rPr lang="zh-CN" altLang="en-US"/>
              <a:t>行业</a:t>
            </a:r>
            <a:r>
              <a:rPr lang="en-US" altLang="zh-CN"/>
              <a:t>、</a:t>
            </a:r>
            <a:r>
              <a:rPr lang="zh-CN" altLang="en-US"/>
              <a:t>系统目前是相对比较稳定的</a:t>
            </a:r>
            <a:r>
              <a:rPr lang="en-US" altLang="zh-CN"/>
              <a:t>，</a:t>
            </a:r>
            <a:r>
              <a:rPr lang="zh-CN" altLang="en-US"/>
              <a:t>但缺少流量爆发</a:t>
            </a:r>
            <a:r>
              <a:rPr lang="en-US" altLang="zh-CN"/>
              <a:t>，</a:t>
            </a:r>
            <a:r>
              <a:rPr lang="zh-CN" altLang="en-US"/>
              <a:t>核心在与热点事件的跟踪及行业判断</a:t>
            </a:r>
            <a:br>
              <a:rPr lang="zh-CN" altLang="en-US"/>
            </a:br>
            <a:br>
              <a:rPr lang="zh-CN" altLang="en-US"/>
            </a:br>
            <a:r>
              <a:rPr lang="zh-CN" altLang="en-US"/>
              <a:t>第</a:t>
            </a:r>
            <a:r>
              <a:rPr lang="en-US" altLang="zh-CN"/>
              <a:t>3</a:t>
            </a:r>
            <a:r>
              <a:rPr lang="zh-CN" altLang="en-US"/>
              <a:t>梯队是数码站</a:t>
            </a:r>
            <a:r>
              <a:rPr lang="en-US" altLang="zh-CN"/>
              <a:t>，</a:t>
            </a:r>
            <a:r>
              <a:rPr lang="zh-CN" altLang="en-US"/>
              <a:t>负责热点响应验证</a:t>
            </a:r>
            <a:r>
              <a:rPr lang="en-US" altLang="zh-CN"/>
              <a:t>，</a:t>
            </a:r>
            <a:r>
              <a:rPr lang="zh-CN" altLang="en-US"/>
              <a:t>虽然现阶段平台表现还不能算稳定</a:t>
            </a:r>
            <a:r>
              <a:rPr lang="en-US" altLang="zh-CN"/>
              <a:t>，</a:t>
            </a:r>
            <a:r>
              <a:rPr lang="zh-CN" altLang="en-US"/>
              <a:t>但更换形式后数据有了明显起色</a:t>
            </a:r>
            <a:br>
              <a:rPr lang="zh-CN" altLang="en-US"/>
            </a:br>
            <a:endParaRPr lang="zh-CN" altLang="en-US"/>
          </a:p>
          <a:p>
            <a:r>
              <a:rPr lang="zh-CN"/>
              <a:t>下半年我们也会把</a:t>
            </a:r>
            <a:r>
              <a:t>资源投入按梯队</a:t>
            </a:r>
            <a:r>
              <a:rPr lang="zh-CN"/>
              <a:t>来</a:t>
            </a:r>
            <a:r>
              <a:t>分配，避免平均用力导致</a:t>
            </a:r>
            <a:r>
              <a:rPr lang="zh-CN"/>
              <a:t>内容破圈受限</a:t>
            </a:r>
            <a:r>
              <a:t>。</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zh-CN" altLang="en-US"/>
              <a:t>我们现在来看看整个</a:t>
            </a:r>
            <a:r>
              <a:rPr lang="en-US" altLang="zh-CN"/>
              <a:t>KVL</a:t>
            </a:r>
            <a:r>
              <a:rPr lang="zh-CN" altLang="en-US"/>
              <a:t>孵化的成长阶段</a:t>
            </a:r>
            <a:r>
              <a:rPr lang="en-US" altLang="zh-CN"/>
              <a:t>，</a:t>
            </a:r>
            <a:r>
              <a:rPr lang="zh-CN" altLang="en-US"/>
              <a:t>整体来说</a:t>
            </a:r>
            <a:r>
              <a:rPr lang="en-US" altLang="zh-CN"/>
              <a:t>，1-4</a:t>
            </a:r>
            <a:r>
              <a:rPr lang="zh-CN" altLang="en-US"/>
              <a:t>月属于账号启动和摸索调整阶段</a:t>
            </a:r>
            <a:br>
              <a:rPr lang="zh-CN" altLang="en-US"/>
            </a:br>
            <a:r>
              <a:rPr lang="en-US" altLang="zh-CN"/>
              <a:t>5</a:t>
            </a:r>
            <a:r>
              <a:rPr lang="zh-CN" altLang="en-US"/>
              <a:t>月开始正式进入持续性增长阶段</a:t>
            </a:r>
            <a:r>
              <a:rPr lang="en-US" altLang="zh-CN"/>
              <a:t>，</a:t>
            </a:r>
            <a:endParaRPr lang="en-US"/>
          </a:p>
          <a:p>
            <a:pPr marL="0" marR="0" lvl="0" indent="0" algn="l" defTabSz="914400">
              <a:lnSpc>
                <a:spcPct val="100000"/>
              </a:lnSpc>
              <a:spcBef>
                <a:spcPts val="0"/>
              </a:spcBef>
              <a:spcAft>
                <a:spcPts val="0"/>
              </a:spcAft>
              <a:buClrTx/>
              <a:buSzTx/>
              <a:buFontTx/>
              <a:buNone/>
            </a:pPr>
            <a:r>
              <a:rPr lang="en-US"/>
              <a:t>
6-7</a:t>
            </a:r>
            <a:r>
              <a:rPr lang="zh-CN" altLang="en-US"/>
              <a:t>月</a:t>
            </a:r>
            <a:r>
              <a:rPr lang="en-US" altLang="zh-CN"/>
              <a:t>，</a:t>
            </a:r>
            <a:r>
              <a:rPr lang="zh-CN" altLang="en-US"/>
              <a:t>凭借各家新品发布和争议性选题设计</a:t>
            </a:r>
            <a:r>
              <a:rPr lang="en-US" altLang="zh-CN"/>
              <a:t>，</a:t>
            </a:r>
            <a:r>
              <a:rPr lang="zh-CN" altLang="en-US"/>
              <a:t>实现爆发式增长</a:t>
            </a:r>
            <a:r>
              <a:rPr lang="en-US" altLang="zh-CN"/>
              <a:t>，</a:t>
            </a:r>
            <a:r>
              <a:rPr lang="zh-CN" altLang="en-US"/>
              <a:t>影像和屏幕</a:t>
            </a:r>
            <a:r>
              <a:rPr lang="en-US" altLang="zh-CN"/>
              <a:t>2</a:t>
            </a:r>
            <a:r>
              <a:rPr lang="zh-CN" altLang="en-US"/>
              <a:t>个账号拉动了整个矩阵的数据增长</a:t>
            </a:r>
            <a:r>
              <a:rPr lang="en-US" altLang="zh-CN"/>
              <a:t>。</a:t>
            </a:r>
            <a:endParaRPr lang="en-US" altLang="zh-CN"/>
          </a:p>
          <a:p>
            <a:pPr marL="0" marR="0" lvl="0" indent="0" algn="l" defTabSz="914400">
              <a:lnSpc>
                <a:spcPct val="100000"/>
              </a:lnSpc>
              <a:spcBef>
                <a:spcPts val="0"/>
              </a:spcBef>
              <a:spcAft>
                <a:spcPts val="0"/>
              </a:spcAft>
              <a:buClrTx/>
              <a:buSzTx/>
              <a:buFontTx/>
              <a:buNone/>
            </a:pPr>
            <a:r>
              <a:rPr lang="en-US"/>
              <a:t>六七月份靠着新品发布、独家首拆和争议性话题拉动，矩阵整体数据重新回升，进入持续增长通道。
</a:t>
            </a:r>
            <a:endParaRPr lang="en-US"/>
          </a:p>
          <a:p>
            <a:pPr marL="0" marR="0" lvl="0" indent="0" algn="l" defTabSz="914400">
              <a:lnSpc>
                <a:spcPct val="100000"/>
              </a:lnSpc>
              <a:spcBef>
                <a:spcPts val="0"/>
              </a:spcBef>
              <a:spcAft>
                <a:spcPts val="0"/>
              </a:spcAft>
              <a:buClrTx/>
              <a:buSzTx/>
              <a:buFontTx/>
              <a:buNone/>
            </a:pPr>
            <a:r>
              <a:rPr lang="zh-CN" altLang="en-US"/>
              <a:t>能实现这样的增长趋势</a:t>
            </a:r>
            <a:r>
              <a:rPr lang="en-US" altLang="zh-CN"/>
              <a:t>，</a:t>
            </a:r>
            <a:r>
              <a:rPr lang="zh-CN" altLang="en-US"/>
              <a:t>一方面是自</a:t>
            </a:r>
            <a:r>
              <a:rPr lang="en-US" altLang="zh-CN"/>
              <a:t>5</a:t>
            </a:r>
            <a:r>
              <a:rPr lang="zh-CN" altLang="en-US"/>
              <a:t>月开始</a:t>
            </a:r>
            <a:r>
              <a:rPr lang="en-US" altLang="zh-CN"/>
              <a:t>，</a:t>
            </a:r>
            <a:r>
              <a:rPr lang="zh-CN" altLang="en-US"/>
              <a:t>咱们孵化团队的产能直线提升</a:t>
            </a:r>
            <a:r>
              <a:rPr lang="en-US" altLang="zh-CN"/>
              <a:t>，</a:t>
            </a:r>
            <a:r>
              <a:rPr lang="zh-CN" altLang="en-US"/>
              <a:t>选题内容也在各位老师的把控下</a:t>
            </a:r>
            <a:r>
              <a:rPr lang="en-US" altLang="zh-CN"/>
              <a:t>，</a:t>
            </a:r>
            <a:r>
              <a:rPr lang="zh-CN" altLang="en-US"/>
              <a:t>精准踩中了品牌热点和用户</a:t>
            </a:r>
            <a:r>
              <a:rPr lang="zh-CN" altLang="en-US"/>
              <a:t>痛点</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下面我们进入单个账号的深度分析和亮点</a:t>
            </a:r>
            <a:r>
              <a:rPr lang="zh-CN"/>
              <a:t>分享</a:t>
            </a:r>
            <a:endParaRPr 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首先是咱们的回声现场影像对比</a:t>
            </a:r>
            <a:r>
              <a:rPr lang="en-US" altLang="zh-CN"/>
              <a:t>，</a:t>
            </a:r>
            <a:r>
              <a:rPr lang="zh-CN" altLang="en-US"/>
              <a:t>目前这个账号的定位还是很清晰的</a:t>
            </a:r>
            <a:r>
              <a:rPr lang="en-US" altLang="zh-CN"/>
              <a:t>：</a:t>
            </a:r>
            <a:r>
              <a:rPr lang="zh-CN" altLang="en-US"/>
              <a:t>手机影像对比</a:t>
            </a:r>
            <a:r>
              <a:rPr lang="en-US" altLang="zh-CN"/>
              <a:t>，</a:t>
            </a:r>
            <a:endParaRPr lang="en-US" altLang="zh-CN"/>
          </a:p>
          <a:p>
            <a:r>
              <a:rPr lang="zh-CN" altLang="en-US"/>
              <a:t>无论是发布数量</a:t>
            </a:r>
            <a:r>
              <a:rPr lang="en-US" altLang="zh-CN"/>
              <a:t>、</a:t>
            </a:r>
            <a:r>
              <a:rPr lang="zh-CN" altLang="en-US"/>
              <a:t>粉丝量级</a:t>
            </a:r>
            <a:r>
              <a:rPr lang="en-US" altLang="zh-CN"/>
              <a:t>，</a:t>
            </a:r>
            <a:r>
              <a:rPr lang="zh-CN" altLang="en-US"/>
              <a:t>还是总数据和爆款率</a:t>
            </a:r>
            <a:r>
              <a:rPr lang="en-US" altLang="zh-CN"/>
              <a:t>，</a:t>
            </a:r>
            <a:r>
              <a:rPr lang="zh-CN" altLang="en-US"/>
              <a:t>都是</a:t>
            </a:r>
            <a:r>
              <a:rPr lang="en-US" altLang="zh-CN"/>
              <a:t>6</a:t>
            </a:r>
            <a:r>
              <a:rPr lang="zh-CN" altLang="en-US"/>
              <a:t>个账号里面最优质的</a:t>
            </a:r>
            <a:endParaRPr lang="zh-CN" altLang="en-US"/>
          </a:p>
          <a:p>
            <a:r>
              <a:rPr lang="zh-CN" altLang="en-US"/>
              <a:t>目前内容主要分为</a:t>
            </a:r>
            <a:r>
              <a:rPr lang="en-US" altLang="zh-CN"/>
              <a:t>3</a:t>
            </a:r>
            <a:r>
              <a:rPr lang="zh-CN" altLang="en-US"/>
              <a:t>个类型</a:t>
            </a:r>
            <a:r>
              <a:rPr lang="en-US" altLang="zh-CN"/>
              <a:t>：</a:t>
            </a:r>
            <a:br>
              <a:rPr lang="en-US" altLang="zh-CN"/>
            </a:br>
            <a:r>
              <a:rPr lang="en-US" altLang="zh-CN"/>
              <a:t>1</a:t>
            </a:r>
            <a:r>
              <a:rPr lang="zh-CN" altLang="en-US"/>
              <a:t>是演唱会</a:t>
            </a:r>
            <a:r>
              <a:rPr lang="en-US" altLang="zh-CN"/>
              <a:t>，</a:t>
            </a:r>
            <a:r>
              <a:rPr lang="zh-CN" altLang="en-US"/>
              <a:t>主要依靠明星</a:t>
            </a:r>
            <a:r>
              <a:rPr lang="en-US" altLang="zh-CN"/>
              <a:t>IP</a:t>
            </a:r>
            <a:r>
              <a:rPr lang="zh-CN" altLang="en-US"/>
              <a:t>和舞台画面获得大量流量</a:t>
            </a:r>
            <a:r>
              <a:rPr lang="en-US" altLang="zh-CN"/>
              <a:t>，</a:t>
            </a:r>
            <a:r>
              <a:rPr lang="zh-CN" altLang="en-US"/>
              <a:t>年初拍摄的五月天演唱会获得单条最高播放</a:t>
            </a:r>
            <a:r>
              <a:rPr lang="en-US" altLang="zh-CN"/>
              <a:t>128</a:t>
            </a:r>
            <a:r>
              <a:rPr lang="zh-CN" altLang="en-US"/>
              <a:t>万</a:t>
            </a:r>
            <a:br>
              <a:rPr lang="zh-CN" altLang="en-US"/>
            </a:br>
            <a:r>
              <a:rPr lang="en-US" altLang="zh-CN"/>
              <a:t>2</a:t>
            </a:r>
            <a:r>
              <a:rPr lang="zh-CN" altLang="en-US"/>
              <a:t>是影像对比</a:t>
            </a:r>
            <a:r>
              <a:rPr lang="en-US" altLang="zh-CN"/>
              <a:t>，</a:t>
            </a:r>
            <a:r>
              <a:rPr lang="zh-CN" altLang="en-US"/>
              <a:t>包括新品单机</a:t>
            </a:r>
            <a:r>
              <a:rPr lang="en-US" altLang="zh-CN"/>
              <a:t>、</a:t>
            </a:r>
            <a:r>
              <a:rPr lang="zh-CN" altLang="en-US"/>
              <a:t>双机对决</a:t>
            </a:r>
            <a:r>
              <a:rPr lang="en-US" altLang="zh-CN"/>
              <a:t>、</a:t>
            </a:r>
            <a:r>
              <a:rPr lang="zh-CN" altLang="en-US"/>
              <a:t>多机横评几个类型</a:t>
            </a:r>
            <a:r>
              <a:rPr lang="en-US" altLang="zh-CN"/>
              <a:t>，</a:t>
            </a:r>
            <a:r>
              <a:rPr>
                <a:solidFill>
                  <a:srgbClr val="101828"/>
                </a:solidFill>
                <a:latin typeface="vivo Sans" panose="02000300000000000000" charset="-122"/>
                <a:ea typeface="vivo Sans" panose="02000300000000000000" charset="-122"/>
                <a:cs typeface="vivo Sans" panose="02000300000000000000" charset="-122"/>
                <a:sym typeface="+mn-ea"/>
              </a:rPr>
              <a:t>华米果蓝绿旗舰影像对比</a:t>
            </a:r>
            <a:r>
              <a:rPr lang="en-US">
                <a:solidFill>
                  <a:srgbClr val="101828"/>
                </a:solidFill>
                <a:latin typeface="vivo Sans" panose="02000300000000000000" charset="-122"/>
                <a:ea typeface="vivo Sans" panose="02000300000000000000" charset="-122"/>
                <a:cs typeface="vivo Sans" panose="02000300000000000000" charset="-122"/>
                <a:sym typeface="+mn-ea"/>
              </a:rPr>
              <a:t>，</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单挑最高播放</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71</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万</a:t>
            </a:r>
            <a:br>
              <a:rPr lang="zh-CN" altLang="en-US">
                <a:solidFill>
                  <a:srgbClr val="101828"/>
                </a:solidFill>
                <a:latin typeface="vivo Sans" panose="02000300000000000000" charset="-122"/>
                <a:ea typeface="vivo Sans" panose="02000300000000000000" charset="-122"/>
                <a:cs typeface="vivo Sans" panose="02000300000000000000" charset="-122"/>
                <a:sym typeface="+mn-ea"/>
              </a:rPr>
            </a:b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最后是拍摄技巧功能展示类型</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挖掘一些热门拍摄形式和技巧</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分享教程或成像展现</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最近刚做完的</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X300 E</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调色盘就是</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1</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个典型之一</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发布两天</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播放量就突破了</a:t>
            </a:r>
            <a:r>
              <a:rPr lang="en-US" altLang="zh-CN">
                <a:solidFill>
                  <a:srgbClr val="101828"/>
                </a:solidFill>
                <a:latin typeface="vivo Sans" panose="02000300000000000000" charset="-122"/>
                <a:ea typeface="vivo Sans" panose="02000300000000000000" charset="-122"/>
                <a:cs typeface="vivo Sans" panose="02000300000000000000" charset="-122"/>
                <a:sym typeface="+mn-ea"/>
              </a:rPr>
              <a:t>20w，</a:t>
            </a:r>
            <a:r>
              <a:rPr lang="zh-CN" altLang="en-US">
                <a:solidFill>
                  <a:srgbClr val="101828"/>
                </a:solidFill>
                <a:latin typeface="vivo Sans" panose="02000300000000000000" charset="-122"/>
                <a:ea typeface="vivo Sans" panose="02000300000000000000" charset="-122"/>
                <a:cs typeface="vivo Sans" panose="02000300000000000000" charset="-122"/>
                <a:sym typeface="+mn-ea"/>
              </a:rPr>
              <a:t>数据增长持续了一周以上</a:t>
            </a:r>
            <a:br>
              <a:rPr lang="zh-CN" altLang="en-US">
                <a:solidFill>
                  <a:srgbClr val="101828"/>
                </a:solidFill>
                <a:latin typeface="vivo Sans" panose="02000300000000000000" charset="-122"/>
                <a:ea typeface="vivo Sans" panose="02000300000000000000" charset="-122"/>
                <a:cs typeface="vivo Sans" panose="02000300000000000000" charset="-122"/>
                <a:sym typeface="+mn-ea"/>
              </a:rPr>
            </a:br>
            <a:endParaRPr lang="zh-CN" altLang="en-US">
              <a:solidFill>
                <a:srgbClr val="101828"/>
              </a:solidFill>
              <a:latin typeface="vivo Sans" panose="02000300000000000000" charset="-122"/>
              <a:ea typeface="vivo Sans" panose="02000300000000000000" charset="-122"/>
              <a:cs typeface="vivo Sans" panose="02000300000000000000" charset="-122"/>
              <a:sym typeface="+mn-ea"/>
            </a:endParaRPr>
          </a:p>
          <a:p>
            <a:r>
              <a:rPr lang="zh-CN"/>
              <a:t>虽然整体看起来</a:t>
            </a:r>
            <a:r>
              <a:rPr lang="en-US" altLang="zh-CN"/>
              <a:t>，</a:t>
            </a:r>
            <a:r>
              <a:rPr lang="zh-CN" altLang="en-US"/>
              <a:t>账号的数据表现很稳定也很健康</a:t>
            </a:r>
            <a:r>
              <a:rPr lang="en-US" altLang="zh-CN"/>
              <a:t>，</a:t>
            </a:r>
            <a:r>
              <a:rPr lang="zh-CN" altLang="en-US"/>
              <a:t>但我们通过看旁边的数据趋势就会发现</a:t>
            </a:r>
            <a:r>
              <a:rPr lang="en-US" altLang="zh-CN"/>
              <a:t>：</a:t>
            </a:r>
            <a:r>
              <a:rPr lang="zh-CN" altLang="en-US"/>
              <a:t>账号在</a:t>
            </a:r>
            <a:r>
              <a:rPr lang="en-US" altLang="zh-CN"/>
              <a:t>4 5 </a:t>
            </a:r>
            <a:r>
              <a:rPr lang="zh-CN" altLang="en-US"/>
              <a:t>月其实</a:t>
            </a:r>
            <a:r>
              <a:rPr lang="zh-CN" altLang="en-US"/>
              <a:t>是经历了巨大回落</a:t>
            </a:r>
            <a:br>
              <a:rPr lang="zh-CN" altLang="en-US"/>
            </a:br>
            <a:r>
              <a:rPr lang="zh-CN" altLang="en-US"/>
              <a:t>我们先说峰值最高的</a:t>
            </a:r>
            <a:r>
              <a:rPr lang="en-US" altLang="zh-CN"/>
              <a:t>1</a:t>
            </a:r>
            <a:r>
              <a:rPr lang="zh-CN" altLang="en-US"/>
              <a:t>月</a:t>
            </a:r>
            <a:r>
              <a:rPr lang="en-US" altLang="zh-CN"/>
              <a:t>，</a:t>
            </a:r>
            <a:r>
              <a:rPr lang="zh-CN" altLang="en-US"/>
              <a:t>当时凭借邓紫棋和五月天的演唱会内容快速拉起了账号的播放数据</a:t>
            </a:r>
            <a:br>
              <a:rPr lang="zh-CN" altLang="en-US"/>
            </a:br>
            <a:r>
              <a:rPr lang="en-US" altLang="zh-CN"/>
              <a:t>2</a:t>
            </a:r>
            <a:r>
              <a:rPr lang="zh-CN" altLang="en-US"/>
              <a:t>月和</a:t>
            </a:r>
            <a:r>
              <a:rPr lang="en-US" altLang="zh-CN"/>
              <a:t>3</a:t>
            </a:r>
            <a:r>
              <a:rPr lang="zh-CN" altLang="en-US"/>
              <a:t>月兼顾着演唱会和日常内容的更新</a:t>
            </a:r>
            <a:r>
              <a:rPr lang="en-US" altLang="zh-CN"/>
              <a:t>，</a:t>
            </a:r>
            <a:r>
              <a:rPr lang="zh-CN" altLang="en-US"/>
              <a:t>所以数据还是维持稳定</a:t>
            </a:r>
            <a:br>
              <a:rPr lang="zh-CN" altLang="en-US"/>
            </a:br>
            <a:r>
              <a:rPr lang="en-US" altLang="zh-CN"/>
              <a:t>4</a:t>
            </a:r>
            <a:r>
              <a:rPr lang="zh-CN" altLang="en-US"/>
              <a:t>月</a:t>
            </a:r>
            <a:r>
              <a:rPr lang="en-US" altLang="zh-CN"/>
              <a:t> 5</a:t>
            </a:r>
            <a:r>
              <a:rPr lang="zh-CN" altLang="en-US"/>
              <a:t>月基本没有演唱会内容的产出</a:t>
            </a:r>
            <a:r>
              <a:rPr lang="en-US" altLang="zh-CN"/>
              <a:t>，</a:t>
            </a:r>
            <a:r>
              <a:rPr lang="zh-CN" altLang="en-US"/>
              <a:t>导致数据回落严重</a:t>
            </a:r>
            <a:r>
              <a:rPr lang="en-US" altLang="zh-CN"/>
              <a:t>，</a:t>
            </a:r>
            <a:r>
              <a:rPr lang="zh-CN" altLang="en-US"/>
              <a:t>同时</a:t>
            </a:r>
            <a:r>
              <a:rPr lang="en-US" altLang="zh-CN"/>
              <a:t>，</a:t>
            </a:r>
            <a:r>
              <a:rPr lang="zh-CN" altLang="en-US"/>
              <a:t>在这个阶段账号进行大量的品牌内容产出</a:t>
            </a:r>
            <a:r>
              <a:rPr lang="en-US" altLang="zh-CN"/>
              <a:t>，</a:t>
            </a:r>
            <a:r>
              <a:rPr lang="zh-CN" altLang="en-US"/>
              <a:t>含</a:t>
            </a:r>
            <a:r>
              <a:rPr lang="en-US" altLang="zh-CN"/>
              <a:t>v</a:t>
            </a:r>
            <a:r>
              <a:rPr lang="zh-CN" altLang="en-US"/>
              <a:t>比重也是在这个阶段开始失去平衡的</a:t>
            </a:r>
            <a:r>
              <a:rPr lang="en-US" altLang="zh-CN"/>
              <a:t>，</a:t>
            </a:r>
            <a:r>
              <a:rPr lang="zh-CN" altLang="en-US"/>
              <a:t>平台开始对大量内容进行限流</a:t>
            </a:r>
            <a:br>
              <a:rPr lang="zh-CN" altLang="en-US"/>
            </a:br>
            <a:r>
              <a:rPr lang="en-US" altLang="zh-CN"/>
              <a:t>6</a:t>
            </a:r>
            <a:r>
              <a:rPr lang="zh-CN" altLang="en-US"/>
              <a:t>月和</a:t>
            </a:r>
            <a:r>
              <a:rPr lang="en-US" altLang="zh-CN"/>
              <a:t>7</a:t>
            </a:r>
            <a:r>
              <a:rPr lang="zh-CN" altLang="en-US"/>
              <a:t>月虽然明显开始回升</a:t>
            </a:r>
            <a:r>
              <a:rPr lang="en-US" altLang="zh-CN"/>
              <a:t>，</a:t>
            </a:r>
            <a:r>
              <a:rPr lang="zh-CN" altLang="en-US"/>
              <a:t>但只要有关于咱们自己品牌露出的内容</a:t>
            </a:r>
            <a:r>
              <a:rPr lang="en-US" altLang="zh-CN"/>
              <a:t>，</a:t>
            </a:r>
            <a:r>
              <a:rPr lang="zh-CN" altLang="en-US"/>
              <a:t>就会收到平台的明确限流提醒</a:t>
            </a:r>
            <a:r>
              <a:rPr lang="en-US" altLang="zh-CN"/>
              <a:t>，</a:t>
            </a:r>
            <a:r>
              <a:rPr lang="zh-CN" altLang="en-US"/>
              <a:t>比如咱们前段时间拍摄的歌手</a:t>
            </a:r>
            <a:r>
              <a:rPr lang="en-US" altLang="zh-CN"/>
              <a:t>，</a:t>
            </a:r>
            <a:r>
              <a:rPr lang="zh-CN" altLang="en-US"/>
              <a:t>甚至连阿如那那条</a:t>
            </a:r>
            <a:r>
              <a:rPr lang="en-US" altLang="zh-CN"/>
              <a:t>，</a:t>
            </a:r>
            <a:r>
              <a:rPr lang="zh-CN" altLang="en-US"/>
              <a:t>都被明确提醒</a:t>
            </a:r>
            <a:br>
              <a:rPr lang="zh-CN" altLang="en-US"/>
            </a:br>
            <a:r>
              <a:rPr lang="zh-CN" altLang="en-US"/>
              <a:t>所以</a:t>
            </a:r>
            <a:r>
              <a:rPr lang="en-US" altLang="zh-CN"/>
              <a:t>，</a:t>
            </a:r>
            <a:r>
              <a:rPr lang="zh-CN" altLang="en-US"/>
              <a:t>后续我们会时刻留意内容比重</a:t>
            </a:r>
            <a:r>
              <a:rPr lang="en-US" altLang="zh-CN"/>
              <a:t>，</a:t>
            </a:r>
            <a:r>
              <a:rPr lang="zh-CN" altLang="en-US"/>
              <a:t>完成咱们自己品牌内容产出的同时</a:t>
            </a:r>
            <a:r>
              <a:rPr lang="en-US" altLang="zh-CN"/>
              <a:t>，</a:t>
            </a:r>
            <a:r>
              <a:rPr lang="zh-CN" altLang="en-US"/>
              <a:t>对于内容的表达进行克制</a:t>
            </a:r>
            <a:r>
              <a:rPr lang="en-US" altLang="zh-CN"/>
              <a:t>，</a:t>
            </a:r>
            <a:r>
              <a:rPr lang="zh-CN" altLang="en-US"/>
              <a:t>并且增加其他品牌内容的同期交叉产出</a:t>
            </a:r>
            <a:r>
              <a:rPr lang="en-US" altLang="zh-CN"/>
              <a:t>，</a:t>
            </a:r>
            <a:r>
              <a:rPr lang="zh-CN" altLang="en-US"/>
              <a:t>降低营销风险</a:t>
            </a:r>
            <a:r>
              <a:rPr lang="en-US" altLang="zh-CN"/>
              <a:t>。</a:t>
            </a:r>
            <a:endParaRPr lang="en-US" altLang="zh-CN"/>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通过</a:t>
            </a:r>
            <a:r>
              <a:rPr lang="en-US"/>
              <a:t>TOP5爆款内容</a:t>
            </a:r>
            <a:r>
              <a:rPr lang="zh-CN" altLang="en-US"/>
              <a:t>我们会发现</a:t>
            </a:r>
            <a:r>
              <a:rPr lang="en-US"/>
              <a:t>，80%是演唱会短频对比，剩下20%是深度长评，</a:t>
            </a:r>
            <a:endParaRPr lang="en-US"/>
          </a:p>
          <a:p>
            <a:r>
              <a:rPr lang="zh-CN" altLang="en-US"/>
              <a:t>这些优质爆款的</a:t>
            </a:r>
            <a:r>
              <a:rPr lang="en-US"/>
              <a:t>规律</a:t>
            </a:r>
            <a:r>
              <a:rPr lang="zh-CN" altLang="en-US"/>
              <a:t>和共性也</a:t>
            </a:r>
            <a:r>
              <a:rPr lang="en-US"/>
              <a:t>非常清晰：1</a:t>
            </a:r>
            <a:r>
              <a:rPr lang="zh-CN" altLang="en-US"/>
              <a:t>方面是演唱会明星自带流量</a:t>
            </a:r>
            <a:r>
              <a:rPr lang="en-US" altLang="zh-CN"/>
              <a:t>，</a:t>
            </a:r>
            <a:r>
              <a:rPr lang="zh-CN" altLang="en-US"/>
              <a:t>另一方面是热门机型和阵营对决引发用户战队和讨论</a:t>
            </a:r>
            <a:r>
              <a:rPr lang="en-US" altLang="zh-CN"/>
              <a:t>，20</a:t>
            </a:r>
            <a:r>
              <a:rPr lang="zh-CN" altLang="en-US"/>
              <a:t>秒左右时长的内容数据爆发会更高</a:t>
            </a:r>
            <a:endParaRPr lang="zh-CN" altLang="en-US"/>
          </a:p>
          <a:p>
            <a:endParaRPr lang="zh-CN" altLang="en-US"/>
          </a:p>
          <a:p>
            <a:r>
              <a:rPr lang="zh-CN" altLang="en-US"/>
              <a:t>也正是因为这样内容组合</a:t>
            </a:r>
            <a:r>
              <a:rPr lang="en-US" altLang="zh-CN"/>
              <a:t>，</a:t>
            </a:r>
            <a:r>
              <a:rPr lang="zh-CN" altLang="en-US"/>
              <a:t>形成了目前账号的核心优势</a:t>
            </a:r>
            <a:r>
              <a:rPr lang="en-US" altLang="zh-CN"/>
              <a:t>：</a:t>
            </a:r>
            <a:br>
              <a:rPr lang="en-US"/>
            </a:br>
            <a:r>
              <a:rPr lang="en-US"/>
              <a:t>1</a:t>
            </a:r>
            <a:r>
              <a:rPr lang="zh-CN" altLang="en-US"/>
              <a:t>是作为平台独家演唱会场景实测账号</a:t>
            </a:r>
            <a:r>
              <a:rPr lang="en-US" altLang="zh-CN"/>
              <a:t>，</a:t>
            </a:r>
            <a:r>
              <a:rPr lang="en-US"/>
              <a:t>更能</a:t>
            </a:r>
            <a:r>
              <a:rPr lang="zh-CN" altLang="en-US"/>
              <a:t>吸引</a:t>
            </a:r>
            <a:r>
              <a:rPr lang="en-US"/>
              <a:t>用户；</a:t>
            </a:r>
            <a:endParaRPr lang="en-US"/>
          </a:p>
          <a:p>
            <a:r>
              <a:rPr lang="en-US"/>
              <a:t>2</a:t>
            </a:r>
            <a:r>
              <a:rPr lang="zh-CN" altLang="en-US"/>
              <a:t>是</a:t>
            </a:r>
            <a:r>
              <a:rPr lang="en-US"/>
              <a:t>多机同场</a:t>
            </a:r>
            <a:r>
              <a:rPr lang="zh-CN" altLang="en-US"/>
              <a:t>视觉强对比</a:t>
            </a:r>
            <a:r>
              <a:rPr lang="en-US"/>
              <a:t>，观众一眼看懂好坏，</a:t>
            </a:r>
            <a:r>
              <a:rPr lang="zh-CN" altLang="en-US"/>
              <a:t>引发阵营战队</a:t>
            </a:r>
            <a:r>
              <a:rPr lang="en-US"/>
              <a:t>；</a:t>
            </a:r>
            <a:endParaRPr lang="en-US"/>
          </a:p>
          <a:p>
            <a:r>
              <a:rPr lang="en-US"/>
              <a:t>3</a:t>
            </a:r>
            <a:r>
              <a:rPr lang="zh-CN" altLang="en-US"/>
              <a:t>是</a:t>
            </a:r>
            <a:r>
              <a:rPr lang="en-US"/>
              <a:t>反差感标题降低</a:t>
            </a:r>
            <a:r>
              <a:rPr lang="zh-CN" altLang="en-US"/>
              <a:t>了</a:t>
            </a:r>
            <a:r>
              <a:rPr lang="en-US"/>
              <a:t>点击门槛，</a:t>
            </a:r>
            <a:r>
              <a:rPr lang="zh-CN" altLang="en-US"/>
              <a:t>整体点击率拉高</a:t>
            </a:r>
            <a:r>
              <a:rPr lang="en-US"/>
              <a:t>。</a:t>
            </a:r>
            <a:br>
              <a:rPr lang="en-US"/>
            </a:br>
            <a:r>
              <a:rPr lang="zh-CN" altLang="en-US"/>
              <a:t>与此同时发展瓶颈也很明显</a:t>
            </a:r>
            <a:r>
              <a:rPr lang="en-US" altLang="zh-CN"/>
              <a:t>：</a:t>
            </a:r>
            <a:br>
              <a:rPr lang="en-US" altLang="zh-CN"/>
            </a:br>
            <a:r>
              <a:rPr lang="zh-CN" altLang="en-US"/>
              <a:t>结合我们刚才看到的成长趋势就会发现</a:t>
            </a:r>
            <a:r>
              <a:rPr lang="en-US" altLang="zh-CN"/>
              <a:t>：</a:t>
            </a:r>
            <a:br>
              <a:rPr lang="en-US" altLang="zh-CN"/>
            </a:br>
            <a:r>
              <a:rPr lang="zh-CN" altLang="en-US"/>
              <a:t>内容的高流量密码高度捆绑演唱会明星热点</a:t>
            </a:r>
            <a:r>
              <a:rPr lang="en-US" altLang="zh-CN"/>
              <a:t>，</a:t>
            </a:r>
            <a:r>
              <a:rPr lang="zh-CN" altLang="en-US"/>
              <a:t>依赖性很高</a:t>
            </a:r>
            <a:r>
              <a:rPr lang="en-US" altLang="zh-CN"/>
              <a:t>；</a:t>
            </a:r>
            <a:r>
              <a:rPr lang="zh-CN" altLang="en-US"/>
              <a:t>日常内容具有营销性风险，极其容易引发平台限流</a:t>
            </a:r>
            <a:r>
              <a:rPr lang="en-US" altLang="zh-CN"/>
              <a:t>；</a:t>
            </a:r>
            <a:r>
              <a:rPr lang="zh-CN" altLang="en-US"/>
              <a:t>用户粘性不足</a:t>
            </a:r>
            <a:r>
              <a:rPr lang="en-US" altLang="zh-CN"/>
              <a:t>，</a:t>
            </a:r>
            <a:r>
              <a:rPr lang="zh-CN" altLang="en-US"/>
              <a:t>且面向人群比较宽泛</a:t>
            </a:r>
            <a:r>
              <a:rPr lang="en-US" altLang="zh-CN"/>
              <a:t>。</a:t>
            </a:r>
            <a:br>
              <a:rPr lang="en-US" altLang="zh-CN"/>
            </a:br>
            <a:r>
              <a:rPr lang="en-US"/>
              <a:t>
</a:t>
            </a:r>
            <a:r>
              <a:rPr lang="zh-CN" altLang="en-US"/>
              <a:t>所以根据目前账号的高爆内容规律</a:t>
            </a:r>
            <a:r>
              <a:rPr lang="en-US" altLang="zh-CN"/>
              <a:t>，</a:t>
            </a:r>
            <a:r>
              <a:rPr lang="zh-CN" altLang="en-US"/>
              <a:t>我们下一步想实现跨越增长</a:t>
            </a:r>
            <a:r>
              <a:rPr lang="en-US" altLang="zh-CN"/>
              <a:t>，</a:t>
            </a:r>
            <a:r>
              <a:rPr lang="zh-CN" altLang="en-US"/>
              <a:t>核心突破口在于精确流量入口</a:t>
            </a:r>
            <a:r>
              <a:rPr lang="en-US" altLang="zh-CN"/>
              <a:t>，</a:t>
            </a:r>
            <a:r>
              <a:rPr lang="zh-CN" altLang="en-US"/>
              <a:t>聚焦高难场景</a:t>
            </a:r>
            <a:r>
              <a:rPr lang="en-US" altLang="zh-CN"/>
              <a:t>，</a:t>
            </a:r>
            <a:r>
              <a:rPr lang="zh-CN" altLang="en-US"/>
              <a:t>把机型对比和阵营对决视觉化放大</a:t>
            </a:r>
            <a:r>
              <a:rPr lang="en-US" altLang="zh-CN"/>
              <a:t>。</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所以根据上半年的趋势和内容规律</a:t>
            </a:r>
            <a:r>
              <a:rPr lang="en-US" altLang="zh-CN"/>
              <a:t>，</a:t>
            </a:r>
            <a:r>
              <a:rPr lang="zh-CN" altLang="en-US"/>
              <a:t>我们在</a:t>
            </a:r>
            <a:r>
              <a:rPr lang="en-US" altLang="zh-CN"/>
              <a:t>H2</a:t>
            </a:r>
            <a:r>
              <a:rPr lang="zh-CN" altLang="en-US"/>
              <a:t>核心要解决的是</a:t>
            </a:r>
            <a:r>
              <a:rPr lang="en-US" altLang="zh-CN"/>
              <a:t>3</a:t>
            </a:r>
            <a:r>
              <a:rPr lang="zh-CN" altLang="en-US"/>
              <a:t>个问题</a:t>
            </a:r>
            <a:r>
              <a:rPr lang="en-US" altLang="zh-CN"/>
              <a:t>：</a:t>
            </a:r>
            <a:br>
              <a:rPr lang="en-US" altLang="zh-CN"/>
            </a:br>
            <a:r>
              <a:rPr lang="en-US" altLang="zh-CN"/>
              <a:t>1</a:t>
            </a:r>
            <a:r>
              <a:rPr lang="zh-CN" altLang="en-US"/>
              <a:t>是热点依赖</a:t>
            </a:r>
            <a:r>
              <a:rPr lang="en-US" altLang="zh-CN"/>
              <a:t>，</a:t>
            </a:r>
            <a:r>
              <a:rPr lang="zh-CN" altLang="en-US"/>
              <a:t>我们需要想清楚除了演唱会</a:t>
            </a:r>
            <a:r>
              <a:rPr lang="en-US" altLang="zh-CN"/>
              <a:t>，</a:t>
            </a:r>
            <a:r>
              <a:rPr lang="zh-CN" altLang="en-US"/>
              <a:t>日常场景如何优化</a:t>
            </a:r>
            <a:r>
              <a:rPr lang="en-US" altLang="zh-CN"/>
              <a:t>，</a:t>
            </a:r>
            <a:r>
              <a:rPr lang="zh-CN" altLang="en-US"/>
              <a:t>或者创新玩法</a:t>
            </a:r>
            <a:endParaRPr lang="zh-CN" altLang="en-US"/>
          </a:p>
          <a:p>
            <a:r>
              <a:rPr lang="en-US" altLang="zh-CN"/>
              <a:t>2</a:t>
            </a:r>
            <a:r>
              <a:rPr lang="zh-CN" altLang="en-US"/>
              <a:t>是流量池模糊</a:t>
            </a:r>
            <a:r>
              <a:rPr lang="en-US" altLang="zh-CN"/>
              <a:t>，</a:t>
            </a:r>
            <a:r>
              <a:rPr lang="zh-CN" altLang="en-US"/>
              <a:t>目前账号定位虽然清晰</a:t>
            </a:r>
            <a:r>
              <a:rPr lang="en-US" altLang="zh-CN"/>
              <a:t>，</a:t>
            </a:r>
            <a:r>
              <a:rPr lang="zh-CN" altLang="en-US"/>
              <a:t>就是专业的手机影像对比</a:t>
            </a:r>
            <a:r>
              <a:rPr lang="en-US" altLang="zh-CN"/>
              <a:t>，</a:t>
            </a:r>
            <a:r>
              <a:rPr lang="zh-CN" altLang="en-US"/>
              <a:t>但内容形式在深度专业和日常体验之间来回切换</a:t>
            </a:r>
            <a:r>
              <a:rPr lang="en-US" altLang="zh-CN"/>
              <a:t>，</a:t>
            </a:r>
            <a:r>
              <a:rPr lang="zh-CN" altLang="en-US"/>
              <a:t>比重失调</a:t>
            </a:r>
            <a:r>
              <a:rPr lang="en-US" altLang="zh-CN"/>
              <a:t>，</a:t>
            </a:r>
            <a:r>
              <a:rPr lang="zh-CN" altLang="en-US"/>
              <a:t>导致一直没有核心用户</a:t>
            </a:r>
            <a:endParaRPr lang="zh-CN" altLang="en-US"/>
          </a:p>
          <a:p>
            <a:r>
              <a:rPr lang="en-US" altLang="zh-CN"/>
              <a:t>3</a:t>
            </a:r>
            <a:r>
              <a:rPr lang="zh-CN" altLang="en-US"/>
              <a:t>是含</a:t>
            </a:r>
            <a:r>
              <a:rPr lang="en-US" altLang="zh-CN"/>
              <a:t>V</a:t>
            </a:r>
            <a:r>
              <a:rPr lang="zh-CN" altLang="en-US"/>
              <a:t>密度过高</a:t>
            </a:r>
            <a:r>
              <a:rPr lang="en-US" altLang="zh-CN"/>
              <a:t>，</a:t>
            </a:r>
            <a:r>
              <a:rPr lang="zh-CN" altLang="en-US"/>
              <a:t>导致内容限流比较严重</a:t>
            </a:r>
            <a:r>
              <a:rPr lang="en-US" altLang="zh-CN"/>
              <a:t>，</a:t>
            </a:r>
            <a:r>
              <a:rPr lang="zh-CN" altLang="en-US"/>
              <a:t>这也是后期账号数据没有明显增长的重要因素</a:t>
            </a:r>
            <a:br>
              <a:rPr lang="zh-CN" altLang="en-US"/>
            </a:br>
            <a:br>
              <a:rPr lang="zh-CN" altLang="en-US"/>
            </a:br>
            <a:r>
              <a:rPr lang="zh-CN" altLang="en-US"/>
              <a:t>所以针对这些问题</a:t>
            </a:r>
            <a:r>
              <a:rPr lang="en-US" altLang="zh-CN"/>
              <a:t>，</a:t>
            </a:r>
            <a:r>
              <a:rPr lang="zh-CN" altLang="en-US"/>
              <a:t>我们目前规划了账号的优化路径</a:t>
            </a:r>
            <a:r>
              <a:rPr lang="en-US" altLang="zh-CN"/>
              <a:t>：</a:t>
            </a:r>
            <a:endParaRPr lang="en-US" altLang="zh-CN"/>
          </a:p>
          <a:p>
            <a:r>
              <a:rPr lang="en-US"/>
              <a:t>第一步把账号定位改成手机现场影像体验官，用人设标签牢牢锁定垂直赛道。</a:t>
            </a:r>
            <a:endParaRPr lang="en-US"/>
          </a:p>
          <a:p>
            <a:r>
              <a:rPr lang="en-US"/>
              <a:t>第二步拓宽内容赛道，保留演唱会核心内容，新增日常高难度拍摄场景，打开新的流量空间。</a:t>
            </a:r>
            <a:endParaRPr lang="en-US"/>
          </a:p>
          <a:p>
            <a:r>
              <a:rPr lang="en-US"/>
              <a:t>第三步锚定明星IP和热门品牌两大流量入口，</a:t>
            </a:r>
            <a:r>
              <a:rPr lang="zh-CN" altLang="en-US"/>
              <a:t>提升内容曝光和用户互动</a:t>
            </a:r>
            <a:r>
              <a:rPr lang="en-US"/>
              <a:t>。</a:t>
            </a:r>
            <a:endParaRPr lang="en-US"/>
          </a:p>
          <a:p>
            <a:r>
              <a:rPr lang="en-US"/>
              <a:t>第四步调整内容逻辑，</a:t>
            </a:r>
            <a:r>
              <a:rPr lang="zh-CN" altLang="en-US"/>
              <a:t>视频的核心放在视觉表达</a:t>
            </a:r>
            <a:r>
              <a:rPr lang="en-US" altLang="zh-CN"/>
              <a:t>，</a:t>
            </a:r>
            <a:r>
              <a:rPr lang="en-US"/>
              <a:t>弱化</a:t>
            </a:r>
            <a:r>
              <a:rPr lang="zh-CN" altLang="en-US"/>
              <a:t>产品</a:t>
            </a:r>
            <a:r>
              <a:rPr lang="en-US"/>
              <a:t>参数，</a:t>
            </a:r>
            <a:r>
              <a:rPr lang="zh-CN" altLang="en-US"/>
              <a:t>让手机只作为工具</a:t>
            </a:r>
            <a:r>
              <a:rPr lang="en-US" altLang="zh-CN"/>
              <a:t>，</a:t>
            </a:r>
            <a:r>
              <a:rPr lang="zh-CN" altLang="en-US"/>
              <a:t>用成片引发用户猎奇和战队讨论</a:t>
            </a:r>
            <a:endParaRPr lang="en-US"/>
          </a:p>
          <a:p>
            <a:r>
              <a:rPr lang="en-US"/>
              <a:t>第五步</a:t>
            </a:r>
            <a:r>
              <a:rPr lang="zh-CN" altLang="en-US"/>
              <a:t>调整长短内容和场景内容比重</a:t>
            </a:r>
            <a:r>
              <a:rPr lang="en-US" altLang="zh-CN"/>
              <a:t>，</a:t>
            </a:r>
            <a:r>
              <a:rPr lang="zh-CN" altLang="en-US"/>
              <a:t>内容上保持每月一次演唱会拍摄</a:t>
            </a:r>
            <a:r>
              <a:rPr lang="en-US" altLang="zh-CN"/>
              <a:t>，</a:t>
            </a:r>
            <a:r>
              <a:rPr lang="zh-CN" altLang="en-US"/>
              <a:t>并周更内容保持</a:t>
            </a:r>
            <a:r>
              <a:rPr lang="en-US" altLang="zh-CN"/>
              <a:t>1</a:t>
            </a:r>
            <a:r>
              <a:rPr lang="zh-CN" altLang="en-US"/>
              <a:t>长</a:t>
            </a:r>
            <a:r>
              <a:rPr lang="en-US" altLang="zh-CN"/>
              <a:t>3</a:t>
            </a:r>
            <a:r>
              <a:rPr lang="zh-CN" altLang="en-US"/>
              <a:t>短</a:t>
            </a:r>
            <a:r>
              <a:rPr lang="en-US"/>
              <a:t>固定运营节奏，保持每周1长3短更新，</a:t>
            </a:r>
            <a:r>
              <a:rPr lang="zh-CN" altLang="en-US"/>
              <a:t>同时</a:t>
            </a:r>
            <a:r>
              <a:rPr lang="en-US"/>
              <a:t>控制品牌植入密度</a:t>
            </a:r>
            <a:r>
              <a:rPr lang="zh-CN" altLang="en-US"/>
              <a:t>和其他日常内容的加更</a:t>
            </a:r>
            <a:r>
              <a:rPr lang="en-US"/>
              <a:t>。
最终</a:t>
            </a:r>
            <a:r>
              <a:rPr lang="zh-CN" altLang="en-US"/>
              <a:t>希望能在</a:t>
            </a:r>
            <a:r>
              <a:rPr lang="en-US" altLang="zh-CN"/>
              <a:t>H2</a:t>
            </a:r>
            <a:r>
              <a:rPr lang="en-US"/>
              <a:t>实现三</a:t>
            </a:r>
            <a:r>
              <a:rPr lang="zh-CN" altLang="en-US"/>
              <a:t>个</a:t>
            </a:r>
            <a:r>
              <a:rPr lang="en-US"/>
              <a:t>目标，让流量入口更聚焦，打造可复制的爆款方法论，让vivo影像价值</a:t>
            </a:r>
            <a:r>
              <a:rPr lang="zh-CN" altLang="en-US"/>
              <a:t>传递更自然</a:t>
            </a:r>
            <a:r>
              <a:rPr lang="en-US"/>
              <a:t>。</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针对账号的内容比重和形式我们也初步规划和搜集了一些对标参考</a:t>
            </a:r>
            <a:br>
              <a:rPr lang="zh-CN" altLang="en-US"/>
            </a:br>
            <a:r>
              <a:rPr lang="zh-CN" altLang="en-US"/>
              <a:t>首先比重上</a:t>
            </a:r>
            <a:r>
              <a:rPr lang="en-US" altLang="zh-CN"/>
              <a:t>，</a:t>
            </a:r>
            <a:r>
              <a:rPr lang="zh-CN" altLang="en-US"/>
              <a:t>我们希望演唱会和日常各占一半</a:t>
            </a:r>
            <a:r>
              <a:rPr lang="en-US" altLang="zh-CN"/>
              <a:t>，</a:t>
            </a:r>
            <a:r>
              <a:rPr lang="zh-CN" altLang="en-US"/>
              <a:t>形成账号的固定栏目</a:t>
            </a:r>
            <a:endParaRPr lang="zh-CN" altLang="en-US"/>
          </a:p>
          <a:p>
            <a:br>
              <a:rPr lang="zh-CN" altLang="en-US"/>
            </a:br>
            <a:r>
              <a:rPr lang="zh-CN" altLang="en-US"/>
              <a:t>关于演唱会现场</a:t>
            </a:r>
            <a:r>
              <a:rPr lang="en-US" altLang="zh-CN"/>
              <a:t>，</a:t>
            </a:r>
            <a:r>
              <a:rPr lang="zh-CN" altLang="en-US"/>
              <a:t>目前我们做得多的是长短结合的组合形式</a:t>
            </a:r>
            <a:r>
              <a:rPr lang="en-US" altLang="zh-CN"/>
              <a:t>，</a:t>
            </a:r>
            <a:r>
              <a:rPr lang="zh-CN" altLang="en-US"/>
              <a:t>长视频负责专业参数解说和拍摄教学</a:t>
            </a:r>
            <a:r>
              <a:rPr lang="en-US" altLang="zh-CN"/>
              <a:t>，</a:t>
            </a:r>
            <a:r>
              <a:rPr lang="zh-CN" altLang="en-US"/>
              <a:t>短视频负责样张视频视觉展示</a:t>
            </a:r>
            <a:r>
              <a:rPr lang="en-US" altLang="zh-CN"/>
              <a:t>，</a:t>
            </a:r>
            <a:r>
              <a:rPr lang="zh-CN" altLang="en-US"/>
              <a:t>从数据上来看</a:t>
            </a:r>
            <a:r>
              <a:rPr lang="en-US" altLang="zh-CN"/>
              <a:t>，</a:t>
            </a:r>
            <a:r>
              <a:rPr lang="zh-CN" altLang="en-US"/>
              <a:t>最直接的视觉对比更有破圈潜力</a:t>
            </a:r>
            <a:br>
              <a:rPr lang="zh-CN" altLang="en-US"/>
            </a:br>
            <a:r>
              <a:rPr lang="zh-CN" altLang="en-US"/>
              <a:t>所以我们希望下一阶段强化视觉呈现</a:t>
            </a:r>
            <a:r>
              <a:rPr lang="en-US" altLang="zh-CN"/>
              <a:t>，</a:t>
            </a:r>
            <a:r>
              <a:rPr lang="zh-CN" altLang="en-US"/>
              <a:t>针对演唱会现场输出更吸引用户的内容</a:t>
            </a:r>
            <a:r>
              <a:rPr lang="en-US" altLang="zh-CN"/>
              <a:t>，</a:t>
            </a:r>
            <a:r>
              <a:rPr lang="zh-CN" altLang="en-US"/>
              <a:t>比如直拍纯享</a:t>
            </a:r>
            <a:r>
              <a:rPr lang="en-US" altLang="zh-CN"/>
              <a:t>、</a:t>
            </a:r>
            <a:r>
              <a:rPr lang="zh-CN" altLang="en-US"/>
              <a:t>精品放送</a:t>
            </a:r>
            <a:r>
              <a:rPr lang="en-US" altLang="zh-CN"/>
              <a:t>、</a:t>
            </a:r>
            <a:r>
              <a:rPr lang="zh-CN" altLang="en-US"/>
              <a:t>创意转场</a:t>
            </a:r>
            <a:r>
              <a:rPr lang="en-US" altLang="zh-CN"/>
              <a:t>、</a:t>
            </a:r>
            <a:r>
              <a:rPr lang="zh-CN" altLang="en-US"/>
              <a:t>视觉对比</a:t>
            </a:r>
            <a:r>
              <a:rPr lang="en-US" altLang="zh-CN"/>
              <a:t>，</a:t>
            </a:r>
            <a:r>
              <a:rPr lang="zh-CN" altLang="en-US"/>
              <a:t>多维度呈现手机拍摄下的爱豆</a:t>
            </a:r>
            <a:r>
              <a:rPr lang="en-US" altLang="zh-CN"/>
              <a:t>，</a:t>
            </a:r>
            <a:r>
              <a:rPr lang="zh-CN" altLang="en-US"/>
              <a:t>锁定粉丝群体</a:t>
            </a:r>
            <a:r>
              <a:rPr lang="en-US" altLang="zh-CN"/>
              <a:t>，</a:t>
            </a:r>
            <a:r>
              <a:rPr lang="zh-CN" altLang="en-US"/>
              <a:t>输出价值</a:t>
            </a:r>
            <a:br>
              <a:rPr lang="zh-CN" altLang="en-US"/>
            </a:br>
            <a:r>
              <a:rPr lang="zh-CN" altLang="en-US"/>
              <a:t>大家可以看看参考视频</a:t>
            </a:r>
            <a:r>
              <a:rPr lang="en-US" altLang="zh-CN"/>
              <a:t>，</a:t>
            </a:r>
            <a:r>
              <a:rPr lang="zh-CN" altLang="en-US"/>
              <a:t>这些内容都是抖音平台的</a:t>
            </a:r>
            <a:r>
              <a:rPr lang="en-US" altLang="zh-CN"/>
              <a:t>50w+</a:t>
            </a:r>
            <a:r>
              <a:rPr lang="zh-CN" altLang="en-US"/>
              <a:t>点赞的爆款内容</a:t>
            </a:r>
            <a:r>
              <a:rPr lang="en-US" altLang="zh-CN"/>
              <a:t>，</a:t>
            </a:r>
            <a:r>
              <a:rPr lang="zh-CN" altLang="en-US"/>
              <a:t>对于用户和粉丝来说，确实更具有收藏价值和</a:t>
            </a:r>
            <a:r>
              <a:rPr lang="zh-CN" altLang="en-US"/>
              <a:t>情绪互动</a:t>
            </a:r>
            <a:endParaRPr lang="zh-CN" altLang="en-US"/>
          </a:p>
          <a:p>
            <a:endParaRPr lang="en-US" altLang="en-US"/>
          </a:p>
          <a:p>
            <a:r>
              <a:rPr lang="zh-CN" altLang="en-US"/>
              <a:t>那么在日常现场的部份</a:t>
            </a:r>
            <a:r>
              <a:rPr lang="en-US" altLang="zh-CN"/>
              <a:t>，</a:t>
            </a:r>
            <a:r>
              <a:rPr lang="zh-CN" altLang="en-US"/>
              <a:t>我们希望可以做更能让用户快速感知的内容形式</a:t>
            </a:r>
            <a:r>
              <a:rPr lang="en-US" altLang="zh-CN"/>
              <a:t>，</a:t>
            </a:r>
            <a:r>
              <a:rPr lang="zh-CN" altLang="en-US"/>
              <a:t>弱化参数和说教</a:t>
            </a:r>
            <a:r>
              <a:rPr lang="en-US" altLang="zh-CN"/>
              <a:t>，</a:t>
            </a:r>
            <a:r>
              <a:rPr lang="zh-CN" altLang="en-US"/>
              <a:t>用实际体验引导用户决策和讨论</a:t>
            </a:r>
            <a:endParaRPr lang="zh-CN" altLang="en-US"/>
          </a:p>
          <a:p>
            <a:r>
              <a:rPr lang="zh-CN" altLang="en-US"/>
              <a:t>比如第一视角沉浸对比</a:t>
            </a:r>
            <a:r>
              <a:rPr lang="en-US" altLang="zh-CN"/>
              <a:t>，</a:t>
            </a:r>
            <a:r>
              <a:rPr lang="zh-CN" altLang="en-US"/>
              <a:t>单卖点垂直对比</a:t>
            </a:r>
            <a:r>
              <a:rPr lang="en-US" altLang="zh-CN"/>
              <a:t>，</a:t>
            </a:r>
            <a:r>
              <a:rPr lang="zh-CN" altLang="en-US"/>
              <a:t>高难现场直击</a:t>
            </a:r>
            <a:r>
              <a:rPr lang="en-US" altLang="zh-CN"/>
              <a:t>，</a:t>
            </a:r>
            <a:r>
              <a:rPr lang="zh-CN" altLang="en-US"/>
              <a:t>创意实测实验等</a:t>
            </a:r>
            <a:endParaRPr lang="zh-CN" altLang="en-US"/>
          </a:p>
          <a:p>
            <a:br>
              <a:rPr lang="zh-CN" altLang="en-US"/>
            </a:br>
            <a:r>
              <a:rPr lang="zh-CN" altLang="en-US"/>
              <a:t>通过这量大类型的内容组合</a:t>
            </a:r>
            <a:r>
              <a:rPr lang="en-US" altLang="zh-CN"/>
              <a:t>，</a:t>
            </a:r>
            <a:r>
              <a:rPr lang="zh-CN" altLang="en-US"/>
              <a:t>提升账号体验人设</a:t>
            </a:r>
            <a:r>
              <a:rPr lang="en-US" altLang="zh-CN"/>
              <a:t>，</a:t>
            </a:r>
            <a:r>
              <a:rPr lang="zh-CN" altLang="en-US"/>
              <a:t>不做距离感专家</a:t>
            </a:r>
            <a:r>
              <a:rPr lang="en-US" altLang="zh-CN"/>
              <a:t>，</a:t>
            </a:r>
            <a:r>
              <a:rPr lang="zh-CN" altLang="en-US"/>
              <a:t>转型做用户的体验工具人</a:t>
            </a:r>
            <a:br>
              <a:rPr lang="zh-CN" altLang="en-US"/>
            </a:br>
            <a:r>
              <a:rPr lang="zh-CN" altLang="en-US"/>
              <a:t>当然，手机影像专业评测并不是完全不做</a:t>
            </a:r>
            <a:r>
              <a:rPr lang="en-US" altLang="zh-CN"/>
              <a:t>，</a:t>
            </a:r>
            <a:r>
              <a:rPr lang="zh-CN" altLang="en-US"/>
              <a:t>只是相对减少内容比例</a:t>
            </a:r>
            <a:br>
              <a:rPr lang="zh-CN" altLang="en-US"/>
            </a:br>
            <a:br>
              <a:rPr lang="zh-CN" altLang="en-US"/>
            </a:br>
            <a:r>
              <a:rPr lang="zh-CN" altLang="en-US"/>
              <a:t>这就是目前我们关于影像账号的分析和升级</a:t>
            </a:r>
            <a:r>
              <a:rPr lang="zh-CN" altLang="en-US"/>
              <a:t>规划</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接着我们来看屏幕账号</a:t>
            </a:r>
            <a:r>
              <a:rPr lang="en-US" altLang="zh-CN"/>
              <a:t>，</a:t>
            </a:r>
            <a:r>
              <a:rPr lang="zh-CN" altLang="en-US"/>
              <a:t>目前屏幕所的平台表现和专业地位是所有账号中最稳定最具有爆发潜力的</a:t>
            </a:r>
            <a:endParaRPr lang="zh-CN" altLang="en-US"/>
          </a:p>
          <a:p>
            <a:r>
              <a:rPr lang="zh-CN" altLang="en-US">
                <a:sym typeface="+mn-ea"/>
              </a:rPr>
              <a:t>目前已经</a:t>
            </a:r>
            <a:r>
              <a:rPr lang="en-US">
                <a:sym typeface="+mn-ea"/>
              </a:rPr>
              <a:t>完成了初始的粉丝和信任基础沉淀，累计发布33条内容，吸引1.1万以上粉丝关注，爆款率达到16%。</a:t>
            </a:r>
            <a:br>
              <a:rPr lang="zh-CN" altLang="en-US"/>
            </a:br>
            <a:r>
              <a:rPr lang="en-US"/>
              <a:t>这个账号定位</a:t>
            </a:r>
            <a:r>
              <a:rPr lang="zh-CN" altLang="en-US"/>
              <a:t>非常</a:t>
            </a:r>
            <a:r>
              <a:rPr lang="en-US"/>
              <a:t>清晰</a:t>
            </a:r>
            <a:r>
              <a:rPr lang="zh-CN" altLang="en-US"/>
              <a:t>和垂直</a:t>
            </a:r>
            <a:r>
              <a:rPr lang="en-US"/>
              <a:t>，</a:t>
            </a:r>
            <a:r>
              <a:rPr lang="zh-CN" altLang="en-US"/>
              <a:t>只做</a:t>
            </a:r>
            <a:r>
              <a:rPr lang="en-US"/>
              <a:t>屏幕实测专家，</a:t>
            </a:r>
            <a:r>
              <a:rPr lang="zh-CN" altLang="en-US"/>
              <a:t>内容形式固定统一</a:t>
            </a:r>
            <a:r>
              <a:rPr lang="en-US" altLang="zh-CN"/>
              <a:t>，</a:t>
            </a:r>
            <a:r>
              <a:rPr lang="zh-CN" altLang="en-US"/>
              <a:t>从评测维度大概分为多机横评和单机实测</a:t>
            </a:r>
            <a:r>
              <a:rPr lang="en-US" altLang="zh-CN"/>
              <a:t>，</a:t>
            </a:r>
            <a:endParaRPr lang="en-US" altLang="zh-CN"/>
          </a:p>
          <a:p>
            <a:endParaRPr lang="en-US" altLang="zh-CN"/>
          </a:p>
          <a:p>
            <a:r>
              <a:rPr lang="zh-CN" altLang="en-US"/>
              <a:t>多机横屏里面最具有代表性的就是咱们在</a:t>
            </a:r>
            <a:r>
              <a:rPr lang="en-US" altLang="zh-CN"/>
              <a:t>7</a:t>
            </a:r>
            <a:r>
              <a:rPr lang="zh-CN" altLang="en-US"/>
              <a:t>月中做的七大杯终极</a:t>
            </a:r>
            <a:r>
              <a:rPr lang="en-US" altLang="zh-CN"/>
              <a:t>PK，</a:t>
            </a:r>
            <a:r>
              <a:rPr lang="zh-CN" altLang="en-US"/>
              <a:t>单挑播放去到了</a:t>
            </a:r>
            <a:r>
              <a:rPr lang="en-US" altLang="zh-CN"/>
              <a:t>65w</a:t>
            </a:r>
            <a:r>
              <a:rPr lang="zh-CN" altLang="en-US"/>
              <a:t>多</a:t>
            </a:r>
            <a:r>
              <a:rPr lang="en-US" altLang="zh-CN"/>
              <a:t>，</a:t>
            </a:r>
            <a:r>
              <a:rPr lang="zh-CN" altLang="en-US"/>
              <a:t>虽然从拍摄执行到成片花了接近</a:t>
            </a:r>
            <a:r>
              <a:rPr lang="en-US" altLang="zh-CN"/>
              <a:t>2</a:t>
            </a:r>
            <a:r>
              <a:rPr lang="zh-CN" altLang="en-US"/>
              <a:t>周的时间</a:t>
            </a:r>
            <a:r>
              <a:rPr lang="en-US" altLang="zh-CN"/>
              <a:t>，</a:t>
            </a:r>
            <a:endParaRPr lang="en-US" altLang="zh-CN"/>
          </a:p>
          <a:p>
            <a:r>
              <a:rPr lang="zh-CN" altLang="en-US"/>
              <a:t>过程中也十分感谢小白老师的专业建议</a:t>
            </a:r>
            <a:r>
              <a:rPr lang="en-US" altLang="zh-CN"/>
              <a:t>，</a:t>
            </a:r>
            <a:r>
              <a:rPr lang="zh-CN" altLang="en-US"/>
              <a:t>提醒我们在影片中优化评测打分逻辑</a:t>
            </a:r>
            <a:endParaRPr lang="zh-CN" altLang="en-US"/>
          </a:p>
          <a:p>
            <a:r>
              <a:rPr lang="zh-CN" altLang="en-US"/>
              <a:t>数据结果验证</a:t>
            </a:r>
            <a:r>
              <a:rPr lang="en-US" altLang="zh-CN"/>
              <a:t>，</a:t>
            </a:r>
            <a:r>
              <a:rPr lang="zh-CN" altLang="en-US"/>
              <a:t>标准化的评测维度和排名榜单确实更能吸引专业用户</a:t>
            </a:r>
            <a:endParaRPr lang="zh-CN" altLang="en-US"/>
          </a:p>
          <a:p>
            <a:endParaRPr lang="en-US" altLang="zh-CN"/>
          </a:p>
          <a:p>
            <a:r>
              <a:rPr lang="zh-CN" altLang="en-US"/>
              <a:t>单机实测的部份</a:t>
            </a:r>
            <a:r>
              <a:rPr lang="en-US" altLang="zh-CN"/>
              <a:t>，</a:t>
            </a:r>
            <a:r>
              <a:rPr lang="zh-CN" altLang="en-US"/>
              <a:t>主要做新机首测和经典热门机型的回顾评测</a:t>
            </a:r>
            <a:r>
              <a:rPr lang="en-US" altLang="zh-CN"/>
              <a:t>，</a:t>
            </a:r>
            <a:br>
              <a:rPr lang="en-US" altLang="zh-CN"/>
            </a:br>
            <a:r>
              <a:rPr lang="zh-CN" altLang="en-US"/>
              <a:t>最具有代表性的就是</a:t>
            </a:r>
            <a:r>
              <a:rPr lang="en-US" altLang="zh-CN"/>
              <a:t>Fold6</a:t>
            </a:r>
            <a:r>
              <a:rPr lang="zh-CN" altLang="en-US"/>
              <a:t>的首发实测</a:t>
            </a:r>
            <a:r>
              <a:rPr lang="en-US" altLang="zh-CN"/>
              <a:t>，</a:t>
            </a:r>
            <a:r>
              <a:rPr lang="zh-CN" altLang="en-US"/>
              <a:t>播放量破</a:t>
            </a:r>
            <a:r>
              <a:rPr lang="en-US" altLang="zh-CN"/>
              <a:t>50w+，</a:t>
            </a:r>
            <a:r>
              <a:rPr lang="zh-CN" altLang="en-US"/>
              <a:t>在发布会当天发布</a:t>
            </a:r>
            <a:r>
              <a:rPr lang="en-US" altLang="zh-CN"/>
              <a:t>，</a:t>
            </a:r>
            <a:r>
              <a:rPr lang="zh-CN" altLang="en-US"/>
              <a:t>踩中新品发布热点</a:t>
            </a:r>
            <a:endParaRPr lang="zh-CN" altLang="en-US"/>
          </a:p>
          <a:p>
            <a:endParaRPr lang="en-US" altLang="zh-CN"/>
          </a:p>
          <a:p>
            <a:r>
              <a:rPr lang="zh-CN" altLang="en-US"/>
              <a:t>我们可以通过趋势图看到</a:t>
            </a:r>
            <a:r>
              <a:rPr lang="en-US" altLang="zh-CN"/>
              <a:t>，</a:t>
            </a:r>
            <a:r>
              <a:rPr lang="zh-CN" altLang="en-US"/>
              <a:t>屏幕账号的增长</a:t>
            </a:r>
            <a:r>
              <a:rPr lang="en-US"/>
              <a:t>分为三个阶段，2月</a:t>
            </a:r>
            <a:r>
              <a:rPr lang="zh-CN" altLang="en-US"/>
              <a:t>正式启动</a:t>
            </a:r>
            <a:endParaRPr lang="en-US"/>
          </a:p>
          <a:p>
            <a:r>
              <a:rPr lang="en-US"/>
              <a:t>4月迎来数据爆发，曲面屏单</a:t>
            </a:r>
            <a:r>
              <a:rPr lang="zh-CN" altLang="en-US"/>
              <a:t>条</a:t>
            </a:r>
            <a:r>
              <a:rPr lang="en-US"/>
              <a:t>内容拉动流量快速增长。</a:t>
            </a:r>
            <a:endParaRPr lang="en-US"/>
          </a:p>
          <a:p>
            <a:r>
              <a:rPr lang="en-US"/>
              <a:t>5到7月进入波动增长期，新品首测加争议话题持续拉动粉丝增长。
</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屏幕赛道账号跑赢的数据，验证出清晰的爆款规律。</a:t>
            </a:r>
            <a:endParaRPr lang="en-US" altLang="en-US"/>
          </a:p>
          <a:p>
            <a:r>
              <a:rPr lang="en-US" altLang="en-US">
                <a:sym typeface="+mn-ea"/>
              </a:rPr>
              <a:t>争议话题搭配实测对比，</a:t>
            </a:r>
            <a:r>
              <a:rPr lang="zh-CN" altLang="en-US">
                <a:sym typeface="+mn-ea"/>
              </a:rPr>
              <a:t>是目前</a:t>
            </a:r>
            <a:r>
              <a:rPr lang="en-US" altLang="en-US">
                <a:sym typeface="+mn-ea"/>
              </a:rPr>
              <a:t>驱动账号增长的核心逻辑。</a:t>
            </a:r>
            <a:endParaRPr lang="en-US" altLang="en-US"/>
          </a:p>
          <a:p>
            <a:r>
              <a:rPr lang="en-US" altLang="en-US"/>
              <a:t>账号三大优势支撑初始增长，赛道定位清晰专业，争议内容天然激发用户讨论欲望，实打实的实测证据，更能强化用户对内容的信任。
当前增长暴露三个核心瓶颈，整体增长高度依赖新机发布和热点周期，垂直赛道受众范围太窄，限制日常流量入口，高播放内容的互动转化效果也不稳定。
我们总结出可复制的四句方法论：选准大小屏、频闪、护眼这类用户痛点，围绕苹果安卓对战这类热议品牌做内容，拿出同场实测数据给出明确结论，追准新机节点做稀缺实测。</a:t>
            </a: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内容升级围绕「硬核参数+多维视角」搭建新框架，六成内容保留专业实测底色。</a:t>
            </a:r>
            <a:endParaRPr lang="en-US" altLang="en-US"/>
          </a:p>
          <a:p>
            <a:r>
              <a:rPr lang="en-US" altLang="en-US"/>
              <a:t>拆解产品核心性能指标，用多维度数据化对比和严苛测试，还原产品最真实性能表现，给用户拿出客观可信赖的决策依据。
四成内容新增多维视角的场景沉浸表达。</a:t>
            </a:r>
            <a:endParaRPr lang="en-US" altLang="en-US"/>
          </a:p>
          <a:p>
            <a:r>
              <a:rPr lang="en-US" altLang="en-US"/>
              <a:t>完全从用户实际使用角度出发，展现产品在不同环境下的适配度与体验感，大大增强用户代入感。
多维视角内容分成两类，一类是贴合用户日常的场景体验，另一类是打破常规的创意实验。</a:t>
            </a:r>
            <a:endParaRPr lang="en-US" altLang="en-US"/>
          </a:p>
          <a:p>
            <a:r>
              <a:rPr lang="en-US" altLang="en-US"/>
              <a:t>我们对标行业头部账号的成熟玩法，衍生出创意实验、视觉对比、创意视觉三种具体表达形式，让专业内容既有干货度又有观赏性。</a:t>
            </a:r>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p>
          <a:p>
            <a:pPr marL="0" marR="0" lvl="0" indent="0" algn="l" defTabSz="914400">
              <a:lnSpc>
                <a:spcPct val="100000"/>
              </a:lnSpc>
              <a:spcBef>
                <a:spcPts val="0"/>
              </a:spcBef>
              <a:spcAft>
                <a:spcPts val="0"/>
              </a:spcAft>
              <a:buClrTx/>
              <a:buSzTx/>
              <a:buFontTx/>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这一页先看回声拆机少女的H1结果。账号已经完成冷启动，并形成清晰的内容定位。</a:t>
            </a:r>
          </a:p>
          <a:p>
            <a:r>
              <a:t>右侧两张趋势图分别呈现1—7月播放与粉丝变化，重点不是单月绝对值，而是识别增长由哪些内容节点驱动。</a:t>
            </a:r>
          </a:p>
          <a:p>
            <a:r>
              <a:t>左侧三张图是TOP3证据位，汇报前替换为完整发布页截图，确保账号名与互动数据同时露出。</a:t>
            </a:r>
          </a:p>
          <a:p>
            <a:r>
              <a:t>结论是定位已经被结果验证，下一步重点是降低单一热点或新品周期对增长的影响。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回声系统测评聚焦手机系统体验与功能挖掘，主打隐藏功能发掘、系统更新解读、实用技巧分享。</a:t>
            </a:r>
            <a:endParaRPr lang="en-US"/>
          </a:p>
          <a:p>
            <a:r>
              <a:rPr lang="en-US"/>
              <a:t>H1阶段顺利完成冷启动，累计沉淀1.1万精准粉丝，发布内容31条，覆盖新机功能解读、行业热点分析等方向。
项目启动期在1-2月，靠跟进系统热点完成初步定位验证。3月迎来明显增长，精准切入日常用机痛点的功能挖掘内容广受好评。4-7月内容数据出现波动后逐步回升，依靠系统更新和新机功能内容拉动增长。
账号产出的X Fold6</a:t>
            </a:r>
            <a:r>
              <a:rPr lang="zh-CN" altLang="en-US"/>
              <a:t>职场录音</a:t>
            </a:r>
            <a:r>
              <a:rPr lang="en-US"/>
              <a:t>相关视频，拿下B站180万+播放、4.7万互动，完播率高达54%。</a:t>
            </a:r>
            <a:endParaRPr lang="en-US"/>
          </a:p>
          <a:p>
            <a:r>
              <a:rPr lang="en-US"/>
              <a:t>验证出垂直账号突破流量池的核心规律：功能应用场景化加情绪化表达，是撬动流量的有效方式。</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第四个验证入口是面向数码热点内容的回声数码站。</a:t>
            </a:r>
            <a:endParaRPr lang="en-US"/>
          </a:p>
          <a:p>
            <a:r>
              <a:rPr lang="en-US"/>
              <a:t>目前账号沉淀粉丝6752位，累计发布67条内容，已经跑出三条播放破六万的爆款内容，一加降价拿下9.7万播放，小米流畅风波、vivo X300FE也分别拿到12.9万和6.8万播放。
账号增长路径清晰，2月启动用数据报告切入泛数码用户，5月靠新机和行业动态集中发布实现增长，6到7月依托销量、价格与争议话题重回增长轨道。
后续升级围绕三个核心方向展开。账号端强化数码热点速报站标签，赛道端新增数码快报和销量周榜两个固定栏目，流量端牢牢绑定价格、争议、销量这三个用户关注度最高的高频议题。</a:t>
            </a:r>
            <a:endParaRPr lang="en-US"/>
          </a:p>
          <a:p>
            <a:r>
              <a:rPr lang="en-US"/>
              <a:t>我们把账号从单纯的数据快报，转向动态资讯站，就能拿到更稳定的增长。</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198800" y="914400"/>
            <a:ext cx="9799200" cy="2570400"/>
          </a:xfrm>
        </p:spPr>
        <p:txBody>
          <a:bodyPr lIns="90000" tIns="46800" rIns="90000" bIns="46800" anchor="b">
            <a:normAutofit/>
          </a:bodyPr>
          <a:lstStyle>
            <a:lvl1pPr algn="ctr">
              <a:buNone/>
              <a:defRPr sz="6000"/>
            </a:lvl1pPr>
          </a:lstStyle>
          <a:p>
            <a:r>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16" name="日期占位符 15"/>
          <p:cNvSpPr>
            <a:spLocks noGrp="1"/>
          </p:cNvSpPr>
          <p:nvPr>
            <p:ph type="dt" idx="10"/>
          </p:nvPr>
        </p:nvSpPr>
        <p:spPr/>
        <p:txBody>
          <a:bodyPr/>
          <a:lstStyle/>
          <a:p/>
        </p:txBody>
      </p:sp>
      <p:sp>
        <p:nvSpPr>
          <p:cNvPr id="17" name="页脚占位符 16"/>
          <p:cNvSpPr>
            <a:spLocks noGrp="1"/>
          </p:cNvSpPr>
          <p:nvPr>
            <p:ph type="ftr" idx="11"/>
          </p:nvPr>
        </p:nvSpPr>
        <p:spPr/>
        <p:txBody>
          <a:bodyPr/>
          <a:lstStyle/>
          <a:p/>
        </p:txBody>
      </p:sp>
      <p:sp>
        <p:nvSpPr>
          <p:cNvPr id="18" name="灯片编号占位符 17"/>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hasCustomPrompt="1"/>
          </p:nvPr>
        </p:nvSpPr>
        <p:spPr>
          <a:xfrm>
            <a:off x="1990800" y="3848400"/>
            <a:ext cx="7768800" cy="766800"/>
          </a:xfrm>
        </p:spPr>
        <p:txBody>
          <a:bodyPr lIns="90000" tIns="46800" rIns="90000" bIns="46800" anchor="b">
            <a:normAutofit/>
          </a:bodyPr>
          <a:lstStyle>
            <a:lvl1pPr>
              <a:buNone/>
              <a:defRPr sz="4400"/>
            </a:lvl1pPr>
          </a:lstStyle>
          <a:p>
            <a:r>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单击此处编辑文本</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501200"/>
            <a:ext cx="5176800" cy="47484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411600" y="1501200"/>
            <a:ext cx="5176800" cy="4748400"/>
          </a:xfrm>
        </p:spPr>
        <p:txBody>
          <a:bodyPr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文本占位符 2"/>
          <p:cNvSpPr>
            <a:spLocks noGrp="1"/>
          </p:cNvSpPr>
          <p:nvPr>
            <p:ph type="body" idx="1" hasCustomPrompt="1"/>
          </p:nvPr>
        </p:nvSpPr>
        <p:spPr>
          <a:xfrm>
            <a:off x="608400" y="1404000"/>
            <a:ext cx="5342400" cy="414000"/>
          </a:xfrm>
        </p:spPr>
        <p:txBody>
          <a:bodyPr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4" name="内容占位符 3"/>
          <p:cNvSpPr>
            <a:spLocks noGrp="1"/>
          </p:cNvSpPr>
          <p:nvPr>
            <p:ph idx="2"/>
          </p:nvPr>
        </p:nvSpPr>
        <p:spPr>
          <a:xfrm>
            <a:off x="60840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235750" y="1404000"/>
            <a:ext cx="5342400" cy="414000"/>
          </a:xfrm>
        </p:spPr>
        <p:txBody>
          <a:bodyPr vert="horz"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6" name="内容占位符 5"/>
          <p:cNvSpPr>
            <a:spLocks noGrp="1"/>
          </p:cNvSpPr>
          <p:nvPr>
            <p:ph idx="4"/>
          </p:nvPr>
        </p:nvSpPr>
        <p:spPr>
          <a:xfrm>
            <a:off x="623575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p:sp>
        <p:nvSpPr>
          <p:cNvPr id="3" name="图片占位符 2"/>
          <p:cNvSpPr>
            <a:spLocks noGrp="1"/>
          </p:cNvSpPr>
          <p:nvPr>
            <p:ph type="pic" idx="1"/>
          </p:nvPr>
        </p:nvSpPr>
        <p:spPr>
          <a:xfrm>
            <a:off x="608400" y="1555200"/>
            <a:ext cx="5233077" cy="4608000"/>
          </a:xfrm>
        </p:spPr>
        <p:txBody>
          <a:bodyPr vert="horz" lIns="90000" tIns="46800" rIns="90000" bIns="46800">
            <a:normAutofit/>
          </a:bodyPr>
          <a:lstStyle>
            <a:lvl1pPr>
              <a:buNone/>
              <a:defRPr sz="1600"/>
            </a:lvl1pPr>
          </a:lstStyle>
          <a:p>
            <a:pPr lvl="0">
              <a:buNone/>
            </a:pPr>
          </a:p>
        </p:txBody>
      </p:sp>
      <p:sp>
        <p:nvSpPr>
          <p:cNvPr id="4" name="文本占位符 3"/>
          <p:cNvSpPr>
            <a:spLocks noGrp="1"/>
          </p:cNvSpPr>
          <p:nvPr>
            <p:ph type="body" idx="2"/>
          </p:nvPr>
        </p:nvSpPr>
        <p:spPr>
          <a:xfrm>
            <a:off x="6350400" y="1555200"/>
            <a:ext cx="5227200" cy="4608000"/>
          </a:xfrm>
        </p:spPr>
        <p:txBody>
          <a:bodyPr vert="horz" lIns="90000" tIns="46800" rIns="90000" bIns="46800">
            <a:normAutofit/>
          </a:bodyPr>
          <a:lstStyle>
            <a:lvl1pPr>
              <a:buNone/>
              <a:defRPr sz="1600"/>
            </a:lvl1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
        <p:nvSpPr>
          <p:cNvPr id="9" name="标题 8"/>
          <p:cNvSpPr>
            <a:spLocks noGrp="1"/>
          </p:cNvSpPr>
          <p:nvPr>
            <p:ph type="title"/>
          </p:nvPr>
        </p:nvSpPr>
        <p:spPr/>
        <p:txBody>
          <a:bodyPr/>
          <a:lstStyle/>
          <a:p>
            <a:r>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hasCustomPrompt="1"/>
          </p:nvPr>
        </p:nvSpPr>
        <p:spPr>
          <a:xfrm>
            <a:off x="10234800" y="914400"/>
            <a:ext cx="1044000" cy="5029200"/>
          </a:xfrm>
        </p:spPr>
        <p:txBody>
          <a:bodyPr vert="eaVert" lIns="90000" tIns="46800" rIns="90000" bIns="46800" anchor="ctr">
            <a:normAutofit/>
          </a:bodyPr>
          <a:lstStyle>
            <a:lvl1pPr>
              <a:buNone/>
              <a:defRPr sz="2800"/>
            </a:lvl1pPr>
          </a:lstStyle>
          <a:p>
            <a:pPr lvl="0">
              <a:buNone/>
            </a:pPr>
            <a:r>
              <a:t>单击此处编辑标题</a:t>
            </a:r>
          </a:p>
        </p:txBody>
      </p:sp>
      <p:sp>
        <p:nvSpPr>
          <p:cNvPr id="3"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08400" y="774000"/>
            <a:ext cx="10972800" cy="5482800"/>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2" name="标题 1"/>
          <p:cNvSpPr>
            <a:spLocks noGrp="1"/>
          </p:cNvSpPr>
          <p:nvPr>
            <p:ph type="title" hasCustomPrompt="1"/>
          </p:nvPr>
        </p:nvSpPr>
        <p:spPr>
          <a:xfrm>
            <a:off x="1198800" y="2397600"/>
            <a:ext cx="9799200" cy="1105200"/>
          </a:xfrm>
        </p:spPr>
        <p:txBody>
          <a:bodyPr vert="horz" lIns="90000" tIns="46800" rIns="90000" bIns="46800" anchor="t">
            <a:normAutofit/>
          </a:bodyPr>
          <a:lstStyle>
            <a:lvl1pPr algn="ctr">
              <a:buNone/>
              <a:defRPr sz="6000"/>
            </a:lvl1pPr>
          </a:lstStyle>
          <a:p>
            <a:pPr lvl="0">
              <a:buNone/>
            </a:pPr>
            <a:r>
              <a:t>单击此处编辑标题</a:t>
            </a:r>
          </a:p>
        </p:txBody>
      </p:sp>
      <p:sp>
        <p:nvSpPr>
          <p:cNvPr id="7" name="文本占位符 6"/>
          <p:cNvSpPr>
            <a:spLocks noGrp="1"/>
          </p:cNvSpPr>
          <p:nvPr>
            <p:ph type="body" idx="13"/>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buNone/>
            </a:pPr>
            <a:r>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p:sp>
        <p:nvSpPr>
          <p:cNvPr id="2" name="矩形 1"/>
          <p:cNvSpPr>
            <a:spLocks noGrp="1"/>
          </p:cNvSpPr>
          <p:nvPr/>
        </p:nvSpPr>
        <p:spPr>
          <a:xfrm>
            <a:off x="0" y="6769100"/>
            <a:ext cx="12192000" cy="88900"/>
          </a:xfrm>
          <a:prstGeom prst="rect">
            <a:avLst/>
          </a:prstGeom>
          <a:solidFill>
            <a:srgbClr val="425E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p:pic>
        <p:nvPicPr>
          <p:cNvPr id="2" name="图片 2"/>
          <p:cNvPicPr>
            <a:picLocks noChangeAspect="1"/>
          </p:cNvPicPr>
          <p:nvPr/>
        </p:nvPicPr>
        <p:blipFill rotWithShape="1">
          <a:blip r:embed="rId2"/>
          <a:srcRect l="10172" r="28795"/>
          <a:stretch>
            <a:fillRect/>
          </a:stretch>
        </p:blipFill>
        <p:spPr>
          <a:xfrm>
            <a:off x="0" y="0"/>
            <a:ext cx="12192000" cy="6858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198800" y="914400"/>
            <a:ext cx="9799200" cy="2570400"/>
          </a:xfrm>
        </p:spPr>
        <p:txBody>
          <a:bodyPr lIns="90000" tIns="46800" rIns="90000" bIns="46800" anchor="b">
            <a:normAutofit/>
          </a:bodyPr>
          <a:lstStyle>
            <a:lvl1pPr algn="ctr">
              <a:buNone/>
              <a:defRPr sz="6000"/>
            </a:lvl1pPr>
          </a:lstStyle>
          <a:p>
            <a:r>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16" name="日期占位符 15"/>
          <p:cNvSpPr>
            <a:spLocks noGrp="1"/>
          </p:cNvSpPr>
          <p:nvPr>
            <p:ph type="dt" idx="10"/>
          </p:nvPr>
        </p:nvSpPr>
        <p:spPr/>
        <p:txBody>
          <a:bodyPr/>
          <a:lstStyle/>
          <a:p/>
        </p:txBody>
      </p:sp>
      <p:sp>
        <p:nvSpPr>
          <p:cNvPr id="17" name="页脚占位符 16"/>
          <p:cNvSpPr>
            <a:spLocks noGrp="1"/>
          </p:cNvSpPr>
          <p:nvPr>
            <p:ph type="ftr" idx="11"/>
          </p:nvPr>
        </p:nvSpPr>
        <p:spPr/>
        <p:txBody>
          <a:bodyPr/>
          <a:lstStyle/>
          <a:p/>
        </p:txBody>
      </p:sp>
      <p:sp>
        <p:nvSpPr>
          <p:cNvPr id="18" name="灯片编号占位符 17"/>
          <p:cNvSpPr>
            <a:spLocks noGrp="1"/>
          </p:cNvSpPr>
          <p:nvPr>
            <p:ph type="sldNum" idx="12"/>
          </p:nvPr>
        </p:nvSpPr>
        <p:spPr/>
        <p:txBody>
          <a:body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hasCustomPrompt="1"/>
          </p:nvPr>
        </p:nvSpPr>
        <p:spPr>
          <a:xfrm>
            <a:off x="1990800" y="3848400"/>
            <a:ext cx="7768800" cy="766800"/>
          </a:xfrm>
        </p:spPr>
        <p:txBody>
          <a:bodyPr lIns="90000" tIns="46800" rIns="90000" bIns="46800" anchor="b">
            <a:normAutofit/>
          </a:bodyPr>
          <a:lstStyle>
            <a:lvl1pPr>
              <a:buNone/>
              <a:defRPr sz="4400"/>
            </a:lvl1pPr>
          </a:lstStyle>
          <a:p>
            <a:r>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单击此处编辑文本</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501200"/>
            <a:ext cx="5176800" cy="47484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411600" y="1501200"/>
            <a:ext cx="5176800" cy="4748400"/>
          </a:xfrm>
        </p:spPr>
        <p:txBody>
          <a:bodyPr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文本占位符 2"/>
          <p:cNvSpPr>
            <a:spLocks noGrp="1"/>
          </p:cNvSpPr>
          <p:nvPr>
            <p:ph type="body" idx="1" hasCustomPrompt="1"/>
          </p:nvPr>
        </p:nvSpPr>
        <p:spPr>
          <a:xfrm>
            <a:off x="608400" y="1404000"/>
            <a:ext cx="5342400" cy="414000"/>
          </a:xfrm>
        </p:spPr>
        <p:txBody>
          <a:bodyPr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4" name="内容占位符 3"/>
          <p:cNvSpPr>
            <a:spLocks noGrp="1"/>
          </p:cNvSpPr>
          <p:nvPr>
            <p:ph idx="2"/>
          </p:nvPr>
        </p:nvSpPr>
        <p:spPr>
          <a:xfrm>
            <a:off x="60840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235750" y="1404000"/>
            <a:ext cx="5342400" cy="414000"/>
          </a:xfrm>
        </p:spPr>
        <p:txBody>
          <a:bodyPr vert="horz"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6" name="内容占位符 5"/>
          <p:cNvSpPr>
            <a:spLocks noGrp="1"/>
          </p:cNvSpPr>
          <p:nvPr>
            <p:ph idx="4"/>
          </p:nvPr>
        </p:nvSpPr>
        <p:spPr>
          <a:xfrm>
            <a:off x="623575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p:sp>
        <p:nvSpPr>
          <p:cNvPr id="3" name="图片占位符 2"/>
          <p:cNvSpPr>
            <a:spLocks noGrp="1"/>
          </p:cNvSpPr>
          <p:nvPr>
            <p:ph type="pic" idx="1"/>
          </p:nvPr>
        </p:nvSpPr>
        <p:spPr>
          <a:xfrm>
            <a:off x="608400" y="1555200"/>
            <a:ext cx="5233077" cy="4608000"/>
          </a:xfrm>
        </p:spPr>
        <p:txBody>
          <a:bodyPr vert="horz" lIns="90000" tIns="46800" rIns="90000" bIns="46800">
            <a:normAutofit/>
          </a:bodyPr>
          <a:lstStyle>
            <a:lvl1pPr>
              <a:buNone/>
              <a:defRPr sz="1600"/>
            </a:lvl1pPr>
          </a:lstStyle>
          <a:p>
            <a:pPr lvl="0">
              <a:buNone/>
            </a:pPr>
          </a:p>
        </p:txBody>
      </p:sp>
      <p:sp>
        <p:nvSpPr>
          <p:cNvPr id="4" name="文本占位符 3"/>
          <p:cNvSpPr>
            <a:spLocks noGrp="1"/>
          </p:cNvSpPr>
          <p:nvPr>
            <p:ph type="body" idx="2"/>
          </p:nvPr>
        </p:nvSpPr>
        <p:spPr>
          <a:xfrm>
            <a:off x="6350400" y="1555200"/>
            <a:ext cx="5227200" cy="4608000"/>
          </a:xfrm>
        </p:spPr>
        <p:txBody>
          <a:bodyPr vert="horz" lIns="90000" tIns="46800" rIns="90000" bIns="46800">
            <a:normAutofit/>
          </a:bodyPr>
          <a:lstStyle>
            <a:lvl1pPr>
              <a:buNone/>
              <a:defRPr sz="1600"/>
            </a:lvl1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
        <p:nvSpPr>
          <p:cNvPr id="9" name="标题 8"/>
          <p:cNvSpPr>
            <a:spLocks noGrp="1"/>
          </p:cNvSpPr>
          <p:nvPr>
            <p:ph type="title"/>
          </p:nvPr>
        </p:nvSpPr>
        <p:spPr/>
        <p:txBody>
          <a:bodyPr/>
          <a:lstStyle/>
          <a:p>
            <a:r>
              <a:t>单击此处编辑母版标题样式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hasCustomPrompt="1"/>
          </p:nvPr>
        </p:nvSpPr>
        <p:spPr>
          <a:xfrm>
            <a:off x="10234800" y="914400"/>
            <a:ext cx="1044000" cy="5029200"/>
          </a:xfrm>
        </p:spPr>
        <p:txBody>
          <a:bodyPr vert="eaVert" lIns="90000" tIns="46800" rIns="90000" bIns="46800" anchor="ctr">
            <a:normAutofit/>
          </a:bodyPr>
          <a:lstStyle>
            <a:lvl1pPr>
              <a:buNone/>
              <a:defRPr sz="2800"/>
            </a:lvl1pPr>
          </a:lstStyle>
          <a:p>
            <a:pPr lvl="0">
              <a:buNone/>
            </a:pPr>
            <a:r>
              <a:t>单击此处编辑标题</a:t>
            </a:r>
          </a:p>
        </p:txBody>
      </p:sp>
      <p:sp>
        <p:nvSpPr>
          <p:cNvPr id="3"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08400" y="774000"/>
            <a:ext cx="10972800" cy="5482800"/>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2" name="标题 1"/>
          <p:cNvSpPr>
            <a:spLocks noGrp="1"/>
          </p:cNvSpPr>
          <p:nvPr>
            <p:ph type="title" hasCustomPrompt="1"/>
          </p:nvPr>
        </p:nvSpPr>
        <p:spPr>
          <a:xfrm>
            <a:off x="1198800" y="2397600"/>
            <a:ext cx="9799200" cy="1105200"/>
          </a:xfrm>
        </p:spPr>
        <p:txBody>
          <a:bodyPr vert="horz" lIns="90000" tIns="46800" rIns="90000" bIns="46800" anchor="t">
            <a:normAutofit/>
          </a:bodyPr>
          <a:lstStyle>
            <a:lvl1pPr algn="ctr">
              <a:buNone/>
              <a:defRPr sz="6000"/>
            </a:lvl1pPr>
          </a:lstStyle>
          <a:p>
            <a:pPr lvl="0">
              <a:buNone/>
            </a:pPr>
            <a:r>
              <a:t>单击此处编辑标题</a:t>
            </a:r>
          </a:p>
        </p:txBody>
      </p:sp>
      <p:sp>
        <p:nvSpPr>
          <p:cNvPr id="7" name="文本占位符 6"/>
          <p:cNvSpPr>
            <a:spLocks noGrp="1"/>
          </p:cNvSpPr>
          <p:nvPr>
            <p:ph type="body" idx="13"/>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buNone/>
            </a:pPr>
            <a:r>
              <a:t>单击此处编辑母版文本样式</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p:sp>
        <p:nvSpPr>
          <p:cNvPr id="2" name="矩形 1"/>
          <p:cNvSpPr>
            <a:spLocks noGrp="1"/>
          </p:cNvSpPr>
          <p:nvPr/>
        </p:nvSpPr>
        <p:spPr>
          <a:xfrm>
            <a:off x="0" y="6769100"/>
            <a:ext cx="12192000" cy="88900"/>
          </a:xfrm>
          <a:prstGeom prst="rect">
            <a:avLst/>
          </a:prstGeom>
          <a:solidFill>
            <a:srgbClr val="425E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p:pic>
        <p:nvPicPr>
          <p:cNvPr id="2" name="图片 2"/>
          <p:cNvPicPr>
            <a:picLocks noChangeAspect="1"/>
          </p:cNvPicPr>
          <p:nvPr/>
        </p:nvPicPr>
        <p:blipFill rotWithShape="1">
          <a:blip r:embed="rId2"/>
          <a:srcRect l="10172" r="28795"/>
          <a:stretch>
            <a:fillRect/>
          </a:stretch>
        </p:blipFill>
        <p:spPr>
          <a:xfrm>
            <a:off x="0" y="0"/>
            <a:ext cx="12192000" cy="685800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rotWithShape="1">
          <a:blip r:embed="rId2"/>
          <a:stretch>
            <a:fillRect/>
          </a:stretch>
        </a:blipFill>
        <a:effectLst/>
      </p:bgPr>
    </p:bg>
    <p:spTree>
      <p:nvGrpSpPr>
        <p:cNvPr id="1" name=""/>
        <p:cNvGrpSpPr/>
        <p:nvPr/>
      </p:nvGrpSpPr>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hasCustomPrompt="1"/>
          </p:nvPr>
        </p:nvSpPr>
        <p:spPr/>
        <p:txBody>
          <a:body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hasCustomPrompt="1"/>
          </p:nvPr>
        </p:nvSpPr>
        <p:spPr>
          <a:xfrm>
            <a:off x="838200" y="1825625"/>
            <a:ext cx="5181600" cy="4351338"/>
          </a:xfrm>
        </p:spPr>
        <p:txBody>
          <a:body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hasCustomPrompt="1"/>
          </p:nvPr>
        </p:nvSpPr>
        <p:spPr>
          <a:xfrm>
            <a:off x="6172200" y="1825625"/>
            <a:ext cx="5181600" cy="4351338"/>
          </a:xfrm>
        </p:spPr>
        <p:txBody>
          <a:body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编辑母版文本样式</a:t>
            </a:r>
          </a:p>
        </p:txBody>
      </p:sp>
      <p:sp>
        <p:nvSpPr>
          <p:cNvPr id="4" name="内容占位符 3"/>
          <p:cNvSpPr>
            <a:spLocks noGrp="1"/>
          </p:cNvSpPr>
          <p:nvPr>
            <p:ph idx="2" hasCustomPrompt="1"/>
          </p:nvPr>
        </p:nvSpPr>
        <p:spPr>
          <a:xfrm>
            <a:off x="839788" y="2505075"/>
            <a:ext cx="5157787" cy="3684588"/>
          </a:xfrm>
        </p:spPr>
        <p:txBody>
          <a:body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编辑母版文本样式</a:t>
            </a:r>
          </a:p>
        </p:txBody>
      </p:sp>
      <p:sp>
        <p:nvSpPr>
          <p:cNvPr id="6" name="内容占位符 5"/>
          <p:cNvSpPr>
            <a:spLocks noGrp="1"/>
          </p:cNvSpPr>
          <p:nvPr>
            <p:ph idx="4" hasCustomPrompt="1"/>
          </p:nvPr>
        </p:nvSpPr>
        <p:spPr>
          <a:xfrm>
            <a:off x="6172200" y="2505075"/>
            <a:ext cx="5183188" cy="3684588"/>
          </a:xfrm>
        </p:spPr>
        <p:txBody>
          <a:body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4" name="文本占位符 3"/>
          <p:cNvSpPr>
            <a:spLocks noGrp="1"/>
          </p:cNvSpPr>
          <p:nvPr>
            <p:ph type="body"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hasCustomPrompt="1"/>
          </p:nvPr>
        </p:nvSpPr>
        <p:spPr/>
        <p:txBody>
          <a:bodyPr vert="eaVert"/>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hasCustomPrompt="1"/>
          </p:nvPr>
        </p:nvSpPr>
        <p:spPr>
          <a:xfrm>
            <a:off x="838200" y="365125"/>
            <a:ext cx="7734300" cy="5811838"/>
          </a:xfrm>
        </p:spPr>
        <p:txBody>
          <a:bodyPr vert="eaVert"/>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showMasterSp="0">
  <p:cSld name="Blank">
    <p:spTree>
      <p:nvGrpSpPr>
        <p:cNvPr id="1" name=""/>
        <p:cNvGrpSpPr/>
        <p:nvPr/>
      </p:nvGrpSpPr>
      <p:grpSpPr/>
      <p:sp>
        <p:nvSpPr>
          <p:cNvPr id="2" name="Holder 2"/>
          <p:cNvSpPr>
            <a:spLocks noGrp="1"/>
          </p:cNvSpPr>
          <p:nvPr>
            <p:ph type="ftr" idx="5"/>
          </p:nvPr>
        </p:nvSpPr>
        <p:spPr/>
        <p:txBody>
          <a:bodyPr lIns="0" tIns="0" rIns="0" bIns="0"/>
          <a:lstStyle>
            <a:lvl1pPr algn="ctr">
              <a:buNone/>
              <a:defRPr>
                <a:solidFill>
                  <a:schemeClr val="tx1">
                    <a:tint val="75000"/>
                  </a:schemeClr>
                </a:solidFill>
              </a:defRPr>
            </a:lvl1pPr>
          </a:lstStyle>
          <a:p/>
        </p:txBody>
      </p:sp>
      <p:sp>
        <p:nvSpPr>
          <p:cNvPr id="3" name="Holder 3"/>
          <p:cNvSpPr>
            <a:spLocks noGrp="1"/>
          </p:cNvSpPr>
          <p:nvPr>
            <p:ph type="dt" idx="6"/>
          </p:nvPr>
        </p:nvSpPr>
        <p:spPr/>
        <p:txBody>
          <a:bodyPr lIns="0" tIns="0" rIns="0" bIns="0"/>
          <a:lstStyle>
            <a:lvl1pPr algn="l">
              <a:buNone/>
              <a:defRPr>
                <a:solidFill>
                  <a:schemeClr val="tx1">
                    <a:tint val="75000"/>
                  </a:schemeClr>
                </a:solidFill>
              </a:defRPr>
            </a:lvl1pPr>
          </a:lstStyle>
          <a:p/>
        </p:txBody>
      </p:sp>
      <p:sp>
        <p:nvSpPr>
          <p:cNvPr id="4" name="Holder 4"/>
          <p:cNvSpPr>
            <a:spLocks noGrp="1"/>
          </p:cNvSpPr>
          <p:nvPr>
            <p:ph type="sldNum" idx="7"/>
          </p:nvPr>
        </p:nvSpPr>
        <p:spPr/>
        <p:txBody>
          <a:bodyPr lIns="0" tIns="0" rIns="0" bIns="0"/>
          <a:lstStyle>
            <a:lvl1pPr algn="r">
              <a:buNone/>
              <a:defRPr>
                <a:solidFill>
                  <a:schemeClr val="tx1">
                    <a:tint val="75000"/>
                  </a:schemeClr>
                </a:solidFill>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封底3-2">
    <p:spTree>
      <p:nvGrpSpPr>
        <p:cNvPr id="1" name=""/>
        <p:cNvGrpSpPr/>
        <p:nvPr/>
      </p:nvGrpSpPr>
      <p:grpSpPr/>
      <p:pic>
        <p:nvPicPr>
          <p:cNvPr id="6" name="图片 2"/>
          <p:cNvPicPr>
            <a:picLocks noChangeAspect="1"/>
          </p:cNvPicPr>
          <p:nvPr/>
        </p:nvPicPr>
        <p:blipFill>
          <a:blip r:embed="rId2">
            <a:alphaModFix amt="52000"/>
          </a:blip>
          <a:stretch>
            <a:fillRect/>
          </a:stretch>
        </p:blipFill>
        <p:spPr>
          <a:xfrm>
            <a:off x="0" y="0"/>
            <a:ext cx="12192000" cy="6858000"/>
          </a:xfrm>
          <a:prstGeom prst="rect">
            <a:avLst/>
          </a:prstGeom>
        </p:spPr>
      </p:pic>
      <p:sp>
        <p:nvSpPr>
          <p:cNvPr id="4" name="Titel 1"/>
          <p:cNvSpPr>
            <a:spLocks noGrp="1"/>
          </p:cNvSpPr>
          <p:nvPr>
            <p:ph type="ctrTitle" hasCustomPrompt="1"/>
          </p:nvPr>
        </p:nvSpPr>
        <p:spPr>
          <a:xfrm>
            <a:off x="675217" y="2709333"/>
            <a:ext cx="6049435" cy="1603345"/>
          </a:xfrm>
          <a:prstGeom prst="rect">
            <a:avLst/>
          </a:prstGeom>
          <a:ln>
            <a:noFill/>
          </a:ln>
        </p:spPr>
        <p:txBody>
          <a:bodyPr wrap="square" lIns="0" tIns="0" rIns="0" bIns="0" anchor="b">
            <a:spAutoFit/>
          </a:bodyPr>
          <a:lstStyle>
            <a:lvl1pPr algn="l">
              <a:lnSpc>
                <a:spcPct val="120000"/>
              </a:lnSpc>
              <a:buNone/>
              <a:defRPr sz="4535" b="0" i="0">
                <a:solidFill>
                  <a:schemeClr val="accent2">
                    <a:lumMod val="50000"/>
                  </a:schemeClr>
                </a:solidFill>
                <a:latin typeface="微软雅黑" panose="020B0503020204020204" charset="-122"/>
                <a:ea typeface="微软雅黑" panose="020B0503020204020204" charset="-122"/>
                <a:cs typeface="微软雅黑" panose="020B0503020204020204" charset="-122"/>
              </a:defRPr>
            </a:lvl1pPr>
          </a:lstStyle>
          <a:p>
            <a:r>
              <a:t>Thank you.</a:t>
            </a:r>
            <a:br/>
            <a:r>
              <a:t>谢谢</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封底1-1">
    <p:bg>
      <p:bgPr>
        <a:solidFill>
          <a:schemeClr val="bg1"/>
        </a:solidFill>
        <a:effectLst/>
      </p:bgPr>
    </p:bg>
    <p:spTree>
      <p:nvGrpSpPr>
        <p:cNvPr id="1" name=""/>
        <p:cNvGrpSpPr/>
        <p:nvPr/>
      </p:nvGrpSpPr>
      <p:grpSpPr/>
      <p:pic>
        <p:nvPicPr>
          <p:cNvPr id="60" name="图片 2"/>
          <p:cNvPicPr>
            <a:picLocks noChangeAspect="1"/>
          </p:cNvPicPr>
          <p:nvPr/>
        </p:nvPicPr>
        <p:blipFill>
          <a:blip r:embed="rId2"/>
          <a:stretch>
            <a:fillRect/>
          </a:stretch>
        </p:blipFill>
        <p:spPr>
          <a:xfrm>
            <a:off x="0" y="1259"/>
            <a:ext cx="12194243" cy="6856740"/>
          </a:xfrm>
          <a:prstGeom prst="rect">
            <a:avLst/>
          </a:prstGeom>
        </p:spPr>
      </p:pic>
      <p:sp>
        <p:nvSpPr>
          <p:cNvPr id="58" name="Titel 1"/>
          <p:cNvSpPr>
            <a:spLocks noGrp="1"/>
          </p:cNvSpPr>
          <p:nvPr>
            <p:ph type="ctrTitle" hasCustomPrompt="1"/>
          </p:nvPr>
        </p:nvSpPr>
        <p:spPr>
          <a:xfrm>
            <a:off x="694267" y="2709333"/>
            <a:ext cx="6049435" cy="1664387"/>
          </a:xfrm>
        </p:spPr>
        <p:txBody>
          <a:bodyPr wrap="square" lIns="0" tIns="0" rIns="0" bIns="0" anchor="b">
            <a:spAutoFit/>
          </a:bodyPr>
          <a:lstStyle>
            <a:lvl1pPr algn="l">
              <a:lnSpc>
                <a:spcPct val="125000"/>
              </a:lnSpc>
              <a:buNone/>
              <a:defRPr sz="4535" b="0" i="0">
                <a:solidFill>
                  <a:schemeClr val="bg1"/>
                </a:solidFill>
                <a:latin typeface="微软雅黑" panose="020B0503020204020204" charset="-122"/>
                <a:ea typeface="微软雅黑" panose="020B0503020204020204" charset="-122"/>
                <a:cs typeface="微软雅黑" panose="020B0503020204020204" charset="-122"/>
              </a:defRPr>
            </a:lvl1pPr>
          </a:lstStyle>
          <a:p>
            <a:r>
              <a:t>Thank you.</a:t>
            </a:r>
            <a:br/>
            <a:r>
              <a:t>谢谢</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5" Type="http://schemas.openxmlformats.org/officeDocument/2006/relationships/theme" Target="../theme/theme3.xml"/><Relationship Id="rId14" Type="http://schemas.openxmlformats.org/officeDocument/2006/relationships/slideLayout" Target="../slideLayouts/slideLayout40.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r>
              <a:t>单击此处编辑母版标题样式</a:t>
            </a:r>
          </a:p>
        </p:txBody>
      </p:sp>
      <p:sp>
        <p:nvSpPr>
          <p:cNvPr id="3"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baseline="0">
                <a:solidFill>
                  <a:schemeClr val="tx1">
                    <a:tint val="75000"/>
                  </a:schemeClr>
                </a:solidFill>
              </a:defRPr>
            </a:lvl1pPr>
          </a:lstStyle>
          <a:p/>
        </p:txBody>
      </p:sp>
      <p:sp>
        <p:nvSpPr>
          <p:cNvPr id="5"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baseline="0">
                <a:solidFill>
                  <a:schemeClr val="tx1">
                    <a:tint val="75000"/>
                  </a:schemeClr>
                </a:solidFill>
              </a:defRPr>
            </a:lvl1pPr>
          </a:lstStyle>
          <a:p/>
        </p:txBody>
      </p:sp>
      <p:sp>
        <p:nvSpPr>
          <p:cNvPr id="6"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baseline="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100000"/>
        </a:lnSpc>
        <a:spcBef>
          <a:spcPct val="0"/>
        </a:spcBef>
        <a:buNone/>
        <a:defRPr sz="3600" b="0" u="none" kern="1200" cap="none" spc="300" baseline="0">
          <a:solidFill>
            <a:schemeClr val="tx1">
              <a:lumMod val="85000"/>
              <a:lumOff val="15000"/>
            </a:schemeClr>
          </a:solidFill>
          <a:latin typeface="+mj-ea"/>
          <a:ea typeface="+mj-ea"/>
          <a:cs typeface="+mj-ea"/>
        </a:defRPr>
      </a:lvl1pPr>
    </p:titleStyle>
    <p:bodyStyle>
      <a:lvl1pPr marL="228600" indent="-228600" algn="l" defTabSz="914400">
        <a:lnSpc>
          <a:spcPct val="130000"/>
        </a:lnSpc>
        <a:spcBef>
          <a:spcPts val="0"/>
        </a:spcBef>
        <a:spcAft>
          <a:spcPts val="1000"/>
        </a:spcAft>
        <a:buFont typeface="Arial" panose="020B0604020202020204"/>
        <a:buChar char="●"/>
        <a:defRPr sz="1800" u="none" kern="1200" cap="none" spc="150" baseline="0">
          <a:solidFill>
            <a:schemeClr val="tx1">
              <a:lumMod val="65000"/>
              <a:lumOff val="35000"/>
            </a:schemeClr>
          </a:solidFill>
          <a:latin typeface="+mn-lt"/>
          <a:ea typeface="+mn-lt"/>
          <a:cs typeface="+mn-lt"/>
        </a:defRPr>
      </a:lvl1pPr>
      <a:lvl2pPr marL="685800" indent="-228600" algn="l" defTabSz="914400">
        <a:lnSpc>
          <a:spcPct val="120000"/>
        </a:lnSpc>
        <a:spcBef>
          <a:spcPts val="0"/>
        </a:spcBef>
        <a:spcAft>
          <a:spcPts val="600"/>
        </a:spcAft>
        <a:buFont typeface="Arial" panose="020B0604020202020204"/>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marL="1143000" indent="-228600" algn="l" defTabSz="914400">
        <a:lnSpc>
          <a:spcPct val="120000"/>
        </a:lnSpc>
        <a:spcBef>
          <a:spcPts val="0"/>
        </a:spcBef>
        <a:spcAft>
          <a:spcPts val="600"/>
        </a:spcAft>
        <a:buFont typeface="Arial" panose="020B0604020202020204"/>
        <a:buChar char="●"/>
        <a:defRPr sz="1600" u="none" kern="1200" cap="none" spc="150" baseline="0">
          <a:solidFill>
            <a:schemeClr val="tx1">
              <a:lumMod val="65000"/>
              <a:lumOff val="35000"/>
            </a:schemeClr>
          </a:solidFill>
          <a:latin typeface="+mn-lt"/>
          <a:ea typeface="+mn-lt"/>
          <a:cs typeface="+mn-lt"/>
        </a:defRPr>
      </a:lvl3pPr>
      <a:lvl4pPr marL="1600200" indent="-228600" algn="l" defTabSz="914400">
        <a:lnSpc>
          <a:spcPct val="120000"/>
        </a:lnSpc>
        <a:spcBef>
          <a:spcPts val="0"/>
        </a:spcBef>
        <a:spcAft>
          <a:spcPts val="300"/>
        </a:spcAft>
        <a:buFont typeface="Wingdings" panose="05000000000000000000"/>
        <a:buChar char=""/>
        <a:defRPr sz="1400" u="none" kern="1200" cap="none" spc="150" baseline="0">
          <a:solidFill>
            <a:schemeClr val="tx1">
              <a:lumMod val="65000"/>
              <a:lumOff val="35000"/>
            </a:schemeClr>
          </a:solidFill>
          <a:latin typeface="+mn-lt"/>
          <a:ea typeface="+mn-lt"/>
          <a:cs typeface="+mn-lt"/>
        </a:defRPr>
      </a:lvl4pPr>
      <a:lvl5pPr marL="2057400" indent="-228600" algn="l" defTabSz="914400">
        <a:lnSpc>
          <a:spcPct val="120000"/>
        </a:lnSpc>
        <a:spcBef>
          <a:spcPts val="0"/>
        </a:spcBef>
        <a:spcAft>
          <a:spcPts val="300"/>
        </a:spcAft>
        <a:buFont typeface="Arial" panose="020B0604020202020204"/>
        <a:buChar char="•"/>
        <a:defRPr sz="1400" u="none" kern="1200" cap="none" spc="150" baseline="0">
          <a:solidFill>
            <a:schemeClr val="tx1">
              <a:lumMod val="65000"/>
              <a:lumOff val="35000"/>
            </a:schemeClr>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r>
              <a:t>单击此处编辑母版标题样式</a:t>
            </a:r>
          </a:p>
        </p:txBody>
      </p:sp>
      <p:sp>
        <p:nvSpPr>
          <p:cNvPr id="3"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baseline="0">
                <a:solidFill>
                  <a:schemeClr val="tx1">
                    <a:tint val="75000"/>
                  </a:schemeClr>
                </a:solidFill>
              </a:defRPr>
            </a:lvl1pPr>
          </a:lstStyle>
          <a:p/>
        </p:txBody>
      </p:sp>
      <p:sp>
        <p:nvSpPr>
          <p:cNvPr id="5"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baseline="0">
                <a:solidFill>
                  <a:schemeClr val="tx1">
                    <a:tint val="75000"/>
                  </a:schemeClr>
                </a:solidFill>
              </a:defRPr>
            </a:lvl1pPr>
          </a:lstStyle>
          <a:p/>
        </p:txBody>
      </p:sp>
      <p:sp>
        <p:nvSpPr>
          <p:cNvPr id="6"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baseline="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a:lnSpc>
          <a:spcPct val="100000"/>
        </a:lnSpc>
        <a:spcBef>
          <a:spcPct val="0"/>
        </a:spcBef>
        <a:buNone/>
        <a:defRPr sz="3600" b="0" u="none" kern="1200" cap="none" spc="300" baseline="0">
          <a:solidFill>
            <a:schemeClr val="tx1">
              <a:lumMod val="85000"/>
              <a:lumOff val="15000"/>
            </a:schemeClr>
          </a:solidFill>
          <a:latin typeface="+mj-ea"/>
          <a:ea typeface="+mj-ea"/>
          <a:cs typeface="+mj-ea"/>
        </a:defRPr>
      </a:lvl1pPr>
    </p:titleStyle>
    <p:bodyStyle>
      <a:lvl1pPr marL="228600" indent="-228600" algn="l" defTabSz="914400">
        <a:lnSpc>
          <a:spcPct val="130000"/>
        </a:lnSpc>
        <a:spcBef>
          <a:spcPts val="0"/>
        </a:spcBef>
        <a:spcAft>
          <a:spcPts val="1000"/>
        </a:spcAft>
        <a:buFont typeface="Arial" panose="020B0604020202020204"/>
        <a:buChar char="●"/>
        <a:defRPr sz="1800" u="none" kern="1200" cap="none" spc="150" baseline="0">
          <a:solidFill>
            <a:schemeClr val="tx1">
              <a:lumMod val="65000"/>
              <a:lumOff val="35000"/>
            </a:schemeClr>
          </a:solidFill>
          <a:latin typeface="+mn-lt"/>
          <a:ea typeface="+mn-lt"/>
          <a:cs typeface="+mn-lt"/>
        </a:defRPr>
      </a:lvl1pPr>
      <a:lvl2pPr marL="685800" indent="-228600" algn="l" defTabSz="914400">
        <a:lnSpc>
          <a:spcPct val="120000"/>
        </a:lnSpc>
        <a:spcBef>
          <a:spcPts val="0"/>
        </a:spcBef>
        <a:spcAft>
          <a:spcPts val="600"/>
        </a:spcAft>
        <a:buFont typeface="Arial" panose="020B0604020202020204"/>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marL="1143000" indent="-228600" algn="l" defTabSz="914400">
        <a:lnSpc>
          <a:spcPct val="120000"/>
        </a:lnSpc>
        <a:spcBef>
          <a:spcPts val="0"/>
        </a:spcBef>
        <a:spcAft>
          <a:spcPts val="600"/>
        </a:spcAft>
        <a:buFont typeface="Arial" panose="020B0604020202020204"/>
        <a:buChar char="●"/>
        <a:defRPr sz="1600" u="none" kern="1200" cap="none" spc="150" baseline="0">
          <a:solidFill>
            <a:schemeClr val="tx1">
              <a:lumMod val="65000"/>
              <a:lumOff val="35000"/>
            </a:schemeClr>
          </a:solidFill>
          <a:latin typeface="+mn-lt"/>
          <a:ea typeface="+mn-lt"/>
          <a:cs typeface="+mn-lt"/>
        </a:defRPr>
      </a:lvl3pPr>
      <a:lvl4pPr marL="1600200" indent="-228600" algn="l" defTabSz="914400">
        <a:lnSpc>
          <a:spcPct val="120000"/>
        </a:lnSpc>
        <a:spcBef>
          <a:spcPts val="0"/>
        </a:spcBef>
        <a:spcAft>
          <a:spcPts val="300"/>
        </a:spcAft>
        <a:buFont typeface="Wingdings" panose="05000000000000000000"/>
        <a:buChar char=""/>
        <a:defRPr sz="1400" u="none" kern="1200" cap="none" spc="150" baseline="0">
          <a:solidFill>
            <a:schemeClr val="tx1">
              <a:lumMod val="65000"/>
              <a:lumOff val="35000"/>
            </a:schemeClr>
          </a:solidFill>
          <a:latin typeface="+mn-lt"/>
          <a:ea typeface="+mn-lt"/>
          <a:cs typeface="+mn-lt"/>
        </a:defRPr>
      </a:lvl4pPr>
      <a:lvl5pPr marL="2057400" indent="-228600" algn="l" defTabSz="914400">
        <a:lnSpc>
          <a:spcPct val="120000"/>
        </a:lnSpc>
        <a:spcBef>
          <a:spcPts val="0"/>
        </a:spcBef>
        <a:spcAft>
          <a:spcPts val="300"/>
        </a:spcAft>
        <a:buFont typeface="Arial" panose="020B0604020202020204"/>
        <a:buChar char="•"/>
        <a:defRPr sz="1400" u="none" kern="1200" cap="none" spc="150" baseline="0">
          <a:solidFill>
            <a:schemeClr val="tx1">
              <a:lumMod val="65000"/>
              <a:lumOff val="35000"/>
            </a:schemeClr>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5.tif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jpeg"/><Relationship Id="rId2" Type="http://schemas.openxmlformats.org/officeDocument/2006/relationships/chart" Target="../charts/chart4.xml"/><Relationship Id="rId1" Type="http://schemas.openxmlformats.org/officeDocument/2006/relationships/chart" Target="../charts/chart3.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9" Type="http://schemas.microsoft.com/office/2007/relationships/media" Target="../media/media3.mp4"/><Relationship Id="rId8" Type="http://schemas.openxmlformats.org/officeDocument/2006/relationships/video" Target="../media/media3.mp4"/><Relationship Id="rId7" Type="http://schemas.openxmlformats.org/officeDocument/2006/relationships/image" Target="../media/image24.png"/><Relationship Id="rId6" Type="http://schemas.microsoft.com/office/2007/relationships/media" Target="../media/media2.mp4"/><Relationship Id="rId5" Type="http://schemas.openxmlformats.org/officeDocument/2006/relationships/video" Target="../media/media2.mp4"/><Relationship Id="rId4" Type="http://schemas.openxmlformats.org/officeDocument/2006/relationships/image" Target="../media/image23.png"/><Relationship Id="rId3" Type="http://schemas.microsoft.com/office/2007/relationships/media" Target="../media/media1.mp4"/><Relationship Id="rId22" Type="http://schemas.openxmlformats.org/officeDocument/2006/relationships/notesSlide" Target="../notesSlides/notesSlide12.xml"/><Relationship Id="rId21" Type="http://schemas.openxmlformats.org/officeDocument/2006/relationships/slideLayout" Target="../slideLayouts/slideLayout2.xml"/><Relationship Id="rId20" Type="http://schemas.openxmlformats.org/officeDocument/2006/relationships/image" Target="../media/image29.png"/><Relationship Id="rId2" Type="http://schemas.openxmlformats.org/officeDocument/2006/relationships/video" Target="../media/media1.mp4"/><Relationship Id="rId19" Type="http://schemas.openxmlformats.org/officeDocument/2006/relationships/image" Target="../media/image28.png"/><Relationship Id="rId18" Type="http://schemas.microsoft.com/office/2007/relationships/media" Target="../media/media6.mp4"/><Relationship Id="rId17" Type="http://schemas.openxmlformats.org/officeDocument/2006/relationships/video" Target="../media/media6.mp4"/><Relationship Id="rId16" Type="http://schemas.openxmlformats.org/officeDocument/2006/relationships/image" Target="../media/image27.png"/><Relationship Id="rId15" Type="http://schemas.microsoft.com/office/2007/relationships/media" Target="../media/media5.mp4"/><Relationship Id="rId14" Type="http://schemas.openxmlformats.org/officeDocument/2006/relationships/video" Target="../media/media5.mp4"/><Relationship Id="rId13" Type="http://schemas.openxmlformats.org/officeDocument/2006/relationships/image" Target="../media/image26.png"/><Relationship Id="rId12" Type="http://schemas.microsoft.com/office/2007/relationships/media" Target="../media/media4.mp4"/><Relationship Id="rId11" Type="http://schemas.openxmlformats.org/officeDocument/2006/relationships/video" Target="../media/media4.mp4"/><Relationship Id="rId10" Type="http://schemas.openxmlformats.org/officeDocument/2006/relationships/image" Target="../media/image25.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chart" Target="../charts/chart6.xml"/><Relationship Id="rId1" Type="http://schemas.openxmlformats.org/officeDocument/2006/relationships/chart" Target="../charts/char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39.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svg"/><Relationship Id="rId3" Type="http://schemas.openxmlformats.org/officeDocument/2006/relationships/image" Target="../media/image34.png"/><Relationship Id="rId27" Type="http://schemas.openxmlformats.org/officeDocument/2006/relationships/notesSlide" Target="../notesSlides/notesSlide16.xml"/><Relationship Id="rId26" Type="http://schemas.openxmlformats.org/officeDocument/2006/relationships/slideLayout" Target="../slideLayouts/slideLayout12.xml"/><Relationship Id="rId25" Type="http://schemas.openxmlformats.org/officeDocument/2006/relationships/image" Target="../media/image44.png"/><Relationship Id="rId24" Type="http://schemas.microsoft.com/office/2007/relationships/media" Target="../media/media11.mp4"/><Relationship Id="rId23" Type="http://schemas.openxmlformats.org/officeDocument/2006/relationships/video" Target="../media/media11.mp4"/><Relationship Id="rId22" Type="http://schemas.openxmlformats.org/officeDocument/2006/relationships/image" Target="../media/image43.png"/><Relationship Id="rId21" Type="http://schemas.microsoft.com/office/2007/relationships/media" Target="../media/media10.mp4"/><Relationship Id="rId20" Type="http://schemas.openxmlformats.org/officeDocument/2006/relationships/video" Target="../media/media10.mp4"/><Relationship Id="rId2" Type="http://schemas.openxmlformats.org/officeDocument/2006/relationships/image" Target="../media/image33.svg"/><Relationship Id="rId19" Type="http://schemas.openxmlformats.org/officeDocument/2006/relationships/image" Target="../media/image42.png"/><Relationship Id="rId18" Type="http://schemas.microsoft.com/office/2007/relationships/media" Target="../media/media9.mp4"/><Relationship Id="rId17" Type="http://schemas.openxmlformats.org/officeDocument/2006/relationships/video" Target="../media/media9.mp4"/><Relationship Id="rId16" Type="http://schemas.openxmlformats.org/officeDocument/2006/relationships/image" Target="../media/image41.png"/><Relationship Id="rId15" Type="http://schemas.microsoft.com/office/2007/relationships/media" Target="../media/media8.mp4"/><Relationship Id="rId14" Type="http://schemas.openxmlformats.org/officeDocument/2006/relationships/video" Target="../media/media8.mp4"/><Relationship Id="rId13" Type="http://schemas.openxmlformats.org/officeDocument/2006/relationships/image" Target="../media/image40.png"/><Relationship Id="rId12" Type="http://schemas.microsoft.com/office/2007/relationships/media" Target="../media/media7.mp4"/><Relationship Id="rId11" Type="http://schemas.openxmlformats.org/officeDocument/2006/relationships/video" Target="../media/media7.mp4"/><Relationship Id="rId10" Type="http://schemas.openxmlformats.org/officeDocument/2006/relationships/image" Target="../media/image22.png"/><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image" Target="../media/image52.png"/><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jpeg"/><Relationship Id="rId3" Type="http://schemas.openxmlformats.org/officeDocument/2006/relationships/image" Target="../media/image47.jpeg"/><Relationship Id="rId2" Type="http://schemas.openxmlformats.org/officeDocument/2006/relationships/image" Target="../media/image46.png"/><Relationship Id="rId17" Type="http://schemas.openxmlformats.org/officeDocument/2006/relationships/notesSlide" Target="../notesSlides/notesSlide17.xml"/><Relationship Id="rId16" Type="http://schemas.openxmlformats.org/officeDocument/2006/relationships/slideLayout" Target="../slideLayouts/slideLayout12.xml"/><Relationship Id="rId15" Type="http://schemas.openxmlformats.org/officeDocument/2006/relationships/image" Target="../media/image59.png"/><Relationship Id="rId14" Type="http://schemas.openxmlformats.org/officeDocument/2006/relationships/image" Target="../media/image58.png"/><Relationship Id="rId13" Type="http://schemas.openxmlformats.org/officeDocument/2006/relationships/image" Target="../media/image57.jpeg"/><Relationship Id="rId12" Type="http://schemas.openxmlformats.org/officeDocument/2006/relationships/image" Target="../media/image56.png"/><Relationship Id="rId11" Type="http://schemas.openxmlformats.org/officeDocument/2006/relationships/image" Target="../media/image55.png"/><Relationship Id="rId10" Type="http://schemas.openxmlformats.org/officeDocument/2006/relationships/image" Target="../media/image54.png"/><Relationship Id="rId1" Type="http://schemas.openxmlformats.org/officeDocument/2006/relationships/image" Target="../media/image45.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60.png"/><Relationship Id="rId2" Type="http://schemas.openxmlformats.org/officeDocument/2006/relationships/chart" Target="../charts/chart8.xml"/><Relationship Id="rId1" Type="http://schemas.openxmlformats.org/officeDocument/2006/relationships/chart" Target="../charts/chart7.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2.xml"/><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chart" Target="../charts/chart10.xml"/><Relationship Id="rId1" Type="http://schemas.openxmlformats.org/officeDocument/2006/relationships/chart" Target="../charts/chart9.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image" Target="../media/image65.png"/><Relationship Id="rId5" Type="http://schemas.openxmlformats.org/officeDocument/2006/relationships/image" Target="../media/image64.png"/><Relationship Id="rId4" Type="http://schemas.microsoft.com/office/2007/relationships/media" Target="../media/media12.mp4"/><Relationship Id="rId3" Type="http://schemas.openxmlformats.org/officeDocument/2006/relationships/video" Target="../media/media12.mp4"/><Relationship Id="rId2" Type="http://schemas.openxmlformats.org/officeDocument/2006/relationships/chart" Target="../charts/chart12.xml"/><Relationship Id="rId10" Type="http://schemas.openxmlformats.org/officeDocument/2006/relationships/notesSlide" Target="../notesSlides/notesSlide20.xml"/><Relationship Id="rId1" Type="http://schemas.openxmlformats.org/officeDocument/2006/relationships/chart" Target="../charts/chart11.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2.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chart" Target="../charts/char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 name="短剧营销案例分享"/>
          <p:cNvSpPr>
            <a:spLocks noGrp="1"/>
          </p:cNvSpPr>
          <p:nvPr>
            <p:ph type="ctrTitle" idx="4294967295"/>
          </p:nvPr>
        </p:nvSpPr>
        <p:spPr>
          <a:xfrm>
            <a:off x="0" y="1579563"/>
            <a:ext cx="11677650" cy="1557337"/>
          </a:xfrm>
          <a:prstGeom prst="rect">
            <a:avLst/>
          </a:prstGeom>
        </p:spPr>
        <p:txBody>
          <a:bodyPr anchor="ctr">
            <a:noAutofit/>
          </a:bodyPr>
          <a:lstStyle>
            <a:lvl1pPr>
              <a:buNone/>
              <a:defRPr b="0">
                <a:solidFill>
                  <a:srgbClr val="FFFFFF"/>
                </a:solidFill>
                <a:latin typeface="vivo type 简 Bold"/>
                <a:ea typeface="vivo type 简 Bold"/>
                <a:cs typeface="vivo type 简 Bold"/>
              </a:defRPr>
            </a:lvl1pPr>
          </a:lstStyle>
          <a:p>
            <a:pPr algn="ctr">
              <a:lnSpc>
                <a:spcPct val="150000"/>
              </a:lnSpc>
              <a:buNone/>
            </a:pPr>
            <a:r>
              <a:rPr sz="6600" b="1">
                <a:latin typeface="vivo Sans Regular" panose="02000300000000000000" charset="-122"/>
                <a:ea typeface="vivo Sans Regular" panose="02000300000000000000" charset="-122"/>
                <a:cs typeface="vivo Sans Regular" panose="02000300000000000000" charset="-122"/>
              </a:rPr>
              <a:t>矩阵账号孵化</a:t>
            </a:r>
            <a:endParaRPr sz="6600" b="1">
              <a:latin typeface="vivo Sans Regular" panose="02000300000000000000" charset="-122"/>
              <a:ea typeface="vivo Sans Regular" panose="02000300000000000000" charset="-122"/>
              <a:cs typeface="vivo Sans Regular" panose="02000300000000000000" charset="-122"/>
            </a:endParaRPr>
          </a:p>
        </p:txBody>
      </p:sp>
      <p:pic>
        <p:nvPicPr>
          <p:cNvPr id="155" name="图像"/>
          <p:cNvPicPr>
            <a:picLocks noChangeAspect="1"/>
          </p:cNvPicPr>
          <p:nvPr/>
        </p:nvPicPr>
        <p:blipFill>
          <a:blip r:embed="rId1"/>
          <a:stretch>
            <a:fillRect/>
          </a:stretch>
        </p:blipFill>
        <p:spPr>
          <a:xfrm>
            <a:off x="10246084" y="340287"/>
            <a:ext cx="1707440" cy="441534"/>
          </a:xfrm>
          <a:prstGeom prst="rect">
            <a:avLst/>
          </a:prstGeom>
          <a:ln w="12700">
            <a:miter/>
          </a:ln>
        </p:spPr>
      </p:pic>
      <p:sp>
        <p:nvSpPr>
          <p:cNvPr id="2" name="圆角矩形 1"/>
          <p:cNvSpPr>
            <a:spLocks noGrp="1"/>
          </p:cNvSpPr>
          <p:nvPr/>
        </p:nvSpPr>
        <p:spPr>
          <a:xfrm>
            <a:off x="2199005" y="4036060"/>
            <a:ext cx="2346325" cy="44958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anchor="ctr">
            <a:noAutofit/>
          </a:bodyPr>
          <a:lstStyle/>
          <a:p>
            <a:pPr marL="0" marR="0" lvl="0" indent="0" algn="ctr" defTabSz="914400">
              <a:lnSpc>
                <a:spcPct val="100000"/>
              </a:lnSpc>
              <a:spcBef>
                <a:spcPts val="0"/>
              </a:spcBef>
              <a:spcAft>
                <a:spcPts val="0"/>
              </a:spcAft>
              <a:buClrTx/>
              <a:buSzTx/>
              <a:buFontTx/>
              <a:buNone/>
            </a:pPr>
            <a:r>
              <a:rPr sz="1800" b="0" i="0" u="none" cap="none">
                <a:ln>
                  <a:noFill/>
                </a:ln>
                <a:solidFill>
                  <a:srgbClr val="344DF2"/>
                </a:solidFill>
                <a:latin typeface="vivo Sans Regular" panose="02000300000000000000" charset="-122"/>
                <a:ea typeface="vivo Sans Regular" panose="02000300000000000000" charset="-122"/>
                <a:cs typeface="Agency FB"/>
              </a:rPr>
              <a:t>账号现状</a:t>
            </a:r>
            <a:endParaRPr sz="1800" b="0" i="0" u="none" cap="none">
              <a:ln>
                <a:noFill/>
              </a:ln>
              <a:solidFill>
                <a:srgbClr val="344DF2"/>
              </a:solidFill>
              <a:latin typeface="vivo Sans Regular" panose="02000300000000000000" charset="-122"/>
              <a:ea typeface="vivo Sans Regular" panose="02000300000000000000" charset="-122"/>
              <a:cs typeface="Agency FB"/>
            </a:endParaRPr>
          </a:p>
        </p:txBody>
      </p:sp>
      <p:sp>
        <p:nvSpPr>
          <p:cNvPr id="3" name="圆角矩形 2"/>
          <p:cNvSpPr>
            <a:spLocks noGrp="1"/>
          </p:cNvSpPr>
          <p:nvPr/>
        </p:nvSpPr>
        <p:spPr>
          <a:xfrm>
            <a:off x="4923155" y="4036060"/>
            <a:ext cx="2346325" cy="44958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anchor="ctr">
            <a:noAutofit/>
          </a:bodyPr>
          <a:lstStyle/>
          <a:p>
            <a:pPr marL="0" marR="0" lvl="0" indent="0" algn="ctr" defTabSz="914400">
              <a:lnSpc>
                <a:spcPct val="100000"/>
              </a:lnSpc>
              <a:spcBef>
                <a:spcPts val="0"/>
              </a:spcBef>
              <a:spcAft>
                <a:spcPts val="0"/>
              </a:spcAft>
              <a:buClrTx/>
              <a:buSzTx/>
              <a:buFontTx/>
              <a:buNone/>
            </a:pPr>
            <a:r>
              <a:rPr sz="1800" b="0" i="0" u="none" cap="none">
                <a:ln>
                  <a:noFill/>
                </a:ln>
                <a:solidFill>
                  <a:srgbClr val="344DF2"/>
                </a:solidFill>
                <a:latin typeface="vivo Sans Regular" panose="02000300000000000000" charset="-122"/>
                <a:ea typeface="vivo Sans Regular" panose="02000300000000000000" charset="-122"/>
                <a:cs typeface="Agency FB"/>
              </a:rPr>
              <a:t>账号生长</a:t>
            </a:r>
            <a:endParaRPr sz="1800" b="0" i="0" u="none" cap="none">
              <a:ln>
                <a:noFill/>
              </a:ln>
              <a:solidFill>
                <a:srgbClr val="344DF2"/>
              </a:solidFill>
              <a:latin typeface="vivo Sans Regular" panose="02000300000000000000" charset="-122"/>
              <a:ea typeface="vivo Sans Regular" panose="02000300000000000000" charset="-122"/>
              <a:cs typeface="Agency FB"/>
            </a:endParaRPr>
          </a:p>
        </p:txBody>
      </p:sp>
      <p:sp>
        <p:nvSpPr>
          <p:cNvPr id="4" name="圆角矩形 3"/>
          <p:cNvSpPr>
            <a:spLocks noGrp="1"/>
          </p:cNvSpPr>
          <p:nvPr/>
        </p:nvSpPr>
        <p:spPr>
          <a:xfrm>
            <a:off x="7553325" y="4036060"/>
            <a:ext cx="2346325" cy="44958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anchor="ctr">
            <a:noAutofit/>
          </a:bodyPr>
          <a:lstStyle/>
          <a:p>
            <a:pPr marL="0" marR="0" lvl="0" indent="0" algn="ctr" defTabSz="914400">
              <a:lnSpc>
                <a:spcPct val="100000"/>
              </a:lnSpc>
              <a:spcBef>
                <a:spcPts val="0"/>
              </a:spcBef>
              <a:spcAft>
                <a:spcPts val="0"/>
              </a:spcAft>
              <a:buClrTx/>
              <a:buSzTx/>
              <a:buFontTx/>
              <a:buNone/>
            </a:pPr>
            <a:r>
              <a:rPr sz="1800" b="0" i="0" u="none" cap="none">
                <a:ln>
                  <a:noFill/>
                </a:ln>
                <a:solidFill>
                  <a:srgbClr val="344DF2"/>
                </a:solidFill>
                <a:latin typeface="vivo Sans Regular" panose="02000300000000000000" charset="-122"/>
                <a:ea typeface="vivo Sans Regular" panose="02000300000000000000" charset="-122"/>
                <a:cs typeface="Agency FB"/>
              </a:rPr>
              <a:t>账号分析</a:t>
            </a:r>
            <a:endParaRPr sz="1800" b="0" i="0" u="none" cap="none">
              <a:ln>
                <a:noFill/>
              </a:ln>
              <a:solidFill>
                <a:srgbClr val="344DF2"/>
              </a:solidFill>
              <a:latin typeface="vivo Sans Regular" panose="02000300000000000000" charset="-122"/>
              <a:ea typeface="vivo Sans Regular" panose="02000300000000000000" charset="-122"/>
              <a:cs typeface="Agency FB"/>
            </a:endParaRPr>
          </a:p>
        </p:txBody>
      </p:sp>
      <p:sp>
        <p:nvSpPr>
          <p:cNvPr id="7" name="矩形 6"/>
          <p:cNvSpPr>
            <a:spLocks noGrp="1"/>
          </p:cNvSpPr>
          <p:nvPr/>
        </p:nvSpPr>
        <p:spPr>
          <a:xfrm>
            <a:off x="3170873" y="3528695"/>
            <a:ext cx="589915" cy="583565"/>
          </a:xfrm>
          <a:prstGeom prst="rect">
            <a:avLst/>
          </a:prstGeom>
          <a:noFill/>
          <a:ln>
            <a:noFill/>
          </a:ln>
        </p:spPr>
        <p:txBody>
          <a:bodyPr wrap="none" anchor="t">
            <a:spAutoFit/>
          </a:bodyPr>
          <a:lstStyle/>
          <a:p>
            <a:pPr marL="0" marR="0" lvl="0" indent="0" algn="ctr" defTabSz="914400">
              <a:lnSpc>
                <a:spcPct val="100000"/>
              </a:lnSpc>
              <a:spcBef>
                <a:spcPts val="0"/>
              </a:spcBef>
              <a:spcAft>
                <a:spcPts val="0"/>
              </a:spcAft>
              <a:buClrTx/>
              <a:buSzTx/>
              <a:buFontTx/>
              <a:buNone/>
            </a:pPr>
            <a:r>
              <a:rPr sz="3200" b="0" i="1" u="none" cap="none">
                <a:ln>
                  <a:noFill/>
                </a:ln>
                <a:solidFill>
                  <a:prstClr val="white"/>
                </a:solidFill>
                <a:latin typeface="vivo Sans Regular" panose="02000300000000000000" charset="-122"/>
                <a:ea typeface="vivo Sans Regular" panose="02000300000000000000" charset="-122"/>
                <a:cs typeface="Agency FB"/>
              </a:rPr>
              <a:t>01</a:t>
            </a:r>
            <a:endParaRPr sz="3200" b="0" i="1" u="none" cap="none">
              <a:ln>
                <a:noFill/>
              </a:ln>
              <a:solidFill>
                <a:prstClr val="white"/>
              </a:solidFill>
              <a:latin typeface="vivo Sans Regular" panose="02000300000000000000" charset="-122"/>
              <a:ea typeface="vivo Sans Regular" panose="02000300000000000000" charset="-122"/>
              <a:cs typeface="Agency FB"/>
            </a:endParaRPr>
          </a:p>
        </p:txBody>
      </p:sp>
      <p:sp>
        <p:nvSpPr>
          <p:cNvPr id="8" name="矩形 7"/>
          <p:cNvSpPr>
            <a:spLocks noGrp="1"/>
          </p:cNvSpPr>
          <p:nvPr/>
        </p:nvSpPr>
        <p:spPr>
          <a:xfrm>
            <a:off x="5760721" y="3528695"/>
            <a:ext cx="670560" cy="583565"/>
          </a:xfrm>
          <a:prstGeom prst="rect">
            <a:avLst/>
          </a:prstGeom>
          <a:noFill/>
          <a:ln>
            <a:noFill/>
          </a:ln>
        </p:spPr>
        <p:txBody>
          <a:bodyPr wrap="none" anchor="t">
            <a:spAutoFit/>
          </a:bodyPr>
          <a:lstStyle/>
          <a:p>
            <a:pPr marL="0" marR="0" lvl="0" indent="0" algn="ctr" defTabSz="914400">
              <a:lnSpc>
                <a:spcPct val="100000"/>
              </a:lnSpc>
              <a:spcBef>
                <a:spcPts val="0"/>
              </a:spcBef>
              <a:spcAft>
                <a:spcPts val="0"/>
              </a:spcAft>
              <a:buClrTx/>
              <a:buSzTx/>
              <a:buFontTx/>
              <a:buNone/>
            </a:pPr>
            <a:r>
              <a:rPr sz="3200" b="0" i="1" u="none" cap="none">
                <a:ln>
                  <a:noFill/>
                </a:ln>
                <a:solidFill>
                  <a:prstClr val="white"/>
                </a:solidFill>
                <a:latin typeface="vivo Sans Regular" panose="02000300000000000000" charset="-122"/>
                <a:ea typeface="vivo Sans Regular" panose="02000300000000000000" charset="-122"/>
                <a:cs typeface="Agency FB"/>
              </a:rPr>
              <a:t>02</a:t>
            </a:r>
            <a:endParaRPr sz="3200" b="0" i="1" u="none" cap="none">
              <a:ln>
                <a:noFill/>
              </a:ln>
              <a:solidFill>
                <a:prstClr val="white"/>
              </a:solidFill>
              <a:latin typeface="vivo Sans Regular" panose="02000300000000000000" charset="-122"/>
              <a:ea typeface="vivo Sans Regular" panose="02000300000000000000" charset="-122"/>
              <a:cs typeface="Agency FB"/>
            </a:endParaRPr>
          </a:p>
        </p:txBody>
      </p:sp>
      <p:sp>
        <p:nvSpPr>
          <p:cNvPr id="9" name="矩形 8"/>
          <p:cNvSpPr>
            <a:spLocks noGrp="1"/>
          </p:cNvSpPr>
          <p:nvPr/>
        </p:nvSpPr>
        <p:spPr>
          <a:xfrm>
            <a:off x="8390256" y="3528695"/>
            <a:ext cx="670560" cy="583565"/>
          </a:xfrm>
          <a:prstGeom prst="rect">
            <a:avLst/>
          </a:prstGeom>
          <a:noFill/>
          <a:ln>
            <a:noFill/>
          </a:ln>
        </p:spPr>
        <p:txBody>
          <a:bodyPr wrap="none" anchor="t">
            <a:spAutoFit/>
          </a:bodyPr>
          <a:lstStyle/>
          <a:p>
            <a:pPr marL="0" marR="0" lvl="0" indent="0" algn="ctr" defTabSz="914400">
              <a:lnSpc>
                <a:spcPct val="100000"/>
              </a:lnSpc>
              <a:spcBef>
                <a:spcPts val="0"/>
              </a:spcBef>
              <a:spcAft>
                <a:spcPts val="0"/>
              </a:spcAft>
              <a:buClrTx/>
              <a:buSzTx/>
              <a:buFontTx/>
              <a:buNone/>
            </a:pPr>
            <a:r>
              <a:rPr sz="3200" b="0" i="1" u="none" cap="none">
                <a:ln>
                  <a:noFill/>
                </a:ln>
                <a:solidFill>
                  <a:prstClr val="white"/>
                </a:solidFill>
                <a:latin typeface="vivo Sans Regular" panose="02000300000000000000" charset="-122"/>
                <a:ea typeface="vivo Sans Regular" panose="02000300000000000000" charset="-122"/>
                <a:cs typeface="Agency FB"/>
              </a:rPr>
              <a:t>03</a:t>
            </a:r>
            <a:endParaRPr sz="3200" b="0" i="1" u="none" cap="none">
              <a:ln>
                <a:noFill/>
              </a:ln>
              <a:solidFill>
                <a:prstClr val="white"/>
              </a:solidFill>
              <a:latin typeface="vivo Sans Regular" panose="02000300000000000000" charset="-122"/>
              <a:ea typeface="vivo Sans Regular" panose="02000300000000000000" charset="-122"/>
              <a:cs typeface="Agency FB"/>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a:spLocks noGrp="1"/>
          </p:cNvSpPr>
          <p:nvPr/>
        </p:nvSpPr>
        <p:spPr>
          <a:xfrm>
            <a:off x="5006026" y="1860550"/>
            <a:ext cx="1542410" cy="1569660"/>
          </a:xfrm>
          <a:prstGeom prst="rect">
            <a:avLst/>
          </a:prstGeom>
          <a:noFill/>
          <a:ln>
            <a:noFill/>
          </a:ln>
        </p:spPr>
        <p:txBody>
          <a:bodyPr wrap="none" anchor="t">
            <a:spAutoFit/>
          </a:bodyPr>
          <a:lstStyle/>
          <a:p>
            <a:pPr marL="0" marR="0" lvl="0" indent="0" algn="ctr" defTabSz="914400">
              <a:lnSpc>
                <a:spcPct val="100000"/>
              </a:lnSpc>
              <a:spcBef>
                <a:spcPts val="0"/>
              </a:spcBef>
              <a:spcAft>
                <a:spcPts val="0"/>
              </a:spcAft>
              <a:buClrTx/>
              <a:buSzTx/>
              <a:buFontTx/>
              <a:buNone/>
            </a:pPr>
            <a:r>
              <a:rPr sz="96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01</a:t>
            </a:r>
            <a:endParaRPr sz="9600" b="0" i="1" u="none" cap="none">
              <a:ln>
                <a:noFill/>
              </a:ln>
              <a:solidFill>
                <a:srgbClr val="3333FF"/>
              </a:solidFill>
              <a:latin typeface="vivo Sans Bold" panose="02000300000000000000" charset="-122"/>
              <a:ea typeface="vivo Sans Bold" panose="02000300000000000000" charset="-122"/>
              <a:cs typeface="vivo Sans Bold" panose="02000300000000000000" charset="-122"/>
            </a:endParaRPr>
          </a:p>
        </p:txBody>
      </p:sp>
      <p:sp>
        <p:nvSpPr>
          <p:cNvPr id="11" name="文本框 10"/>
          <p:cNvSpPr>
            <a:spLocks noGrp="1"/>
          </p:cNvSpPr>
          <p:nvPr/>
        </p:nvSpPr>
        <p:spPr>
          <a:xfrm>
            <a:off x="4020820" y="3237230"/>
            <a:ext cx="3513455" cy="922020"/>
          </a:xfrm>
          <a:prstGeom prst="rect">
            <a:avLst/>
          </a:prstGeom>
          <a:noFill/>
        </p:spPr>
        <p:txBody>
          <a:bodyPr wrap="square">
            <a:spAutoFit/>
          </a:bodyPr>
          <a:lstStyle/>
          <a:p>
            <a:pPr marL="0" marR="0" lvl="0" indent="0" algn="ctr" defTabSz="914400">
              <a:lnSpc>
                <a:spcPct val="100000"/>
              </a:lnSpc>
              <a:spcBef>
                <a:spcPts val="0"/>
              </a:spcBef>
              <a:spcAft>
                <a:spcPts val="0"/>
              </a:spcAft>
              <a:buClrTx/>
              <a:buSzTx/>
              <a:buFontTx/>
              <a:buNone/>
            </a:pP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矩</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阵</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现</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状</a:t>
            </a:r>
            <a:endPar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4"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0">
                <a:solidFill>
                  <a:srgbClr val="FFFFFF"/>
                </a:solidFill>
                <a:latin typeface="vivo Sans" panose="02000300000000000000" charset="-122"/>
                <a:ea typeface="vivo Sans" panose="02000300000000000000" charset="-122"/>
                <a:cs typeface="vivo Sans" panose="02000300000000000000" charset="-122"/>
              </a:rPr>
              <a:t>6个垂类账号完成矩阵搭建，H1形成可持续</a:t>
            </a:r>
            <a:r>
              <a:rPr lang="zh-CN" sz="1800" b="0">
                <a:solidFill>
                  <a:srgbClr val="FFFFFF"/>
                </a:solidFill>
                <a:latin typeface="vivo Sans" panose="02000300000000000000" charset="-122"/>
                <a:ea typeface="vivo Sans" panose="02000300000000000000" charset="-122"/>
                <a:cs typeface="vivo Sans" panose="02000300000000000000" charset="-122"/>
              </a:rPr>
              <a:t>运营</a:t>
            </a:r>
            <a:r>
              <a:rPr lang="zh-CN" sz="1800" b="0">
                <a:solidFill>
                  <a:srgbClr val="FFFFFF"/>
                </a:solidFill>
                <a:latin typeface="vivo Sans" panose="02000300000000000000" charset="-122"/>
                <a:ea typeface="vivo Sans" panose="02000300000000000000" charset="-122"/>
                <a:cs typeface="vivo Sans" panose="02000300000000000000" charset="-122"/>
              </a:rPr>
              <a:t>内容</a:t>
            </a:r>
            <a:endParaRPr lang="zh-CN" sz="1800" b="0">
              <a:solidFill>
                <a:srgbClr val="FFFFFF"/>
              </a:solidFill>
              <a:latin typeface="vivo Sans" panose="02000300000000000000" charset="-122"/>
              <a:ea typeface="vivo Sans" panose="02000300000000000000" charset="-122"/>
              <a:cs typeface="vivo Sans" panose="02000300000000000000"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a:solidFill>
                  <a:srgbClr val="8A96AA"/>
                </a:solidFill>
                <a:latin typeface="vivo Sans" panose="02000300000000000000" charset="-122"/>
                <a:ea typeface="vivo Sans" panose="02000300000000000000" charset="-122"/>
                <a:cs typeface="微软雅黑" panose="020B0503020204020204" charset="-122"/>
              </a:rPr>
              <a:t>03</a:t>
            </a:r>
            <a:endParaRPr sz="675">
              <a:solidFill>
                <a:srgbClr val="8A96AA"/>
              </a:solidFill>
              <a:latin typeface="vivo Sans" panose="02000300000000000000" charset="-122"/>
              <a:ea typeface="vivo Sans" panose="02000300000000000000" charset="-122"/>
              <a:cs typeface="微软雅黑" panose="020B0503020204020204" charset="-122"/>
            </a:endParaRPr>
          </a:p>
        </p:txBody>
      </p:sp>
      <p:sp>
        <p:nvSpPr>
          <p:cNvPr id="6" name="矩形 5"/>
          <p:cNvSpPr>
            <a:spLocks noGrp="1"/>
          </p:cNvSpPr>
          <p:nvPr/>
        </p:nvSpPr>
        <p:spPr>
          <a:xfrm>
            <a:off x="400050" y="838200"/>
            <a:ext cx="11391900" cy="285750"/>
          </a:xfrm>
          <a:prstGeom prst="rect">
            <a:avLst/>
          </a:prstGeom>
          <a:noFill/>
          <a:ln w="0">
            <a:noFill/>
            <a:prstDash val="solid"/>
          </a:ln>
        </p:spPr>
        <p:txBody>
          <a:bodyPr anchor="ctr"/>
          <a:lstStyle/>
          <a:p>
            <a:pPr algn="l">
              <a:defRPr sz="1200" b="1">
                <a:solidFill>
                  <a:srgbClr val="172033"/>
                </a:solidFill>
                <a:latin typeface="微软雅黑" panose="020B0503020204020204" charset="-122"/>
                <a:ea typeface="微软雅黑" panose="020B0503020204020204" charset="-122"/>
                <a:cs typeface="微软雅黑" panose="020B0503020204020204" charset="-122"/>
              </a:defRPr>
            </a:pPr>
            <a:r>
              <a:rPr sz="1200" b="0">
                <a:solidFill>
                  <a:srgbClr val="172033"/>
                </a:solidFill>
                <a:latin typeface="vivo Sans" panose="02000300000000000000" charset="-122"/>
                <a:ea typeface="vivo Sans" panose="02000300000000000000" charset="-122"/>
                <a:cs typeface="微软雅黑" panose="020B0503020204020204" charset="-122"/>
              </a:rPr>
              <a:t>从产品体验、专业测试到行业观察，矩阵已覆盖用户购机决策的完整内容链路</a:t>
            </a:r>
            <a:endParaRPr sz="1200" b="0">
              <a:solidFill>
                <a:srgbClr val="172033"/>
              </a:solidFill>
              <a:latin typeface="vivo Sans" panose="02000300000000000000" charset="-122"/>
              <a:ea typeface="vivo Sans" panose="02000300000000000000" charset="-122"/>
              <a:cs typeface="微软雅黑" panose="020B0503020204020204" charset="-122"/>
            </a:endParaRPr>
          </a:p>
        </p:txBody>
      </p:sp>
      <p:sp>
        <p:nvSpPr>
          <p:cNvPr id="7" name="圆角矩形 6"/>
          <p:cNvSpPr>
            <a:spLocks noGrp="1"/>
          </p:cNvSpPr>
          <p:nvPr/>
        </p:nvSpPr>
        <p:spPr>
          <a:xfrm>
            <a:off x="400050" y="1257300"/>
            <a:ext cx="2095500" cy="666750"/>
          </a:xfrm>
          <a:prstGeom prst="roundRect">
            <a:avLst>
              <a:gd name="adj" fmla="val 11429"/>
            </a:avLst>
          </a:prstGeom>
          <a:solidFill>
            <a:srgbClr val="F5F7FF"/>
          </a:solidFill>
          <a:ln w="9525">
            <a:solidFill>
              <a:srgbClr val="DCE3F2"/>
            </a:solidFill>
            <a:prstDash val="solid"/>
          </a:ln>
        </p:spPr>
      </p:sp>
      <p:sp>
        <p:nvSpPr>
          <p:cNvPr id="8" name="矩形 7"/>
          <p:cNvSpPr>
            <a:spLocks noGrp="1"/>
          </p:cNvSpPr>
          <p:nvPr/>
        </p:nvSpPr>
        <p:spPr>
          <a:xfrm>
            <a:off x="514350" y="1304925"/>
            <a:ext cx="186690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vivo Sans" panose="02000300000000000000" charset="-122"/>
              </a:rPr>
              <a:t>286条</a:t>
            </a:r>
            <a:endParaRPr sz="1875">
              <a:solidFill>
                <a:srgbClr val="3157FF"/>
              </a:solidFill>
              <a:latin typeface="vivo Sans" panose="02000300000000000000" charset="-122"/>
              <a:ea typeface="vivo Sans" panose="02000300000000000000" charset="-122"/>
              <a:cs typeface="vivo Sans" panose="02000300000000000000" charset="-122"/>
            </a:endParaRPr>
          </a:p>
        </p:txBody>
      </p:sp>
      <p:sp>
        <p:nvSpPr>
          <p:cNvPr id="9" name="矩形 8"/>
          <p:cNvSpPr>
            <a:spLocks noGrp="1"/>
          </p:cNvSpPr>
          <p:nvPr/>
        </p:nvSpPr>
        <p:spPr>
          <a:xfrm>
            <a:off x="495300" y="1657350"/>
            <a:ext cx="190500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累计内容</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10" name="圆角矩形 9"/>
          <p:cNvSpPr>
            <a:spLocks noGrp="1"/>
          </p:cNvSpPr>
          <p:nvPr/>
        </p:nvSpPr>
        <p:spPr>
          <a:xfrm>
            <a:off x="2676525" y="1257300"/>
            <a:ext cx="209550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2790825" y="1304925"/>
            <a:ext cx="186690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vivo Sans" panose="02000300000000000000" charset="-122"/>
              </a:rPr>
              <a:t>1413万+</a:t>
            </a:r>
            <a:endParaRPr sz="1875">
              <a:solidFill>
                <a:srgbClr val="3157FF"/>
              </a:solidFill>
              <a:latin typeface="vivo Sans" panose="02000300000000000000" charset="-122"/>
              <a:ea typeface="vivo Sans" panose="02000300000000000000" charset="-122"/>
              <a:cs typeface="vivo Sans" panose="02000300000000000000" charset="-122"/>
            </a:endParaRPr>
          </a:p>
        </p:txBody>
      </p:sp>
      <p:sp>
        <p:nvSpPr>
          <p:cNvPr id="12" name="矩形 11"/>
          <p:cNvSpPr>
            <a:spLocks noGrp="1"/>
          </p:cNvSpPr>
          <p:nvPr/>
        </p:nvSpPr>
        <p:spPr>
          <a:xfrm>
            <a:off x="2771775" y="1657350"/>
            <a:ext cx="190500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总播放量</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13" name="圆角矩形 12"/>
          <p:cNvSpPr>
            <a:spLocks noGrp="1"/>
          </p:cNvSpPr>
          <p:nvPr/>
        </p:nvSpPr>
        <p:spPr>
          <a:xfrm>
            <a:off x="4953000" y="1257300"/>
            <a:ext cx="209550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5067300" y="1304925"/>
            <a:ext cx="186690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vivo Sans" panose="02000300000000000000" charset="-122"/>
              </a:rPr>
              <a:t>21万+</a:t>
            </a:r>
            <a:endParaRPr sz="1875">
              <a:solidFill>
                <a:srgbClr val="3157FF"/>
              </a:solidFill>
              <a:latin typeface="vivo Sans" panose="02000300000000000000" charset="-122"/>
              <a:ea typeface="vivo Sans" panose="02000300000000000000" charset="-122"/>
              <a:cs typeface="vivo Sans" panose="02000300000000000000" charset="-122"/>
            </a:endParaRPr>
          </a:p>
        </p:txBody>
      </p:sp>
      <p:sp>
        <p:nvSpPr>
          <p:cNvPr id="15" name="矩形 14"/>
          <p:cNvSpPr>
            <a:spLocks noGrp="1"/>
          </p:cNvSpPr>
          <p:nvPr/>
        </p:nvSpPr>
        <p:spPr>
          <a:xfrm>
            <a:off x="5048250" y="1657350"/>
            <a:ext cx="190500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总互动量</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16" name="圆角矩形 15"/>
          <p:cNvSpPr>
            <a:spLocks noGrp="1"/>
          </p:cNvSpPr>
          <p:nvPr/>
        </p:nvSpPr>
        <p:spPr>
          <a:xfrm>
            <a:off x="7229475" y="1257300"/>
            <a:ext cx="2095500" cy="666750"/>
          </a:xfrm>
          <a:prstGeom prst="roundRect">
            <a:avLst>
              <a:gd name="adj" fmla="val 11429"/>
            </a:avLst>
          </a:prstGeom>
          <a:solidFill>
            <a:srgbClr val="F5F7FF"/>
          </a:solidFill>
          <a:ln w="9525">
            <a:solidFill>
              <a:srgbClr val="DCE3F2"/>
            </a:solidFill>
            <a:prstDash val="solid"/>
          </a:ln>
        </p:spPr>
      </p:sp>
      <p:sp>
        <p:nvSpPr>
          <p:cNvPr id="17" name="矩形 16"/>
          <p:cNvSpPr>
            <a:spLocks noGrp="1"/>
          </p:cNvSpPr>
          <p:nvPr/>
        </p:nvSpPr>
        <p:spPr>
          <a:xfrm>
            <a:off x="7343775" y="1304925"/>
            <a:ext cx="186690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vivo Sans" panose="02000300000000000000" charset="-122"/>
              </a:rPr>
              <a:t>6.6万+</a:t>
            </a:r>
            <a:endParaRPr sz="1875">
              <a:solidFill>
                <a:srgbClr val="3157FF"/>
              </a:solidFill>
              <a:latin typeface="vivo Sans" panose="02000300000000000000" charset="-122"/>
              <a:ea typeface="vivo Sans" panose="02000300000000000000" charset="-122"/>
              <a:cs typeface="vivo Sans" panose="02000300000000000000" charset="-122"/>
            </a:endParaRPr>
          </a:p>
        </p:txBody>
      </p:sp>
      <p:sp>
        <p:nvSpPr>
          <p:cNvPr id="18" name="矩形 17"/>
          <p:cNvSpPr>
            <a:spLocks noGrp="1"/>
          </p:cNvSpPr>
          <p:nvPr/>
        </p:nvSpPr>
        <p:spPr>
          <a:xfrm>
            <a:off x="7324725" y="1657350"/>
            <a:ext cx="190500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净增粉丝</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19" name="圆角矩形 18"/>
          <p:cNvSpPr>
            <a:spLocks noGrp="1"/>
          </p:cNvSpPr>
          <p:nvPr/>
        </p:nvSpPr>
        <p:spPr>
          <a:xfrm>
            <a:off x="9505950" y="1257300"/>
            <a:ext cx="2095500" cy="666750"/>
          </a:xfrm>
          <a:prstGeom prst="roundRect">
            <a:avLst>
              <a:gd name="adj" fmla="val 11429"/>
            </a:avLst>
          </a:prstGeom>
          <a:solidFill>
            <a:srgbClr val="F5F7FF"/>
          </a:solidFill>
          <a:ln w="9525">
            <a:solidFill>
              <a:srgbClr val="DCE3F2"/>
            </a:solidFill>
            <a:prstDash val="solid"/>
          </a:ln>
        </p:spPr>
      </p:sp>
      <p:sp>
        <p:nvSpPr>
          <p:cNvPr id="20" name="矩形 19"/>
          <p:cNvSpPr>
            <a:spLocks noGrp="1"/>
          </p:cNvSpPr>
          <p:nvPr/>
        </p:nvSpPr>
        <p:spPr>
          <a:xfrm>
            <a:off x="9620250" y="1304925"/>
            <a:ext cx="186690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微软雅黑" panose="020B0503020204020204" charset="-122"/>
              </a:rPr>
              <a:t>5 / 6</a:t>
            </a:r>
            <a:endParaRPr sz="1875">
              <a:solidFill>
                <a:srgbClr val="3157FF"/>
              </a:solidFill>
              <a:latin typeface="vivo Sans" panose="02000300000000000000" charset="-122"/>
              <a:ea typeface="vivo Sans" panose="02000300000000000000" charset="-122"/>
              <a:cs typeface="微软雅黑" panose="020B0503020204020204" charset="-122"/>
            </a:endParaRPr>
          </a:p>
        </p:txBody>
      </p:sp>
      <p:sp>
        <p:nvSpPr>
          <p:cNvPr id="21" name="矩形 20"/>
          <p:cNvSpPr>
            <a:spLocks noGrp="1"/>
          </p:cNvSpPr>
          <p:nvPr/>
        </p:nvSpPr>
        <p:spPr>
          <a:xfrm>
            <a:off x="9601200" y="1657350"/>
            <a:ext cx="190500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账号破万</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22" name="圆角矩形 21"/>
          <p:cNvSpPr>
            <a:spLocks noGrp="1"/>
          </p:cNvSpPr>
          <p:nvPr/>
        </p:nvSpPr>
        <p:spPr>
          <a:xfrm>
            <a:off x="400050" y="2247900"/>
            <a:ext cx="1743075" cy="3905250"/>
          </a:xfrm>
          <a:prstGeom prst="roundRect">
            <a:avLst>
              <a:gd name="adj" fmla="val 4372"/>
            </a:avLst>
          </a:prstGeom>
          <a:solidFill>
            <a:srgbClr val="F5F7FF"/>
          </a:solidFill>
          <a:ln w="9525">
            <a:solidFill>
              <a:srgbClr val="DCE3F2"/>
            </a:solidFill>
            <a:prstDash val="solid"/>
          </a:ln>
        </p:spPr>
      </p:sp>
      <p:pic>
        <p:nvPicPr>
          <p:cNvPr id="76" name="图片 75"/>
          <p:cNvPicPr>
            <a:picLocks noChangeAspect="1"/>
          </p:cNvPicPr>
          <p:nvPr/>
        </p:nvPicPr>
        <p:blipFill>
          <a:blip r:embed="rId1"/>
          <a:srcRect t="10855" b="10855"/>
          <a:stretch>
            <a:fillRect/>
          </a:stretch>
        </p:blipFill>
        <p:spPr>
          <a:xfrm>
            <a:off x="514350" y="2400300"/>
            <a:ext cx="1514475" cy="2571750"/>
          </a:xfrm>
          <a:prstGeom prst="rect">
            <a:avLst/>
          </a:prstGeom>
        </p:spPr>
      </p:pic>
      <p:sp>
        <p:nvSpPr>
          <p:cNvPr id="24" name="矩形 23"/>
          <p:cNvSpPr>
            <a:spLocks noGrp="1"/>
          </p:cNvSpPr>
          <p:nvPr/>
        </p:nvSpPr>
        <p:spPr>
          <a:xfrm>
            <a:off x="495300" y="5086350"/>
            <a:ext cx="1552575" cy="26670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0">
                <a:solidFill>
                  <a:srgbClr val="172033"/>
                </a:solidFill>
                <a:latin typeface="vivo Sans" panose="02000300000000000000" charset="-122"/>
                <a:ea typeface="vivo Sans" panose="02000300000000000000" charset="-122"/>
                <a:cs typeface="微软雅黑" panose="020B0503020204020204" charset="-122"/>
              </a:rPr>
              <a:t>回声现场影像</a:t>
            </a:r>
            <a:endParaRPr sz="9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25" name="矩形 24"/>
          <p:cNvSpPr>
            <a:spLocks noGrp="1"/>
          </p:cNvSpPr>
          <p:nvPr/>
        </p:nvSpPr>
        <p:spPr>
          <a:xfrm>
            <a:off x="495300" y="5391150"/>
            <a:ext cx="1552575" cy="285750"/>
          </a:xfrm>
          <a:prstGeom prst="rect">
            <a:avLst/>
          </a:prstGeom>
          <a:noFill/>
          <a:ln w="0">
            <a:noFill/>
            <a:prstDash val="solid"/>
          </a:ln>
        </p:spPr>
        <p:txBody>
          <a:bodyPr anchor="ctr"/>
          <a:lstStyle/>
          <a:p>
            <a:pPr algn="ctr">
              <a:defRPr sz="1500" b="1">
                <a:solidFill>
                  <a:srgbClr val="3157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1.8万+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26" name="矩形 25"/>
          <p:cNvSpPr>
            <a:spLocks noGrp="1"/>
          </p:cNvSpPr>
          <p:nvPr/>
        </p:nvSpPr>
        <p:spPr>
          <a:xfrm>
            <a:off x="495300" y="5715000"/>
            <a:ext cx="1552575" cy="247650"/>
          </a:xfrm>
          <a:prstGeom prst="rect">
            <a:avLst/>
          </a:prstGeom>
          <a:noFill/>
          <a:ln w="0">
            <a:noFill/>
            <a:prstDash val="solid"/>
          </a:ln>
        </p:spPr>
        <p:txBody>
          <a:bodyPr anchor="ctr"/>
          <a:lstStyle/>
          <a:p>
            <a:pPr algn="ctr">
              <a:defRPr sz="790" b="0">
                <a:solidFill>
                  <a:srgbClr val="667085"/>
                </a:solidFill>
                <a:latin typeface="微软雅黑" panose="020B0503020204020204" charset="-122"/>
                <a:ea typeface="微软雅黑" panose="020B0503020204020204" charset="-122"/>
                <a:cs typeface="微软雅黑" panose="020B0503020204020204" charset="-122"/>
              </a:defRPr>
            </a:pPr>
            <a:r>
              <a:rPr sz="790">
                <a:solidFill>
                  <a:srgbClr val="667085"/>
                </a:solidFill>
                <a:latin typeface="vivo Sans" panose="02000300000000000000" charset="-122"/>
                <a:ea typeface="vivo Sans" panose="02000300000000000000" charset="-122"/>
                <a:cs typeface="微软雅黑" panose="020B0503020204020204" charset="-122"/>
              </a:rPr>
              <a:t>高难场景影像</a:t>
            </a:r>
            <a:endParaRPr sz="790">
              <a:solidFill>
                <a:srgbClr val="667085"/>
              </a:solidFill>
              <a:latin typeface="vivo Sans" panose="02000300000000000000" charset="-122"/>
              <a:ea typeface="vivo Sans" panose="02000300000000000000" charset="-122"/>
              <a:cs typeface="微软雅黑" panose="020B0503020204020204" charset="-122"/>
            </a:endParaRPr>
          </a:p>
        </p:txBody>
      </p:sp>
      <p:sp>
        <p:nvSpPr>
          <p:cNvPr id="27" name="圆角矩形 26"/>
          <p:cNvSpPr>
            <a:spLocks noGrp="1"/>
          </p:cNvSpPr>
          <p:nvPr/>
        </p:nvSpPr>
        <p:spPr>
          <a:xfrm>
            <a:off x="2295525" y="2247900"/>
            <a:ext cx="1743075" cy="3905250"/>
          </a:xfrm>
          <a:prstGeom prst="roundRect">
            <a:avLst>
              <a:gd name="adj" fmla="val 4372"/>
            </a:avLst>
          </a:prstGeom>
          <a:solidFill>
            <a:srgbClr val="F5F7FF"/>
          </a:solidFill>
          <a:ln w="9525">
            <a:solidFill>
              <a:srgbClr val="DCE3F2"/>
            </a:solidFill>
            <a:prstDash val="solid"/>
          </a:ln>
        </p:spPr>
      </p:sp>
      <p:pic>
        <p:nvPicPr>
          <p:cNvPr id="81" name="图片 80"/>
          <p:cNvPicPr>
            <a:picLocks noChangeAspect="1"/>
          </p:cNvPicPr>
          <p:nvPr/>
        </p:nvPicPr>
        <p:blipFill>
          <a:blip r:embed="rId2"/>
          <a:srcRect t="11039" b="11039"/>
          <a:stretch>
            <a:fillRect/>
          </a:stretch>
        </p:blipFill>
        <p:spPr>
          <a:xfrm>
            <a:off x="2409825" y="2400300"/>
            <a:ext cx="1514475" cy="2571750"/>
          </a:xfrm>
          <a:prstGeom prst="rect">
            <a:avLst/>
          </a:prstGeom>
        </p:spPr>
      </p:pic>
      <p:sp>
        <p:nvSpPr>
          <p:cNvPr id="29" name="矩形 28"/>
          <p:cNvSpPr>
            <a:spLocks noGrp="1"/>
          </p:cNvSpPr>
          <p:nvPr/>
        </p:nvSpPr>
        <p:spPr>
          <a:xfrm>
            <a:off x="2390775" y="5086350"/>
            <a:ext cx="1552575" cy="26670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0">
                <a:solidFill>
                  <a:srgbClr val="172033"/>
                </a:solidFill>
                <a:latin typeface="vivo Sans" panose="02000300000000000000" charset="-122"/>
                <a:ea typeface="vivo Sans" panose="02000300000000000000" charset="-122"/>
                <a:cs typeface="微软雅黑" panose="020B0503020204020204" charset="-122"/>
              </a:rPr>
              <a:t>回声屏幕所</a:t>
            </a:r>
            <a:endParaRPr sz="9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30" name="矩形 29"/>
          <p:cNvSpPr>
            <a:spLocks noGrp="1"/>
          </p:cNvSpPr>
          <p:nvPr/>
        </p:nvSpPr>
        <p:spPr>
          <a:xfrm>
            <a:off x="2390775" y="5391150"/>
            <a:ext cx="1552575" cy="285750"/>
          </a:xfrm>
          <a:prstGeom prst="rect">
            <a:avLst/>
          </a:prstGeom>
          <a:noFill/>
          <a:ln w="0">
            <a:noFill/>
            <a:prstDash val="solid"/>
          </a:ln>
        </p:spPr>
        <p:txBody>
          <a:bodyPr anchor="ctr"/>
          <a:lstStyle/>
          <a:p>
            <a:pPr algn="ctr">
              <a:defRPr sz="1500" b="1">
                <a:solidFill>
                  <a:srgbClr val="3157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1.1万+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31" name="矩形 30"/>
          <p:cNvSpPr>
            <a:spLocks noGrp="1"/>
          </p:cNvSpPr>
          <p:nvPr/>
        </p:nvSpPr>
        <p:spPr>
          <a:xfrm>
            <a:off x="2390775" y="5715000"/>
            <a:ext cx="1552575" cy="247650"/>
          </a:xfrm>
          <a:prstGeom prst="rect">
            <a:avLst/>
          </a:prstGeom>
          <a:noFill/>
          <a:ln w="0">
            <a:noFill/>
            <a:prstDash val="solid"/>
          </a:ln>
        </p:spPr>
        <p:txBody>
          <a:bodyPr anchor="ctr"/>
          <a:lstStyle/>
          <a:p>
            <a:pPr algn="ctr">
              <a:defRPr sz="790" b="0">
                <a:solidFill>
                  <a:srgbClr val="667085"/>
                </a:solidFill>
                <a:latin typeface="微软雅黑" panose="020B0503020204020204" charset="-122"/>
                <a:ea typeface="微软雅黑" panose="020B0503020204020204" charset="-122"/>
                <a:cs typeface="微软雅黑" panose="020B0503020204020204" charset="-122"/>
              </a:defRPr>
            </a:pPr>
            <a:r>
              <a:rPr sz="790">
                <a:solidFill>
                  <a:srgbClr val="667085"/>
                </a:solidFill>
                <a:latin typeface="vivo Sans" panose="02000300000000000000" charset="-122"/>
                <a:ea typeface="vivo Sans" panose="02000300000000000000" charset="-122"/>
                <a:cs typeface="微软雅黑" panose="020B0503020204020204" charset="-122"/>
              </a:rPr>
              <a:t>屏幕专业实测</a:t>
            </a:r>
            <a:endParaRPr sz="790">
              <a:solidFill>
                <a:srgbClr val="667085"/>
              </a:solidFill>
              <a:latin typeface="vivo Sans" panose="02000300000000000000" charset="-122"/>
              <a:ea typeface="vivo Sans" panose="02000300000000000000" charset="-122"/>
              <a:cs typeface="微软雅黑" panose="020B0503020204020204" charset="-122"/>
            </a:endParaRPr>
          </a:p>
        </p:txBody>
      </p:sp>
      <p:sp>
        <p:nvSpPr>
          <p:cNvPr id="32" name="圆角矩形 31"/>
          <p:cNvSpPr>
            <a:spLocks noGrp="1"/>
          </p:cNvSpPr>
          <p:nvPr/>
        </p:nvSpPr>
        <p:spPr>
          <a:xfrm>
            <a:off x="4191000" y="2247900"/>
            <a:ext cx="1743075" cy="3905250"/>
          </a:xfrm>
          <a:prstGeom prst="roundRect">
            <a:avLst>
              <a:gd name="adj" fmla="val 4372"/>
            </a:avLst>
          </a:prstGeom>
          <a:solidFill>
            <a:srgbClr val="FFFFFF"/>
          </a:solidFill>
          <a:ln w="9525">
            <a:solidFill>
              <a:srgbClr val="DCE3F2"/>
            </a:solidFill>
            <a:prstDash val="solid"/>
          </a:ln>
        </p:spPr>
      </p:sp>
      <p:pic>
        <p:nvPicPr>
          <p:cNvPr id="86" name="图片 85"/>
          <p:cNvPicPr>
            <a:picLocks noChangeAspect="1"/>
          </p:cNvPicPr>
          <p:nvPr/>
        </p:nvPicPr>
        <p:blipFill>
          <a:blip r:embed="rId3"/>
          <a:srcRect t="10855" b="10855"/>
          <a:stretch>
            <a:fillRect/>
          </a:stretch>
        </p:blipFill>
        <p:spPr>
          <a:xfrm>
            <a:off x="4305300" y="2400300"/>
            <a:ext cx="1514475" cy="2571750"/>
          </a:xfrm>
          <a:prstGeom prst="rect">
            <a:avLst/>
          </a:prstGeom>
        </p:spPr>
      </p:pic>
      <p:sp>
        <p:nvSpPr>
          <p:cNvPr id="34" name="矩形 33"/>
          <p:cNvSpPr>
            <a:spLocks noGrp="1"/>
          </p:cNvSpPr>
          <p:nvPr/>
        </p:nvSpPr>
        <p:spPr>
          <a:xfrm>
            <a:off x="4286250" y="5086350"/>
            <a:ext cx="1552575" cy="26670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0">
                <a:solidFill>
                  <a:srgbClr val="172033"/>
                </a:solidFill>
                <a:latin typeface="vivo Sans" panose="02000300000000000000" charset="-122"/>
                <a:ea typeface="vivo Sans" panose="02000300000000000000" charset="-122"/>
                <a:cs typeface="微软雅黑" panose="020B0503020204020204" charset="-122"/>
              </a:rPr>
              <a:t>回声拆机少女</a:t>
            </a:r>
            <a:endParaRPr sz="9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35" name="矩形 34"/>
          <p:cNvSpPr>
            <a:spLocks noGrp="1"/>
          </p:cNvSpPr>
          <p:nvPr/>
        </p:nvSpPr>
        <p:spPr>
          <a:xfrm>
            <a:off x="4286250" y="5391150"/>
            <a:ext cx="1552575" cy="285750"/>
          </a:xfrm>
          <a:prstGeom prst="rect">
            <a:avLst/>
          </a:prstGeom>
          <a:noFill/>
          <a:ln w="0">
            <a:noFill/>
            <a:prstDash val="solid"/>
          </a:ln>
        </p:spPr>
        <p:txBody>
          <a:bodyPr anchor="ctr"/>
          <a:lstStyle/>
          <a:p>
            <a:pPr algn="ctr">
              <a:defRPr sz="1500" b="1">
                <a:solidFill>
                  <a:srgbClr val="3157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1万+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36" name="矩形 35"/>
          <p:cNvSpPr>
            <a:spLocks noGrp="1"/>
          </p:cNvSpPr>
          <p:nvPr/>
        </p:nvSpPr>
        <p:spPr>
          <a:xfrm>
            <a:off x="4286250" y="5715000"/>
            <a:ext cx="1552575" cy="247650"/>
          </a:xfrm>
          <a:prstGeom prst="rect">
            <a:avLst/>
          </a:prstGeom>
          <a:noFill/>
          <a:ln w="0">
            <a:noFill/>
            <a:prstDash val="solid"/>
          </a:ln>
        </p:spPr>
        <p:txBody>
          <a:bodyPr anchor="ctr"/>
          <a:lstStyle/>
          <a:p>
            <a:pPr algn="ctr">
              <a:defRPr sz="790" b="0">
                <a:solidFill>
                  <a:srgbClr val="667085"/>
                </a:solidFill>
                <a:latin typeface="微软雅黑" panose="020B0503020204020204" charset="-122"/>
                <a:ea typeface="微软雅黑" panose="020B0503020204020204" charset="-122"/>
                <a:cs typeface="微软雅黑" panose="020B0503020204020204" charset="-122"/>
              </a:defRPr>
            </a:pPr>
            <a:r>
              <a:rPr sz="790">
                <a:solidFill>
                  <a:srgbClr val="667085"/>
                </a:solidFill>
                <a:latin typeface="vivo Sans" panose="02000300000000000000" charset="-122"/>
                <a:ea typeface="vivo Sans" panose="02000300000000000000" charset="-122"/>
                <a:cs typeface="微软雅黑" panose="020B0503020204020204" charset="-122"/>
              </a:rPr>
              <a:t>首拆与结构解析</a:t>
            </a:r>
            <a:endParaRPr sz="790">
              <a:solidFill>
                <a:srgbClr val="667085"/>
              </a:solidFill>
              <a:latin typeface="vivo Sans" panose="02000300000000000000" charset="-122"/>
              <a:ea typeface="vivo Sans" panose="02000300000000000000" charset="-122"/>
              <a:cs typeface="微软雅黑" panose="020B0503020204020204" charset="-122"/>
            </a:endParaRPr>
          </a:p>
        </p:txBody>
      </p:sp>
      <p:sp>
        <p:nvSpPr>
          <p:cNvPr id="37" name="圆角矩形 36"/>
          <p:cNvSpPr>
            <a:spLocks noGrp="1"/>
          </p:cNvSpPr>
          <p:nvPr/>
        </p:nvSpPr>
        <p:spPr>
          <a:xfrm>
            <a:off x="6086475" y="2247900"/>
            <a:ext cx="1743075" cy="3905250"/>
          </a:xfrm>
          <a:prstGeom prst="roundRect">
            <a:avLst>
              <a:gd name="adj" fmla="val 4372"/>
            </a:avLst>
          </a:prstGeom>
          <a:solidFill>
            <a:srgbClr val="FFFFFF"/>
          </a:solidFill>
          <a:ln w="9525">
            <a:solidFill>
              <a:srgbClr val="DCE3F2"/>
            </a:solidFill>
            <a:prstDash val="solid"/>
          </a:ln>
        </p:spPr>
      </p:sp>
      <p:pic>
        <p:nvPicPr>
          <p:cNvPr id="91" name="图片 90"/>
          <p:cNvPicPr>
            <a:picLocks noChangeAspect="1"/>
          </p:cNvPicPr>
          <p:nvPr/>
        </p:nvPicPr>
        <p:blipFill>
          <a:blip r:embed="rId4"/>
          <a:srcRect t="10855" b="10855"/>
          <a:stretch>
            <a:fillRect/>
          </a:stretch>
        </p:blipFill>
        <p:spPr>
          <a:xfrm>
            <a:off x="6200775" y="2400300"/>
            <a:ext cx="1514475" cy="2571750"/>
          </a:xfrm>
          <a:prstGeom prst="rect">
            <a:avLst/>
          </a:prstGeom>
        </p:spPr>
      </p:pic>
      <p:sp>
        <p:nvSpPr>
          <p:cNvPr id="39" name="矩形 38"/>
          <p:cNvSpPr>
            <a:spLocks noGrp="1"/>
          </p:cNvSpPr>
          <p:nvPr/>
        </p:nvSpPr>
        <p:spPr>
          <a:xfrm>
            <a:off x="6181725" y="5086350"/>
            <a:ext cx="1552575" cy="26670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0">
                <a:solidFill>
                  <a:srgbClr val="172033"/>
                </a:solidFill>
                <a:latin typeface="vivo Sans" panose="02000300000000000000" charset="-122"/>
                <a:ea typeface="vivo Sans" panose="02000300000000000000" charset="-122"/>
                <a:cs typeface="微软雅黑" panose="020B0503020204020204" charset="-122"/>
              </a:rPr>
              <a:t>回声行业观察</a:t>
            </a:r>
            <a:endParaRPr sz="9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40" name="矩形 39"/>
          <p:cNvSpPr>
            <a:spLocks noGrp="1"/>
          </p:cNvSpPr>
          <p:nvPr/>
        </p:nvSpPr>
        <p:spPr>
          <a:xfrm>
            <a:off x="6181725" y="5391150"/>
            <a:ext cx="1552575" cy="285750"/>
          </a:xfrm>
          <a:prstGeom prst="rect">
            <a:avLst/>
          </a:prstGeom>
          <a:noFill/>
          <a:ln w="0">
            <a:noFill/>
            <a:prstDash val="solid"/>
          </a:ln>
        </p:spPr>
        <p:txBody>
          <a:bodyPr anchor="ctr"/>
          <a:lstStyle/>
          <a:p>
            <a:pPr algn="ctr">
              <a:defRPr sz="1500" b="1">
                <a:solidFill>
                  <a:srgbClr val="3157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1万+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41" name="矩形 40"/>
          <p:cNvSpPr>
            <a:spLocks noGrp="1"/>
          </p:cNvSpPr>
          <p:nvPr/>
        </p:nvSpPr>
        <p:spPr>
          <a:xfrm>
            <a:off x="6181725" y="5715000"/>
            <a:ext cx="1552575" cy="247650"/>
          </a:xfrm>
          <a:prstGeom prst="rect">
            <a:avLst/>
          </a:prstGeom>
          <a:noFill/>
          <a:ln w="0">
            <a:noFill/>
            <a:prstDash val="solid"/>
          </a:ln>
        </p:spPr>
        <p:txBody>
          <a:bodyPr anchor="ctr"/>
          <a:lstStyle/>
          <a:p>
            <a:pPr algn="ctr">
              <a:defRPr sz="790" b="0">
                <a:solidFill>
                  <a:srgbClr val="667085"/>
                </a:solidFill>
                <a:latin typeface="微软雅黑" panose="020B0503020204020204" charset="-122"/>
                <a:ea typeface="微软雅黑" panose="020B0503020204020204" charset="-122"/>
                <a:cs typeface="微软雅黑" panose="020B0503020204020204" charset="-122"/>
              </a:defRPr>
            </a:pPr>
            <a:r>
              <a:rPr sz="790">
                <a:solidFill>
                  <a:srgbClr val="667085"/>
                </a:solidFill>
                <a:latin typeface="vivo Sans" panose="02000300000000000000" charset="-122"/>
                <a:ea typeface="vivo Sans" panose="02000300000000000000" charset="-122"/>
                <a:cs typeface="微软雅黑" panose="020B0503020204020204" charset="-122"/>
              </a:rPr>
              <a:t>品牌商业观察</a:t>
            </a:r>
            <a:endParaRPr sz="790">
              <a:solidFill>
                <a:srgbClr val="667085"/>
              </a:solidFill>
              <a:latin typeface="vivo Sans" panose="02000300000000000000" charset="-122"/>
              <a:ea typeface="vivo Sans" panose="02000300000000000000" charset="-122"/>
              <a:cs typeface="微软雅黑" panose="020B0503020204020204" charset="-122"/>
            </a:endParaRPr>
          </a:p>
        </p:txBody>
      </p:sp>
      <p:sp>
        <p:nvSpPr>
          <p:cNvPr id="42" name="圆角矩形 41"/>
          <p:cNvSpPr>
            <a:spLocks noGrp="1"/>
          </p:cNvSpPr>
          <p:nvPr/>
        </p:nvSpPr>
        <p:spPr>
          <a:xfrm>
            <a:off x="7981950" y="2247900"/>
            <a:ext cx="1743075" cy="3905250"/>
          </a:xfrm>
          <a:prstGeom prst="roundRect">
            <a:avLst>
              <a:gd name="adj" fmla="val 4372"/>
            </a:avLst>
          </a:prstGeom>
          <a:solidFill>
            <a:srgbClr val="FFFFFF"/>
          </a:solidFill>
          <a:ln w="9525">
            <a:solidFill>
              <a:srgbClr val="DCE3F2"/>
            </a:solidFill>
            <a:prstDash val="solid"/>
          </a:ln>
        </p:spPr>
      </p:sp>
      <p:pic>
        <p:nvPicPr>
          <p:cNvPr id="96" name="图片 95"/>
          <p:cNvPicPr>
            <a:picLocks noChangeAspect="1"/>
          </p:cNvPicPr>
          <p:nvPr/>
        </p:nvPicPr>
        <p:blipFill>
          <a:blip r:embed="rId5"/>
          <a:srcRect t="11223" b="11223"/>
          <a:stretch>
            <a:fillRect/>
          </a:stretch>
        </p:blipFill>
        <p:spPr>
          <a:xfrm>
            <a:off x="8096250" y="2400300"/>
            <a:ext cx="1514475" cy="2571750"/>
          </a:xfrm>
          <a:prstGeom prst="rect">
            <a:avLst/>
          </a:prstGeom>
        </p:spPr>
      </p:pic>
      <p:sp>
        <p:nvSpPr>
          <p:cNvPr id="44" name="矩形 43"/>
          <p:cNvSpPr>
            <a:spLocks noGrp="1"/>
          </p:cNvSpPr>
          <p:nvPr/>
        </p:nvSpPr>
        <p:spPr>
          <a:xfrm>
            <a:off x="8077200" y="5086350"/>
            <a:ext cx="1552575" cy="26670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0">
                <a:solidFill>
                  <a:srgbClr val="172033"/>
                </a:solidFill>
                <a:latin typeface="vivo Sans" panose="02000300000000000000" charset="-122"/>
                <a:ea typeface="vivo Sans" panose="02000300000000000000" charset="-122"/>
                <a:cs typeface="微软雅黑" panose="020B0503020204020204" charset="-122"/>
              </a:rPr>
              <a:t>回声系统测评</a:t>
            </a:r>
            <a:endParaRPr sz="9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45" name="矩形 44"/>
          <p:cNvSpPr>
            <a:spLocks noGrp="1"/>
          </p:cNvSpPr>
          <p:nvPr/>
        </p:nvSpPr>
        <p:spPr>
          <a:xfrm>
            <a:off x="8077200" y="5391150"/>
            <a:ext cx="1552575" cy="285750"/>
          </a:xfrm>
          <a:prstGeom prst="rect">
            <a:avLst/>
          </a:prstGeom>
          <a:noFill/>
          <a:ln w="0">
            <a:noFill/>
            <a:prstDash val="solid"/>
          </a:ln>
        </p:spPr>
        <p:txBody>
          <a:bodyPr anchor="ctr"/>
          <a:lstStyle/>
          <a:p>
            <a:pPr algn="ctr">
              <a:defRPr sz="1500" b="1">
                <a:solidFill>
                  <a:srgbClr val="3157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1.1万+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46" name="矩形 45"/>
          <p:cNvSpPr>
            <a:spLocks noGrp="1"/>
          </p:cNvSpPr>
          <p:nvPr/>
        </p:nvSpPr>
        <p:spPr>
          <a:xfrm>
            <a:off x="8077200" y="5715000"/>
            <a:ext cx="1552575" cy="247650"/>
          </a:xfrm>
          <a:prstGeom prst="rect">
            <a:avLst/>
          </a:prstGeom>
          <a:noFill/>
          <a:ln w="0">
            <a:noFill/>
            <a:prstDash val="solid"/>
          </a:ln>
        </p:spPr>
        <p:txBody>
          <a:bodyPr anchor="ctr"/>
          <a:lstStyle/>
          <a:p>
            <a:pPr algn="ctr">
              <a:defRPr sz="790" b="0">
                <a:solidFill>
                  <a:srgbClr val="667085"/>
                </a:solidFill>
                <a:latin typeface="微软雅黑" panose="020B0503020204020204" charset="-122"/>
                <a:ea typeface="微软雅黑" panose="020B0503020204020204" charset="-122"/>
                <a:cs typeface="微软雅黑" panose="020B0503020204020204" charset="-122"/>
              </a:defRPr>
            </a:pPr>
            <a:r>
              <a:rPr sz="790">
                <a:solidFill>
                  <a:srgbClr val="667085"/>
                </a:solidFill>
                <a:latin typeface="vivo Sans" panose="02000300000000000000" charset="-122"/>
                <a:ea typeface="vivo Sans" panose="02000300000000000000" charset="-122"/>
                <a:cs typeface="微软雅黑" panose="020B0503020204020204" charset="-122"/>
              </a:rPr>
              <a:t>系统功能挖掘</a:t>
            </a:r>
            <a:endParaRPr sz="790">
              <a:solidFill>
                <a:srgbClr val="667085"/>
              </a:solidFill>
              <a:latin typeface="vivo Sans" panose="02000300000000000000" charset="-122"/>
              <a:ea typeface="vivo Sans" panose="02000300000000000000" charset="-122"/>
              <a:cs typeface="微软雅黑" panose="020B0503020204020204" charset="-122"/>
            </a:endParaRPr>
          </a:p>
        </p:txBody>
      </p:sp>
      <p:sp>
        <p:nvSpPr>
          <p:cNvPr id="47" name="圆角矩形 46"/>
          <p:cNvSpPr>
            <a:spLocks noGrp="1"/>
          </p:cNvSpPr>
          <p:nvPr/>
        </p:nvSpPr>
        <p:spPr>
          <a:xfrm>
            <a:off x="9877425" y="2247900"/>
            <a:ext cx="1743075" cy="3905250"/>
          </a:xfrm>
          <a:prstGeom prst="roundRect">
            <a:avLst>
              <a:gd name="adj" fmla="val 4372"/>
            </a:avLst>
          </a:prstGeom>
          <a:solidFill>
            <a:srgbClr val="FFFFFF"/>
          </a:solidFill>
          <a:ln w="9525">
            <a:solidFill>
              <a:srgbClr val="DCE3F2"/>
            </a:solidFill>
            <a:prstDash val="solid"/>
          </a:ln>
        </p:spPr>
      </p:sp>
      <p:pic>
        <p:nvPicPr>
          <p:cNvPr id="101" name="图片 100"/>
          <p:cNvPicPr>
            <a:picLocks noChangeAspect="1"/>
          </p:cNvPicPr>
          <p:nvPr/>
        </p:nvPicPr>
        <p:blipFill>
          <a:blip r:embed="rId6"/>
          <a:srcRect t="10855" b="10855"/>
          <a:stretch>
            <a:fillRect/>
          </a:stretch>
        </p:blipFill>
        <p:spPr>
          <a:xfrm>
            <a:off x="9991725" y="2400300"/>
            <a:ext cx="1514475" cy="2571750"/>
          </a:xfrm>
          <a:prstGeom prst="rect">
            <a:avLst/>
          </a:prstGeom>
        </p:spPr>
      </p:pic>
      <p:sp>
        <p:nvSpPr>
          <p:cNvPr id="49" name="矩形 48"/>
          <p:cNvSpPr>
            <a:spLocks noGrp="1"/>
          </p:cNvSpPr>
          <p:nvPr/>
        </p:nvSpPr>
        <p:spPr>
          <a:xfrm>
            <a:off x="9972675" y="5086350"/>
            <a:ext cx="1552575" cy="26670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0">
                <a:solidFill>
                  <a:srgbClr val="172033"/>
                </a:solidFill>
                <a:latin typeface="vivo Sans" panose="02000300000000000000" charset="-122"/>
                <a:ea typeface="vivo Sans" panose="02000300000000000000" charset="-122"/>
                <a:cs typeface="微软雅黑" panose="020B0503020204020204" charset="-122"/>
              </a:rPr>
              <a:t>回声数码站</a:t>
            </a:r>
            <a:endParaRPr sz="9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50" name="矩形 49"/>
          <p:cNvSpPr>
            <a:spLocks noGrp="1"/>
          </p:cNvSpPr>
          <p:nvPr/>
        </p:nvSpPr>
        <p:spPr>
          <a:xfrm>
            <a:off x="9972675" y="5391150"/>
            <a:ext cx="1552575" cy="285750"/>
          </a:xfrm>
          <a:prstGeom prst="rect">
            <a:avLst/>
          </a:prstGeom>
          <a:noFill/>
          <a:ln w="0">
            <a:noFill/>
            <a:prstDash val="solid"/>
          </a:ln>
        </p:spPr>
        <p:txBody>
          <a:bodyPr anchor="ctr"/>
          <a:lstStyle/>
          <a:p>
            <a:pPr algn="ctr">
              <a:defRPr sz="1500" b="1">
                <a:solidFill>
                  <a:srgbClr val="3157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微软雅黑" panose="020B0503020204020204" charset="-122"/>
              </a:rPr>
              <a:t>6752</a:t>
            </a:r>
            <a:endParaRPr sz="1500">
              <a:solidFill>
                <a:srgbClr val="3157FF"/>
              </a:solidFill>
              <a:latin typeface="vivo Sans" panose="02000300000000000000" charset="-122"/>
              <a:ea typeface="vivo Sans" panose="02000300000000000000" charset="-122"/>
              <a:cs typeface="微软雅黑" panose="020B0503020204020204" charset="-122"/>
            </a:endParaRPr>
          </a:p>
        </p:txBody>
      </p:sp>
      <p:sp>
        <p:nvSpPr>
          <p:cNvPr id="51" name="矩形 50"/>
          <p:cNvSpPr>
            <a:spLocks noGrp="1"/>
          </p:cNvSpPr>
          <p:nvPr/>
        </p:nvSpPr>
        <p:spPr>
          <a:xfrm>
            <a:off x="9972675" y="5715000"/>
            <a:ext cx="1552575" cy="247650"/>
          </a:xfrm>
          <a:prstGeom prst="rect">
            <a:avLst/>
          </a:prstGeom>
          <a:noFill/>
          <a:ln w="0">
            <a:noFill/>
            <a:prstDash val="solid"/>
          </a:ln>
        </p:spPr>
        <p:txBody>
          <a:bodyPr anchor="ctr"/>
          <a:lstStyle/>
          <a:p>
            <a:pPr algn="ctr">
              <a:defRPr sz="790" b="0">
                <a:solidFill>
                  <a:srgbClr val="667085"/>
                </a:solidFill>
                <a:latin typeface="微软雅黑" panose="020B0503020204020204" charset="-122"/>
                <a:ea typeface="微软雅黑" panose="020B0503020204020204" charset="-122"/>
                <a:cs typeface="微软雅黑" panose="020B0503020204020204" charset="-122"/>
              </a:defRPr>
            </a:pPr>
            <a:r>
              <a:rPr sz="790">
                <a:solidFill>
                  <a:srgbClr val="667085"/>
                </a:solidFill>
                <a:latin typeface="vivo Sans" panose="02000300000000000000" charset="-122"/>
                <a:ea typeface="vivo Sans" panose="02000300000000000000" charset="-122"/>
                <a:cs typeface="微软雅黑" panose="020B0503020204020204" charset="-122"/>
              </a:rPr>
              <a:t>热点资讯速报</a:t>
            </a:r>
            <a:endParaRPr sz="790">
              <a:solidFill>
                <a:srgbClr val="667085"/>
              </a:solidFill>
              <a:latin typeface="vivo Sans" panose="02000300000000000000" charset="-122"/>
              <a:ea typeface="vivo Sans" panose="02000300000000000000" charset="-122"/>
              <a:cs typeface="微软雅黑" panose="020B0503020204020204" charset="-122"/>
            </a:endParaRPr>
          </a:p>
        </p:txBody>
      </p:sp>
      <p:sp>
        <p:nvSpPr>
          <p:cNvPr id="52" name="圆角矩形 51"/>
          <p:cNvSpPr>
            <a:spLocks noGrp="1"/>
          </p:cNvSpPr>
          <p:nvPr/>
        </p:nvSpPr>
        <p:spPr>
          <a:xfrm>
            <a:off x="400050" y="6248400"/>
            <a:ext cx="11391900" cy="228600"/>
          </a:xfrm>
          <a:prstGeom prst="roundRect">
            <a:avLst>
              <a:gd name="adj" fmla="val 33333"/>
            </a:avLst>
          </a:prstGeom>
          <a:solidFill>
            <a:srgbClr val="1230A5"/>
          </a:solidFill>
          <a:ln w="0">
            <a:noFill/>
            <a:prstDash val="solid"/>
          </a:ln>
        </p:spPr>
      </p:sp>
      <p:sp>
        <p:nvSpPr>
          <p:cNvPr id="53" name="矩形 52"/>
          <p:cNvSpPr>
            <a:spLocks noGrp="1"/>
          </p:cNvSpPr>
          <p:nvPr/>
        </p:nvSpPr>
        <p:spPr>
          <a:xfrm>
            <a:off x="514350" y="6267450"/>
            <a:ext cx="11163300" cy="190500"/>
          </a:xfrm>
          <a:prstGeom prst="rect">
            <a:avLst/>
          </a:prstGeom>
          <a:noFill/>
          <a:ln w="0">
            <a:noFill/>
            <a:prstDash val="solid"/>
          </a:ln>
        </p:spPr>
        <p:txBody>
          <a:bodyPr anchor="ctr"/>
          <a:lstStyle/>
          <a:p>
            <a:pPr algn="ctr">
              <a:defRPr sz="865" b="1">
                <a:solidFill>
                  <a:srgbClr val="FFFFFF"/>
                </a:solidFill>
                <a:latin typeface="微软雅黑" panose="020B0503020204020204" charset="-122"/>
                <a:ea typeface="微软雅黑" panose="020B0503020204020204" charset="-122"/>
                <a:cs typeface="微软雅黑" panose="020B0503020204020204" charset="-122"/>
              </a:defRPr>
            </a:pPr>
            <a:r>
              <a:rPr sz="865" b="0">
                <a:solidFill>
                  <a:srgbClr val="FFFFFF"/>
                </a:solidFill>
                <a:latin typeface="vivo Sans" panose="02000300000000000000" charset="-122"/>
                <a:ea typeface="vivo Sans" panose="02000300000000000000" charset="-122"/>
                <a:cs typeface="vivo Sans" panose="02000300000000000000" charset="-122"/>
              </a:rPr>
              <a:t>矩阵价值：不同账号承担不同流量入口，共同沉淀vivo在数码3C用户中的长期专业影响力</a:t>
            </a:r>
            <a:endParaRPr sz="865" b="0">
              <a:solidFill>
                <a:srgbClr val="FFFFFF"/>
              </a:solidFill>
              <a:latin typeface="vivo Sans" panose="02000300000000000000" charset="-122"/>
              <a:ea typeface="vivo Sans" panose="02000300000000000000" charset="-122"/>
              <a:cs typeface="vivo Sans" panose="020003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0"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lang="zh-CN" sz="1800" b="1">
                <a:solidFill>
                  <a:srgbClr val="FFFFFF"/>
                </a:solidFill>
                <a:latin typeface="vivo Sans Regular" panose="02000300000000000000" charset="-122"/>
                <a:ea typeface="vivo Sans Regular" panose="02000300000000000000" charset="-122"/>
                <a:cs typeface="vivo Sans Regular" panose="02000300000000000000" charset="-122"/>
              </a:rPr>
              <a:t>品牌</a:t>
            </a:r>
            <a:r>
              <a:rPr sz="1800" b="1">
                <a:solidFill>
                  <a:srgbClr val="FFFFFF"/>
                </a:solidFill>
                <a:latin typeface="vivo Sans Regular" panose="02000300000000000000" charset="-122"/>
                <a:ea typeface="vivo Sans Regular" panose="02000300000000000000" charset="-122"/>
                <a:cs typeface="vivo Sans Regular" panose="02000300000000000000" charset="-122"/>
              </a:rPr>
              <a:t>新品</a:t>
            </a:r>
            <a:r>
              <a:rPr lang="zh-CN" sz="1800" b="1">
                <a:solidFill>
                  <a:srgbClr val="FFFFFF"/>
                </a:solidFill>
                <a:latin typeface="vivo Sans Regular" panose="02000300000000000000" charset="-122"/>
                <a:ea typeface="vivo Sans Regular" panose="02000300000000000000" charset="-122"/>
                <a:cs typeface="vivo Sans Regular" panose="02000300000000000000" charset="-122"/>
              </a:rPr>
              <a:t>传播内容亮点</a:t>
            </a:r>
            <a:endParaRPr sz="1800" b="1">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vivo Sans Regular" panose="02000300000000000000" charset="-122"/>
                <a:ea typeface="vivo Sans Regular" panose="02000300000000000000" charset="-122"/>
                <a:cs typeface="微软雅黑" panose="020B0503020204020204" charset="-122"/>
              </a:rPr>
              <a:t>04</a:t>
            </a:r>
            <a:endParaRPr sz="675" b="0">
              <a:solidFill>
                <a:srgbClr val="8A96AA"/>
              </a:solidFill>
              <a:latin typeface="vivo Sans Regular" panose="02000300000000000000" charset="-122"/>
              <a:ea typeface="vivo Sans Regular" panose="02000300000000000000" charset="-122"/>
              <a:cs typeface="微软雅黑" panose="020B0503020204020204" charset="-122"/>
            </a:endParaRPr>
          </a:p>
        </p:txBody>
      </p:sp>
      <p:sp>
        <p:nvSpPr>
          <p:cNvPr id="6" name="矩形 5"/>
          <p:cNvSpPr>
            <a:spLocks noGrp="1"/>
          </p:cNvSpPr>
          <p:nvPr/>
        </p:nvSpPr>
        <p:spPr>
          <a:xfrm>
            <a:off x="400050" y="838200"/>
            <a:ext cx="17145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vivo Sans Regular" panose="02000300000000000000" charset="-122"/>
                <a:ea typeface="vivo Sans Regular" panose="02000300000000000000" charset="-122"/>
                <a:cs typeface="vivo Sans Regular" panose="02000300000000000000" charset="-122"/>
              </a:rPr>
              <a:t>H1新品成果</a:t>
            </a:r>
            <a:endParaRPr sz="9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7" name="圆角矩形 6"/>
          <p:cNvSpPr>
            <a:spLocks noGrp="1"/>
          </p:cNvSpPr>
          <p:nvPr/>
        </p:nvSpPr>
        <p:spPr>
          <a:xfrm>
            <a:off x="400050" y="1123950"/>
            <a:ext cx="1285875" cy="666750"/>
          </a:xfrm>
          <a:prstGeom prst="roundRect">
            <a:avLst>
              <a:gd name="adj" fmla="val 11429"/>
            </a:avLst>
          </a:prstGeom>
          <a:solidFill>
            <a:srgbClr val="F5F7FF"/>
          </a:solidFill>
          <a:ln w="9525">
            <a:solidFill>
              <a:srgbClr val="DCE3F2"/>
            </a:solidFill>
            <a:prstDash val="solid"/>
          </a:ln>
        </p:spPr>
      </p:sp>
      <p:sp>
        <p:nvSpPr>
          <p:cNvPr id="8" name="矩形 7"/>
          <p:cNvSpPr>
            <a:spLocks noGrp="1"/>
          </p:cNvSpPr>
          <p:nvPr/>
        </p:nvSpPr>
        <p:spPr>
          <a:xfrm>
            <a:off x="514350" y="1171575"/>
            <a:ext cx="1057275"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24条</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9" name="矩形 8"/>
          <p:cNvSpPr>
            <a:spLocks noGrp="1"/>
          </p:cNvSpPr>
          <p:nvPr/>
        </p:nvSpPr>
        <p:spPr>
          <a:xfrm>
            <a:off x="495300" y="1524000"/>
            <a:ext cx="1095375"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新品内容</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10" name="圆角矩形 9"/>
          <p:cNvSpPr>
            <a:spLocks noGrp="1"/>
          </p:cNvSpPr>
          <p:nvPr/>
        </p:nvSpPr>
        <p:spPr>
          <a:xfrm>
            <a:off x="1800225" y="1123950"/>
            <a:ext cx="1285875"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1914525" y="1171575"/>
            <a:ext cx="1057275"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5款</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2" name="矩形 11"/>
          <p:cNvSpPr>
            <a:spLocks noGrp="1"/>
          </p:cNvSpPr>
          <p:nvPr/>
        </p:nvSpPr>
        <p:spPr>
          <a:xfrm>
            <a:off x="1895475" y="1524000"/>
            <a:ext cx="1095375"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核心机型</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13" name="圆角矩形 12"/>
          <p:cNvSpPr>
            <a:spLocks noGrp="1"/>
          </p:cNvSpPr>
          <p:nvPr/>
        </p:nvSpPr>
        <p:spPr>
          <a:xfrm>
            <a:off x="3200400" y="1123950"/>
            <a:ext cx="1285875"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3314700" y="1171575"/>
            <a:ext cx="1057275"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457万+</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5" name="矩形 14"/>
          <p:cNvSpPr>
            <a:spLocks noGrp="1"/>
          </p:cNvSpPr>
          <p:nvPr/>
        </p:nvSpPr>
        <p:spPr>
          <a:xfrm>
            <a:off x="3295650" y="1524000"/>
            <a:ext cx="1095375"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累计曝光</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16" name="圆角矩形 15"/>
          <p:cNvSpPr>
            <a:spLocks noGrp="1"/>
          </p:cNvSpPr>
          <p:nvPr/>
        </p:nvSpPr>
        <p:spPr>
          <a:xfrm>
            <a:off x="4600575" y="1123950"/>
            <a:ext cx="1285875" cy="666750"/>
          </a:xfrm>
          <a:prstGeom prst="roundRect">
            <a:avLst>
              <a:gd name="adj" fmla="val 11429"/>
            </a:avLst>
          </a:prstGeom>
          <a:solidFill>
            <a:srgbClr val="F5F7FF"/>
          </a:solidFill>
          <a:ln w="9525">
            <a:solidFill>
              <a:srgbClr val="DCE3F2"/>
            </a:solidFill>
            <a:prstDash val="solid"/>
          </a:ln>
        </p:spPr>
      </p:sp>
      <p:sp>
        <p:nvSpPr>
          <p:cNvPr id="17" name="矩形 16"/>
          <p:cNvSpPr>
            <a:spLocks noGrp="1"/>
          </p:cNvSpPr>
          <p:nvPr/>
        </p:nvSpPr>
        <p:spPr>
          <a:xfrm>
            <a:off x="4714875" y="1171575"/>
            <a:ext cx="1057275"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9</a:t>
            </a:r>
            <a:r>
              <a:rPr lang="en-US" sz="1875" b="1">
                <a:solidFill>
                  <a:srgbClr val="3157FF"/>
                </a:solidFill>
                <a:latin typeface="vivo Sans Regular" panose="02000300000000000000" charset="-122"/>
                <a:ea typeface="vivo Sans Regular" panose="02000300000000000000" charset="-122"/>
                <a:cs typeface="vivo Sans Regular" panose="02000300000000000000" charset="-122"/>
              </a:rPr>
              <a:t>8</a:t>
            </a:r>
            <a:r>
              <a:rPr sz="1875" b="1">
                <a:solidFill>
                  <a:srgbClr val="3157FF"/>
                </a:solidFill>
                <a:latin typeface="vivo Sans Regular" panose="02000300000000000000" charset="-122"/>
                <a:ea typeface="vivo Sans Regular" panose="02000300000000000000" charset="-122"/>
                <a:cs typeface="vivo Sans Regular" panose="02000300000000000000" charset="-122"/>
              </a:rPr>
              <a:t>万+</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8" name="矩形 17"/>
          <p:cNvSpPr>
            <a:spLocks noGrp="1"/>
          </p:cNvSpPr>
          <p:nvPr/>
        </p:nvSpPr>
        <p:spPr>
          <a:xfrm>
            <a:off x="4695825" y="1524000"/>
            <a:ext cx="1095375"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单条最高</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19" name="圆角矩形 18"/>
          <p:cNvSpPr>
            <a:spLocks noGrp="1"/>
          </p:cNvSpPr>
          <p:nvPr/>
        </p:nvSpPr>
        <p:spPr>
          <a:xfrm>
            <a:off x="400050" y="2019300"/>
            <a:ext cx="1028700" cy="2514600"/>
          </a:xfrm>
          <a:prstGeom prst="roundRect">
            <a:avLst>
              <a:gd name="adj" fmla="val 7407"/>
            </a:avLst>
          </a:prstGeom>
          <a:solidFill>
            <a:srgbClr val="FFFFFF"/>
          </a:solidFill>
          <a:ln w="9525">
            <a:solidFill>
              <a:srgbClr val="DCE3F2"/>
            </a:solidFill>
            <a:prstDash val="solid"/>
          </a:ln>
        </p:spPr>
      </p:sp>
      <p:pic>
        <p:nvPicPr>
          <p:cNvPr id="69" name="图片 68"/>
          <p:cNvPicPr>
            <a:picLocks noChangeAspect="1"/>
          </p:cNvPicPr>
          <p:nvPr/>
        </p:nvPicPr>
        <p:blipFill>
          <a:blip r:embed="rId2"/>
          <a:srcRect t="2490" b="2490"/>
          <a:stretch>
            <a:fillRect/>
          </a:stretch>
        </p:blipFill>
        <p:spPr>
          <a:xfrm>
            <a:off x="476250" y="2133600"/>
            <a:ext cx="876300" cy="1809750"/>
          </a:xfrm>
          <a:prstGeom prst="rect">
            <a:avLst/>
          </a:prstGeom>
        </p:spPr>
      </p:pic>
      <p:sp>
        <p:nvSpPr>
          <p:cNvPr id="21" name="矩形 20"/>
          <p:cNvSpPr>
            <a:spLocks noGrp="1"/>
          </p:cNvSpPr>
          <p:nvPr/>
        </p:nvSpPr>
        <p:spPr>
          <a:xfrm>
            <a:off x="447675" y="4000500"/>
            <a:ext cx="933450" cy="228600"/>
          </a:xfrm>
          <a:prstGeom prst="rect">
            <a:avLst/>
          </a:prstGeom>
          <a:noFill/>
          <a:ln w="0">
            <a:noFill/>
            <a:prstDash val="solid"/>
          </a:ln>
        </p:spPr>
        <p:txBody>
          <a:bodyPr anchor="ctr"/>
          <a:lstStyle/>
          <a:p>
            <a:pPr algn="ctr">
              <a:defRPr sz="790" b="1">
                <a:solidFill>
                  <a:srgbClr val="172033"/>
                </a:solidFill>
                <a:latin typeface="微软雅黑" panose="020B0503020204020204" charset="-122"/>
                <a:ea typeface="微软雅黑" panose="020B0503020204020204" charset="-122"/>
                <a:cs typeface="微软雅黑" panose="020B0503020204020204" charset="-122"/>
              </a:defRPr>
            </a:pPr>
            <a:r>
              <a:rPr sz="790" b="1">
                <a:solidFill>
                  <a:srgbClr val="172033"/>
                </a:solidFill>
                <a:latin typeface="vivo Sans Regular" panose="02000300000000000000" charset="-122"/>
                <a:ea typeface="vivo Sans Regular" panose="02000300000000000000" charset="-122"/>
                <a:cs typeface="微软雅黑" panose="020B0503020204020204" charset="-122"/>
              </a:rPr>
              <a:t>iQOO 15T</a:t>
            </a:r>
            <a:endParaRPr sz="79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22" name="矩形 21"/>
          <p:cNvSpPr>
            <a:spLocks noGrp="1"/>
          </p:cNvSpPr>
          <p:nvPr/>
        </p:nvSpPr>
        <p:spPr>
          <a:xfrm>
            <a:off x="447675" y="4248150"/>
            <a:ext cx="933450" cy="190500"/>
          </a:xfrm>
          <a:prstGeom prst="rect">
            <a:avLst/>
          </a:prstGeom>
          <a:noFill/>
          <a:ln w="0">
            <a:noFill/>
            <a:prstDash val="solid"/>
          </a:ln>
        </p:spPr>
        <p:txBody>
          <a:bodyPr anchor="ctr"/>
          <a:lstStyle/>
          <a:p>
            <a:pPr algn="ctr">
              <a:defRPr sz="900" b="1">
                <a:solidFill>
                  <a:srgbClr val="3157FF"/>
                </a:solidFill>
                <a:latin typeface="微软雅黑" panose="020B0503020204020204" charset="-122"/>
                <a:ea typeface="微软雅黑" panose="020B0503020204020204" charset="-122"/>
                <a:cs typeface="微软雅黑" panose="020B0503020204020204" charset="-122"/>
              </a:defRPr>
            </a:pPr>
            <a:r>
              <a:rPr sz="1400">
                <a:solidFill>
                  <a:srgbClr val="3157FF"/>
                </a:solidFill>
                <a:latin typeface="vivo Sans Regular" panose="02000300000000000000" charset="-122"/>
                <a:ea typeface="vivo Sans Regular" panose="02000300000000000000" charset="-122"/>
                <a:cs typeface="微软雅黑" panose="020B0503020204020204" charset="-122"/>
              </a:rPr>
              <a:t>30</a:t>
            </a:r>
            <a:r>
              <a:rPr lang="en-US" sz="1400">
                <a:solidFill>
                  <a:srgbClr val="3157FF"/>
                </a:solidFill>
                <a:latin typeface="vivo Sans Regular" panose="02000300000000000000" charset="-122"/>
                <a:ea typeface="vivo Sans Regular" panose="02000300000000000000" charset="-122"/>
                <a:cs typeface="微软雅黑" panose="020B0503020204020204" charset="-122"/>
              </a:rPr>
              <a:t>w</a:t>
            </a:r>
            <a:r>
              <a:rPr sz="1400">
                <a:solidFill>
                  <a:srgbClr val="3157FF"/>
                </a:solidFill>
                <a:latin typeface="vivo Sans Regular" panose="02000300000000000000" charset="-122"/>
                <a:ea typeface="vivo Sans Regular" panose="02000300000000000000" charset="-122"/>
                <a:cs typeface="微软雅黑" panose="020B0503020204020204" charset="-122"/>
              </a:rPr>
              <a:t>+</a:t>
            </a:r>
            <a:endParaRPr sz="1400">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23" name="圆角矩形 22"/>
          <p:cNvSpPr>
            <a:spLocks noGrp="1"/>
          </p:cNvSpPr>
          <p:nvPr/>
        </p:nvSpPr>
        <p:spPr>
          <a:xfrm>
            <a:off x="1524000" y="2019300"/>
            <a:ext cx="1028700" cy="2515235"/>
          </a:xfrm>
          <a:prstGeom prst="roundRect">
            <a:avLst>
              <a:gd name="adj" fmla="val 7407"/>
            </a:avLst>
          </a:prstGeom>
          <a:solidFill>
            <a:srgbClr val="FFFFFF"/>
          </a:solidFill>
          <a:ln w="9525">
            <a:solidFill>
              <a:srgbClr val="DCE3F2"/>
            </a:solidFill>
            <a:prstDash val="solid"/>
          </a:ln>
        </p:spPr>
      </p:sp>
      <p:sp>
        <p:nvSpPr>
          <p:cNvPr id="31" name="圆角矩形 30"/>
          <p:cNvSpPr>
            <a:spLocks noGrp="1"/>
          </p:cNvSpPr>
          <p:nvPr/>
        </p:nvSpPr>
        <p:spPr>
          <a:xfrm>
            <a:off x="3771900" y="2019300"/>
            <a:ext cx="1028700" cy="2515235"/>
          </a:xfrm>
          <a:prstGeom prst="roundRect">
            <a:avLst>
              <a:gd name="adj" fmla="val 7407"/>
            </a:avLst>
          </a:prstGeom>
          <a:solidFill>
            <a:srgbClr val="FFFFFF"/>
          </a:solidFill>
          <a:ln w="9525">
            <a:solidFill>
              <a:srgbClr val="DCE3F2"/>
            </a:solidFill>
            <a:prstDash val="solid"/>
          </a:ln>
        </p:spPr>
      </p:sp>
      <p:pic>
        <p:nvPicPr>
          <p:cNvPr id="73" name="图片 72"/>
          <p:cNvPicPr>
            <a:picLocks noChangeAspect="1"/>
          </p:cNvPicPr>
          <p:nvPr/>
        </p:nvPicPr>
        <p:blipFill>
          <a:blip r:embed="rId3"/>
          <a:srcRect t="2490" b="2490"/>
          <a:stretch>
            <a:fillRect/>
          </a:stretch>
        </p:blipFill>
        <p:spPr>
          <a:xfrm>
            <a:off x="1600200" y="2133600"/>
            <a:ext cx="876300" cy="1809750"/>
          </a:xfrm>
          <a:prstGeom prst="rect">
            <a:avLst/>
          </a:prstGeom>
        </p:spPr>
      </p:pic>
      <p:sp>
        <p:nvSpPr>
          <p:cNvPr id="25" name="矩形 24"/>
          <p:cNvSpPr>
            <a:spLocks noGrp="1"/>
          </p:cNvSpPr>
          <p:nvPr/>
        </p:nvSpPr>
        <p:spPr>
          <a:xfrm>
            <a:off x="1571625" y="4000500"/>
            <a:ext cx="933450" cy="228600"/>
          </a:xfrm>
          <a:prstGeom prst="rect">
            <a:avLst/>
          </a:prstGeom>
          <a:noFill/>
          <a:ln w="0">
            <a:noFill/>
            <a:prstDash val="solid"/>
          </a:ln>
        </p:spPr>
        <p:txBody>
          <a:bodyPr anchor="ctr"/>
          <a:lstStyle/>
          <a:p>
            <a:pPr algn="ctr">
              <a:defRPr sz="790" b="1">
                <a:solidFill>
                  <a:srgbClr val="172033"/>
                </a:solidFill>
                <a:latin typeface="微软雅黑" panose="020B0503020204020204" charset="-122"/>
                <a:ea typeface="微软雅黑" panose="020B0503020204020204" charset="-122"/>
                <a:cs typeface="微软雅黑" panose="020B0503020204020204" charset="-122"/>
              </a:defRPr>
            </a:pPr>
            <a:r>
              <a:rPr sz="790" b="1">
                <a:solidFill>
                  <a:srgbClr val="172033"/>
                </a:solidFill>
                <a:latin typeface="vivo Sans Regular" panose="02000300000000000000" charset="-122"/>
                <a:ea typeface="vivo Sans Regular" panose="02000300000000000000" charset="-122"/>
                <a:cs typeface="微软雅黑" panose="020B0503020204020204" charset="-122"/>
              </a:rPr>
              <a:t>S60</a:t>
            </a:r>
            <a:endParaRPr sz="79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26" name="矩形 25"/>
          <p:cNvSpPr>
            <a:spLocks noGrp="1"/>
          </p:cNvSpPr>
          <p:nvPr/>
        </p:nvSpPr>
        <p:spPr>
          <a:xfrm>
            <a:off x="1571625" y="4248150"/>
            <a:ext cx="933450" cy="190500"/>
          </a:xfrm>
          <a:prstGeom prst="rect">
            <a:avLst/>
          </a:prstGeom>
          <a:noFill/>
          <a:ln w="0">
            <a:noFill/>
            <a:prstDash val="solid"/>
          </a:ln>
        </p:spPr>
        <p:txBody>
          <a:bodyPr anchor="ctr"/>
          <a:lstStyle/>
          <a:p>
            <a:pPr algn="ctr">
              <a:defRPr sz="900" b="1">
                <a:solidFill>
                  <a:srgbClr val="3157FF"/>
                </a:solidFill>
                <a:latin typeface="微软雅黑" panose="020B0503020204020204" charset="-122"/>
                <a:ea typeface="微软雅黑" panose="020B0503020204020204" charset="-122"/>
                <a:cs typeface="微软雅黑" panose="020B0503020204020204" charset="-122"/>
              </a:defRPr>
            </a:pPr>
            <a:r>
              <a:rPr lang="en-US" sz="1400">
                <a:solidFill>
                  <a:srgbClr val="3157FF"/>
                </a:solidFill>
                <a:latin typeface="vivo Sans Regular" panose="02000300000000000000" charset="-122"/>
                <a:ea typeface="vivo Sans Regular" panose="02000300000000000000" charset="-122"/>
                <a:cs typeface="微软雅黑" panose="020B0503020204020204" charset="-122"/>
              </a:rPr>
              <a:t>78w</a:t>
            </a:r>
            <a:r>
              <a:rPr sz="1400">
                <a:solidFill>
                  <a:srgbClr val="3157FF"/>
                </a:solidFill>
                <a:latin typeface="vivo Sans Regular" panose="02000300000000000000" charset="-122"/>
                <a:ea typeface="vivo Sans Regular" panose="02000300000000000000" charset="-122"/>
                <a:cs typeface="微软雅黑" panose="020B0503020204020204" charset="-122"/>
              </a:rPr>
              <a:t>+</a:t>
            </a:r>
            <a:endParaRPr sz="1400">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27" name="圆角矩形 26"/>
          <p:cNvSpPr>
            <a:spLocks noGrp="1"/>
          </p:cNvSpPr>
          <p:nvPr/>
        </p:nvSpPr>
        <p:spPr>
          <a:xfrm>
            <a:off x="2647950" y="2019300"/>
            <a:ext cx="1028700" cy="2515235"/>
          </a:xfrm>
          <a:prstGeom prst="roundRect">
            <a:avLst>
              <a:gd name="adj" fmla="val 7407"/>
            </a:avLst>
          </a:prstGeom>
          <a:solidFill>
            <a:srgbClr val="FFFFFF"/>
          </a:solidFill>
          <a:ln w="9525">
            <a:solidFill>
              <a:srgbClr val="DCE3F2"/>
            </a:solidFill>
            <a:prstDash val="solid"/>
          </a:ln>
        </p:spPr>
      </p:sp>
      <p:pic>
        <p:nvPicPr>
          <p:cNvPr id="77" name="图片 76"/>
          <p:cNvPicPr>
            <a:picLocks noChangeAspect="1"/>
          </p:cNvPicPr>
          <p:nvPr/>
        </p:nvPicPr>
        <p:blipFill>
          <a:blip r:embed="rId4"/>
          <a:srcRect t="2733" b="2733"/>
          <a:stretch>
            <a:fillRect/>
          </a:stretch>
        </p:blipFill>
        <p:spPr>
          <a:xfrm>
            <a:off x="3838575" y="2133600"/>
            <a:ext cx="876300" cy="1809750"/>
          </a:xfrm>
          <a:prstGeom prst="rect">
            <a:avLst/>
          </a:prstGeom>
        </p:spPr>
      </p:pic>
      <p:sp>
        <p:nvSpPr>
          <p:cNvPr id="29" name="矩形 28"/>
          <p:cNvSpPr>
            <a:spLocks noGrp="1"/>
          </p:cNvSpPr>
          <p:nvPr/>
        </p:nvSpPr>
        <p:spPr>
          <a:xfrm>
            <a:off x="2695575" y="4000500"/>
            <a:ext cx="933450" cy="228600"/>
          </a:xfrm>
          <a:prstGeom prst="rect">
            <a:avLst/>
          </a:prstGeom>
          <a:noFill/>
          <a:ln w="0">
            <a:noFill/>
            <a:prstDash val="solid"/>
          </a:ln>
        </p:spPr>
        <p:txBody>
          <a:bodyPr anchor="ctr"/>
          <a:lstStyle/>
          <a:p>
            <a:pPr algn="ctr">
              <a:defRPr sz="790" b="1">
                <a:solidFill>
                  <a:srgbClr val="172033"/>
                </a:solidFill>
                <a:latin typeface="微软雅黑" panose="020B0503020204020204" charset="-122"/>
                <a:ea typeface="微软雅黑" panose="020B0503020204020204" charset="-122"/>
                <a:cs typeface="微软雅黑" panose="020B0503020204020204" charset="-122"/>
              </a:defRPr>
            </a:pPr>
            <a:r>
              <a:rPr lang="en-US" sz="790" b="1">
                <a:solidFill>
                  <a:srgbClr val="172033"/>
                </a:solidFill>
                <a:latin typeface="vivo Sans Regular" panose="02000300000000000000" charset="-122"/>
                <a:ea typeface="vivo Sans Regular" panose="02000300000000000000" charset="-122"/>
                <a:cs typeface="微软雅黑" panose="020B0503020204020204" charset="-122"/>
              </a:rPr>
              <a:t>S60</a:t>
            </a:r>
            <a:endParaRPr lang="en-US" sz="79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30" name="矩形 29"/>
          <p:cNvSpPr>
            <a:spLocks noGrp="1"/>
          </p:cNvSpPr>
          <p:nvPr/>
        </p:nvSpPr>
        <p:spPr>
          <a:xfrm>
            <a:off x="2695575" y="4248150"/>
            <a:ext cx="933450" cy="190500"/>
          </a:xfrm>
          <a:prstGeom prst="rect">
            <a:avLst/>
          </a:prstGeom>
          <a:noFill/>
          <a:ln w="0">
            <a:noFill/>
            <a:prstDash val="solid"/>
          </a:ln>
        </p:spPr>
        <p:txBody>
          <a:bodyPr anchor="ctr"/>
          <a:lstStyle/>
          <a:p>
            <a:pPr algn="ctr">
              <a:defRPr sz="900" b="1">
                <a:solidFill>
                  <a:srgbClr val="3157FF"/>
                </a:solidFill>
                <a:latin typeface="微软雅黑" panose="020B0503020204020204" charset="-122"/>
                <a:ea typeface="微软雅黑" panose="020B0503020204020204" charset="-122"/>
                <a:cs typeface="微软雅黑" panose="020B0503020204020204" charset="-122"/>
              </a:defRPr>
            </a:pPr>
            <a:r>
              <a:rPr lang="en-US" sz="1400">
                <a:solidFill>
                  <a:srgbClr val="3157FF"/>
                </a:solidFill>
                <a:latin typeface="vivo Sans Regular" panose="02000300000000000000" charset="-122"/>
                <a:ea typeface="vivo Sans Regular" panose="02000300000000000000" charset="-122"/>
                <a:cs typeface="vivo Sans" panose="02000300000000000000" charset="-122"/>
              </a:rPr>
              <a:t>9</a:t>
            </a:r>
            <a:r>
              <a:rPr sz="1400">
                <a:solidFill>
                  <a:srgbClr val="3157FF"/>
                </a:solidFill>
                <a:latin typeface="vivo Sans Regular" panose="02000300000000000000" charset="-122"/>
                <a:ea typeface="vivo Sans Regular" panose="02000300000000000000" charset="-122"/>
                <a:cs typeface="vivo Sans" panose="02000300000000000000" charset="-122"/>
              </a:rPr>
              <a:t>8</a:t>
            </a:r>
            <a:r>
              <a:rPr lang="en-US" sz="1400">
                <a:solidFill>
                  <a:srgbClr val="3157FF"/>
                </a:solidFill>
                <a:latin typeface="vivo Sans Regular" panose="02000300000000000000" charset="-122"/>
                <a:ea typeface="vivo Sans Regular" panose="02000300000000000000" charset="-122"/>
                <a:cs typeface="vivo Sans" panose="02000300000000000000" charset="-122"/>
              </a:rPr>
              <a:t>w</a:t>
            </a:r>
            <a:r>
              <a:rPr sz="1400">
                <a:solidFill>
                  <a:srgbClr val="3157FF"/>
                </a:solidFill>
                <a:latin typeface="vivo Sans Regular" panose="02000300000000000000" charset="-122"/>
                <a:ea typeface="vivo Sans Regular" panose="02000300000000000000" charset="-122"/>
                <a:cs typeface="vivo Sans" panose="02000300000000000000" charset="-122"/>
              </a:rPr>
              <a:t>+</a:t>
            </a:r>
            <a:endParaRPr sz="1400">
              <a:solidFill>
                <a:srgbClr val="3157FF"/>
              </a:solidFill>
              <a:latin typeface="vivo Sans Regular" panose="02000300000000000000" charset="-122"/>
              <a:ea typeface="vivo Sans Regular" panose="02000300000000000000" charset="-122"/>
              <a:cs typeface="vivo Sans" panose="02000300000000000000" charset="-122"/>
            </a:endParaRPr>
          </a:p>
        </p:txBody>
      </p:sp>
      <p:sp>
        <p:nvSpPr>
          <p:cNvPr id="33" name="矩形 32"/>
          <p:cNvSpPr>
            <a:spLocks noGrp="1"/>
          </p:cNvSpPr>
          <p:nvPr/>
        </p:nvSpPr>
        <p:spPr>
          <a:xfrm>
            <a:off x="3819525" y="4000500"/>
            <a:ext cx="933450" cy="228600"/>
          </a:xfrm>
          <a:prstGeom prst="rect">
            <a:avLst/>
          </a:prstGeom>
          <a:noFill/>
          <a:ln w="0">
            <a:noFill/>
            <a:prstDash val="solid"/>
          </a:ln>
        </p:spPr>
        <p:txBody>
          <a:bodyPr anchor="ctr"/>
          <a:lstStyle/>
          <a:p>
            <a:pPr algn="ctr">
              <a:defRPr sz="790" b="1">
                <a:solidFill>
                  <a:srgbClr val="172033"/>
                </a:solidFill>
                <a:latin typeface="微软雅黑" panose="020B0503020204020204" charset="-122"/>
                <a:ea typeface="微软雅黑" panose="020B0503020204020204" charset="-122"/>
                <a:cs typeface="微软雅黑" panose="020B0503020204020204" charset="-122"/>
              </a:defRPr>
            </a:pPr>
            <a:r>
              <a:rPr sz="790" b="1">
                <a:solidFill>
                  <a:srgbClr val="172033"/>
                </a:solidFill>
                <a:latin typeface="vivo Sans Regular" panose="02000300000000000000" charset="-122"/>
                <a:ea typeface="vivo Sans Regular" panose="02000300000000000000" charset="-122"/>
                <a:cs typeface="微软雅黑" panose="020B0503020204020204" charset="-122"/>
              </a:rPr>
              <a:t>X Fold6</a:t>
            </a:r>
            <a:endParaRPr sz="79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34" name="矩形 33"/>
          <p:cNvSpPr>
            <a:spLocks noGrp="1"/>
          </p:cNvSpPr>
          <p:nvPr/>
        </p:nvSpPr>
        <p:spPr>
          <a:xfrm>
            <a:off x="3819525" y="4248150"/>
            <a:ext cx="933450" cy="190500"/>
          </a:xfrm>
          <a:prstGeom prst="rect">
            <a:avLst/>
          </a:prstGeom>
          <a:noFill/>
          <a:ln w="0">
            <a:noFill/>
            <a:prstDash val="solid"/>
          </a:ln>
        </p:spPr>
        <p:txBody>
          <a:bodyPr anchor="ctr"/>
          <a:lstStyle/>
          <a:p>
            <a:pPr algn="ctr">
              <a:defRPr sz="900" b="1">
                <a:solidFill>
                  <a:srgbClr val="3157FF"/>
                </a:solidFill>
                <a:latin typeface="微软雅黑" panose="020B0503020204020204" charset="-122"/>
                <a:ea typeface="微软雅黑" panose="020B0503020204020204" charset="-122"/>
                <a:cs typeface="微软雅黑" panose="020B0503020204020204" charset="-122"/>
              </a:defRPr>
            </a:pPr>
            <a:r>
              <a:rPr lang="en-US" sz="1400">
                <a:solidFill>
                  <a:srgbClr val="3157FF"/>
                </a:solidFill>
                <a:latin typeface="vivo Sans Regular" panose="02000300000000000000" charset="-122"/>
                <a:ea typeface="vivo Sans Regular" panose="02000300000000000000" charset="-122"/>
                <a:cs typeface="vivo Sans" panose="02000300000000000000" charset="-122"/>
              </a:rPr>
              <a:t>53w</a:t>
            </a:r>
            <a:r>
              <a:rPr sz="1400">
                <a:solidFill>
                  <a:srgbClr val="3157FF"/>
                </a:solidFill>
                <a:latin typeface="vivo Sans Regular" panose="02000300000000000000" charset="-122"/>
                <a:ea typeface="vivo Sans Regular" panose="02000300000000000000" charset="-122"/>
                <a:cs typeface="vivo Sans" panose="02000300000000000000" charset="-122"/>
              </a:rPr>
              <a:t>+</a:t>
            </a:r>
            <a:endParaRPr sz="1400">
              <a:solidFill>
                <a:srgbClr val="3157FF"/>
              </a:solidFill>
              <a:latin typeface="vivo Sans Regular" panose="02000300000000000000" charset="-122"/>
              <a:ea typeface="vivo Sans Regular" panose="02000300000000000000" charset="-122"/>
              <a:cs typeface="vivo Sans" panose="02000300000000000000" charset="-122"/>
            </a:endParaRPr>
          </a:p>
        </p:txBody>
      </p:sp>
      <p:sp>
        <p:nvSpPr>
          <p:cNvPr id="35" name="圆角矩形 34"/>
          <p:cNvSpPr>
            <a:spLocks noGrp="1"/>
          </p:cNvSpPr>
          <p:nvPr/>
        </p:nvSpPr>
        <p:spPr>
          <a:xfrm>
            <a:off x="4895850" y="2019300"/>
            <a:ext cx="1028700" cy="2515235"/>
          </a:xfrm>
          <a:prstGeom prst="roundRect">
            <a:avLst>
              <a:gd name="adj" fmla="val 7407"/>
            </a:avLst>
          </a:prstGeom>
          <a:solidFill>
            <a:srgbClr val="FFFFFF"/>
          </a:solidFill>
          <a:ln w="9525">
            <a:solidFill>
              <a:srgbClr val="DCE3F2"/>
            </a:solidFill>
            <a:prstDash val="solid"/>
          </a:ln>
        </p:spPr>
      </p:sp>
      <p:pic>
        <p:nvPicPr>
          <p:cNvPr id="85" name="图片 84"/>
          <p:cNvPicPr>
            <a:picLocks noChangeAspect="1"/>
          </p:cNvPicPr>
          <p:nvPr/>
        </p:nvPicPr>
        <p:blipFill>
          <a:blip r:embed="rId5"/>
          <a:srcRect t="2490" b="2490"/>
          <a:stretch>
            <a:fillRect/>
          </a:stretch>
        </p:blipFill>
        <p:spPr>
          <a:xfrm>
            <a:off x="4972050" y="2133600"/>
            <a:ext cx="876300" cy="1809750"/>
          </a:xfrm>
          <a:prstGeom prst="rect">
            <a:avLst/>
          </a:prstGeom>
        </p:spPr>
      </p:pic>
      <p:sp>
        <p:nvSpPr>
          <p:cNvPr id="37" name="矩形 36"/>
          <p:cNvSpPr>
            <a:spLocks noGrp="1"/>
          </p:cNvSpPr>
          <p:nvPr/>
        </p:nvSpPr>
        <p:spPr>
          <a:xfrm>
            <a:off x="4943475" y="4000500"/>
            <a:ext cx="933450" cy="228600"/>
          </a:xfrm>
          <a:prstGeom prst="rect">
            <a:avLst/>
          </a:prstGeom>
          <a:noFill/>
          <a:ln w="0">
            <a:noFill/>
            <a:prstDash val="solid"/>
          </a:ln>
        </p:spPr>
        <p:txBody>
          <a:bodyPr anchor="ctr"/>
          <a:lstStyle/>
          <a:p>
            <a:pPr algn="ctr">
              <a:defRPr sz="790" b="1">
                <a:solidFill>
                  <a:srgbClr val="172033"/>
                </a:solidFill>
                <a:latin typeface="微软雅黑" panose="020B0503020204020204" charset="-122"/>
                <a:ea typeface="微软雅黑" panose="020B0503020204020204" charset="-122"/>
                <a:cs typeface="微软雅黑" panose="020B0503020204020204" charset="-122"/>
              </a:defRPr>
            </a:pPr>
            <a:r>
              <a:rPr sz="790" b="1">
                <a:solidFill>
                  <a:srgbClr val="172033"/>
                </a:solidFill>
                <a:latin typeface="vivo Sans Regular" panose="02000300000000000000" charset="-122"/>
                <a:ea typeface="vivo Sans Regular" panose="02000300000000000000" charset="-122"/>
                <a:cs typeface="微软雅黑" panose="020B0503020204020204" charset="-122"/>
              </a:rPr>
              <a:t>X300 E</a:t>
            </a:r>
            <a:endParaRPr sz="79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38" name="矩形 37"/>
          <p:cNvSpPr>
            <a:spLocks noGrp="1"/>
          </p:cNvSpPr>
          <p:nvPr/>
        </p:nvSpPr>
        <p:spPr>
          <a:xfrm>
            <a:off x="4943475" y="4248150"/>
            <a:ext cx="933450" cy="190500"/>
          </a:xfrm>
          <a:prstGeom prst="rect">
            <a:avLst/>
          </a:prstGeom>
          <a:noFill/>
          <a:ln w="0">
            <a:noFill/>
            <a:prstDash val="solid"/>
          </a:ln>
        </p:spPr>
        <p:txBody>
          <a:bodyPr anchor="ctr"/>
          <a:lstStyle/>
          <a:p>
            <a:pPr algn="ctr">
              <a:defRPr sz="900" b="1">
                <a:solidFill>
                  <a:srgbClr val="3157FF"/>
                </a:solidFill>
                <a:latin typeface="微软雅黑" panose="020B0503020204020204" charset="-122"/>
                <a:ea typeface="微软雅黑" panose="020B0503020204020204" charset="-122"/>
                <a:cs typeface="微软雅黑" panose="020B0503020204020204" charset="-122"/>
              </a:defRPr>
            </a:pPr>
            <a:r>
              <a:rPr sz="1400">
                <a:solidFill>
                  <a:srgbClr val="3157FF"/>
                </a:solidFill>
                <a:latin typeface="vivo Sans Regular" panose="02000300000000000000" charset="-122"/>
                <a:ea typeface="vivo Sans Regular" panose="02000300000000000000" charset="-122"/>
                <a:cs typeface="vivo Sans" panose="02000300000000000000" charset="-122"/>
              </a:rPr>
              <a:t>3</a:t>
            </a:r>
            <a:r>
              <a:rPr lang="en-US" sz="1400">
                <a:solidFill>
                  <a:srgbClr val="3157FF"/>
                </a:solidFill>
                <a:latin typeface="vivo Sans Regular" panose="02000300000000000000" charset="-122"/>
                <a:ea typeface="vivo Sans Regular" panose="02000300000000000000" charset="-122"/>
                <a:cs typeface="vivo Sans" panose="02000300000000000000" charset="-122"/>
              </a:rPr>
              <a:t>3w</a:t>
            </a:r>
            <a:r>
              <a:rPr sz="1400">
                <a:solidFill>
                  <a:srgbClr val="3157FF"/>
                </a:solidFill>
                <a:latin typeface="vivo Sans Regular" panose="02000300000000000000" charset="-122"/>
                <a:ea typeface="vivo Sans Regular" panose="02000300000000000000" charset="-122"/>
                <a:cs typeface="vivo Sans" panose="02000300000000000000" charset="-122"/>
              </a:rPr>
              <a:t>+</a:t>
            </a:r>
            <a:endParaRPr sz="1400">
              <a:solidFill>
                <a:srgbClr val="3157FF"/>
              </a:solidFill>
              <a:latin typeface="vivo Sans Regular" panose="02000300000000000000" charset="-122"/>
              <a:ea typeface="vivo Sans Regular" panose="02000300000000000000" charset="-122"/>
              <a:cs typeface="vivo Sans" panose="02000300000000000000" charset="-122"/>
            </a:endParaRPr>
          </a:p>
        </p:txBody>
      </p:sp>
      <p:sp>
        <p:nvSpPr>
          <p:cNvPr id="39" name="圆角矩形 38"/>
          <p:cNvSpPr>
            <a:spLocks noGrp="1"/>
          </p:cNvSpPr>
          <p:nvPr/>
        </p:nvSpPr>
        <p:spPr>
          <a:xfrm>
            <a:off x="6191250" y="1123315"/>
            <a:ext cx="5600700" cy="3410585"/>
          </a:xfrm>
          <a:prstGeom prst="roundRect">
            <a:avLst>
              <a:gd name="adj" fmla="val 2062"/>
            </a:avLst>
          </a:prstGeom>
          <a:solidFill>
            <a:srgbClr val="FFFFFF"/>
          </a:solidFill>
          <a:ln w="9525">
            <a:solidFill>
              <a:srgbClr val="DCE3F2"/>
            </a:solidFill>
            <a:prstDash val="solid"/>
          </a:ln>
        </p:spPr>
      </p:sp>
      <p:sp>
        <p:nvSpPr>
          <p:cNvPr id="42" name="圆角矩形 41"/>
          <p:cNvSpPr>
            <a:spLocks noGrp="1"/>
          </p:cNvSpPr>
          <p:nvPr/>
        </p:nvSpPr>
        <p:spPr>
          <a:xfrm>
            <a:off x="400050" y="4762500"/>
            <a:ext cx="11391900" cy="1428750"/>
          </a:xfrm>
          <a:prstGeom prst="roundRect">
            <a:avLst>
              <a:gd name="adj" fmla="val 5333"/>
            </a:avLst>
          </a:prstGeom>
          <a:solidFill>
            <a:srgbClr val="F5F7FF"/>
          </a:solidFill>
          <a:ln w="9525">
            <a:solidFill>
              <a:srgbClr val="DCE3F2"/>
            </a:solidFill>
            <a:prstDash val="solid"/>
          </a:ln>
        </p:spPr>
      </p:sp>
      <p:sp>
        <p:nvSpPr>
          <p:cNvPr id="43" name="矩形 42"/>
          <p:cNvSpPr>
            <a:spLocks noGrp="1"/>
          </p:cNvSpPr>
          <p:nvPr/>
        </p:nvSpPr>
        <p:spPr>
          <a:xfrm>
            <a:off x="571500" y="491490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vivo Sans Regular" panose="02000300000000000000" charset="-122"/>
                <a:ea typeface="vivo Sans Regular" panose="02000300000000000000" charset="-122"/>
                <a:cs typeface="vivo Sans Regular" panose="02000300000000000000" charset="-122"/>
              </a:rPr>
              <a:t>优化结论</a:t>
            </a:r>
            <a:endParaRPr sz="9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44" name="矩形 43"/>
          <p:cNvSpPr>
            <a:spLocks noGrp="1"/>
          </p:cNvSpPr>
          <p:nvPr/>
        </p:nvSpPr>
        <p:spPr>
          <a:xfrm>
            <a:off x="571500" y="5257800"/>
            <a:ext cx="1143000" cy="209550"/>
          </a:xfrm>
          <a:prstGeom prst="rect">
            <a:avLst/>
          </a:prstGeom>
          <a:noFill/>
          <a:ln w="0">
            <a:noFill/>
            <a:prstDash val="solid"/>
          </a:ln>
        </p:spPr>
        <p:txBody>
          <a:bodyPr anchor="ctr"/>
          <a:lstStyle/>
          <a:p>
            <a:pPr algn="l">
              <a:defRPr sz="900" b="1">
                <a:solidFill>
                  <a:srgbClr val="1230A5"/>
                </a:solidFill>
                <a:latin typeface="微软雅黑" panose="020B0503020204020204" charset="-122"/>
                <a:ea typeface="微软雅黑" panose="020B0503020204020204" charset="-122"/>
                <a:cs typeface="微软雅黑" panose="020B0503020204020204" charset="-122"/>
              </a:defRPr>
            </a:pPr>
            <a:r>
              <a:rPr sz="900" b="1">
                <a:solidFill>
                  <a:srgbClr val="1230A5"/>
                </a:solidFill>
                <a:latin typeface="vivo Sans Regular" panose="02000300000000000000" charset="-122"/>
                <a:ea typeface="vivo Sans Regular" panose="02000300000000000000" charset="-122"/>
                <a:cs typeface="微软雅黑" panose="020B0503020204020204" charset="-122"/>
              </a:rPr>
              <a:t>现场影像</a:t>
            </a:r>
            <a:endParaRPr sz="900" b="1">
              <a:solidFill>
                <a:srgbClr val="1230A5"/>
              </a:solidFill>
              <a:latin typeface="vivo Sans Regular" panose="02000300000000000000" charset="-122"/>
              <a:ea typeface="vivo Sans Regular" panose="02000300000000000000" charset="-122"/>
              <a:cs typeface="微软雅黑" panose="020B0503020204020204" charset="-122"/>
            </a:endParaRPr>
          </a:p>
        </p:txBody>
      </p:sp>
      <p:sp>
        <p:nvSpPr>
          <p:cNvPr id="45" name="矩形 44"/>
          <p:cNvSpPr>
            <a:spLocks noGrp="1"/>
          </p:cNvSpPr>
          <p:nvPr/>
        </p:nvSpPr>
        <p:spPr>
          <a:xfrm>
            <a:off x="571500" y="5514975"/>
            <a:ext cx="3333750" cy="514350"/>
          </a:xfrm>
          <a:prstGeom prst="rect">
            <a:avLst/>
          </a:prstGeom>
          <a:noFill/>
          <a:ln w="0">
            <a:noFill/>
            <a:prstDash val="solid"/>
          </a:ln>
        </p:spPr>
        <p:txBody>
          <a:bodyPr anchor="ctr"/>
          <a:lstStyle/>
          <a:p>
            <a:pPr algn="l">
              <a:defRPr sz="865" b="0">
                <a:solidFill>
                  <a:srgbClr val="172033"/>
                </a:solidFill>
                <a:latin typeface="微软雅黑" panose="020B0503020204020204" charset="-122"/>
                <a:ea typeface="微软雅黑" panose="020B0503020204020204" charset="-122"/>
                <a:cs typeface="微软雅黑" panose="020B0503020204020204" charset="-122"/>
              </a:defRPr>
            </a:pPr>
            <a:r>
              <a:rPr sz="865" b="0">
                <a:solidFill>
                  <a:srgbClr val="172033"/>
                </a:solidFill>
                <a:latin typeface="vivo Sans Regular" panose="02000300000000000000" charset="-122"/>
                <a:ea typeface="vivo Sans Regular" panose="02000300000000000000" charset="-122"/>
                <a:cs typeface="vivo Sans Regular" panose="02000300000000000000" charset="-122"/>
              </a:rPr>
              <a:t>含V密度最高；增加非V场景内容，降低营销感</a:t>
            </a:r>
            <a:endParaRPr sz="865" b="0">
              <a:solidFill>
                <a:srgbClr val="172033"/>
              </a:solidFill>
              <a:latin typeface="vivo Sans Regular" panose="02000300000000000000" charset="-122"/>
              <a:ea typeface="vivo Sans Regular" panose="02000300000000000000" charset="-122"/>
              <a:cs typeface="vivo Sans Regular" panose="02000300000000000000" charset="-122"/>
            </a:endParaRPr>
          </a:p>
        </p:txBody>
      </p:sp>
      <p:sp>
        <p:nvSpPr>
          <p:cNvPr id="46" name="矩形 45"/>
          <p:cNvSpPr>
            <a:spLocks noGrp="1"/>
          </p:cNvSpPr>
          <p:nvPr/>
        </p:nvSpPr>
        <p:spPr>
          <a:xfrm>
            <a:off x="4248150" y="5257800"/>
            <a:ext cx="1143000" cy="209550"/>
          </a:xfrm>
          <a:prstGeom prst="rect">
            <a:avLst/>
          </a:prstGeom>
          <a:noFill/>
          <a:ln w="0">
            <a:noFill/>
            <a:prstDash val="solid"/>
          </a:ln>
        </p:spPr>
        <p:txBody>
          <a:bodyPr anchor="ctr"/>
          <a:lstStyle/>
          <a:p>
            <a:pPr algn="l">
              <a:defRPr sz="900" b="1">
                <a:solidFill>
                  <a:srgbClr val="1230A5"/>
                </a:solidFill>
                <a:latin typeface="微软雅黑" panose="020B0503020204020204" charset="-122"/>
                <a:ea typeface="微软雅黑" panose="020B0503020204020204" charset="-122"/>
                <a:cs typeface="微软雅黑" panose="020B0503020204020204" charset="-122"/>
              </a:defRPr>
            </a:pPr>
            <a:r>
              <a:rPr sz="900" b="1">
                <a:solidFill>
                  <a:srgbClr val="1230A5"/>
                </a:solidFill>
                <a:latin typeface="vivo Sans Regular" panose="02000300000000000000" charset="-122"/>
                <a:ea typeface="vivo Sans Regular" panose="02000300000000000000" charset="-122"/>
                <a:cs typeface="vivo Sans Regular" panose="02000300000000000000" charset="-122"/>
              </a:rPr>
              <a:t>行业 / </a:t>
            </a:r>
            <a:r>
              <a:rPr lang="zh-CN" sz="900" b="1">
                <a:solidFill>
                  <a:srgbClr val="1230A5"/>
                </a:solidFill>
                <a:latin typeface="vivo Sans Regular" panose="02000300000000000000" charset="-122"/>
                <a:ea typeface="vivo Sans Regular" panose="02000300000000000000" charset="-122"/>
                <a:cs typeface="vivo Sans Regular" panose="02000300000000000000" charset="-122"/>
              </a:rPr>
              <a:t>屏幕</a:t>
            </a:r>
            <a:endParaRPr lang="zh-CN" sz="900" b="1">
              <a:solidFill>
                <a:srgbClr val="1230A5"/>
              </a:solidFill>
              <a:latin typeface="vivo Sans Regular" panose="02000300000000000000" charset="-122"/>
              <a:ea typeface="vivo Sans Regular" panose="02000300000000000000" charset="-122"/>
              <a:cs typeface="vivo Sans Regular" panose="02000300000000000000" charset="-122"/>
            </a:endParaRPr>
          </a:p>
        </p:txBody>
      </p:sp>
      <p:sp>
        <p:nvSpPr>
          <p:cNvPr id="47" name="矩形 46"/>
          <p:cNvSpPr>
            <a:spLocks noGrp="1"/>
          </p:cNvSpPr>
          <p:nvPr/>
        </p:nvSpPr>
        <p:spPr>
          <a:xfrm>
            <a:off x="4248150" y="5514975"/>
            <a:ext cx="3333750" cy="514350"/>
          </a:xfrm>
          <a:prstGeom prst="rect">
            <a:avLst/>
          </a:prstGeom>
          <a:noFill/>
          <a:ln w="0">
            <a:noFill/>
            <a:prstDash val="solid"/>
          </a:ln>
        </p:spPr>
        <p:txBody>
          <a:bodyPr anchor="ctr"/>
          <a:lstStyle/>
          <a:p>
            <a:pPr algn="l">
              <a:defRPr sz="865" b="0">
                <a:solidFill>
                  <a:srgbClr val="172033"/>
                </a:solidFill>
                <a:latin typeface="微软雅黑" panose="020B0503020204020204" charset="-122"/>
                <a:ea typeface="微软雅黑" panose="020B0503020204020204" charset="-122"/>
                <a:cs typeface="微软雅黑" panose="020B0503020204020204" charset="-122"/>
              </a:defRPr>
            </a:pPr>
            <a:r>
              <a:rPr sz="865" b="0">
                <a:solidFill>
                  <a:srgbClr val="172033"/>
                </a:solidFill>
                <a:latin typeface="vivo Sans Regular" panose="02000300000000000000" charset="-122"/>
                <a:ea typeface="vivo Sans Regular" panose="02000300000000000000" charset="-122"/>
                <a:cs typeface="vivo Sans Regular" panose="02000300000000000000" charset="-122"/>
              </a:rPr>
              <a:t>含V偏低；在不破坏客观性的前提下增加</a:t>
            </a:r>
            <a:r>
              <a:rPr lang="zh-CN" sz="865" b="0">
                <a:solidFill>
                  <a:srgbClr val="172033"/>
                </a:solidFill>
                <a:latin typeface="vivo Sans Regular" panose="02000300000000000000" charset="-122"/>
                <a:ea typeface="vivo Sans Regular" panose="02000300000000000000" charset="-122"/>
                <a:cs typeface="vivo Sans Regular" panose="02000300000000000000" charset="-122"/>
              </a:rPr>
              <a:t>含</a:t>
            </a:r>
            <a:r>
              <a:rPr lang="en-US" altLang="zh-CN" sz="865" b="0">
                <a:solidFill>
                  <a:srgbClr val="172033"/>
                </a:solidFill>
                <a:latin typeface="vivo Sans Regular" panose="02000300000000000000" charset="-122"/>
                <a:ea typeface="vivo Sans Regular" panose="02000300000000000000" charset="-122"/>
                <a:cs typeface="vivo Sans Regular" panose="02000300000000000000" charset="-122"/>
              </a:rPr>
              <a:t>V</a:t>
            </a:r>
            <a:r>
              <a:rPr sz="865" b="0">
                <a:solidFill>
                  <a:srgbClr val="172033"/>
                </a:solidFill>
                <a:latin typeface="vivo Sans Regular" panose="02000300000000000000" charset="-122"/>
                <a:ea typeface="vivo Sans Regular" panose="02000300000000000000" charset="-122"/>
                <a:cs typeface="vivo Sans Regular" panose="02000300000000000000" charset="-122"/>
              </a:rPr>
              <a:t>产品议题</a:t>
            </a:r>
            <a:endParaRPr sz="865" b="0">
              <a:solidFill>
                <a:srgbClr val="172033"/>
              </a:solidFill>
              <a:latin typeface="vivo Sans Regular" panose="02000300000000000000" charset="-122"/>
              <a:ea typeface="vivo Sans Regular" panose="02000300000000000000" charset="-122"/>
              <a:cs typeface="vivo Sans Regular" panose="02000300000000000000" charset="-122"/>
            </a:endParaRPr>
          </a:p>
        </p:txBody>
      </p:sp>
      <p:sp>
        <p:nvSpPr>
          <p:cNvPr id="48" name="矩形 47"/>
          <p:cNvSpPr>
            <a:spLocks noGrp="1"/>
          </p:cNvSpPr>
          <p:nvPr/>
        </p:nvSpPr>
        <p:spPr>
          <a:xfrm>
            <a:off x="7924800" y="5257800"/>
            <a:ext cx="1143000" cy="209550"/>
          </a:xfrm>
          <a:prstGeom prst="rect">
            <a:avLst/>
          </a:prstGeom>
          <a:noFill/>
          <a:ln w="0">
            <a:noFill/>
            <a:prstDash val="solid"/>
          </a:ln>
        </p:spPr>
        <p:txBody>
          <a:bodyPr anchor="ctr"/>
          <a:lstStyle/>
          <a:p>
            <a:pPr algn="l">
              <a:defRPr sz="900" b="1">
                <a:solidFill>
                  <a:srgbClr val="1230A5"/>
                </a:solidFill>
                <a:latin typeface="微软雅黑" panose="020B0503020204020204" charset="-122"/>
                <a:ea typeface="微软雅黑" panose="020B0503020204020204" charset="-122"/>
                <a:cs typeface="微软雅黑" panose="020B0503020204020204" charset="-122"/>
              </a:defRPr>
            </a:pPr>
            <a:r>
              <a:rPr sz="900" b="1">
                <a:solidFill>
                  <a:srgbClr val="1230A5"/>
                </a:solidFill>
                <a:latin typeface="vivo Sans Regular" panose="02000300000000000000" charset="-122"/>
                <a:ea typeface="vivo Sans Regular" panose="02000300000000000000" charset="-122"/>
                <a:cs typeface="微软雅黑" panose="020B0503020204020204" charset="-122"/>
              </a:rPr>
              <a:t>系统</a:t>
            </a:r>
            <a:endParaRPr sz="900" b="1">
              <a:solidFill>
                <a:srgbClr val="1230A5"/>
              </a:solidFill>
              <a:latin typeface="vivo Sans Regular" panose="02000300000000000000" charset="-122"/>
              <a:ea typeface="vivo Sans Regular" panose="02000300000000000000" charset="-122"/>
              <a:cs typeface="微软雅黑" panose="020B0503020204020204" charset="-122"/>
            </a:endParaRPr>
          </a:p>
        </p:txBody>
      </p:sp>
      <p:sp>
        <p:nvSpPr>
          <p:cNvPr id="49" name="矩形 48"/>
          <p:cNvSpPr>
            <a:spLocks noGrp="1"/>
          </p:cNvSpPr>
          <p:nvPr/>
        </p:nvSpPr>
        <p:spPr>
          <a:xfrm>
            <a:off x="7924800" y="5514975"/>
            <a:ext cx="3333750" cy="514350"/>
          </a:xfrm>
          <a:prstGeom prst="rect">
            <a:avLst/>
          </a:prstGeom>
          <a:noFill/>
          <a:ln w="0">
            <a:noFill/>
            <a:prstDash val="solid"/>
          </a:ln>
        </p:spPr>
        <p:txBody>
          <a:bodyPr anchor="ctr"/>
          <a:lstStyle/>
          <a:p>
            <a:pPr algn="l">
              <a:defRPr sz="865" b="0">
                <a:solidFill>
                  <a:srgbClr val="172033"/>
                </a:solidFill>
                <a:latin typeface="微软雅黑" panose="020B0503020204020204" charset="-122"/>
                <a:ea typeface="微软雅黑" panose="020B0503020204020204" charset="-122"/>
                <a:cs typeface="微软雅黑" panose="020B0503020204020204" charset="-122"/>
              </a:defRPr>
            </a:pPr>
            <a:r>
              <a:rPr sz="865" b="0">
                <a:solidFill>
                  <a:srgbClr val="172033"/>
                </a:solidFill>
                <a:latin typeface="vivo Sans Regular" panose="02000300000000000000" charset="-122"/>
                <a:ea typeface="vivo Sans Regular" panose="02000300000000000000" charset="-122"/>
                <a:cs typeface="微软雅黑" panose="020B0503020204020204" charset="-122"/>
              </a:rPr>
              <a:t>保持专业与中立，品牌露出</a:t>
            </a:r>
            <a:r>
              <a:rPr lang="zh-CN" sz="865" b="0">
                <a:solidFill>
                  <a:srgbClr val="172033"/>
                </a:solidFill>
                <a:latin typeface="vivo Sans Regular" panose="02000300000000000000" charset="-122"/>
                <a:ea typeface="vivo Sans Regular" panose="02000300000000000000" charset="-122"/>
                <a:cs typeface="微软雅黑" panose="020B0503020204020204" charset="-122"/>
              </a:rPr>
              <a:t>比例符合标准要求</a:t>
            </a:r>
            <a:endParaRPr lang="zh-CN" sz="865" b="0">
              <a:solidFill>
                <a:srgbClr val="172033"/>
              </a:solidFill>
              <a:latin typeface="vivo Sans Regular" panose="02000300000000000000" charset="-122"/>
              <a:ea typeface="vivo Sans Regular" panose="02000300000000000000" charset="-122"/>
              <a:cs typeface="微软雅黑" panose="020B0503020204020204" charset="-122"/>
            </a:endParaRPr>
          </a:p>
        </p:txBody>
      </p:sp>
      <p:pic>
        <p:nvPicPr>
          <p:cNvPr id="20" name="图片 19"/>
          <p:cNvPicPr>
            <a:picLocks noChangeAspect="1"/>
          </p:cNvPicPr>
          <p:nvPr/>
        </p:nvPicPr>
        <p:blipFill>
          <a:blip r:embed="rId6"/>
          <a:stretch>
            <a:fillRect/>
          </a:stretch>
        </p:blipFill>
        <p:spPr>
          <a:xfrm>
            <a:off x="2730500" y="2133600"/>
            <a:ext cx="831850" cy="1809750"/>
          </a:xfrm>
          <a:prstGeom prst="rect">
            <a:avLst/>
          </a:prstGeom>
        </p:spPr>
      </p:pic>
      <p:graphicFrame>
        <p:nvGraphicFramePr>
          <p:cNvPr id="28" name="图表 27" descr="7b0a202020202263686172745265734964223a20223230343736353430220a7d0a"/>
          <p:cNvGraphicFramePr/>
          <p:nvPr/>
        </p:nvGraphicFramePr>
        <p:xfrm>
          <a:off x="6261100" y="1440815"/>
          <a:ext cx="5473065" cy="2997835"/>
        </p:xfrm>
        <a:graphic>
          <a:graphicData uri="http://schemas.openxmlformats.org/drawingml/2006/chart">
            <c:chart xmlns:c="http://schemas.openxmlformats.org/drawingml/2006/chart" xmlns:r="http://schemas.openxmlformats.org/officeDocument/2006/relationships" r:id="rId1"/>
          </a:graphicData>
        </a:graphic>
      </p:graphicFrame>
      <p:sp>
        <p:nvSpPr>
          <p:cNvPr id="40" name="矩形 39"/>
          <p:cNvSpPr>
            <a:spLocks noGrp="1"/>
          </p:cNvSpPr>
          <p:nvPr/>
        </p:nvSpPr>
        <p:spPr>
          <a:xfrm>
            <a:off x="6400800" y="1295400"/>
            <a:ext cx="17145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vivo Sans Regular" panose="02000300000000000000" charset="-122"/>
                <a:ea typeface="vivo Sans Regular" panose="02000300000000000000" charset="-122"/>
                <a:cs typeface="vivo Sans Regular" panose="02000300000000000000" charset="-122"/>
              </a:rPr>
              <a:t>账号含V</a:t>
            </a:r>
            <a:r>
              <a:rPr lang="zh-CN" sz="975" b="1">
                <a:solidFill>
                  <a:srgbClr val="3157FF"/>
                </a:solidFill>
                <a:latin typeface="vivo Sans Regular" panose="02000300000000000000" charset="-122"/>
                <a:ea typeface="vivo Sans Regular" panose="02000300000000000000" charset="-122"/>
                <a:cs typeface="vivo Sans Regular" panose="02000300000000000000" charset="-122"/>
              </a:rPr>
              <a:t>比例</a:t>
            </a:r>
            <a:endParaRPr lang="zh-CN" sz="9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六账号形成三梯队：流量、专业与热点试验各司其职</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微软雅黑" panose="020B0503020204020204" charset="-122"/>
                <a:ea typeface="微软雅黑" panose="020B0503020204020204" charset="-122"/>
                <a:cs typeface="微软雅黑" panose="020B0503020204020204" charset="-122"/>
              </a:rPr>
              <a:t>05</a:t>
            </a:r>
            <a:endParaRPr sz="675" b="0">
              <a:solidFill>
                <a:srgbClr val="8A96AA"/>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0050" y="838200"/>
            <a:ext cx="11391900" cy="285750"/>
          </a:xfrm>
          <a:prstGeom prst="rect">
            <a:avLst/>
          </a:prstGeom>
          <a:noFill/>
          <a:ln w="0">
            <a:noFill/>
            <a:prstDash val="solid"/>
          </a:ln>
        </p:spPr>
        <p:txBody>
          <a:bodyPr anchor="ctr"/>
          <a:lstStyle/>
          <a:p>
            <a:pPr algn="l">
              <a:defRPr sz="1200" b="1">
                <a:solidFill>
                  <a:srgbClr val="172033"/>
                </a:solidFill>
                <a:latin typeface="微软雅黑" panose="020B0503020204020204" charset="-122"/>
                <a:ea typeface="微软雅黑" panose="020B0503020204020204" charset="-122"/>
                <a:cs typeface="微软雅黑" panose="020B0503020204020204" charset="-122"/>
              </a:defRPr>
            </a:pPr>
            <a:r>
              <a:rPr sz="1200" b="1">
                <a:solidFill>
                  <a:srgbClr val="172033"/>
                </a:solidFill>
                <a:latin typeface="微软雅黑" panose="020B0503020204020204" charset="-122"/>
                <a:ea typeface="微软雅黑" panose="020B0503020204020204" charset="-122"/>
                <a:cs typeface="微软雅黑" panose="020B0503020204020204" charset="-122"/>
              </a:rPr>
              <a:t>统一标准不等于同一打法；每个账号承担不同角色，矩阵协同才能放大vivo内容价值。</a:t>
            </a:r>
            <a:endParaRPr sz="1200"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400050" y="1352550"/>
            <a:ext cx="11391900" cy="1333500"/>
          </a:xfrm>
          <a:prstGeom prst="roundRect">
            <a:avLst>
              <a:gd name="adj" fmla="val 5714"/>
            </a:avLst>
          </a:prstGeom>
          <a:solidFill>
            <a:srgbClr val="3157FF"/>
          </a:solidFill>
          <a:ln w="0">
            <a:noFill/>
            <a:prstDash val="solid"/>
          </a:ln>
        </p:spPr>
      </p:sp>
      <p:sp>
        <p:nvSpPr>
          <p:cNvPr id="8" name="矩形 7"/>
          <p:cNvSpPr>
            <a:spLocks noGrp="1"/>
          </p:cNvSpPr>
          <p:nvPr/>
        </p:nvSpPr>
        <p:spPr>
          <a:xfrm>
            <a:off x="628650" y="1581150"/>
            <a:ext cx="876300" cy="666750"/>
          </a:xfrm>
          <a:prstGeom prst="rect">
            <a:avLst/>
          </a:prstGeom>
          <a:noFill/>
          <a:ln w="0">
            <a:noFill/>
            <a:prstDash val="solid"/>
          </a:ln>
        </p:spPr>
        <p:txBody>
          <a:bodyPr anchor="ctr"/>
          <a:lstStyle/>
          <a:p>
            <a:pPr algn="ctr">
              <a:defRPr sz="3300" b="1">
                <a:solidFill>
                  <a:srgbClr val="C8D3FF"/>
                </a:solidFill>
                <a:latin typeface="微软雅黑" panose="020B0503020204020204" charset="-122"/>
                <a:ea typeface="微软雅黑" panose="020B0503020204020204" charset="-122"/>
                <a:cs typeface="微软雅黑" panose="020B0503020204020204" charset="-122"/>
              </a:defRPr>
            </a:pPr>
            <a:r>
              <a:rPr sz="3300" b="1">
                <a:solidFill>
                  <a:srgbClr val="C8D3FF"/>
                </a:solidFill>
                <a:latin typeface="微软雅黑" panose="020B0503020204020204" charset="-122"/>
                <a:ea typeface="微软雅黑" panose="020B0503020204020204" charset="-122"/>
                <a:cs typeface="微软雅黑" panose="020B0503020204020204" charset="-122"/>
              </a:rPr>
              <a:t>01</a:t>
            </a:r>
            <a:endParaRPr sz="3300" b="1">
              <a:solidFill>
                <a:srgbClr val="C8D3F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752600" y="1543050"/>
            <a:ext cx="4095750" cy="285750"/>
          </a:xfrm>
          <a:prstGeom prst="rect">
            <a:avLst/>
          </a:prstGeom>
          <a:noFill/>
          <a:ln w="0">
            <a:noFill/>
            <a:prstDash val="solid"/>
          </a:ln>
        </p:spPr>
        <p:txBody>
          <a:bodyPr anchor="ctr"/>
          <a:lstStyle/>
          <a:p>
            <a:pPr algn="l">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第一梯队｜流量发动机</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752600" y="1866900"/>
            <a:ext cx="8763000" cy="247650"/>
          </a:xfrm>
          <a:prstGeom prst="rect">
            <a:avLst/>
          </a:prstGeom>
          <a:noFill/>
          <a:ln w="0">
            <a:noFill/>
            <a:prstDash val="solid"/>
          </a:ln>
        </p:spPr>
        <p:txBody>
          <a:bodyPr anchor="ctr"/>
          <a:lstStyle/>
          <a:p>
            <a:pPr algn="l">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回声现场影像 1.8万+  ·  回声屏幕所 1.1万+</a:t>
            </a:r>
            <a:r>
              <a:rPr>
                <a:sym typeface="+mn-ea"/>
              </a:rPr>
              <a:t>·</a:t>
            </a:r>
            <a:r>
              <a:rPr lang="zh-CN" altLang="en-US"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rPr>
              <a:t>平均单条播放</a:t>
            </a:r>
            <a:r>
              <a:rPr lang="en-US" altLang="zh-CN"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rPr>
              <a:t>4</a:t>
            </a:r>
            <a:r>
              <a:rPr lang="zh-CN" altLang="en-US"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rPr>
              <a:t>万</a:t>
            </a:r>
            <a:r>
              <a:rPr lang="en-US" altLang="zh-CN"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rPr>
              <a:t>+</a:t>
            </a:r>
            <a:r>
              <a:rPr>
                <a:sym typeface="+mn-ea"/>
              </a:rPr>
              <a:t>·</a:t>
            </a:r>
            <a:r>
              <a:rPr lang="zh-CN" altLang="en-US"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rPr>
              <a:t>爆款率</a:t>
            </a:r>
            <a:r>
              <a:rPr lang="en-US" altLang="zh-CN"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rPr>
              <a:t>20%</a:t>
            </a:r>
            <a:endParaRPr lang="en-US" altLang="zh-CN" sz="1050" b="1" noProof="0" dirty="0">
              <a:ln>
                <a:noFill/>
              </a:ln>
              <a:solidFill>
                <a:schemeClr val="bg1"/>
              </a:solidFill>
              <a:effectLst/>
              <a:uLnTx/>
              <a:uFillTx/>
              <a:latin typeface="vivo Sans" panose="02000300000000000000" charset="-122"/>
              <a:ea typeface="vivo Sans" panose="02000300000000000000" charset="-122"/>
              <a:cs typeface="vivo Sans" panose="02000300000000000000" charset="-122"/>
              <a:sym typeface="+mn-ea"/>
            </a:endParaRPr>
          </a:p>
        </p:txBody>
      </p:sp>
      <p:sp>
        <p:nvSpPr>
          <p:cNvPr id="11" name="矩形 10"/>
          <p:cNvSpPr>
            <a:spLocks noGrp="1"/>
          </p:cNvSpPr>
          <p:nvPr/>
        </p:nvSpPr>
        <p:spPr>
          <a:xfrm>
            <a:off x="1752600" y="2152650"/>
            <a:ext cx="9334500" cy="400050"/>
          </a:xfrm>
          <a:prstGeom prst="rect">
            <a:avLst/>
          </a:prstGeom>
          <a:noFill/>
          <a:ln w="0">
            <a:noFill/>
            <a:prstDash val="solid"/>
          </a:ln>
        </p:spPr>
        <p:txBody>
          <a:bodyPr anchor="ctr"/>
          <a:lstStyle/>
          <a:p>
            <a:pPr algn="l">
              <a:defRPr sz="940" b="0">
                <a:solidFill>
                  <a:srgbClr val="EDF1FF"/>
                </a:solidFill>
                <a:latin typeface="微软雅黑" panose="020B0503020204020204" charset="-122"/>
                <a:ea typeface="微软雅黑" panose="020B0503020204020204" charset="-122"/>
                <a:cs typeface="微软雅黑" panose="020B0503020204020204" charset="-122"/>
              </a:defRPr>
            </a:pPr>
            <a:r>
              <a:rPr sz="940" b="0">
                <a:solidFill>
                  <a:srgbClr val="EDF1FF"/>
                </a:solidFill>
                <a:latin typeface="微软雅黑" panose="020B0503020204020204" charset="-122"/>
                <a:ea typeface="微软雅黑" panose="020B0503020204020204" charset="-122"/>
                <a:cs typeface="微软雅黑" panose="020B0503020204020204" charset="-122"/>
              </a:rPr>
              <a:t>承担大场景、大热点与旗舰新品的流量拉升；增加题材趣味性和争议性，</a:t>
            </a:r>
            <a:r>
              <a:rPr lang="zh-CN" sz="940" b="0">
                <a:solidFill>
                  <a:srgbClr val="EDF1FF"/>
                </a:solidFill>
                <a:latin typeface="微软雅黑" panose="020B0503020204020204" charset="-122"/>
                <a:ea typeface="微软雅黑" panose="020B0503020204020204" charset="-122"/>
                <a:cs typeface="微软雅黑" panose="020B0503020204020204" charset="-122"/>
              </a:rPr>
              <a:t>提升制作精度</a:t>
            </a:r>
            <a:r>
              <a:rPr lang="en-US" altLang="zh-CN" sz="940" b="0">
                <a:solidFill>
                  <a:srgbClr val="EDF1FF"/>
                </a:solidFill>
                <a:latin typeface="微软雅黑" panose="020B0503020204020204" charset="-122"/>
                <a:ea typeface="微软雅黑" panose="020B0503020204020204" charset="-122"/>
                <a:cs typeface="微软雅黑" panose="020B0503020204020204" charset="-122"/>
              </a:rPr>
              <a:t>，</a:t>
            </a:r>
            <a:r>
              <a:rPr sz="940" b="0">
                <a:solidFill>
                  <a:srgbClr val="EDF1FF"/>
                </a:solidFill>
                <a:latin typeface="微软雅黑" panose="020B0503020204020204" charset="-122"/>
                <a:ea typeface="微软雅黑" panose="020B0503020204020204" charset="-122"/>
                <a:cs typeface="微软雅黑" panose="020B0503020204020204" charset="-122"/>
              </a:rPr>
              <a:t>维持高爆款率。</a:t>
            </a:r>
            <a:endParaRPr sz="940" b="0">
              <a:solidFill>
                <a:srgbClr val="EDF1FF"/>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400050" y="2933700"/>
            <a:ext cx="11391900" cy="1333500"/>
          </a:xfrm>
          <a:prstGeom prst="roundRect">
            <a:avLst>
              <a:gd name="adj" fmla="val 5714"/>
            </a:avLst>
          </a:prstGeom>
          <a:solidFill>
            <a:srgbClr val="EAF0FF"/>
          </a:solidFill>
          <a:ln w="9525">
            <a:solidFill>
              <a:srgbClr val="DCE3F2"/>
            </a:solidFill>
            <a:prstDash val="solid"/>
          </a:ln>
        </p:spPr>
      </p:sp>
      <p:sp>
        <p:nvSpPr>
          <p:cNvPr id="13" name="矩形 12"/>
          <p:cNvSpPr>
            <a:spLocks noGrp="1"/>
          </p:cNvSpPr>
          <p:nvPr/>
        </p:nvSpPr>
        <p:spPr>
          <a:xfrm>
            <a:off x="628650" y="3162300"/>
            <a:ext cx="876300" cy="666750"/>
          </a:xfrm>
          <a:prstGeom prst="rect">
            <a:avLst/>
          </a:prstGeom>
          <a:noFill/>
          <a:ln w="0">
            <a:noFill/>
            <a:prstDash val="solid"/>
          </a:ln>
        </p:spPr>
        <p:txBody>
          <a:bodyPr anchor="ctr"/>
          <a:lstStyle/>
          <a:p>
            <a:pPr algn="ctr">
              <a:defRPr sz="3300" b="1">
                <a:solidFill>
                  <a:srgbClr val="3157FF"/>
                </a:solidFill>
                <a:latin typeface="微软雅黑" panose="020B0503020204020204" charset="-122"/>
                <a:ea typeface="微软雅黑" panose="020B0503020204020204" charset="-122"/>
                <a:cs typeface="微软雅黑" panose="020B0503020204020204" charset="-122"/>
              </a:defRPr>
            </a:pPr>
            <a:r>
              <a:rPr sz="3300" b="1">
                <a:solidFill>
                  <a:srgbClr val="3157FF"/>
                </a:solidFill>
                <a:latin typeface="微软雅黑" panose="020B0503020204020204" charset="-122"/>
                <a:ea typeface="微软雅黑" panose="020B0503020204020204" charset="-122"/>
                <a:cs typeface="微软雅黑" panose="020B0503020204020204" charset="-122"/>
              </a:rPr>
              <a:t>02</a:t>
            </a:r>
            <a:endParaRPr sz="33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752600" y="3124200"/>
            <a:ext cx="4095750" cy="285750"/>
          </a:xfrm>
          <a:prstGeom prst="rect">
            <a:avLst/>
          </a:prstGeom>
          <a:noFill/>
          <a:ln w="0">
            <a:noFill/>
            <a:prstDash val="solid"/>
          </a:ln>
        </p:spPr>
        <p:txBody>
          <a:bodyPr anchor="ctr"/>
          <a:lstStyle/>
          <a:p>
            <a:pPr algn="l">
              <a:defRPr sz="1500" b="1">
                <a:solidFill>
                  <a:srgbClr val="172033"/>
                </a:solidFill>
                <a:latin typeface="微软雅黑" panose="020B0503020204020204" charset="-122"/>
                <a:ea typeface="微软雅黑" panose="020B0503020204020204" charset="-122"/>
                <a:cs typeface="微软雅黑" panose="020B0503020204020204" charset="-122"/>
              </a:defRPr>
            </a:pPr>
            <a:r>
              <a:rPr sz="1500" b="1">
                <a:solidFill>
                  <a:srgbClr val="172033"/>
                </a:solidFill>
                <a:latin typeface="微软雅黑" panose="020B0503020204020204" charset="-122"/>
                <a:ea typeface="微软雅黑" panose="020B0503020204020204" charset="-122"/>
                <a:cs typeface="微软雅黑" panose="020B0503020204020204" charset="-122"/>
              </a:rPr>
              <a:t>第二梯队｜专业影响力</a:t>
            </a:r>
            <a:endParaRPr sz="1500"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752600" y="3448050"/>
            <a:ext cx="8763000" cy="247650"/>
          </a:xfrm>
          <a:prstGeom prst="rect">
            <a:avLst/>
          </a:prstGeom>
          <a:noFill/>
          <a:ln w="0">
            <a:noFill/>
            <a:prstDash val="solid"/>
          </a:ln>
        </p:spPr>
        <p:txBody>
          <a:bodyPr anchor="ctr"/>
          <a:lstStyle/>
          <a:p>
            <a:pPr algn="l">
              <a:defRPr sz="1050" b="1">
                <a:solidFill>
                  <a:srgbClr val="1230A5"/>
                </a:solidFill>
                <a:latin typeface="微软雅黑" panose="020B0503020204020204" charset="-122"/>
                <a:ea typeface="微软雅黑" panose="020B0503020204020204" charset="-122"/>
                <a:cs typeface="微软雅黑" panose="020B0503020204020204" charset="-122"/>
              </a:defRPr>
            </a:pPr>
            <a:r>
              <a:rPr sz="1050" b="1">
                <a:solidFill>
                  <a:srgbClr val="1230A5"/>
                </a:solidFill>
                <a:latin typeface="微软雅黑" panose="020B0503020204020204" charset="-122"/>
                <a:ea typeface="微软雅黑" panose="020B0503020204020204" charset="-122"/>
                <a:cs typeface="微软雅黑" panose="020B0503020204020204" charset="-122"/>
              </a:rPr>
              <a:t>回声拆机少女 1万+  ·  回声行业观察 1万+  ·  回声系统测评 1.1万+</a:t>
            </a:r>
            <a:r>
              <a:rPr>
                <a:sym typeface="+mn-ea"/>
              </a:rPr>
              <a:t>·</a:t>
            </a:r>
            <a:r>
              <a:rPr lang="zh-CN" altLang="en-US" noProof="0" dirty="0">
                <a:ln>
                  <a:noFill/>
                </a:ln>
                <a:solidFill>
                  <a:srgbClr val="1230A5"/>
                </a:solidFill>
                <a:effectLst/>
                <a:uLnTx/>
                <a:uFillTx/>
                <a:latin typeface="vivo Sans" panose="02000300000000000000" charset="-122"/>
                <a:ea typeface="vivo Sans" panose="02000300000000000000" charset="-122"/>
                <a:cs typeface="vivo Sans" panose="02000300000000000000" charset="-122"/>
                <a:sym typeface="+mn-ea"/>
              </a:rPr>
              <a:t>平均单条播放</a:t>
            </a:r>
            <a:r>
              <a:rPr lang="en-US" noProof="0" dirty="0">
                <a:ln>
                  <a:noFill/>
                </a:ln>
                <a:solidFill>
                  <a:srgbClr val="1230A5"/>
                </a:solidFill>
                <a:effectLst/>
                <a:uLnTx/>
                <a:uFillTx/>
                <a:latin typeface="vivo Sans" panose="02000300000000000000" charset="-122"/>
                <a:ea typeface="vivo Sans" panose="02000300000000000000" charset="-122"/>
                <a:cs typeface="vivo Sans" panose="02000300000000000000" charset="-122"/>
                <a:sym typeface="+mn-ea"/>
              </a:rPr>
              <a:t>9k</a:t>
            </a:r>
            <a:r>
              <a:rPr lang="en-US" altLang="zh-CN" noProof="0" dirty="0">
                <a:ln>
                  <a:noFill/>
                </a:ln>
                <a:solidFill>
                  <a:srgbClr val="1230A5"/>
                </a:solidFill>
                <a:effectLst/>
                <a:uLnTx/>
                <a:uFillTx/>
                <a:latin typeface="vivo Sans" panose="02000300000000000000" charset="-122"/>
                <a:ea typeface="vivo Sans" panose="02000300000000000000" charset="-122"/>
                <a:cs typeface="vivo Sans" panose="02000300000000000000" charset="-122"/>
                <a:sym typeface="+mn-ea"/>
              </a:rPr>
              <a:t>+</a:t>
            </a:r>
            <a:endParaRPr lang="en-US" altLang="zh-CN" sz="1050" b="1" noProof="0" dirty="0">
              <a:ln>
                <a:noFill/>
              </a:ln>
              <a:solidFill>
                <a:srgbClr val="1230A5"/>
              </a:solidFill>
              <a:effectLst/>
              <a:uLnTx/>
              <a:uFillTx/>
              <a:latin typeface="vivo Sans" panose="02000300000000000000" charset="-122"/>
              <a:ea typeface="vivo Sans" panose="02000300000000000000" charset="-122"/>
              <a:cs typeface="vivo Sans" panose="02000300000000000000" charset="-122"/>
              <a:sym typeface="+mn-ea"/>
            </a:endParaRPr>
          </a:p>
        </p:txBody>
      </p:sp>
      <p:sp>
        <p:nvSpPr>
          <p:cNvPr id="16" name="矩形 15"/>
          <p:cNvSpPr>
            <a:spLocks noGrp="1"/>
          </p:cNvSpPr>
          <p:nvPr/>
        </p:nvSpPr>
        <p:spPr>
          <a:xfrm>
            <a:off x="1752600" y="3733800"/>
            <a:ext cx="9334500" cy="400050"/>
          </a:xfrm>
          <a:prstGeom prst="rect">
            <a:avLst/>
          </a:prstGeom>
          <a:noFill/>
          <a:ln w="0">
            <a:noFill/>
            <a:prstDash val="solid"/>
          </a:ln>
        </p:spPr>
        <p:txBody>
          <a:bodyPr anchor="ctr"/>
          <a:lstStyle/>
          <a:p>
            <a:pPr algn="l">
              <a:defRPr sz="940" b="0">
                <a:solidFill>
                  <a:srgbClr val="667085"/>
                </a:solidFill>
                <a:latin typeface="微软雅黑" panose="020B0503020204020204" charset="-122"/>
                <a:ea typeface="微软雅黑" panose="020B0503020204020204" charset="-122"/>
                <a:cs typeface="微软雅黑" panose="020B0503020204020204" charset="-122"/>
              </a:defRPr>
            </a:pPr>
            <a:r>
              <a:rPr sz="940" b="0">
                <a:solidFill>
                  <a:srgbClr val="667085"/>
                </a:solidFill>
                <a:latin typeface="微软雅黑" panose="020B0503020204020204" charset="-122"/>
                <a:ea typeface="微软雅黑" panose="020B0503020204020204" charset="-122"/>
                <a:cs typeface="微软雅黑" panose="020B0503020204020204" charset="-122"/>
              </a:rPr>
              <a:t>沉淀拆机、行业与系统的专业认知；提高热点追踪速度，建立稳定栏目与用户信任。</a:t>
            </a:r>
            <a:endParaRPr sz="940"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400050" y="4514850"/>
            <a:ext cx="11391900" cy="1333500"/>
          </a:xfrm>
          <a:prstGeom prst="roundRect">
            <a:avLst>
              <a:gd name="adj" fmla="val 5714"/>
            </a:avLst>
          </a:prstGeom>
          <a:solidFill>
            <a:srgbClr val="FFFFFF"/>
          </a:solidFill>
          <a:ln w="9525">
            <a:solidFill>
              <a:srgbClr val="DCE3F2"/>
            </a:solidFill>
            <a:prstDash val="solid"/>
          </a:ln>
        </p:spPr>
      </p:sp>
      <p:sp>
        <p:nvSpPr>
          <p:cNvPr id="18" name="矩形 17"/>
          <p:cNvSpPr>
            <a:spLocks noGrp="1"/>
          </p:cNvSpPr>
          <p:nvPr/>
        </p:nvSpPr>
        <p:spPr>
          <a:xfrm>
            <a:off x="628650" y="4743450"/>
            <a:ext cx="876300" cy="666750"/>
          </a:xfrm>
          <a:prstGeom prst="rect">
            <a:avLst/>
          </a:prstGeom>
          <a:noFill/>
          <a:ln w="0">
            <a:noFill/>
            <a:prstDash val="solid"/>
          </a:ln>
        </p:spPr>
        <p:txBody>
          <a:bodyPr anchor="ctr"/>
          <a:lstStyle/>
          <a:p>
            <a:pPr algn="ctr">
              <a:defRPr sz="3300" b="1">
                <a:solidFill>
                  <a:srgbClr val="3157FF"/>
                </a:solidFill>
                <a:latin typeface="微软雅黑" panose="020B0503020204020204" charset="-122"/>
                <a:ea typeface="微软雅黑" panose="020B0503020204020204" charset="-122"/>
                <a:cs typeface="微软雅黑" panose="020B0503020204020204" charset="-122"/>
              </a:defRPr>
            </a:pPr>
            <a:r>
              <a:rPr sz="3300" b="1">
                <a:solidFill>
                  <a:srgbClr val="3157FF"/>
                </a:solidFill>
                <a:latin typeface="微软雅黑" panose="020B0503020204020204" charset="-122"/>
                <a:ea typeface="微软雅黑" panose="020B0503020204020204" charset="-122"/>
                <a:cs typeface="微软雅黑" panose="020B0503020204020204" charset="-122"/>
              </a:rPr>
              <a:t>03</a:t>
            </a:r>
            <a:endParaRPr sz="33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752600" y="4705350"/>
            <a:ext cx="4095750" cy="285750"/>
          </a:xfrm>
          <a:prstGeom prst="rect">
            <a:avLst/>
          </a:prstGeom>
          <a:noFill/>
          <a:ln w="0">
            <a:noFill/>
            <a:prstDash val="solid"/>
          </a:ln>
        </p:spPr>
        <p:txBody>
          <a:bodyPr anchor="ctr"/>
          <a:lstStyle/>
          <a:p>
            <a:pPr algn="l">
              <a:defRPr sz="1500" b="1">
                <a:solidFill>
                  <a:srgbClr val="172033"/>
                </a:solidFill>
                <a:latin typeface="微软雅黑" panose="020B0503020204020204" charset="-122"/>
                <a:ea typeface="微软雅黑" panose="020B0503020204020204" charset="-122"/>
                <a:cs typeface="微软雅黑" panose="020B0503020204020204" charset="-122"/>
              </a:defRPr>
            </a:pPr>
            <a:r>
              <a:rPr sz="1500" b="1">
                <a:solidFill>
                  <a:srgbClr val="172033"/>
                </a:solidFill>
                <a:latin typeface="微软雅黑" panose="020B0503020204020204" charset="-122"/>
                <a:ea typeface="微软雅黑" panose="020B0503020204020204" charset="-122"/>
                <a:cs typeface="微软雅黑" panose="020B0503020204020204" charset="-122"/>
              </a:rPr>
              <a:t>第三梯队｜热点试验场</a:t>
            </a:r>
            <a:endParaRPr sz="1500"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1752600" y="5029200"/>
            <a:ext cx="8763000" cy="247650"/>
          </a:xfrm>
          <a:prstGeom prst="rect">
            <a:avLst/>
          </a:prstGeom>
          <a:noFill/>
          <a:ln w="0">
            <a:noFill/>
            <a:prstDash val="solid"/>
          </a:ln>
        </p:spPr>
        <p:txBody>
          <a:bodyPr anchor="ctr"/>
          <a:lstStyle/>
          <a:p>
            <a:pPr algn="l">
              <a:defRPr sz="1050" b="1">
                <a:solidFill>
                  <a:srgbClr val="1230A5"/>
                </a:solidFill>
                <a:latin typeface="微软雅黑" panose="020B0503020204020204" charset="-122"/>
                <a:ea typeface="微软雅黑" panose="020B0503020204020204" charset="-122"/>
                <a:cs typeface="微软雅黑" panose="020B0503020204020204" charset="-122"/>
              </a:defRPr>
            </a:pPr>
            <a:r>
              <a:rPr sz="1050" b="1">
                <a:solidFill>
                  <a:srgbClr val="1230A5"/>
                </a:solidFill>
                <a:latin typeface="微软雅黑" panose="020B0503020204020204" charset="-122"/>
                <a:ea typeface="微软雅黑" panose="020B0503020204020204" charset="-122"/>
                <a:cs typeface="微软雅黑" panose="020B0503020204020204" charset="-122"/>
              </a:rPr>
              <a:t>回声数码站 6752</a:t>
            </a:r>
            <a:endParaRPr sz="1050" b="1">
              <a:solidFill>
                <a:srgbClr val="1230A5"/>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1752600" y="5314950"/>
            <a:ext cx="9334500" cy="400050"/>
          </a:xfrm>
          <a:prstGeom prst="rect">
            <a:avLst/>
          </a:prstGeom>
          <a:noFill/>
          <a:ln w="0">
            <a:noFill/>
            <a:prstDash val="solid"/>
          </a:ln>
        </p:spPr>
        <p:txBody>
          <a:bodyPr anchor="ctr"/>
          <a:lstStyle/>
          <a:p>
            <a:pPr algn="l">
              <a:defRPr sz="940" b="0">
                <a:solidFill>
                  <a:srgbClr val="667085"/>
                </a:solidFill>
                <a:latin typeface="微软雅黑" panose="020B0503020204020204" charset="-122"/>
                <a:ea typeface="微软雅黑" panose="020B0503020204020204" charset="-122"/>
                <a:cs typeface="微软雅黑" panose="020B0503020204020204" charset="-122"/>
              </a:defRPr>
            </a:pPr>
            <a:r>
              <a:rPr sz="940" b="0">
                <a:solidFill>
                  <a:srgbClr val="667085"/>
                </a:solidFill>
                <a:latin typeface="微软雅黑" panose="020B0503020204020204" charset="-122"/>
                <a:ea typeface="微软雅黑" panose="020B0503020204020204" charset="-122"/>
                <a:cs typeface="微软雅黑" panose="020B0503020204020204" charset="-122"/>
              </a:rPr>
              <a:t>保持快速资讯与低成本试错，验证价格、销量与争议话题，再向其他账号复制有效题材。</a:t>
            </a:r>
            <a:endParaRPr sz="940"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400050" y="6191250"/>
            <a:ext cx="11391900" cy="285750"/>
          </a:xfrm>
          <a:prstGeom prst="roundRect">
            <a:avLst>
              <a:gd name="adj" fmla="val 26667"/>
            </a:avLst>
          </a:prstGeom>
          <a:solidFill>
            <a:srgbClr val="1230A5"/>
          </a:solidFill>
          <a:ln w="0">
            <a:noFill/>
            <a:prstDash val="solid"/>
          </a:ln>
        </p:spPr>
      </p:sp>
      <p:sp>
        <p:nvSpPr>
          <p:cNvPr id="23" name="矩形 22"/>
          <p:cNvSpPr>
            <a:spLocks noGrp="1"/>
          </p:cNvSpPr>
          <p:nvPr/>
        </p:nvSpPr>
        <p:spPr>
          <a:xfrm>
            <a:off x="552450" y="6219825"/>
            <a:ext cx="11087100" cy="228600"/>
          </a:xfrm>
          <a:prstGeom prst="rect">
            <a:avLst/>
          </a:prstGeom>
          <a:noFill/>
          <a:ln w="0">
            <a:noFill/>
            <a:prstDash val="solid"/>
          </a:ln>
        </p:spPr>
        <p:txBody>
          <a:bodyPr anchor="ctr"/>
          <a:lstStyle/>
          <a:p>
            <a:pPr algn="ctr">
              <a:defRPr sz="900" b="1">
                <a:solidFill>
                  <a:srgbClr val="FFFFFF"/>
                </a:solidFill>
                <a:latin typeface="微软雅黑" panose="020B0503020204020204" charset="-122"/>
                <a:ea typeface="微软雅黑" panose="020B0503020204020204" charset="-122"/>
                <a:cs typeface="微软雅黑" panose="020B0503020204020204" charset="-122"/>
              </a:defRPr>
            </a:pPr>
            <a:r>
              <a:rPr sz="900" b="1">
                <a:solidFill>
                  <a:srgbClr val="FFFFFF"/>
                </a:solidFill>
                <a:latin typeface="微软雅黑" panose="020B0503020204020204" charset="-122"/>
                <a:ea typeface="微软雅黑" panose="020B0503020204020204" charset="-122"/>
                <a:cs typeface="微软雅黑" panose="020B0503020204020204" charset="-122"/>
              </a:rPr>
              <a:t>矩阵协同逻辑：第一梯队拉流量 → 第二梯队沉淀专业 → 第三梯队快速试错 → 有效题材反哺全矩阵</a:t>
            </a:r>
            <a:endParaRPr sz="90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a:spLocks noGrp="1"/>
          </p:cNvSpPr>
          <p:nvPr/>
        </p:nvSpPr>
        <p:spPr>
          <a:xfrm>
            <a:off x="4937097" y="1860550"/>
            <a:ext cx="1680268" cy="1569660"/>
          </a:xfrm>
          <a:prstGeom prst="rect">
            <a:avLst/>
          </a:prstGeom>
          <a:noFill/>
          <a:ln>
            <a:noFill/>
          </a:ln>
        </p:spPr>
        <p:txBody>
          <a:bodyPr wrap="none" anchor="t">
            <a:spAutoFit/>
          </a:bodyPr>
          <a:lstStyle/>
          <a:p>
            <a:pPr marL="0" marR="0" lvl="0" indent="0" algn="ctr" defTabSz="914400">
              <a:lnSpc>
                <a:spcPct val="100000"/>
              </a:lnSpc>
              <a:spcBef>
                <a:spcPts val="0"/>
              </a:spcBef>
              <a:spcAft>
                <a:spcPts val="0"/>
              </a:spcAft>
              <a:buClrTx/>
              <a:buSzTx/>
              <a:buFontTx/>
              <a:buNone/>
            </a:pPr>
            <a:r>
              <a:rPr sz="96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02</a:t>
            </a:r>
            <a:endParaRPr sz="9600" b="0" i="1" u="none" cap="none">
              <a:ln>
                <a:noFill/>
              </a:ln>
              <a:solidFill>
                <a:srgbClr val="3333FF"/>
              </a:solidFill>
              <a:latin typeface="vivo Sans Bold" panose="02000300000000000000" charset="-122"/>
              <a:ea typeface="vivo Sans Bold" panose="02000300000000000000" charset="-122"/>
              <a:cs typeface="vivo Sans Bold" panose="02000300000000000000" charset="-122"/>
            </a:endParaRPr>
          </a:p>
        </p:txBody>
      </p:sp>
      <p:sp>
        <p:nvSpPr>
          <p:cNvPr id="11" name="文本框 10"/>
          <p:cNvSpPr>
            <a:spLocks noGrp="1"/>
          </p:cNvSpPr>
          <p:nvPr/>
        </p:nvSpPr>
        <p:spPr>
          <a:xfrm>
            <a:off x="4020820" y="3237230"/>
            <a:ext cx="3513455" cy="922020"/>
          </a:xfrm>
          <a:prstGeom prst="rect">
            <a:avLst/>
          </a:prstGeom>
          <a:noFill/>
        </p:spPr>
        <p:txBody>
          <a:bodyPr wrap="square">
            <a:spAutoFit/>
          </a:bodyPr>
          <a:lstStyle/>
          <a:p>
            <a:pPr marL="0" marR="0" lvl="0" indent="0" algn="ctr" defTabSz="914400">
              <a:lnSpc>
                <a:spcPct val="100000"/>
              </a:lnSpc>
              <a:spcBef>
                <a:spcPts val="0"/>
              </a:spcBef>
              <a:spcAft>
                <a:spcPts val="0"/>
              </a:spcAft>
              <a:buClrTx/>
              <a:buSzTx/>
              <a:buFontTx/>
              <a:buNone/>
            </a:pP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矩</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阵</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成</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长</a:t>
            </a:r>
            <a:endPar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aphicFrame>
        <p:nvGraphicFramePr>
          <p:cNvPr id="40" name="图表 2"/>
          <p:cNvGraphicFramePr/>
          <p:nvPr/>
        </p:nvGraphicFramePr>
        <p:xfrm>
          <a:off x="400050" y="1257300"/>
          <a:ext cx="7429500" cy="4095750"/>
        </p:xfrm>
        <a:graphic>
          <a:graphicData uri="http://schemas.openxmlformats.org/drawingml/2006/chart">
            <c:chart xmlns:c="http://schemas.openxmlformats.org/drawingml/2006/chart" xmlns:r="http://schemas.openxmlformats.org/officeDocument/2006/relationships" r:id="rId1"/>
          </a:graphicData>
        </a:graphic>
      </p:graphicFrame>
      <p:sp>
        <p:nvSpPr>
          <p:cNvPr id="19"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0"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矩阵已从启动蓄力进入持续增长，但账号热度开始分化</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微软雅黑" panose="020B0503020204020204" charset="-122"/>
                <a:ea typeface="微软雅黑" panose="020B0503020204020204" charset="-122"/>
                <a:cs typeface="微软雅黑" panose="020B0503020204020204" charset="-122"/>
              </a:rPr>
              <a:t>07</a:t>
            </a:r>
            <a:endParaRPr sz="675" b="0">
              <a:solidFill>
                <a:srgbClr val="8A96AA"/>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400050" y="838200"/>
            <a:ext cx="7239000" cy="266700"/>
          </a:xfrm>
          <a:prstGeom prst="rect">
            <a:avLst/>
          </a:prstGeom>
          <a:noFill/>
          <a:ln w="0">
            <a:noFill/>
            <a:prstDash val="solid"/>
          </a:ln>
        </p:spPr>
        <p:txBody>
          <a:bodyPr anchor="ctr"/>
          <a:lstStyle/>
          <a:p>
            <a:pPr algn="l">
              <a:defRPr sz="1275" b="1">
                <a:solidFill>
                  <a:srgbClr val="172033"/>
                </a:solidFill>
                <a:latin typeface="微软雅黑" panose="020B0503020204020204" charset="-122"/>
                <a:ea typeface="微软雅黑" panose="020B0503020204020204" charset="-122"/>
                <a:cs typeface="微软雅黑" panose="020B0503020204020204" charset="-122"/>
              </a:defRPr>
            </a:pPr>
            <a:r>
              <a:rPr sz="1275" b="1">
                <a:solidFill>
                  <a:srgbClr val="172033"/>
                </a:solidFill>
                <a:latin typeface="微软雅黑" panose="020B0503020204020204" charset="-122"/>
                <a:ea typeface="微软雅黑" panose="020B0503020204020204" charset="-122"/>
                <a:cs typeface="微软雅黑" panose="020B0503020204020204" charset="-122"/>
              </a:rPr>
              <a:t>整体趋势：启动验证 → 波动调整 → 重点账号重新加速</a:t>
            </a:r>
            <a:endParaRPr sz="12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25" name="圆角矩形 24"/>
          <p:cNvSpPr>
            <a:spLocks noGrp="1"/>
          </p:cNvSpPr>
          <p:nvPr/>
        </p:nvSpPr>
        <p:spPr>
          <a:xfrm>
            <a:off x="8096250" y="1352550"/>
            <a:ext cx="3695700" cy="1066800"/>
          </a:xfrm>
          <a:prstGeom prst="roundRect">
            <a:avLst>
              <a:gd name="adj" fmla="val 7143"/>
            </a:avLst>
          </a:prstGeom>
          <a:solidFill>
            <a:srgbClr val="FFFFFF"/>
          </a:solidFill>
          <a:ln w="9525">
            <a:solidFill>
              <a:srgbClr val="DCE3F2"/>
            </a:solidFill>
            <a:prstDash val="solid"/>
          </a:ln>
        </p:spPr>
      </p:sp>
      <p:sp>
        <p:nvSpPr>
          <p:cNvPr id="26" name="矩形 25"/>
          <p:cNvSpPr>
            <a:spLocks noGrp="1"/>
          </p:cNvSpPr>
          <p:nvPr/>
        </p:nvSpPr>
        <p:spPr>
          <a:xfrm>
            <a:off x="8286750" y="1524000"/>
            <a:ext cx="495300" cy="381000"/>
          </a:xfrm>
          <a:prstGeom prst="rect">
            <a:avLst/>
          </a:prstGeom>
          <a:noFill/>
          <a:ln w="0">
            <a:noFill/>
            <a:prstDash val="solid"/>
          </a:ln>
        </p:spPr>
        <p:txBody>
          <a:bodyPr anchor="ctr"/>
          <a:lstStyle/>
          <a:p>
            <a:pPr algn="l">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01</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8858250" y="1504950"/>
            <a:ext cx="2571750" cy="266700"/>
          </a:xfrm>
          <a:prstGeom prst="rect">
            <a:avLst/>
          </a:prstGeom>
          <a:noFill/>
          <a:ln w="0">
            <a:noFill/>
            <a:prstDash val="solid"/>
          </a:ln>
        </p:spPr>
        <p:txBody>
          <a:bodyPr anchor="ctr"/>
          <a:lstStyle/>
          <a:p>
            <a:pPr algn="l">
              <a:defRPr sz="1200" b="1">
                <a:solidFill>
                  <a:srgbClr val="172033"/>
                </a:solidFill>
                <a:latin typeface="微软雅黑" panose="020B0503020204020204" charset="-122"/>
                <a:ea typeface="微软雅黑" panose="020B0503020204020204" charset="-122"/>
                <a:cs typeface="微软雅黑" panose="020B0503020204020204" charset="-122"/>
              </a:defRPr>
            </a:pPr>
            <a:r>
              <a:rPr sz="1200" b="1">
                <a:solidFill>
                  <a:srgbClr val="172033"/>
                </a:solidFill>
                <a:latin typeface="微软雅黑" panose="020B0503020204020204" charset="-122"/>
                <a:ea typeface="微软雅黑" panose="020B0503020204020204" charset="-122"/>
                <a:cs typeface="微软雅黑" panose="020B0503020204020204" charset="-122"/>
              </a:rPr>
              <a:t>启动蓄力</a:t>
            </a:r>
            <a:endParaRPr sz="1200"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8858250" y="1828800"/>
            <a:ext cx="2667000" cy="457200"/>
          </a:xfrm>
          <a:prstGeom prst="rect">
            <a:avLst/>
          </a:prstGeom>
          <a:noFill/>
          <a:ln w="0">
            <a:noFill/>
            <a:prstDash val="solid"/>
          </a:ln>
        </p:spPr>
        <p:txBody>
          <a:bodyPr anchor="ctr"/>
          <a:lstStyle/>
          <a:p>
            <a:pPr algn="l">
              <a:defRPr sz="865" b="0">
                <a:solidFill>
                  <a:srgbClr val="667085"/>
                </a:solidFill>
                <a:latin typeface="微软雅黑" panose="020B0503020204020204" charset="-122"/>
                <a:ea typeface="微软雅黑" panose="020B0503020204020204" charset="-122"/>
                <a:cs typeface="微软雅黑" panose="020B0503020204020204" charset="-122"/>
              </a:defRPr>
            </a:pPr>
            <a:r>
              <a:rPr sz="865" b="0">
                <a:solidFill>
                  <a:srgbClr val="667085"/>
                </a:solidFill>
                <a:latin typeface="微软雅黑" panose="020B0503020204020204" charset="-122"/>
                <a:ea typeface="微软雅黑" panose="020B0503020204020204" charset="-122"/>
                <a:cs typeface="微软雅黑" panose="020B0503020204020204" charset="-122"/>
              </a:rPr>
              <a:t>1–2月完成六账号定位与基础内容验证</a:t>
            </a:r>
            <a:endParaRPr sz="86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8096250" y="2609850"/>
            <a:ext cx="3695700" cy="1066800"/>
          </a:xfrm>
          <a:prstGeom prst="roundRect">
            <a:avLst>
              <a:gd name="adj" fmla="val 7143"/>
            </a:avLst>
          </a:prstGeom>
          <a:solidFill>
            <a:srgbClr val="FFFFFF"/>
          </a:solidFill>
          <a:ln w="9525">
            <a:solidFill>
              <a:srgbClr val="DCE3F2"/>
            </a:solidFill>
            <a:prstDash val="solid"/>
          </a:ln>
        </p:spPr>
      </p:sp>
      <p:sp>
        <p:nvSpPr>
          <p:cNvPr id="30" name="矩形 29"/>
          <p:cNvSpPr>
            <a:spLocks noGrp="1"/>
          </p:cNvSpPr>
          <p:nvPr/>
        </p:nvSpPr>
        <p:spPr>
          <a:xfrm>
            <a:off x="8286750" y="2781300"/>
            <a:ext cx="495300" cy="381000"/>
          </a:xfrm>
          <a:prstGeom prst="rect">
            <a:avLst/>
          </a:prstGeom>
          <a:noFill/>
          <a:ln w="0">
            <a:noFill/>
            <a:prstDash val="solid"/>
          </a:ln>
        </p:spPr>
        <p:txBody>
          <a:bodyPr anchor="ctr"/>
          <a:lstStyle/>
          <a:p>
            <a:pPr algn="l">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02</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8858250" y="2762250"/>
            <a:ext cx="2571750" cy="266700"/>
          </a:xfrm>
          <a:prstGeom prst="rect">
            <a:avLst/>
          </a:prstGeom>
          <a:noFill/>
          <a:ln w="0">
            <a:noFill/>
            <a:prstDash val="solid"/>
          </a:ln>
        </p:spPr>
        <p:txBody>
          <a:bodyPr anchor="ctr"/>
          <a:lstStyle/>
          <a:p>
            <a:pPr algn="l">
              <a:defRPr sz="1200" b="1">
                <a:solidFill>
                  <a:srgbClr val="172033"/>
                </a:solidFill>
                <a:latin typeface="微软雅黑" panose="020B0503020204020204" charset="-122"/>
                <a:ea typeface="微软雅黑" panose="020B0503020204020204" charset="-122"/>
                <a:cs typeface="微软雅黑" panose="020B0503020204020204" charset="-122"/>
              </a:defRPr>
            </a:pPr>
            <a:r>
              <a:rPr sz="1200" b="1">
                <a:solidFill>
                  <a:srgbClr val="172033"/>
                </a:solidFill>
                <a:latin typeface="微软雅黑" panose="020B0503020204020204" charset="-122"/>
                <a:ea typeface="微软雅黑" panose="020B0503020204020204" charset="-122"/>
                <a:cs typeface="微软雅黑" panose="020B0503020204020204" charset="-122"/>
              </a:rPr>
              <a:t>波动调整</a:t>
            </a:r>
            <a:endParaRPr sz="1200"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32" name="矩形 31"/>
          <p:cNvSpPr>
            <a:spLocks noGrp="1"/>
          </p:cNvSpPr>
          <p:nvPr/>
        </p:nvSpPr>
        <p:spPr>
          <a:xfrm>
            <a:off x="8858250" y="3086100"/>
            <a:ext cx="2667000" cy="457200"/>
          </a:xfrm>
          <a:prstGeom prst="rect">
            <a:avLst/>
          </a:prstGeom>
          <a:noFill/>
          <a:ln w="0">
            <a:noFill/>
            <a:prstDash val="solid"/>
          </a:ln>
        </p:spPr>
        <p:txBody>
          <a:bodyPr anchor="ctr"/>
          <a:lstStyle/>
          <a:p>
            <a:pPr algn="l">
              <a:defRPr sz="865" b="0">
                <a:solidFill>
                  <a:srgbClr val="667085"/>
                </a:solidFill>
                <a:latin typeface="微软雅黑" panose="020B0503020204020204" charset="-122"/>
                <a:ea typeface="微软雅黑" panose="020B0503020204020204" charset="-122"/>
                <a:cs typeface="微软雅黑" panose="020B0503020204020204" charset="-122"/>
              </a:defRPr>
            </a:pPr>
            <a:r>
              <a:rPr sz="865" b="0">
                <a:solidFill>
                  <a:srgbClr val="667085"/>
                </a:solidFill>
                <a:latin typeface="微软雅黑" panose="020B0503020204020204" charset="-122"/>
                <a:ea typeface="微软雅黑" panose="020B0503020204020204" charset="-122"/>
                <a:cs typeface="微软雅黑" panose="020B0503020204020204" charset="-122"/>
              </a:rPr>
              <a:t>4–5月热点空窗导致播放分化，暴露稳定性问题</a:t>
            </a:r>
            <a:endParaRPr sz="86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33" name="圆角矩形 32"/>
          <p:cNvSpPr>
            <a:spLocks noGrp="1"/>
          </p:cNvSpPr>
          <p:nvPr/>
        </p:nvSpPr>
        <p:spPr>
          <a:xfrm>
            <a:off x="8096250" y="3867150"/>
            <a:ext cx="3695700" cy="1066800"/>
          </a:xfrm>
          <a:prstGeom prst="roundRect">
            <a:avLst>
              <a:gd name="adj" fmla="val 7143"/>
            </a:avLst>
          </a:prstGeom>
          <a:solidFill>
            <a:srgbClr val="3157FF"/>
          </a:solidFill>
          <a:ln w="0">
            <a:noFill/>
            <a:prstDash val="solid"/>
          </a:ln>
        </p:spPr>
      </p:sp>
      <p:sp>
        <p:nvSpPr>
          <p:cNvPr id="34" name="矩形 33"/>
          <p:cNvSpPr>
            <a:spLocks noGrp="1"/>
          </p:cNvSpPr>
          <p:nvPr/>
        </p:nvSpPr>
        <p:spPr>
          <a:xfrm>
            <a:off x="8286750" y="4038600"/>
            <a:ext cx="495300" cy="381000"/>
          </a:xfrm>
          <a:prstGeom prst="rect">
            <a:avLst/>
          </a:prstGeom>
          <a:noFill/>
          <a:ln w="0">
            <a:noFill/>
            <a:prstDash val="solid"/>
          </a:ln>
        </p:spPr>
        <p:txBody>
          <a:bodyPr anchor="ctr"/>
          <a:lstStyle/>
          <a:p>
            <a:pPr algn="l">
              <a:defRPr sz="1875" b="1">
                <a:solidFill>
                  <a:srgbClr val="C8D3FF"/>
                </a:solidFill>
                <a:latin typeface="微软雅黑" panose="020B0503020204020204" charset="-122"/>
                <a:ea typeface="微软雅黑" panose="020B0503020204020204" charset="-122"/>
                <a:cs typeface="微软雅黑" panose="020B0503020204020204" charset="-122"/>
              </a:defRPr>
            </a:pPr>
            <a:r>
              <a:rPr sz="1875" b="1">
                <a:solidFill>
                  <a:srgbClr val="C8D3FF"/>
                </a:solidFill>
                <a:latin typeface="微软雅黑" panose="020B0503020204020204" charset="-122"/>
                <a:ea typeface="微软雅黑" panose="020B0503020204020204" charset="-122"/>
                <a:cs typeface="微软雅黑" panose="020B0503020204020204" charset="-122"/>
              </a:rPr>
              <a:t>03</a:t>
            </a:r>
            <a:endParaRPr sz="1875" b="1">
              <a:solidFill>
                <a:srgbClr val="C8D3FF"/>
              </a:solidFill>
              <a:latin typeface="微软雅黑" panose="020B0503020204020204" charset="-122"/>
              <a:ea typeface="微软雅黑" panose="020B0503020204020204" charset="-122"/>
              <a:cs typeface="微软雅黑" panose="020B0503020204020204" charset="-122"/>
            </a:endParaRPr>
          </a:p>
        </p:txBody>
      </p:sp>
      <p:sp>
        <p:nvSpPr>
          <p:cNvPr id="35" name="矩形 34"/>
          <p:cNvSpPr>
            <a:spLocks noGrp="1"/>
          </p:cNvSpPr>
          <p:nvPr/>
        </p:nvSpPr>
        <p:spPr>
          <a:xfrm>
            <a:off x="8858250" y="4019550"/>
            <a:ext cx="2571750" cy="266700"/>
          </a:xfrm>
          <a:prstGeom prst="rect">
            <a:avLst/>
          </a:prstGeom>
          <a:noFill/>
          <a:ln w="0">
            <a:noFill/>
            <a:prstDash val="solid"/>
          </a:ln>
        </p:spPr>
        <p:txBody>
          <a:bodyPr anchor="ctr"/>
          <a:lstStyle/>
          <a:p>
            <a:pPr algn="l">
              <a:defRPr sz="1200" b="1">
                <a:solidFill>
                  <a:srgbClr val="FFFFFF"/>
                </a:solidFill>
                <a:latin typeface="微软雅黑" panose="020B0503020204020204" charset="-122"/>
                <a:ea typeface="微软雅黑" panose="020B0503020204020204" charset="-122"/>
                <a:cs typeface="微软雅黑" panose="020B0503020204020204" charset="-122"/>
              </a:defRPr>
            </a:pPr>
            <a:r>
              <a:rPr sz="1200" b="1">
                <a:solidFill>
                  <a:srgbClr val="FFFFFF"/>
                </a:solidFill>
                <a:latin typeface="微软雅黑" panose="020B0503020204020204" charset="-122"/>
                <a:ea typeface="微软雅黑" panose="020B0503020204020204" charset="-122"/>
                <a:cs typeface="微软雅黑" panose="020B0503020204020204" charset="-122"/>
              </a:rPr>
              <a:t>持续增长</a:t>
            </a:r>
            <a:endParaRPr sz="12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8858250" y="4343400"/>
            <a:ext cx="2667000" cy="457200"/>
          </a:xfrm>
          <a:prstGeom prst="rect">
            <a:avLst/>
          </a:prstGeom>
          <a:noFill/>
          <a:ln w="0">
            <a:noFill/>
            <a:prstDash val="solid"/>
          </a:ln>
        </p:spPr>
        <p:txBody>
          <a:bodyPr anchor="ctr"/>
          <a:lstStyle/>
          <a:p>
            <a:pPr algn="l">
              <a:defRPr sz="865" b="0">
                <a:solidFill>
                  <a:srgbClr val="EDF1FF"/>
                </a:solidFill>
                <a:latin typeface="微软雅黑" panose="020B0503020204020204" charset="-122"/>
                <a:ea typeface="微软雅黑" panose="020B0503020204020204" charset="-122"/>
                <a:cs typeface="微软雅黑" panose="020B0503020204020204" charset="-122"/>
              </a:defRPr>
            </a:pPr>
            <a:r>
              <a:rPr sz="865" b="0">
                <a:solidFill>
                  <a:srgbClr val="EDF1FF"/>
                </a:solidFill>
                <a:latin typeface="微软雅黑" panose="020B0503020204020204" charset="-122"/>
                <a:ea typeface="微软雅黑" panose="020B0503020204020204" charset="-122"/>
                <a:cs typeface="微软雅黑" panose="020B0503020204020204" charset="-122"/>
              </a:rPr>
              <a:t>6–7月新品、首拆与争议话题推动矩阵回升</a:t>
            </a:r>
            <a:endParaRPr sz="865" b="0">
              <a:solidFill>
                <a:srgbClr val="EDF1FF"/>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8286750" y="5676900"/>
            <a:ext cx="3238500" cy="400050"/>
          </a:xfrm>
          <a:prstGeom prst="rect">
            <a:avLst/>
          </a:prstGeom>
          <a:noFill/>
          <a:ln w="0">
            <a:noFill/>
            <a:prstDash val="solid"/>
          </a:ln>
        </p:spPr>
        <p:txBody>
          <a:bodyPr anchor="ctr"/>
          <a:lstStyle/>
          <a:p>
            <a:pPr algn="l">
              <a:defRPr sz="975" b="1">
                <a:solidFill>
                  <a:srgbClr val="172033"/>
                </a:solidFill>
                <a:latin typeface="微软雅黑" panose="020B0503020204020204" charset="-122"/>
                <a:ea typeface="微软雅黑" panose="020B0503020204020204" charset="-122"/>
                <a:cs typeface="微软雅黑" panose="020B0503020204020204" charset="-122"/>
              </a:defRPr>
            </a:pPr>
            <a:endParaRPr sz="975" b="1">
              <a:solidFill>
                <a:srgbClr val="1720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a:spLocks noGrp="1"/>
          </p:cNvSpPr>
          <p:nvPr/>
        </p:nvSpPr>
        <p:spPr>
          <a:xfrm>
            <a:off x="4921067" y="1860550"/>
            <a:ext cx="1712328" cy="1569660"/>
          </a:xfrm>
          <a:prstGeom prst="rect">
            <a:avLst/>
          </a:prstGeom>
          <a:noFill/>
          <a:ln>
            <a:noFill/>
          </a:ln>
        </p:spPr>
        <p:txBody>
          <a:bodyPr wrap="none" anchor="t">
            <a:spAutoFit/>
          </a:bodyPr>
          <a:lstStyle/>
          <a:p>
            <a:pPr marL="0" marR="0" lvl="0" indent="0" algn="ctr" defTabSz="914400">
              <a:lnSpc>
                <a:spcPct val="100000"/>
              </a:lnSpc>
              <a:spcBef>
                <a:spcPts val="0"/>
              </a:spcBef>
              <a:spcAft>
                <a:spcPts val="0"/>
              </a:spcAft>
              <a:buClrTx/>
              <a:buSzTx/>
              <a:buFontTx/>
              <a:buNone/>
            </a:pPr>
            <a:r>
              <a:rPr sz="96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03</a:t>
            </a:r>
            <a:endParaRPr sz="9600" b="0" i="1" u="none" cap="none">
              <a:ln>
                <a:noFill/>
              </a:ln>
              <a:solidFill>
                <a:srgbClr val="3333FF"/>
              </a:solidFill>
              <a:latin typeface="vivo Sans Bold" panose="02000300000000000000" charset="-122"/>
              <a:ea typeface="vivo Sans Bold" panose="02000300000000000000" charset="-122"/>
              <a:cs typeface="vivo Sans Bold" panose="02000300000000000000" charset="-122"/>
            </a:endParaRPr>
          </a:p>
        </p:txBody>
      </p:sp>
      <p:sp>
        <p:nvSpPr>
          <p:cNvPr id="11" name="文本框 10"/>
          <p:cNvSpPr>
            <a:spLocks noGrp="1"/>
          </p:cNvSpPr>
          <p:nvPr/>
        </p:nvSpPr>
        <p:spPr>
          <a:xfrm>
            <a:off x="4020820" y="3237230"/>
            <a:ext cx="3513455" cy="922020"/>
          </a:xfrm>
          <a:prstGeom prst="rect">
            <a:avLst/>
          </a:prstGeom>
          <a:noFill/>
        </p:spPr>
        <p:txBody>
          <a:bodyPr wrap="square">
            <a:spAutoFit/>
          </a:bodyPr>
          <a:lstStyle/>
          <a:p>
            <a:pPr marL="0" marR="0" lvl="0" indent="0" algn="ctr" defTabSz="914400">
              <a:lnSpc>
                <a:spcPct val="100000"/>
              </a:lnSpc>
              <a:spcBef>
                <a:spcPts val="0"/>
              </a:spcBef>
              <a:spcAft>
                <a:spcPts val="0"/>
              </a:spcAft>
              <a:buClrTx/>
              <a:buSzTx/>
              <a:buFontTx/>
              <a:buNone/>
            </a:pP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账号</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分</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 </a:t>
            </a:r>
            <a:r>
              <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rPr>
              <a:t>析</a:t>
            </a:r>
            <a:endParaRPr sz="5400" b="0" i="1" u="none" cap="none">
              <a:ln>
                <a:noFill/>
              </a:ln>
              <a:solidFill>
                <a:srgbClr val="3333FF"/>
              </a:solidFill>
              <a:latin typeface="vivo Sans Bold" panose="02000300000000000000" charset="-122"/>
              <a:ea typeface="vivo Sans Bold" panose="02000300000000000000" charset="-122"/>
              <a:cs typeface="vivo Sans Bold" panose="020003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2"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H1完成启动，沉淀粉丝</a:t>
            </a:r>
            <a:r>
              <a:rPr lang="zh-CN" sz="1800" b="1">
                <a:solidFill>
                  <a:srgbClr val="FFFFFF"/>
                </a:solidFill>
                <a:latin typeface="微软雅黑" panose="020B0503020204020204" charset="-122"/>
                <a:ea typeface="微软雅黑" panose="020B0503020204020204" charset="-122"/>
                <a:cs typeface="微软雅黑" panose="020B0503020204020204" charset="-122"/>
              </a:rPr>
              <a:t>与流量</a:t>
            </a:r>
            <a:r>
              <a:rPr sz="1800" b="1">
                <a:solidFill>
                  <a:srgbClr val="FFFFFF"/>
                </a:solidFill>
                <a:latin typeface="微软雅黑" panose="020B0503020204020204" charset="-122"/>
                <a:ea typeface="微软雅黑" panose="020B0503020204020204" charset="-122"/>
                <a:cs typeface="微软雅黑" panose="020B0503020204020204" charset="-122"/>
              </a:rPr>
              <a:t>基础——回声现场影像</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微软雅黑" panose="020B0503020204020204" charset="-122"/>
                <a:ea typeface="微软雅黑" panose="020B0503020204020204" charset="-122"/>
                <a:cs typeface="微软雅黑" panose="020B0503020204020204" charset="-122"/>
              </a:rPr>
              <a:t>11</a:t>
            </a:r>
            <a:endParaRPr sz="675" b="0">
              <a:solidFill>
                <a:srgbClr val="8A96AA"/>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0050" y="81915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微软雅黑" panose="020B0503020204020204" charset="-122"/>
                <a:ea typeface="微软雅黑" panose="020B0503020204020204" charset="-122"/>
                <a:cs typeface="微软雅黑" panose="020B0503020204020204" charset="-122"/>
              </a:rPr>
              <a:t>账号定位</a:t>
            </a:r>
            <a:endParaRPr sz="9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0050" y="1076325"/>
            <a:ext cx="1524000" cy="19050"/>
          </a:xfrm>
          <a:prstGeom prst="rect">
            <a:avLst/>
          </a:prstGeom>
          <a:solidFill>
            <a:srgbClr val="3157FF"/>
          </a:solidFill>
          <a:ln w="0">
            <a:noFill/>
            <a:prstDash val="solid"/>
          </a:ln>
        </p:spPr>
      </p:sp>
      <p:sp>
        <p:nvSpPr>
          <p:cNvPr id="8" name="矩形 7"/>
          <p:cNvSpPr>
            <a:spLocks noGrp="1"/>
          </p:cNvSpPr>
          <p:nvPr/>
        </p:nvSpPr>
        <p:spPr>
          <a:xfrm>
            <a:off x="400050" y="1104900"/>
            <a:ext cx="4762500" cy="361950"/>
          </a:xfrm>
          <a:prstGeom prst="rect">
            <a:avLst/>
          </a:prstGeom>
          <a:noFill/>
          <a:ln w="0">
            <a:noFill/>
            <a:prstDash val="solid"/>
          </a:ln>
        </p:spPr>
        <p:txBody>
          <a:bodyPr anchor="ctr"/>
          <a:lstStyle/>
          <a:p>
            <a:pPr algn="l">
              <a:defRPr sz="1875" b="1">
                <a:solidFill>
                  <a:srgbClr val="172033"/>
                </a:solidFill>
                <a:latin typeface="微软雅黑" panose="020B0503020204020204" charset="-122"/>
                <a:ea typeface="微软雅黑" panose="020B0503020204020204" charset="-122"/>
                <a:cs typeface="微软雅黑" panose="020B0503020204020204" charset="-122"/>
              </a:defRPr>
            </a:pPr>
            <a:r>
              <a:rPr lang="zh-CN" sz="1875" b="1">
                <a:solidFill>
                  <a:srgbClr val="172033"/>
                </a:solidFill>
                <a:latin typeface="微软雅黑" panose="020B0503020204020204" charset="-122"/>
                <a:ea typeface="微软雅黑" panose="020B0503020204020204" charset="-122"/>
                <a:cs typeface="微软雅黑" panose="020B0503020204020204" charset="-122"/>
              </a:rPr>
              <a:t>手机</a:t>
            </a:r>
            <a:r>
              <a:rPr sz="1875" b="1">
                <a:solidFill>
                  <a:srgbClr val="172033"/>
                </a:solidFill>
                <a:latin typeface="微软雅黑" panose="020B0503020204020204" charset="-122"/>
                <a:ea typeface="微软雅黑" panose="020B0503020204020204" charset="-122"/>
                <a:cs typeface="微软雅黑" panose="020B0503020204020204" charset="-122"/>
              </a:rPr>
              <a:t>影像</a:t>
            </a:r>
            <a:r>
              <a:rPr lang="zh-CN" sz="1875" b="1">
                <a:solidFill>
                  <a:srgbClr val="172033"/>
                </a:solidFill>
                <a:latin typeface="微软雅黑" panose="020B0503020204020204" charset="-122"/>
                <a:ea typeface="微软雅黑" panose="020B0503020204020204" charset="-122"/>
                <a:cs typeface="微软雅黑" panose="020B0503020204020204" charset="-122"/>
              </a:rPr>
              <a:t>对比</a:t>
            </a:r>
            <a:endParaRPr lang="zh-CN" sz="18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400050" y="1438275"/>
            <a:ext cx="4762500" cy="266700"/>
          </a:xfrm>
          <a:prstGeom prst="rect">
            <a:avLst/>
          </a:prstGeom>
          <a:noFill/>
          <a:ln w="0">
            <a:noFill/>
            <a:prstDash val="solid"/>
          </a:ln>
        </p:spPr>
        <p:txBody>
          <a:bodyPr anchor="ctr"/>
          <a:lstStyle/>
          <a:p>
            <a:pPr algn="l">
              <a:defRPr sz="975" b="0">
                <a:solidFill>
                  <a:srgbClr val="667085"/>
                </a:solidFill>
                <a:latin typeface="微软雅黑" panose="020B0503020204020204" charset="-122"/>
                <a:ea typeface="微软雅黑" panose="020B0503020204020204" charset="-122"/>
                <a:cs typeface="微软雅黑" panose="020B0503020204020204" charset="-122"/>
              </a:defRPr>
            </a:pPr>
            <a:r>
              <a:rPr sz="975" b="0">
                <a:solidFill>
                  <a:srgbClr val="667085"/>
                </a:solidFill>
                <a:latin typeface="微软雅黑" panose="020B0503020204020204" charset="-122"/>
                <a:ea typeface="微软雅黑" panose="020B0503020204020204" charset="-122"/>
                <a:cs typeface="微软雅黑" panose="020B0503020204020204" charset="-122"/>
              </a:rPr>
              <a:t>高难场景实拍 × 多机同场对照 × 真实结果表达</a:t>
            </a:r>
            <a:endParaRPr sz="97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400050" y="1790700"/>
            <a:ext cx="142875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51435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1.8万+</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49530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粉丝沉淀</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971675" y="1790700"/>
            <a:ext cx="142875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2085975"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64条</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066925"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内容发布</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3543300" y="1790700"/>
            <a:ext cx="1428750" cy="666750"/>
          </a:xfrm>
          <a:prstGeom prst="roundRect">
            <a:avLst>
              <a:gd name="adj" fmla="val 11429"/>
            </a:avLst>
          </a:prstGeom>
          <a:solidFill>
            <a:srgbClr val="F5F7FF"/>
          </a:solidFill>
          <a:ln w="9525">
            <a:solidFill>
              <a:srgbClr val="DCE3F2"/>
            </a:solidFill>
            <a:prstDash val="solid"/>
          </a:ln>
        </p:spPr>
      </p:sp>
      <p:sp>
        <p:nvSpPr>
          <p:cNvPr id="17" name="矩形 16"/>
          <p:cNvSpPr>
            <a:spLocks noGrp="1"/>
          </p:cNvSpPr>
          <p:nvPr/>
        </p:nvSpPr>
        <p:spPr>
          <a:xfrm>
            <a:off x="365760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20%</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363855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爆款率</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90487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微软雅黑" panose="020B0503020204020204" charset="-122"/>
                <a:ea typeface="微软雅黑" panose="020B0503020204020204" charset="-122"/>
                <a:cs typeface="微软雅黑" panose="020B0503020204020204" charset="-122"/>
              </a:rPr>
              <a:t>+</a:t>
            </a:r>
            <a:endParaRPr sz="25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49530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完整发布页截图</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4953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阿信演唱会</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248602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微软雅黑" panose="020B0503020204020204" charset="-122"/>
                <a:ea typeface="微软雅黑" panose="020B0503020204020204" charset="-122"/>
                <a:cs typeface="微软雅黑" panose="020B0503020204020204" charset="-122"/>
              </a:rPr>
              <a:t>+</a:t>
            </a:r>
            <a:endParaRPr sz="25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207645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完整发布页截图</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207645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邓紫棋演唱会</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406717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微软雅黑" panose="020B0503020204020204" charset="-122"/>
                <a:ea typeface="微软雅黑" panose="020B0503020204020204" charset="-122"/>
                <a:cs typeface="微软雅黑" panose="020B0503020204020204" charset="-122"/>
              </a:rPr>
              <a:t>+</a:t>
            </a:r>
            <a:endParaRPr sz="25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365760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完整发布页截图</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36576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五品牌横评</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圆角矩形 37"/>
          <p:cNvSpPr>
            <a:spLocks noGrp="1"/>
          </p:cNvSpPr>
          <p:nvPr/>
        </p:nvSpPr>
        <p:spPr>
          <a:xfrm>
            <a:off x="5561965" y="838200"/>
            <a:ext cx="6229985" cy="4876800"/>
          </a:xfrm>
          <a:prstGeom prst="roundRect">
            <a:avLst>
              <a:gd name="adj" fmla="val 1563"/>
            </a:avLst>
          </a:prstGeom>
          <a:solidFill>
            <a:srgbClr val="FFFFFF"/>
          </a:solidFill>
          <a:ln w="9525">
            <a:solidFill>
              <a:srgbClr val="DCE3F2"/>
            </a:solidFill>
            <a:prstDash val="solid"/>
          </a:ln>
        </p:spPr>
      </p:sp>
      <p:sp>
        <p:nvSpPr>
          <p:cNvPr id="39" name="矩形 38"/>
          <p:cNvSpPr>
            <a:spLocks noGrp="1"/>
          </p:cNvSpPr>
          <p:nvPr/>
        </p:nvSpPr>
        <p:spPr>
          <a:xfrm>
            <a:off x="5562600" y="1000125"/>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微软雅黑" panose="020B0503020204020204" charset="-122"/>
                <a:ea typeface="微软雅黑" panose="020B0503020204020204" charset="-122"/>
                <a:cs typeface="微软雅黑" panose="020B0503020204020204" charset="-122"/>
              </a:rPr>
              <a:t>播放趋势（千次）</a:t>
            </a:r>
            <a:endParaRPr sz="975" b="1">
              <a:solidFill>
                <a:srgbClr val="1230A5"/>
              </a:solidFill>
              <a:latin typeface="微软雅黑" panose="020B0503020204020204" charset="-122"/>
              <a:ea typeface="微软雅黑" panose="020B0503020204020204" charset="-122"/>
              <a:cs typeface="微软雅黑" panose="020B0503020204020204" charset="-122"/>
            </a:endParaRPr>
          </a:p>
        </p:txBody>
      </p:sp>
      <p:graphicFrame>
        <p:nvGraphicFramePr>
          <p:cNvPr id="91" name="Chart"/>
          <p:cNvGraphicFramePr/>
          <p:nvPr/>
        </p:nvGraphicFramePr>
        <p:xfrm>
          <a:off x="5562600" y="1228725"/>
          <a:ext cx="5981700" cy="2038350"/>
        </p:xfrm>
        <a:graphic>
          <a:graphicData uri="http://schemas.openxmlformats.org/drawingml/2006/chart">
            <c:chart xmlns:c="http://schemas.openxmlformats.org/drawingml/2006/chart" xmlns:r="http://schemas.openxmlformats.org/officeDocument/2006/relationships" r:id="rId1"/>
          </a:graphicData>
        </a:graphic>
      </p:graphicFrame>
      <p:sp>
        <p:nvSpPr>
          <p:cNvPr id="41" name="矩形 40"/>
          <p:cNvSpPr>
            <a:spLocks noGrp="1"/>
          </p:cNvSpPr>
          <p:nvPr/>
        </p:nvSpPr>
        <p:spPr>
          <a:xfrm>
            <a:off x="5562600" y="3409950"/>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微软雅黑" panose="020B0503020204020204" charset="-122"/>
                <a:ea typeface="微软雅黑" panose="020B0503020204020204" charset="-122"/>
                <a:cs typeface="微软雅黑" panose="020B0503020204020204" charset="-122"/>
              </a:rPr>
              <a:t>粉丝趋势（千人）</a:t>
            </a:r>
            <a:endParaRPr sz="975" b="1">
              <a:solidFill>
                <a:srgbClr val="1230A5"/>
              </a:solidFill>
              <a:latin typeface="微软雅黑" panose="020B0503020204020204" charset="-122"/>
              <a:ea typeface="微软雅黑" panose="020B0503020204020204" charset="-122"/>
              <a:cs typeface="微软雅黑" panose="020B0503020204020204" charset="-122"/>
            </a:endParaRPr>
          </a:p>
        </p:txBody>
      </p:sp>
      <p:graphicFrame>
        <p:nvGraphicFramePr>
          <p:cNvPr id="93" name="Chart"/>
          <p:cNvGraphicFramePr/>
          <p:nvPr/>
        </p:nvGraphicFramePr>
        <p:xfrm>
          <a:off x="5562600" y="3638550"/>
          <a:ext cx="5981700" cy="1657350"/>
        </p:xfrm>
        <a:graphic>
          <a:graphicData uri="http://schemas.openxmlformats.org/drawingml/2006/chart">
            <c:chart xmlns:c="http://schemas.openxmlformats.org/drawingml/2006/chart" xmlns:r="http://schemas.openxmlformats.org/officeDocument/2006/relationships" r:id="rId2"/>
          </a:graphicData>
        </a:graphic>
      </p:graphicFrame>
      <p:sp>
        <p:nvSpPr>
          <p:cNvPr id="43" name="圆角矩形 42"/>
          <p:cNvSpPr>
            <a:spLocks noGrp="1"/>
          </p:cNvSpPr>
          <p:nvPr/>
        </p:nvSpPr>
        <p:spPr>
          <a:xfrm>
            <a:off x="5578475" y="5829300"/>
            <a:ext cx="1931670" cy="571500"/>
          </a:xfrm>
          <a:prstGeom prst="roundRect">
            <a:avLst>
              <a:gd name="adj" fmla="val 13333"/>
            </a:avLst>
          </a:prstGeom>
          <a:solidFill>
            <a:srgbClr val="F5F7FF"/>
          </a:solidFill>
          <a:ln w="9525">
            <a:solidFill>
              <a:srgbClr val="DCE3F2"/>
            </a:solidFill>
            <a:prstDash val="solid"/>
          </a:ln>
        </p:spPr>
      </p:sp>
      <p:sp>
        <p:nvSpPr>
          <p:cNvPr id="44" name="矩形 43"/>
          <p:cNvSpPr>
            <a:spLocks noGrp="1"/>
          </p:cNvSpPr>
          <p:nvPr/>
        </p:nvSpPr>
        <p:spPr>
          <a:xfrm>
            <a:off x="5561965"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微软雅黑" panose="020B0503020204020204" charset="-122"/>
                <a:ea typeface="微软雅黑" panose="020B0503020204020204" charset="-122"/>
                <a:cs typeface="微软雅黑" panose="020B0503020204020204" charset="-122"/>
              </a:rPr>
              <a:t>1–2月｜启动</a:t>
            </a:r>
            <a:endParaRPr sz="86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45" name="矩形 44"/>
          <p:cNvSpPr>
            <a:spLocks noGrp="1"/>
          </p:cNvSpPr>
          <p:nvPr/>
        </p:nvSpPr>
        <p:spPr>
          <a:xfrm>
            <a:off x="5561965"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演唱会实测快速起量</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46" name="圆角矩形 45"/>
          <p:cNvSpPr>
            <a:spLocks noGrp="1"/>
          </p:cNvSpPr>
          <p:nvPr/>
        </p:nvSpPr>
        <p:spPr>
          <a:xfrm>
            <a:off x="7865110" y="5829300"/>
            <a:ext cx="1810385" cy="571500"/>
          </a:xfrm>
          <a:prstGeom prst="roundRect">
            <a:avLst>
              <a:gd name="adj" fmla="val 13333"/>
            </a:avLst>
          </a:prstGeom>
          <a:solidFill>
            <a:srgbClr val="F5F7FF"/>
          </a:solidFill>
          <a:ln w="9525">
            <a:solidFill>
              <a:srgbClr val="DCE3F2"/>
            </a:solidFill>
            <a:prstDash val="solid"/>
          </a:ln>
        </p:spPr>
      </p:sp>
      <p:sp>
        <p:nvSpPr>
          <p:cNvPr id="47" name="矩形 46"/>
          <p:cNvSpPr>
            <a:spLocks noGrp="1"/>
          </p:cNvSpPr>
          <p:nvPr/>
        </p:nvSpPr>
        <p:spPr>
          <a:xfrm>
            <a:off x="786511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lang="en-US" sz="865" b="1">
                <a:solidFill>
                  <a:srgbClr val="3157FF"/>
                </a:solidFill>
                <a:latin typeface="微软雅黑" panose="020B0503020204020204" charset="-122"/>
                <a:ea typeface="微软雅黑" panose="020B0503020204020204" charset="-122"/>
                <a:cs typeface="微软雅黑" panose="020B0503020204020204" charset="-122"/>
              </a:rPr>
              <a:t>3-5</a:t>
            </a:r>
            <a:r>
              <a:rPr sz="865" b="1">
                <a:solidFill>
                  <a:srgbClr val="3157FF"/>
                </a:solidFill>
                <a:latin typeface="微软雅黑" panose="020B0503020204020204" charset="-122"/>
                <a:ea typeface="微软雅黑" panose="020B0503020204020204" charset="-122"/>
                <a:cs typeface="微软雅黑" panose="020B0503020204020204" charset="-122"/>
              </a:rPr>
              <a:t>月｜</a:t>
            </a:r>
            <a:r>
              <a:rPr lang="zh-CN" sz="865" b="1">
                <a:solidFill>
                  <a:srgbClr val="3157FF"/>
                </a:solidFill>
                <a:latin typeface="微软雅黑" panose="020B0503020204020204" charset="-122"/>
                <a:ea typeface="微软雅黑" panose="020B0503020204020204" charset="-122"/>
                <a:cs typeface="微软雅黑" panose="020B0503020204020204" charset="-122"/>
              </a:rPr>
              <a:t>回落</a:t>
            </a:r>
            <a:endParaRPr lang="zh-CN" sz="86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48" name="矩形 47"/>
          <p:cNvSpPr>
            <a:spLocks noGrp="1"/>
          </p:cNvSpPr>
          <p:nvPr/>
        </p:nvSpPr>
        <p:spPr>
          <a:xfrm>
            <a:off x="786511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lang="zh-CN" sz="790" b="0">
                <a:solidFill>
                  <a:srgbClr val="172033"/>
                </a:solidFill>
                <a:latin typeface="微软雅黑" panose="020B0503020204020204" charset="-122"/>
                <a:ea typeface="微软雅黑" panose="020B0503020204020204" charset="-122"/>
                <a:cs typeface="微软雅黑" panose="020B0503020204020204" charset="-122"/>
              </a:rPr>
              <a:t>日常评测高占比缺失</a:t>
            </a:r>
            <a:r>
              <a:rPr lang="zh-CN" sz="790" b="0">
                <a:solidFill>
                  <a:srgbClr val="172033"/>
                </a:solidFill>
                <a:latin typeface="微软雅黑" panose="020B0503020204020204" charset="-122"/>
                <a:ea typeface="微软雅黑" panose="020B0503020204020204" charset="-122"/>
                <a:cs typeface="微软雅黑" panose="020B0503020204020204" charset="-122"/>
              </a:rPr>
              <a:t>热度</a:t>
            </a:r>
            <a:endParaRPr lang="zh-CN" sz="79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49" name="圆角矩形 48"/>
          <p:cNvSpPr>
            <a:spLocks noGrp="1"/>
          </p:cNvSpPr>
          <p:nvPr/>
        </p:nvSpPr>
        <p:spPr>
          <a:xfrm>
            <a:off x="9981565" y="5829300"/>
            <a:ext cx="1810385" cy="571500"/>
          </a:xfrm>
          <a:prstGeom prst="roundRect">
            <a:avLst>
              <a:gd name="adj" fmla="val 13333"/>
            </a:avLst>
          </a:prstGeom>
          <a:solidFill>
            <a:srgbClr val="F5F7FF"/>
          </a:solidFill>
          <a:ln w="9525">
            <a:solidFill>
              <a:srgbClr val="DCE3F2"/>
            </a:solidFill>
            <a:prstDash val="solid"/>
          </a:ln>
        </p:spPr>
      </p:sp>
      <p:sp>
        <p:nvSpPr>
          <p:cNvPr id="50" name="矩形 49"/>
          <p:cNvSpPr>
            <a:spLocks noGrp="1"/>
          </p:cNvSpPr>
          <p:nvPr/>
        </p:nvSpPr>
        <p:spPr>
          <a:xfrm>
            <a:off x="1007745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lang="en-US" sz="865" b="1">
                <a:solidFill>
                  <a:srgbClr val="3157FF"/>
                </a:solidFill>
                <a:latin typeface="微软雅黑" panose="020B0503020204020204" charset="-122"/>
                <a:ea typeface="微软雅黑" panose="020B0503020204020204" charset="-122"/>
                <a:cs typeface="微软雅黑" panose="020B0503020204020204" charset="-122"/>
              </a:rPr>
              <a:t>6</a:t>
            </a:r>
            <a:r>
              <a:rPr sz="865" b="1">
                <a:solidFill>
                  <a:srgbClr val="3157FF"/>
                </a:solidFill>
                <a:latin typeface="微软雅黑" panose="020B0503020204020204" charset="-122"/>
                <a:ea typeface="微软雅黑" panose="020B0503020204020204" charset="-122"/>
                <a:cs typeface="微软雅黑" panose="020B0503020204020204" charset="-122"/>
              </a:rPr>
              <a:t>–7月｜回升</a:t>
            </a:r>
            <a:endParaRPr sz="86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51" name="矩形 50"/>
          <p:cNvSpPr>
            <a:spLocks noGrp="1"/>
          </p:cNvSpPr>
          <p:nvPr/>
        </p:nvSpPr>
        <p:spPr>
          <a:xfrm>
            <a:off x="1007745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扩充内容组合后重新增长</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grpSp>
        <p:nvGrpSpPr>
          <p:cNvPr id="40" name="组合 39"/>
          <p:cNvGrpSpPr/>
          <p:nvPr/>
        </p:nvGrpSpPr>
        <p:grpSpPr>
          <a:xfrm>
            <a:off x="9525" y="3023235"/>
            <a:ext cx="2076450" cy="2691765"/>
            <a:chOff x="10515" y="4638"/>
            <a:chExt cx="3270" cy="4239"/>
          </a:xfrm>
        </p:grpSpPr>
        <p:sp>
          <p:nvSpPr>
            <p:cNvPr id="42" name="圆角矩形 41"/>
            <p:cNvSpPr>
              <a:spLocks noGrp="1"/>
            </p:cNvSpPr>
            <p:nvPr/>
          </p:nvSpPr>
          <p:spPr>
            <a:xfrm>
              <a:off x="10857" y="6402"/>
              <a:ext cx="2598" cy="1278"/>
            </a:xfrm>
            <a:prstGeom prst="roundRect">
              <a:avLst>
                <a:gd name="adj" fmla="val 4800"/>
              </a:avLst>
            </a:prstGeom>
            <a:solidFill>
              <a:srgbClr val="FFFFFF"/>
            </a:solidFill>
            <a:ln w="9525">
              <a:solidFill>
                <a:srgbClr val="D8E0FF"/>
              </a:solidFill>
              <a:prstDash val="solid"/>
            </a:ln>
          </p:spPr>
        </p:sp>
        <p:pic>
          <p:nvPicPr>
            <p:cNvPr id="53" name="图片 52" descr="ebf4045728004a1df5dc66427d5fd2c4"/>
            <p:cNvPicPr>
              <a:picLocks noChangeAspect="1"/>
            </p:cNvPicPr>
            <p:nvPr/>
          </p:nvPicPr>
          <p:blipFill>
            <a:blip r:embed="rId3"/>
            <a:srcRect l="-427" t="5302" r="427" b="51025"/>
            <a:stretch>
              <a:fillRect/>
            </a:stretch>
          </p:blipFill>
          <p:spPr>
            <a:xfrm>
              <a:off x="10852" y="4638"/>
              <a:ext cx="2619" cy="1778"/>
            </a:xfrm>
            <a:prstGeom prst="round2SameRect">
              <a:avLst/>
            </a:prstGeom>
          </p:spPr>
        </p:pic>
        <p:sp>
          <p:nvSpPr>
            <p:cNvPr id="54" name="矩形 53"/>
            <p:cNvSpPr>
              <a:spLocks noGrp="1"/>
            </p:cNvSpPr>
            <p:nvPr/>
          </p:nvSpPr>
          <p:spPr>
            <a:xfrm>
              <a:off x="10974" y="6663"/>
              <a:ext cx="2352" cy="465"/>
            </a:xfrm>
            <a:prstGeom prst="rect">
              <a:avLst/>
            </a:prstGeom>
            <a:noFill/>
            <a:ln w="0">
              <a:noFill/>
              <a:prstDash val="solid"/>
            </a:ln>
          </p:spPr>
          <p:txBody>
            <a:bodyPr wrap="square" lIns="0" tIns="0" rIns="0" bIns="0" anchor="t">
              <a:noAutofit/>
            </a:bodyPr>
            <a:lstStyle/>
            <a:p>
              <a:pPr algn="ctr">
                <a:defRPr sz="1350" b="1">
                  <a:solidFill>
                    <a:srgbClr val="101828"/>
                  </a:solidFill>
                  <a:latin typeface="vivo Sans" panose="02000300000000000000" charset="-122"/>
                  <a:ea typeface="vivo Sans" panose="02000300000000000000" charset="-122"/>
                  <a:cs typeface="vivo Sans" panose="02000300000000000000" charset="-122"/>
                </a:defRPr>
              </a:pPr>
              <a:r>
                <a:rPr lang="zh-CN" sz="1600" b="1">
                  <a:solidFill>
                    <a:schemeClr val="tx1"/>
                  </a:solidFill>
                  <a:latin typeface="vivo Sans" panose="02000300000000000000" charset="-122"/>
                  <a:ea typeface="vivo Sans" panose="02000300000000000000" charset="-122"/>
                  <a:cs typeface="vivo Sans" panose="02000300000000000000" charset="-122"/>
                </a:rPr>
                <a:t>明星现场</a:t>
              </a:r>
              <a:endParaRPr lang="zh-CN" sz="1600" b="1">
                <a:solidFill>
                  <a:schemeClr val="tx1"/>
                </a:solidFill>
                <a:latin typeface="vivo Sans" panose="02000300000000000000" charset="-122"/>
                <a:ea typeface="vivo Sans" panose="02000300000000000000" charset="-122"/>
                <a:cs typeface="vivo Sans" panose="02000300000000000000" charset="-122"/>
              </a:endParaRPr>
            </a:p>
          </p:txBody>
        </p:sp>
        <p:sp>
          <p:nvSpPr>
            <p:cNvPr id="55" name="矩形 54"/>
            <p:cNvSpPr>
              <a:spLocks noGrp="1"/>
            </p:cNvSpPr>
            <p:nvPr/>
          </p:nvSpPr>
          <p:spPr>
            <a:xfrm>
              <a:off x="10515" y="7155"/>
              <a:ext cx="3270" cy="465"/>
            </a:xfrm>
            <a:prstGeom prst="rect">
              <a:avLst/>
            </a:prstGeom>
            <a:noFill/>
            <a:ln w="0">
              <a:noFill/>
              <a:prstDash val="solid"/>
            </a:ln>
          </p:spPr>
          <p:txBody>
            <a:bodyPr wrap="square" lIns="0" tIns="0" rIns="0" bIns="0" anchor="t">
              <a:normAutofit/>
            </a:bodyPr>
            <a:lstStyle/>
            <a:p>
              <a:pPr algn="ctr">
                <a:defRPr sz="1275" b="0">
                  <a:solidFill>
                    <a:srgbClr val="475467"/>
                  </a:solidFill>
                  <a:latin typeface="vivo Sans" panose="02000300000000000000" charset="-122"/>
                  <a:ea typeface="vivo Sans" panose="02000300000000000000" charset="-122"/>
                  <a:cs typeface="vivo Sans" panose="02000300000000000000" charset="-122"/>
                </a:defRPr>
              </a:pPr>
              <a:r>
                <a:rPr lang="zh-CN" sz="1000" b="0">
                  <a:solidFill>
                    <a:srgbClr val="475467"/>
                  </a:solidFill>
                  <a:latin typeface="vivo Sans" panose="02000300000000000000" charset="-122"/>
                  <a:ea typeface="vivo Sans" panose="02000300000000000000" charset="-122"/>
                  <a:cs typeface="vivo Sans" panose="02000300000000000000" charset="-122"/>
                </a:rPr>
                <a:t>明星</a:t>
              </a:r>
              <a:r>
                <a:rPr lang="en-US" altLang="zh-CN" sz="1000" b="0">
                  <a:solidFill>
                    <a:srgbClr val="475467"/>
                  </a:solidFill>
                  <a:latin typeface="vivo Sans" panose="02000300000000000000" charset="-122"/>
                  <a:ea typeface="vivo Sans" panose="02000300000000000000" charset="-122"/>
                  <a:cs typeface="vivo Sans" panose="02000300000000000000" charset="-122"/>
                </a:rPr>
                <a:t>IP/</a:t>
              </a:r>
              <a:r>
                <a:rPr lang="zh-CN" sz="1000" b="0">
                  <a:solidFill>
                    <a:srgbClr val="475467"/>
                  </a:solidFill>
                  <a:latin typeface="vivo Sans" panose="02000300000000000000" charset="-122"/>
                  <a:ea typeface="vivo Sans" panose="02000300000000000000" charset="-122"/>
                  <a:cs typeface="vivo Sans" panose="02000300000000000000" charset="-122"/>
                </a:rPr>
                <a:t>演唱会</a:t>
              </a:r>
              <a:r>
                <a:rPr lang="zh-CN" sz="1000" b="0">
                  <a:solidFill>
                    <a:srgbClr val="475467"/>
                  </a:solidFill>
                  <a:latin typeface="vivo Sans" panose="02000300000000000000" charset="-122"/>
                  <a:ea typeface="vivo Sans" panose="02000300000000000000" charset="-122"/>
                  <a:cs typeface="vivo Sans" panose="02000300000000000000" charset="-122"/>
                </a:rPr>
                <a:t>高难现场</a:t>
              </a:r>
              <a:endParaRPr lang="zh-CN" sz="1000" b="0">
                <a:solidFill>
                  <a:srgbClr val="475467"/>
                </a:solidFill>
                <a:latin typeface="vivo Sans" panose="02000300000000000000" charset="-122"/>
                <a:ea typeface="vivo Sans" panose="02000300000000000000" charset="-122"/>
                <a:cs typeface="vivo Sans" panose="02000300000000000000" charset="-122"/>
              </a:endParaRPr>
            </a:p>
          </p:txBody>
        </p:sp>
        <p:sp>
          <p:nvSpPr>
            <p:cNvPr id="56" name="矩形 55"/>
            <p:cNvSpPr>
              <a:spLocks noGrp="1"/>
            </p:cNvSpPr>
            <p:nvPr/>
          </p:nvSpPr>
          <p:spPr>
            <a:xfrm>
              <a:off x="10691" y="7894"/>
              <a:ext cx="2850" cy="870"/>
            </a:xfrm>
            <a:prstGeom prst="rect">
              <a:avLst/>
            </a:prstGeom>
            <a:noFill/>
            <a:ln w="0">
              <a:noFill/>
              <a:prstDash val="solid"/>
            </a:ln>
          </p:spPr>
          <p:txBody>
            <a:bodyPr wrap="square" lIns="0" tIns="0" rIns="0" bIns="0" anchor="t">
              <a:noAutofit/>
            </a:bodyPr>
            <a:lstStyle/>
            <a:p>
              <a:pPr algn="ctr">
                <a:defRPr sz="3600" b="1">
                  <a:solidFill>
                    <a:srgbClr val="415FFF"/>
                  </a:solidFill>
                  <a:latin typeface="vivo Sans" panose="02000300000000000000" charset="-122"/>
                  <a:ea typeface="vivo Sans" panose="02000300000000000000" charset="-122"/>
                  <a:cs typeface="vivo Sans" panose="02000300000000000000" charset="-122"/>
                </a:defRPr>
              </a:pPr>
              <a:r>
                <a:rPr sz="2400">
                  <a:solidFill>
                    <a:srgbClr val="415FFF"/>
                  </a:solidFill>
                </a:rPr>
                <a:t>128万</a:t>
              </a:r>
              <a:endParaRPr lang="en-US" sz="2400">
                <a:solidFill>
                  <a:srgbClr val="415FFF"/>
                </a:solidFill>
              </a:endParaRPr>
            </a:p>
          </p:txBody>
        </p:sp>
        <p:sp>
          <p:nvSpPr>
            <p:cNvPr id="57" name="矩形 56"/>
            <p:cNvSpPr>
              <a:spLocks noGrp="1"/>
            </p:cNvSpPr>
            <p:nvPr/>
          </p:nvSpPr>
          <p:spPr>
            <a:xfrm>
              <a:off x="11310" y="8487"/>
              <a:ext cx="1530" cy="390"/>
            </a:xfrm>
            <a:prstGeom prst="rect">
              <a:avLst/>
            </a:prstGeom>
            <a:noFill/>
            <a:ln w="0">
              <a:noFill/>
              <a:prstDash val="solid"/>
            </a:ln>
          </p:spPr>
          <p:txBody>
            <a:bodyPr wrap="square" lIns="0" tIns="0" rIns="0" bIns="0" anchor="t">
              <a:normAutofit fontScale="90000"/>
            </a:bodyPr>
            <a:lstStyle/>
            <a:p>
              <a:pPr algn="l">
                <a:defRPr sz="1350" b="1">
                  <a:solidFill>
                    <a:srgbClr val="475467"/>
                  </a:solidFill>
                  <a:latin typeface="vivo Sans" panose="02000300000000000000" charset="-122"/>
                  <a:ea typeface="vivo Sans" panose="02000300000000000000" charset="-122"/>
                  <a:cs typeface="vivo Sans" panose="02000300000000000000" charset="-122"/>
                </a:defRPr>
              </a:pPr>
              <a:r>
                <a:rPr lang="zh-CN" sz="1350" b="1">
                  <a:solidFill>
                    <a:srgbClr val="475467"/>
                  </a:solidFill>
                  <a:latin typeface="vivo Sans" panose="02000300000000000000" charset="-122"/>
                  <a:ea typeface="vivo Sans" panose="02000300000000000000" charset="-122"/>
                  <a:cs typeface="vivo Sans" panose="02000300000000000000" charset="-122"/>
                </a:rPr>
                <a:t>单条</a:t>
              </a:r>
              <a:r>
                <a:rPr sz="1350" b="1">
                  <a:solidFill>
                    <a:srgbClr val="475467"/>
                  </a:solidFill>
                  <a:latin typeface="vivo Sans" panose="02000300000000000000" charset="-122"/>
                  <a:ea typeface="vivo Sans" panose="02000300000000000000" charset="-122"/>
                  <a:cs typeface="vivo Sans" panose="02000300000000000000" charset="-122"/>
                </a:rPr>
                <a:t>最高播放</a:t>
              </a:r>
              <a:endParaRPr sz="1350" b="1">
                <a:solidFill>
                  <a:srgbClr val="475467"/>
                </a:solidFill>
                <a:latin typeface="vivo Sans" panose="02000300000000000000" charset="-122"/>
                <a:ea typeface="vivo Sans" panose="02000300000000000000" charset="-122"/>
                <a:cs typeface="vivo Sans" panose="02000300000000000000" charset="-122"/>
              </a:endParaRPr>
            </a:p>
          </p:txBody>
        </p:sp>
        <p:sp>
          <p:nvSpPr>
            <p:cNvPr id="58" name="矩形 57"/>
            <p:cNvSpPr>
              <a:spLocks noGrp="1"/>
            </p:cNvSpPr>
            <p:nvPr/>
          </p:nvSpPr>
          <p:spPr>
            <a:xfrm>
              <a:off x="10862" y="6322"/>
              <a:ext cx="2609" cy="120"/>
            </a:xfrm>
            <a:prstGeom prst="rect">
              <a:avLst/>
            </a:prstGeom>
            <a:solidFill>
              <a:srgbClr val="415FFF"/>
            </a:solidFill>
            <a:ln w="0">
              <a:noFill/>
              <a:prstDash val="solid"/>
            </a:ln>
          </p:spPr>
        </p:sp>
      </p:grpSp>
      <p:grpSp>
        <p:nvGrpSpPr>
          <p:cNvPr id="59" name="组合 58"/>
          <p:cNvGrpSpPr/>
          <p:nvPr/>
        </p:nvGrpSpPr>
        <p:grpSpPr>
          <a:xfrm>
            <a:off x="1794510" y="4092575"/>
            <a:ext cx="2076450" cy="1638935"/>
            <a:chOff x="10515" y="6376"/>
            <a:chExt cx="3270" cy="2581"/>
          </a:xfrm>
        </p:grpSpPr>
        <p:sp>
          <p:nvSpPr>
            <p:cNvPr id="60" name="圆角矩形 59"/>
            <p:cNvSpPr>
              <a:spLocks noGrp="1"/>
            </p:cNvSpPr>
            <p:nvPr/>
          </p:nvSpPr>
          <p:spPr>
            <a:xfrm>
              <a:off x="10857" y="6402"/>
              <a:ext cx="2598" cy="1358"/>
            </a:xfrm>
            <a:prstGeom prst="roundRect">
              <a:avLst>
                <a:gd name="adj" fmla="val 4800"/>
              </a:avLst>
            </a:prstGeom>
            <a:solidFill>
              <a:srgbClr val="FFFFFF"/>
            </a:solidFill>
            <a:ln w="9525">
              <a:solidFill>
                <a:srgbClr val="D8E0FF"/>
              </a:solidFill>
              <a:prstDash val="solid"/>
            </a:ln>
          </p:spPr>
        </p:sp>
        <p:sp>
          <p:nvSpPr>
            <p:cNvPr id="61" name="矩形 60"/>
            <p:cNvSpPr>
              <a:spLocks noGrp="1"/>
            </p:cNvSpPr>
            <p:nvPr/>
          </p:nvSpPr>
          <p:spPr>
            <a:xfrm>
              <a:off x="10974" y="6663"/>
              <a:ext cx="2352" cy="465"/>
            </a:xfrm>
            <a:prstGeom prst="rect">
              <a:avLst/>
            </a:prstGeom>
            <a:noFill/>
            <a:ln w="0">
              <a:noFill/>
              <a:prstDash val="solid"/>
            </a:ln>
          </p:spPr>
          <p:txBody>
            <a:bodyPr wrap="square" lIns="0" tIns="0" rIns="0" bIns="0" anchor="t">
              <a:noAutofit/>
            </a:bodyPr>
            <a:lstStyle/>
            <a:p>
              <a:pPr algn="ctr">
                <a:defRPr sz="1350" b="1">
                  <a:solidFill>
                    <a:srgbClr val="101828"/>
                  </a:solidFill>
                  <a:latin typeface="vivo Sans" panose="02000300000000000000" charset="-122"/>
                  <a:ea typeface="vivo Sans" panose="02000300000000000000" charset="-122"/>
                  <a:cs typeface="vivo Sans" panose="02000300000000000000" charset="-122"/>
                </a:defRPr>
              </a:pPr>
              <a:r>
                <a:rPr lang="zh-CN" sz="1600" b="1">
                  <a:solidFill>
                    <a:schemeClr val="tx1"/>
                  </a:solidFill>
                  <a:latin typeface="vivo Sans" panose="02000300000000000000" charset="-122"/>
                  <a:ea typeface="vivo Sans" panose="02000300000000000000" charset="-122"/>
                  <a:cs typeface="vivo Sans" panose="02000300000000000000" charset="-122"/>
                </a:rPr>
                <a:t>影像</a:t>
              </a:r>
              <a:r>
                <a:rPr lang="zh-CN" sz="1600" b="1">
                  <a:solidFill>
                    <a:schemeClr val="tx1"/>
                  </a:solidFill>
                  <a:latin typeface="vivo Sans" panose="02000300000000000000" charset="-122"/>
                  <a:ea typeface="vivo Sans" panose="02000300000000000000" charset="-122"/>
                  <a:cs typeface="vivo Sans" panose="02000300000000000000" charset="-122"/>
                </a:rPr>
                <a:t>对比</a:t>
              </a:r>
              <a:endParaRPr lang="zh-CN" sz="1600" b="1">
                <a:solidFill>
                  <a:schemeClr val="tx1"/>
                </a:solidFill>
                <a:latin typeface="vivo Sans" panose="02000300000000000000" charset="-122"/>
                <a:ea typeface="vivo Sans" panose="02000300000000000000" charset="-122"/>
                <a:cs typeface="vivo Sans" panose="02000300000000000000" charset="-122"/>
              </a:endParaRPr>
            </a:p>
          </p:txBody>
        </p:sp>
        <p:sp>
          <p:nvSpPr>
            <p:cNvPr id="62" name="矩形 61"/>
            <p:cNvSpPr>
              <a:spLocks noGrp="1"/>
            </p:cNvSpPr>
            <p:nvPr/>
          </p:nvSpPr>
          <p:spPr>
            <a:xfrm>
              <a:off x="10515" y="7155"/>
              <a:ext cx="3270" cy="465"/>
            </a:xfrm>
            <a:prstGeom prst="rect">
              <a:avLst/>
            </a:prstGeom>
            <a:noFill/>
            <a:ln w="0">
              <a:noFill/>
              <a:prstDash val="solid"/>
            </a:ln>
          </p:spPr>
          <p:txBody>
            <a:bodyPr wrap="square" lIns="0" tIns="0" rIns="0" bIns="0" anchor="t">
              <a:normAutofit/>
            </a:bodyPr>
            <a:lstStyle/>
            <a:p>
              <a:pPr algn="ctr">
                <a:defRPr sz="1275" b="0">
                  <a:solidFill>
                    <a:srgbClr val="475467"/>
                  </a:solidFill>
                  <a:latin typeface="vivo Sans" panose="02000300000000000000" charset="-122"/>
                  <a:ea typeface="vivo Sans" panose="02000300000000000000" charset="-122"/>
                  <a:cs typeface="vivo Sans" panose="02000300000000000000" charset="-122"/>
                </a:defRPr>
              </a:pPr>
              <a:r>
                <a:rPr lang="zh-CN" sz="1000">
                  <a:sym typeface="+mn-ea"/>
                </a:rPr>
                <a:t>单机</a:t>
              </a:r>
              <a:r>
                <a:rPr lang="en-US" altLang="zh-CN" sz="1000">
                  <a:sym typeface="+mn-ea"/>
                </a:rPr>
                <a:t>/</a:t>
              </a:r>
              <a:r>
                <a:rPr lang="zh-CN" altLang="en-US" sz="1000">
                  <a:sym typeface="+mn-ea"/>
                </a:rPr>
                <a:t>多机影像深度评测</a:t>
              </a:r>
              <a:endParaRPr lang="zh-CN" sz="1000" b="0">
                <a:solidFill>
                  <a:srgbClr val="475467"/>
                </a:solidFill>
                <a:latin typeface="vivo Sans" panose="02000300000000000000" charset="-122"/>
                <a:ea typeface="vivo Sans" panose="02000300000000000000" charset="-122"/>
                <a:cs typeface="vivo Sans" panose="02000300000000000000" charset="-122"/>
              </a:endParaRPr>
            </a:p>
          </p:txBody>
        </p:sp>
        <p:sp>
          <p:nvSpPr>
            <p:cNvPr id="63" name="矩形 62"/>
            <p:cNvSpPr>
              <a:spLocks noGrp="1"/>
            </p:cNvSpPr>
            <p:nvPr/>
          </p:nvSpPr>
          <p:spPr>
            <a:xfrm>
              <a:off x="10691" y="7974"/>
              <a:ext cx="2850" cy="870"/>
            </a:xfrm>
            <a:prstGeom prst="rect">
              <a:avLst/>
            </a:prstGeom>
            <a:noFill/>
            <a:ln w="0">
              <a:noFill/>
              <a:prstDash val="solid"/>
            </a:ln>
          </p:spPr>
          <p:txBody>
            <a:bodyPr wrap="square" lIns="0" tIns="0" rIns="0" bIns="0" anchor="t">
              <a:noAutofit/>
            </a:bodyPr>
            <a:lstStyle/>
            <a:p>
              <a:pPr algn="ctr">
                <a:defRPr sz="3600" b="1">
                  <a:solidFill>
                    <a:srgbClr val="415FFF"/>
                  </a:solidFill>
                  <a:latin typeface="vivo Sans" panose="02000300000000000000" charset="-122"/>
                  <a:ea typeface="vivo Sans" panose="02000300000000000000" charset="-122"/>
                  <a:cs typeface="vivo Sans" panose="02000300000000000000" charset="-122"/>
                </a:defRPr>
              </a:pPr>
              <a:r>
                <a:rPr lang="en-US" sz="2400">
                  <a:solidFill>
                    <a:srgbClr val="415FFF"/>
                  </a:solidFill>
                </a:rPr>
                <a:t>71</a:t>
              </a:r>
              <a:r>
                <a:rPr sz="2400">
                  <a:solidFill>
                    <a:srgbClr val="415FFF"/>
                  </a:solidFill>
                </a:rPr>
                <a:t>万</a:t>
              </a:r>
              <a:endParaRPr lang="en-US" sz="2400">
                <a:solidFill>
                  <a:srgbClr val="415FFF"/>
                </a:solidFill>
              </a:endParaRPr>
            </a:p>
          </p:txBody>
        </p:sp>
        <p:sp>
          <p:nvSpPr>
            <p:cNvPr id="64" name="矩形 63"/>
            <p:cNvSpPr>
              <a:spLocks noGrp="1"/>
            </p:cNvSpPr>
            <p:nvPr/>
          </p:nvSpPr>
          <p:spPr>
            <a:xfrm>
              <a:off x="11310" y="8567"/>
              <a:ext cx="1530" cy="390"/>
            </a:xfrm>
            <a:prstGeom prst="rect">
              <a:avLst/>
            </a:prstGeom>
            <a:noFill/>
            <a:ln w="0">
              <a:noFill/>
              <a:prstDash val="solid"/>
            </a:ln>
          </p:spPr>
          <p:txBody>
            <a:bodyPr wrap="square" lIns="0" tIns="0" rIns="0" bIns="0" anchor="t">
              <a:normAutofit fontScale="90000"/>
            </a:bodyPr>
            <a:lstStyle/>
            <a:p>
              <a:pPr algn="l">
                <a:defRPr sz="1350" b="1">
                  <a:solidFill>
                    <a:srgbClr val="475467"/>
                  </a:solidFill>
                  <a:latin typeface="vivo Sans" panose="02000300000000000000" charset="-122"/>
                  <a:ea typeface="vivo Sans" panose="02000300000000000000" charset="-122"/>
                  <a:cs typeface="vivo Sans" panose="02000300000000000000" charset="-122"/>
                </a:defRPr>
              </a:pPr>
              <a:r>
                <a:rPr lang="zh-CN" sz="1350" b="1">
                  <a:solidFill>
                    <a:srgbClr val="475467"/>
                  </a:solidFill>
                  <a:latin typeface="vivo Sans" panose="02000300000000000000" charset="-122"/>
                  <a:ea typeface="vivo Sans" panose="02000300000000000000" charset="-122"/>
                  <a:cs typeface="vivo Sans" panose="02000300000000000000" charset="-122"/>
                </a:rPr>
                <a:t>单条</a:t>
              </a:r>
              <a:r>
                <a:rPr sz="1350" b="1">
                  <a:solidFill>
                    <a:srgbClr val="475467"/>
                  </a:solidFill>
                  <a:latin typeface="vivo Sans" panose="02000300000000000000" charset="-122"/>
                  <a:ea typeface="vivo Sans" panose="02000300000000000000" charset="-122"/>
                  <a:cs typeface="vivo Sans" panose="02000300000000000000" charset="-122"/>
                </a:rPr>
                <a:t>最高播放</a:t>
              </a:r>
              <a:endParaRPr sz="1350" b="1">
                <a:solidFill>
                  <a:srgbClr val="475467"/>
                </a:solidFill>
                <a:latin typeface="vivo Sans" panose="02000300000000000000" charset="-122"/>
                <a:ea typeface="vivo Sans" panose="02000300000000000000" charset="-122"/>
                <a:cs typeface="vivo Sans" panose="02000300000000000000" charset="-122"/>
              </a:endParaRPr>
            </a:p>
          </p:txBody>
        </p:sp>
        <p:sp>
          <p:nvSpPr>
            <p:cNvPr id="65" name="矩形 64"/>
            <p:cNvSpPr>
              <a:spLocks noGrp="1"/>
            </p:cNvSpPr>
            <p:nvPr/>
          </p:nvSpPr>
          <p:spPr>
            <a:xfrm>
              <a:off x="10862" y="6376"/>
              <a:ext cx="2609" cy="120"/>
            </a:xfrm>
            <a:prstGeom prst="rect">
              <a:avLst/>
            </a:prstGeom>
            <a:solidFill>
              <a:srgbClr val="415FFF"/>
            </a:solidFill>
            <a:ln w="0">
              <a:noFill/>
              <a:prstDash val="solid"/>
            </a:ln>
          </p:spPr>
        </p:sp>
      </p:grpSp>
      <p:pic>
        <p:nvPicPr>
          <p:cNvPr id="66" name="图片 65" descr="截屏2026-07-31 00.20.25"/>
          <p:cNvPicPr>
            <a:picLocks noChangeAspect="1"/>
          </p:cNvPicPr>
          <p:nvPr/>
        </p:nvPicPr>
        <p:blipFill>
          <a:blip r:embed="rId4"/>
          <a:stretch>
            <a:fillRect/>
          </a:stretch>
        </p:blipFill>
        <p:spPr>
          <a:xfrm>
            <a:off x="2005330" y="3032760"/>
            <a:ext cx="1647825" cy="1069340"/>
          </a:xfrm>
          <a:prstGeom prst="round2SameRect">
            <a:avLst/>
          </a:prstGeom>
        </p:spPr>
      </p:pic>
      <p:grpSp>
        <p:nvGrpSpPr>
          <p:cNvPr id="67" name="组合 66"/>
          <p:cNvGrpSpPr/>
          <p:nvPr/>
        </p:nvGrpSpPr>
        <p:grpSpPr>
          <a:xfrm>
            <a:off x="3543300" y="4076700"/>
            <a:ext cx="2076450" cy="1638935"/>
            <a:chOff x="10515" y="6376"/>
            <a:chExt cx="3270" cy="2581"/>
          </a:xfrm>
        </p:grpSpPr>
        <p:sp>
          <p:nvSpPr>
            <p:cNvPr id="68" name="圆角矩形 67"/>
            <p:cNvSpPr>
              <a:spLocks noGrp="1"/>
            </p:cNvSpPr>
            <p:nvPr/>
          </p:nvSpPr>
          <p:spPr>
            <a:xfrm>
              <a:off x="10857" y="6402"/>
              <a:ext cx="2598" cy="1358"/>
            </a:xfrm>
            <a:prstGeom prst="roundRect">
              <a:avLst>
                <a:gd name="adj" fmla="val 4800"/>
              </a:avLst>
            </a:prstGeom>
            <a:solidFill>
              <a:srgbClr val="FFFFFF"/>
            </a:solidFill>
            <a:ln w="9525">
              <a:solidFill>
                <a:srgbClr val="D8E0FF"/>
              </a:solidFill>
              <a:prstDash val="solid"/>
            </a:ln>
          </p:spPr>
        </p:sp>
        <p:sp>
          <p:nvSpPr>
            <p:cNvPr id="69" name="矩形 68"/>
            <p:cNvSpPr>
              <a:spLocks noGrp="1"/>
            </p:cNvSpPr>
            <p:nvPr/>
          </p:nvSpPr>
          <p:spPr>
            <a:xfrm>
              <a:off x="10974" y="6663"/>
              <a:ext cx="2352" cy="465"/>
            </a:xfrm>
            <a:prstGeom prst="rect">
              <a:avLst/>
            </a:prstGeom>
            <a:noFill/>
            <a:ln w="0">
              <a:noFill/>
              <a:prstDash val="solid"/>
            </a:ln>
          </p:spPr>
          <p:txBody>
            <a:bodyPr wrap="square" lIns="0" tIns="0" rIns="0" bIns="0" anchor="t">
              <a:noAutofit/>
            </a:bodyPr>
            <a:lstStyle/>
            <a:p>
              <a:pPr algn="ctr">
                <a:defRPr sz="1350" b="1">
                  <a:solidFill>
                    <a:srgbClr val="101828"/>
                  </a:solidFill>
                  <a:latin typeface="vivo Sans" panose="02000300000000000000" charset="-122"/>
                  <a:ea typeface="vivo Sans" panose="02000300000000000000" charset="-122"/>
                  <a:cs typeface="vivo Sans" panose="02000300000000000000" charset="-122"/>
                </a:defRPr>
              </a:pPr>
              <a:r>
                <a:rPr lang="zh-CN" sz="1600" b="1">
                  <a:solidFill>
                    <a:schemeClr val="tx1"/>
                  </a:solidFill>
                  <a:latin typeface="vivo Sans" panose="02000300000000000000" charset="-122"/>
                  <a:ea typeface="vivo Sans" panose="02000300000000000000" charset="-122"/>
                  <a:cs typeface="vivo Sans" panose="02000300000000000000" charset="-122"/>
                </a:rPr>
                <a:t>拍摄</a:t>
              </a:r>
              <a:r>
                <a:rPr lang="zh-CN" sz="1600" b="1">
                  <a:solidFill>
                    <a:schemeClr val="tx1"/>
                  </a:solidFill>
                  <a:latin typeface="vivo Sans" panose="02000300000000000000" charset="-122"/>
                  <a:ea typeface="vivo Sans" panose="02000300000000000000" charset="-122"/>
                  <a:cs typeface="vivo Sans" panose="02000300000000000000" charset="-122"/>
                </a:rPr>
                <a:t>技巧</a:t>
              </a:r>
              <a:endParaRPr lang="zh-CN" sz="1600" b="1">
                <a:solidFill>
                  <a:schemeClr val="tx1"/>
                </a:solidFill>
                <a:latin typeface="vivo Sans" panose="02000300000000000000" charset="-122"/>
                <a:ea typeface="vivo Sans" panose="02000300000000000000" charset="-122"/>
                <a:cs typeface="vivo Sans" panose="02000300000000000000" charset="-122"/>
              </a:endParaRPr>
            </a:p>
          </p:txBody>
        </p:sp>
        <p:sp>
          <p:nvSpPr>
            <p:cNvPr id="70" name="矩形 69"/>
            <p:cNvSpPr>
              <a:spLocks noGrp="1"/>
            </p:cNvSpPr>
            <p:nvPr/>
          </p:nvSpPr>
          <p:spPr>
            <a:xfrm>
              <a:off x="10515" y="7155"/>
              <a:ext cx="3270" cy="465"/>
            </a:xfrm>
            <a:prstGeom prst="rect">
              <a:avLst/>
            </a:prstGeom>
            <a:noFill/>
            <a:ln w="0">
              <a:noFill/>
              <a:prstDash val="solid"/>
            </a:ln>
          </p:spPr>
          <p:txBody>
            <a:bodyPr wrap="square" lIns="0" tIns="0" rIns="0" bIns="0" anchor="t">
              <a:normAutofit/>
            </a:bodyPr>
            <a:lstStyle/>
            <a:p>
              <a:pPr algn="ctr">
                <a:defRPr sz="1275" b="0">
                  <a:solidFill>
                    <a:srgbClr val="475467"/>
                  </a:solidFill>
                  <a:latin typeface="vivo Sans" panose="02000300000000000000" charset="-122"/>
                  <a:ea typeface="vivo Sans" panose="02000300000000000000" charset="-122"/>
                  <a:cs typeface="vivo Sans" panose="02000300000000000000" charset="-122"/>
                </a:defRPr>
              </a:pPr>
              <a:r>
                <a:rPr lang="zh-CN" sz="1000" b="0">
                  <a:solidFill>
                    <a:srgbClr val="475467"/>
                  </a:solidFill>
                  <a:latin typeface="vivo Sans" panose="02000300000000000000" charset="-122"/>
                  <a:ea typeface="vivo Sans" panose="02000300000000000000" charset="-122"/>
                  <a:cs typeface="vivo Sans" panose="02000300000000000000" charset="-122"/>
                </a:rPr>
                <a:t>手机摄影技巧</a:t>
              </a:r>
              <a:endParaRPr lang="zh-CN" altLang="en-US" sz="1000" b="0">
                <a:solidFill>
                  <a:srgbClr val="475467"/>
                </a:solidFill>
                <a:latin typeface="vivo Sans" panose="02000300000000000000" charset="-122"/>
                <a:ea typeface="vivo Sans" panose="02000300000000000000" charset="-122"/>
                <a:cs typeface="vivo Sans" panose="02000300000000000000" charset="-122"/>
              </a:endParaRPr>
            </a:p>
          </p:txBody>
        </p:sp>
        <p:sp>
          <p:nvSpPr>
            <p:cNvPr id="71" name="矩形 70"/>
            <p:cNvSpPr>
              <a:spLocks noGrp="1"/>
            </p:cNvSpPr>
            <p:nvPr/>
          </p:nvSpPr>
          <p:spPr>
            <a:xfrm>
              <a:off x="10691" y="7974"/>
              <a:ext cx="2850" cy="870"/>
            </a:xfrm>
            <a:prstGeom prst="rect">
              <a:avLst/>
            </a:prstGeom>
            <a:noFill/>
            <a:ln w="0">
              <a:noFill/>
              <a:prstDash val="solid"/>
            </a:ln>
          </p:spPr>
          <p:txBody>
            <a:bodyPr wrap="square" lIns="0" tIns="0" rIns="0" bIns="0" anchor="t">
              <a:noAutofit/>
            </a:bodyPr>
            <a:lstStyle/>
            <a:p>
              <a:pPr algn="ctr">
                <a:defRPr sz="3600" b="1">
                  <a:solidFill>
                    <a:srgbClr val="415FFF"/>
                  </a:solidFill>
                  <a:latin typeface="vivo Sans" panose="02000300000000000000" charset="-122"/>
                  <a:ea typeface="vivo Sans" panose="02000300000000000000" charset="-122"/>
                  <a:cs typeface="vivo Sans" panose="02000300000000000000" charset="-122"/>
                </a:defRPr>
              </a:pPr>
              <a:r>
                <a:rPr lang="en-US" sz="2400">
                  <a:solidFill>
                    <a:srgbClr val="415FFF"/>
                  </a:solidFill>
                </a:rPr>
                <a:t>33</a:t>
              </a:r>
              <a:r>
                <a:rPr sz="2400">
                  <a:solidFill>
                    <a:srgbClr val="415FFF"/>
                  </a:solidFill>
                </a:rPr>
                <a:t>万</a:t>
              </a:r>
              <a:endParaRPr lang="en-US" sz="2400">
                <a:solidFill>
                  <a:srgbClr val="415FFF"/>
                </a:solidFill>
              </a:endParaRPr>
            </a:p>
          </p:txBody>
        </p:sp>
        <p:sp>
          <p:nvSpPr>
            <p:cNvPr id="72" name="矩形 71"/>
            <p:cNvSpPr>
              <a:spLocks noGrp="1"/>
            </p:cNvSpPr>
            <p:nvPr/>
          </p:nvSpPr>
          <p:spPr>
            <a:xfrm>
              <a:off x="11310" y="8567"/>
              <a:ext cx="1530" cy="390"/>
            </a:xfrm>
            <a:prstGeom prst="rect">
              <a:avLst/>
            </a:prstGeom>
            <a:noFill/>
            <a:ln w="0">
              <a:noFill/>
              <a:prstDash val="solid"/>
            </a:ln>
          </p:spPr>
          <p:txBody>
            <a:bodyPr wrap="square" lIns="0" tIns="0" rIns="0" bIns="0" anchor="t">
              <a:normAutofit fontScale="90000"/>
            </a:bodyPr>
            <a:lstStyle/>
            <a:p>
              <a:pPr algn="l">
                <a:defRPr sz="1350" b="1">
                  <a:solidFill>
                    <a:srgbClr val="475467"/>
                  </a:solidFill>
                  <a:latin typeface="vivo Sans" panose="02000300000000000000" charset="-122"/>
                  <a:ea typeface="vivo Sans" panose="02000300000000000000" charset="-122"/>
                  <a:cs typeface="vivo Sans" panose="02000300000000000000" charset="-122"/>
                </a:defRPr>
              </a:pPr>
              <a:r>
                <a:rPr lang="zh-CN" sz="1350" b="1">
                  <a:solidFill>
                    <a:srgbClr val="475467"/>
                  </a:solidFill>
                  <a:latin typeface="vivo Sans" panose="02000300000000000000" charset="-122"/>
                  <a:ea typeface="vivo Sans" panose="02000300000000000000" charset="-122"/>
                  <a:cs typeface="vivo Sans" panose="02000300000000000000" charset="-122"/>
                </a:rPr>
                <a:t>单条</a:t>
              </a:r>
              <a:r>
                <a:rPr sz="1350" b="1">
                  <a:solidFill>
                    <a:srgbClr val="475467"/>
                  </a:solidFill>
                  <a:latin typeface="vivo Sans" panose="02000300000000000000" charset="-122"/>
                  <a:ea typeface="vivo Sans" panose="02000300000000000000" charset="-122"/>
                  <a:cs typeface="vivo Sans" panose="02000300000000000000" charset="-122"/>
                </a:rPr>
                <a:t>最高播放</a:t>
              </a:r>
              <a:endParaRPr sz="1350" b="1">
                <a:solidFill>
                  <a:srgbClr val="475467"/>
                </a:solidFill>
                <a:latin typeface="vivo Sans" panose="02000300000000000000" charset="-122"/>
                <a:ea typeface="vivo Sans" panose="02000300000000000000" charset="-122"/>
                <a:cs typeface="vivo Sans" panose="02000300000000000000" charset="-122"/>
              </a:endParaRPr>
            </a:p>
          </p:txBody>
        </p:sp>
        <p:sp>
          <p:nvSpPr>
            <p:cNvPr id="73" name="矩形 72"/>
            <p:cNvSpPr>
              <a:spLocks noGrp="1"/>
            </p:cNvSpPr>
            <p:nvPr/>
          </p:nvSpPr>
          <p:spPr>
            <a:xfrm>
              <a:off x="10862" y="6376"/>
              <a:ext cx="2609" cy="120"/>
            </a:xfrm>
            <a:prstGeom prst="rect">
              <a:avLst/>
            </a:prstGeom>
            <a:solidFill>
              <a:srgbClr val="415FFF"/>
            </a:solidFill>
            <a:ln w="0">
              <a:noFill/>
              <a:prstDash val="solid"/>
            </a:ln>
          </p:spPr>
        </p:sp>
      </p:grpSp>
      <p:pic>
        <p:nvPicPr>
          <p:cNvPr id="74" name="图片 73" descr="截屏2026-07-31 00.29.23"/>
          <p:cNvPicPr>
            <a:picLocks noChangeAspect="1"/>
          </p:cNvPicPr>
          <p:nvPr/>
        </p:nvPicPr>
        <p:blipFill>
          <a:blip r:embed="rId5"/>
          <a:srcRect t="28305" b="25356"/>
          <a:stretch>
            <a:fillRect/>
          </a:stretch>
        </p:blipFill>
        <p:spPr>
          <a:xfrm>
            <a:off x="3760470" y="3023235"/>
            <a:ext cx="1663065" cy="1069975"/>
          </a:xfrm>
          <a:prstGeom prst="round2Same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 name="表格 1"/>
          <p:cNvGraphicFramePr/>
          <p:nvPr>
            <p:custDataLst>
              <p:tags r:id="rId1"/>
            </p:custDataLst>
          </p:nvPr>
        </p:nvGraphicFramePr>
        <p:xfrm>
          <a:off x="347345" y="969010"/>
          <a:ext cx="11540490" cy="3081020"/>
        </p:xfrm>
        <a:graphic>
          <a:graphicData uri="http://schemas.openxmlformats.org/drawingml/2006/table">
            <a:tbl>
              <a:tblPr firstRow="1" bandRow="1">
                <a:tableStyleId>{5C22544A-7EE6-4342-B048-85BDC9FD1C3A}</a:tableStyleId>
              </a:tblPr>
              <a:tblGrid>
                <a:gridCol w="1202055"/>
                <a:gridCol w="1073150"/>
                <a:gridCol w="1585595"/>
                <a:gridCol w="1189990"/>
                <a:gridCol w="2878455"/>
                <a:gridCol w="1819910"/>
                <a:gridCol w="1791335"/>
              </a:tblGrid>
              <a:tr h="514350">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排名</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日期</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内容类型</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时长</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内容标题</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播放量</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互动量</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r>
              <a:tr h="628650">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1</a:t>
                      </a:r>
                      <a:endParaRPr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3</a:t>
                      </a:r>
                      <a:r>
                        <a:rPr lang="en-US" sz="975" b="0">
                          <a:solidFill>
                            <a:srgbClr val="101828"/>
                          </a:solidFill>
                          <a:latin typeface="vivo Sans" panose="02000300000000000000" charset="-122"/>
                          <a:ea typeface="vivo Sans" panose="02000300000000000000" charset="-122"/>
                          <a:cs typeface="vivo Sans" panose="02000300000000000000" charset="-122"/>
                        </a:rPr>
                        <a:t>.</a:t>
                      </a:r>
                      <a:r>
                        <a:rPr sz="975" b="0">
                          <a:solidFill>
                            <a:srgbClr val="101828"/>
                          </a:solidFill>
                          <a:latin typeface="vivo Sans" panose="02000300000000000000" charset="-122"/>
                          <a:ea typeface="vivo Sans" panose="02000300000000000000" charset="-122"/>
                          <a:cs typeface="vivo Sans" panose="02000300000000000000" charset="-122"/>
                        </a:rPr>
                        <a:t>12</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演唱会短频</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20s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l">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安卓随意拍：阿信演唱会</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128.8万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2.63万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r>
              <a:tr h="444500">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2</a:t>
                      </a:r>
                      <a:endParaRPr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1</a:t>
                      </a:r>
                      <a:r>
                        <a:rPr lang="en-US" sz="975" b="0">
                          <a:solidFill>
                            <a:srgbClr val="101828"/>
                          </a:solidFill>
                          <a:latin typeface="vivo Sans" panose="02000300000000000000" charset="-122"/>
                          <a:ea typeface="vivo Sans" panose="02000300000000000000" charset="-122"/>
                          <a:cs typeface="vivo Sans" panose="02000300000000000000" charset="-122"/>
                        </a:rPr>
                        <a:t>.</a:t>
                      </a:r>
                      <a:r>
                        <a:rPr sz="975" b="0">
                          <a:solidFill>
                            <a:srgbClr val="101828"/>
                          </a:solidFill>
                          <a:latin typeface="vivo Sans" panose="02000300000000000000" charset="-122"/>
                          <a:ea typeface="vivo Sans" panose="02000300000000000000" charset="-122"/>
                          <a:cs typeface="vivo Sans" panose="02000300000000000000" charset="-122"/>
                        </a:rPr>
                        <a:t>9</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演唱会短频</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20s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l">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安卓随手拍：邓紫棋</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95.4万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1.14万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r>
              <a:tr h="605790">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3</a:t>
                      </a:r>
                      <a:endParaRPr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a:t>
                      </a:r>
                      <a:r>
                        <a:rPr lang="en-US" sz="975" b="0">
                          <a:solidFill>
                            <a:srgbClr val="101828"/>
                          </a:solidFill>
                          <a:latin typeface="vivo Sans" panose="02000300000000000000" charset="-122"/>
                          <a:ea typeface="vivo Sans" panose="02000300000000000000" charset="-122"/>
                          <a:cs typeface="vivo Sans" panose="02000300000000000000" charset="-122"/>
                        </a:rPr>
                        <a:t>.</a:t>
                      </a:r>
                      <a:r>
                        <a:rPr sz="975" b="0">
                          <a:solidFill>
                            <a:srgbClr val="101828"/>
                          </a:solidFill>
                          <a:latin typeface="vivo Sans" panose="02000300000000000000" charset="-122"/>
                          <a:ea typeface="vivo Sans" panose="02000300000000000000" charset="-122"/>
                          <a:cs typeface="vivo Sans" panose="02000300000000000000" charset="-122"/>
                        </a:rPr>
                        <a:t>13</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多机</a:t>
                      </a:r>
                      <a:r>
                        <a:rPr lang="zh-CN" sz="975" b="0">
                          <a:solidFill>
                            <a:srgbClr val="101828"/>
                          </a:solidFill>
                          <a:latin typeface="vivo Sans" panose="02000300000000000000" charset="-122"/>
                          <a:ea typeface="vivo Sans" panose="02000300000000000000" charset="-122"/>
                          <a:cs typeface="vivo Sans" panose="02000300000000000000" charset="-122"/>
                        </a:rPr>
                        <a:t>长</a:t>
                      </a:r>
                      <a:r>
                        <a:rPr sz="975" b="0">
                          <a:solidFill>
                            <a:srgbClr val="101828"/>
                          </a:solidFill>
                          <a:latin typeface="vivo Sans" panose="02000300000000000000" charset="-122"/>
                          <a:ea typeface="vivo Sans" panose="02000300000000000000" charset="-122"/>
                          <a:cs typeface="vivo Sans" panose="02000300000000000000" charset="-122"/>
                        </a:rPr>
                        <a:t>横评</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1m52s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l">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华米果蓝绿旗舰影像对比</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71.6万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1.55万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r>
              <a:tr h="443865">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4</a:t>
                      </a:r>
                      <a:endParaRPr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3</a:t>
                      </a:r>
                      <a:r>
                        <a:rPr lang="en-US" sz="975" b="0">
                          <a:solidFill>
                            <a:srgbClr val="101828"/>
                          </a:solidFill>
                          <a:latin typeface="vivo Sans" panose="02000300000000000000" charset="-122"/>
                          <a:ea typeface="vivo Sans" panose="02000300000000000000" charset="-122"/>
                          <a:cs typeface="vivo Sans" panose="02000300000000000000" charset="-122"/>
                        </a:rPr>
                        <a:t>.</a:t>
                      </a:r>
                      <a:r>
                        <a:rPr sz="975" b="0">
                          <a:solidFill>
                            <a:srgbClr val="101828"/>
                          </a:solidFill>
                          <a:latin typeface="vivo Sans" panose="02000300000000000000" charset="-122"/>
                          <a:ea typeface="vivo Sans" panose="02000300000000000000" charset="-122"/>
                          <a:cs typeface="vivo Sans" panose="02000300000000000000" charset="-122"/>
                        </a:rPr>
                        <a:t>13</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演唱会短频</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29s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l">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两代影像机皇演唱会实拍</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40.4万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0.57万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r>
              <a:tr h="443865">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5</a:t>
                      </a:r>
                      <a:endParaRPr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a:t>
                      </a:r>
                      <a:r>
                        <a:rPr lang="en-US" sz="975" b="0">
                          <a:solidFill>
                            <a:srgbClr val="101828"/>
                          </a:solidFill>
                          <a:latin typeface="vivo Sans" panose="02000300000000000000" charset="-122"/>
                          <a:ea typeface="vivo Sans" panose="02000300000000000000" charset="-122"/>
                          <a:cs typeface="vivo Sans" panose="02000300000000000000" charset="-122"/>
                        </a:rPr>
                        <a:t>.</a:t>
                      </a:r>
                      <a:r>
                        <a:rPr sz="975" b="0">
                          <a:solidFill>
                            <a:srgbClr val="101828"/>
                          </a:solidFill>
                          <a:latin typeface="vivo Sans" panose="02000300000000000000" charset="-122"/>
                          <a:ea typeface="vivo Sans" panose="02000300000000000000" charset="-122"/>
                          <a:cs typeface="vivo Sans" panose="02000300000000000000" charset="-122"/>
                        </a:rPr>
                        <a:t>7</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多机</a:t>
                      </a:r>
                      <a:r>
                        <a:rPr lang="zh-CN" sz="975" b="0">
                          <a:solidFill>
                            <a:srgbClr val="101828"/>
                          </a:solidFill>
                          <a:latin typeface="vivo Sans" panose="02000300000000000000" charset="-122"/>
                          <a:ea typeface="vivo Sans" panose="02000300000000000000" charset="-122"/>
                          <a:cs typeface="vivo Sans" panose="02000300000000000000" charset="-122"/>
                        </a:rPr>
                        <a:t>短对比</a:t>
                      </a:r>
                      <a:endParaRPr lang="zh-CN"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21s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l">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果米OV影像大PK</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33.7万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0.28万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r>
            </a:tbl>
          </a:graphicData>
        </a:graphic>
      </p:graphicFrame>
      <p:pic>
        <p:nvPicPr>
          <p:cNvPr id="73" name="图片 72"/>
          <p:cNvPicPr>
            <a:picLocks noChangeAspect="1"/>
          </p:cNvPicPr>
          <p:nvPr/>
        </p:nvPicPr>
        <p:blipFill>
          <a:blip r:embed="rId2"/>
          <a:srcRect t="12746" b="18818"/>
          <a:stretch>
            <a:fillRect/>
          </a:stretch>
        </p:blipFill>
        <p:spPr>
          <a:xfrm>
            <a:off x="367030" y="4575175"/>
            <a:ext cx="1067435" cy="1588770"/>
          </a:xfrm>
          <a:prstGeom prst="roundRect">
            <a:avLst/>
          </a:prstGeom>
        </p:spPr>
      </p:pic>
      <p:sp>
        <p:nvSpPr>
          <p:cNvPr id="31" name="圆角矩形 30"/>
          <p:cNvSpPr>
            <a:spLocks noGrp="1"/>
          </p:cNvSpPr>
          <p:nvPr/>
        </p:nvSpPr>
        <p:spPr>
          <a:xfrm>
            <a:off x="438785" y="5769610"/>
            <a:ext cx="914400" cy="276225"/>
          </a:xfrm>
          <a:prstGeom prst="roundRect">
            <a:avLst>
              <a:gd name="adj" fmla="val 50000"/>
            </a:avLst>
          </a:prstGeom>
          <a:solidFill>
            <a:srgbClr val="3157FF"/>
          </a:solidFill>
          <a:ln w="0">
            <a:solidFill>
              <a:srgbClr val="3157FF"/>
            </a:solidFill>
            <a:prstDash val="solid"/>
          </a:ln>
        </p:spPr>
      </p:sp>
      <p:sp>
        <p:nvSpPr>
          <p:cNvPr id="32" name="矩形 31"/>
          <p:cNvSpPr>
            <a:spLocks noGrp="1"/>
          </p:cNvSpPr>
          <p:nvPr/>
        </p:nvSpPr>
        <p:spPr>
          <a:xfrm>
            <a:off x="423545" y="5817235"/>
            <a:ext cx="914400" cy="190500"/>
          </a:xfrm>
          <a:prstGeom prst="rect">
            <a:avLst/>
          </a:prstGeom>
          <a:noFill/>
          <a:ln w="0">
            <a:noFill/>
            <a:prstDash val="solid"/>
          </a:ln>
        </p:spPr>
        <p:txBody>
          <a:bodyPr wrap="square" lIns="0" tIns="0" rIns="0" bIns="0" anchor="ctr">
            <a:noAutofit/>
          </a:bodyPr>
          <a:lstStyle/>
          <a:p>
            <a:pPr algn="ctr">
              <a:defRPr sz="1050" b="1">
                <a:solidFill>
                  <a:srgbClr val="FFFFFF"/>
                </a:solidFill>
                <a:latin typeface="vivo Sans" panose="02000300000000000000" charset="-122"/>
                <a:ea typeface="vivo Sans" panose="02000300000000000000" charset="-122"/>
                <a:cs typeface="vivo Sans" panose="02000300000000000000" charset="-122"/>
              </a:defRPr>
            </a:pPr>
            <a:r>
              <a:rPr sz="1050" b="1">
                <a:solidFill>
                  <a:srgbClr val="FFFFFF"/>
                </a:solidFill>
                <a:latin typeface="vivo Sans" panose="02000300000000000000" charset="-122"/>
                <a:ea typeface="vivo Sans" panose="02000300000000000000" charset="-122"/>
                <a:cs typeface="vivo Sans" panose="02000300000000000000" charset="-122"/>
              </a:rPr>
              <a:t>演唱会短频</a:t>
            </a:r>
            <a:endParaRPr sz="1050" b="1">
              <a:solidFill>
                <a:srgbClr val="FFFFFF"/>
              </a:solidFill>
              <a:latin typeface="vivo Sans" panose="02000300000000000000" charset="-122"/>
              <a:ea typeface="vivo Sans" panose="02000300000000000000" charset="-122"/>
              <a:cs typeface="vivo Sans" panose="02000300000000000000" charset="-122"/>
            </a:endParaRPr>
          </a:p>
        </p:txBody>
      </p:sp>
      <p:pic>
        <p:nvPicPr>
          <p:cNvPr id="74" name="图片 73"/>
          <p:cNvPicPr>
            <a:picLocks noChangeAspect="1"/>
          </p:cNvPicPr>
          <p:nvPr/>
        </p:nvPicPr>
        <p:blipFill>
          <a:blip r:embed="rId3"/>
          <a:srcRect t="16214" b="15613"/>
          <a:stretch>
            <a:fillRect/>
          </a:stretch>
        </p:blipFill>
        <p:spPr>
          <a:xfrm>
            <a:off x="1509395" y="4567555"/>
            <a:ext cx="1076325" cy="1596390"/>
          </a:xfrm>
          <a:prstGeom prst="roundRect">
            <a:avLst/>
          </a:prstGeom>
        </p:spPr>
      </p:pic>
      <p:sp>
        <p:nvSpPr>
          <p:cNvPr id="35" name="圆角矩形 34"/>
          <p:cNvSpPr>
            <a:spLocks noGrp="1"/>
          </p:cNvSpPr>
          <p:nvPr/>
        </p:nvSpPr>
        <p:spPr>
          <a:xfrm>
            <a:off x="1607820" y="5761355"/>
            <a:ext cx="914400" cy="276225"/>
          </a:xfrm>
          <a:prstGeom prst="roundRect">
            <a:avLst>
              <a:gd name="adj" fmla="val 50000"/>
            </a:avLst>
          </a:prstGeom>
          <a:solidFill>
            <a:srgbClr val="3157FF"/>
          </a:solidFill>
          <a:ln w="0">
            <a:solidFill>
              <a:srgbClr val="3157FF"/>
            </a:solidFill>
            <a:prstDash val="solid"/>
          </a:ln>
        </p:spPr>
      </p:sp>
      <p:sp>
        <p:nvSpPr>
          <p:cNvPr id="36" name="矩形 35"/>
          <p:cNvSpPr>
            <a:spLocks noGrp="1"/>
          </p:cNvSpPr>
          <p:nvPr/>
        </p:nvSpPr>
        <p:spPr>
          <a:xfrm>
            <a:off x="1623695" y="5817235"/>
            <a:ext cx="914400" cy="190500"/>
          </a:xfrm>
          <a:prstGeom prst="rect">
            <a:avLst/>
          </a:prstGeom>
          <a:noFill/>
          <a:ln w="0">
            <a:noFill/>
            <a:prstDash val="solid"/>
          </a:ln>
        </p:spPr>
        <p:txBody>
          <a:bodyPr wrap="square" lIns="0" tIns="0" rIns="0" bIns="0" anchor="ctr">
            <a:noAutofit/>
          </a:bodyPr>
          <a:lstStyle/>
          <a:p>
            <a:pPr algn="ctr">
              <a:defRPr sz="1050" b="1">
                <a:solidFill>
                  <a:srgbClr val="FFFFFF"/>
                </a:solidFill>
                <a:latin typeface="vivo Sans" panose="02000300000000000000" charset="-122"/>
                <a:ea typeface="vivo Sans" panose="02000300000000000000" charset="-122"/>
                <a:cs typeface="vivo Sans" panose="02000300000000000000" charset="-122"/>
              </a:defRPr>
            </a:pPr>
            <a:r>
              <a:rPr sz="1050" b="1">
                <a:solidFill>
                  <a:srgbClr val="FFFFFF"/>
                </a:solidFill>
                <a:latin typeface="vivo Sans" panose="02000300000000000000" charset="-122"/>
                <a:ea typeface="vivo Sans" panose="02000300000000000000" charset="-122"/>
                <a:cs typeface="vivo Sans" panose="02000300000000000000" charset="-122"/>
              </a:rPr>
              <a:t>多机横评</a:t>
            </a:r>
            <a:endParaRPr sz="1050" b="1">
              <a:solidFill>
                <a:srgbClr val="FFFFFF"/>
              </a:solidFill>
              <a:latin typeface="vivo Sans" panose="02000300000000000000" charset="-122"/>
              <a:ea typeface="vivo Sans" panose="02000300000000000000" charset="-122"/>
              <a:cs typeface="vivo Sans" panose="02000300000000000000" charset="-122"/>
            </a:endParaRPr>
          </a:p>
        </p:txBody>
      </p:sp>
      <p:sp>
        <p:nvSpPr>
          <p:cNvPr id="37" name="矩形 36"/>
          <p:cNvSpPr>
            <a:spLocks noGrp="1"/>
          </p:cNvSpPr>
          <p:nvPr/>
        </p:nvSpPr>
        <p:spPr>
          <a:xfrm>
            <a:off x="2716530" y="4567555"/>
            <a:ext cx="1443355" cy="361950"/>
          </a:xfrm>
          <a:prstGeom prst="rect">
            <a:avLst/>
          </a:prstGeom>
          <a:noFill/>
          <a:ln w="0">
            <a:noFill/>
            <a:prstDash val="solid"/>
          </a:ln>
        </p:spPr>
        <p:txBody>
          <a:bodyPr wrap="square" lIns="0" tIns="0" rIns="0" bIns="0" anchor="t">
            <a:noAutofit/>
          </a:bodyPr>
          <a:lstStyle/>
          <a:p>
            <a:pPr algn="ctr">
              <a:defRPr sz="2250" b="1">
                <a:solidFill>
                  <a:srgbClr val="3157FF"/>
                </a:solidFill>
                <a:latin typeface="vivo Sans" panose="02000300000000000000" charset="-122"/>
                <a:ea typeface="vivo Sans" panose="02000300000000000000" charset="-122"/>
                <a:cs typeface="vivo Sans" panose="02000300000000000000" charset="-122"/>
              </a:defRPr>
            </a:pPr>
            <a:r>
              <a:rPr lang="en-US" sz="3200" b="1">
                <a:solidFill>
                  <a:srgbClr val="3157FF"/>
                </a:solidFill>
                <a:latin typeface="vivo Sans" panose="02000300000000000000" charset="-122"/>
                <a:ea typeface="vivo Sans" panose="02000300000000000000" charset="-122"/>
                <a:cs typeface="vivo Sans" panose="02000300000000000000" charset="-122"/>
              </a:rPr>
              <a:t>80%</a:t>
            </a:r>
            <a:endParaRPr lang="en-US" sz="3200" b="1">
              <a:solidFill>
                <a:srgbClr val="3157FF"/>
              </a:solidFill>
              <a:latin typeface="vivo Sans" panose="02000300000000000000" charset="-122"/>
              <a:ea typeface="vivo Sans" panose="02000300000000000000" charset="-122"/>
              <a:cs typeface="vivo Sans" panose="02000300000000000000" charset="-122"/>
            </a:endParaRPr>
          </a:p>
        </p:txBody>
      </p:sp>
      <p:sp>
        <p:nvSpPr>
          <p:cNvPr id="38" name="矩形 37"/>
          <p:cNvSpPr>
            <a:spLocks noGrp="1"/>
          </p:cNvSpPr>
          <p:nvPr/>
        </p:nvSpPr>
        <p:spPr>
          <a:xfrm>
            <a:off x="2716530" y="5083810"/>
            <a:ext cx="1443355" cy="400050"/>
          </a:xfrm>
          <a:prstGeom prst="rect">
            <a:avLst/>
          </a:prstGeom>
          <a:noFill/>
          <a:ln w="0">
            <a:noFill/>
            <a:prstDash val="solid"/>
          </a:ln>
        </p:spPr>
        <p:txBody>
          <a:bodyPr wrap="square" lIns="0" tIns="0" rIns="0" bIns="0" anchor="t">
            <a:normAutofit/>
          </a:bodyPr>
          <a:lstStyle/>
          <a:p>
            <a:pPr algn="ctr">
              <a:defRPr sz="1125" b="1">
                <a:solidFill>
                  <a:srgbClr val="344054"/>
                </a:solidFill>
                <a:latin typeface="vivo Sans" panose="02000300000000000000" charset="-122"/>
                <a:ea typeface="vivo Sans" panose="02000300000000000000" charset="-122"/>
                <a:cs typeface="vivo Sans" panose="02000300000000000000" charset="-122"/>
              </a:defRPr>
            </a:pPr>
            <a:r>
              <a:rPr lang="zh-CN" sz="1000">
                <a:solidFill>
                  <a:srgbClr val="344054"/>
                </a:solidFill>
                <a:cs typeface="vivo Sans" panose="02000300000000000000" charset="-122"/>
              </a:rPr>
              <a:t>短频对比</a:t>
            </a:r>
            <a:endParaRPr lang="zh-CN" sz="1000">
              <a:solidFill>
                <a:srgbClr val="344054"/>
              </a:solidFill>
              <a:cs typeface="vivo Sans" panose="02000300000000000000" charset="-122"/>
            </a:endParaRPr>
          </a:p>
        </p:txBody>
      </p:sp>
      <p:sp>
        <p:nvSpPr>
          <p:cNvPr id="39" name="矩形 38"/>
          <p:cNvSpPr>
            <a:spLocks noGrp="1"/>
          </p:cNvSpPr>
          <p:nvPr/>
        </p:nvSpPr>
        <p:spPr>
          <a:xfrm>
            <a:off x="2830830" y="5447030"/>
            <a:ext cx="1214755" cy="361950"/>
          </a:xfrm>
          <a:prstGeom prst="rect">
            <a:avLst/>
          </a:prstGeom>
          <a:noFill/>
          <a:ln w="0">
            <a:noFill/>
            <a:prstDash val="solid"/>
          </a:ln>
        </p:spPr>
        <p:txBody>
          <a:bodyPr wrap="square" lIns="0" tIns="0" rIns="0" bIns="0" anchor="t">
            <a:noAutofit/>
          </a:bodyPr>
          <a:lstStyle/>
          <a:p>
            <a:pPr algn="ctr">
              <a:defRPr sz="2250" b="1">
                <a:solidFill>
                  <a:srgbClr val="1737C8"/>
                </a:solidFill>
                <a:latin typeface="vivo Sans" panose="02000300000000000000" charset="-122"/>
                <a:ea typeface="vivo Sans" panose="02000300000000000000" charset="-122"/>
                <a:cs typeface="vivo Sans" panose="02000300000000000000" charset="-122"/>
              </a:defRPr>
            </a:pPr>
            <a:r>
              <a:rPr lang="en-US" sz="3200" b="1">
                <a:solidFill>
                  <a:srgbClr val="2B4FFF"/>
                </a:solidFill>
                <a:latin typeface="vivo Sans" panose="02000300000000000000" charset="-122"/>
                <a:ea typeface="vivo Sans" panose="02000300000000000000" charset="-122"/>
                <a:cs typeface="vivo Sans" panose="02000300000000000000" charset="-122"/>
              </a:rPr>
              <a:t>20%</a:t>
            </a:r>
            <a:endParaRPr lang="en-US" sz="3200" b="1">
              <a:solidFill>
                <a:srgbClr val="2B4FFF"/>
              </a:solidFill>
              <a:latin typeface="vivo Sans" panose="02000300000000000000" charset="-122"/>
              <a:ea typeface="vivo Sans" panose="02000300000000000000" charset="-122"/>
              <a:cs typeface="vivo Sans" panose="02000300000000000000" charset="-122"/>
            </a:endParaRPr>
          </a:p>
        </p:txBody>
      </p:sp>
      <p:sp>
        <p:nvSpPr>
          <p:cNvPr id="40" name="矩形 39"/>
          <p:cNvSpPr>
            <a:spLocks noGrp="1"/>
          </p:cNvSpPr>
          <p:nvPr/>
        </p:nvSpPr>
        <p:spPr>
          <a:xfrm>
            <a:off x="2750185" y="6017260"/>
            <a:ext cx="1295400" cy="400050"/>
          </a:xfrm>
          <a:prstGeom prst="rect">
            <a:avLst/>
          </a:prstGeom>
          <a:noFill/>
          <a:ln w="0">
            <a:noFill/>
            <a:prstDash val="solid"/>
          </a:ln>
        </p:spPr>
        <p:txBody>
          <a:bodyPr wrap="square" lIns="0" tIns="0" rIns="0" bIns="0" anchor="t">
            <a:normAutofit/>
          </a:bodyPr>
          <a:lstStyle/>
          <a:p>
            <a:pPr algn="ctr">
              <a:defRPr sz="1125" b="1">
                <a:solidFill>
                  <a:srgbClr val="344054"/>
                </a:solidFill>
                <a:latin typeface="vivo Sans" panose="02000300000000000000" charset="-122"/>
                <a:ea typeface="vivo Sans" panose="02000300000000000000" charset="-122"/>
                <a:cs typeface="vivo Sans" panose="02000300000000000000" charset="-122"/>
              </a:defRPr>
            </a:pPr>
            <a:r>
              <a:rPr lang="zh-CN" sz="1125" b="1">
                <a:solidFill>
                  <a:srgbClr val="344054"/>
                </a:solidFill>
                <a:latin typeface="vivo Sans" panose="02000300000000000000" charset="-122"/>
                <a:ea typeface="vivo Sans" panose="02000300000000000000" charset="-122"/>
                <a:cs typeface="vivo Sans" panose="02000300000000000000" charset="-122"/>
              </a:rPr>
              <a:t>深度长</a:t>
            </a:r>
            <a:r>
              <a:rPr sz="1125" b="1">
                <a:solidFill>
                  <a:srgbClr val="344054"/>
                </a:solidFill>
                <a:latin typeface="vivo Sans" panose="02000300000000000000" charset="-122"/>
                <a:ea typeface="vivo Sans" panose="02000300000000000000" charset="-122"/>
                <a:cs typeface="vivo Sans" panose="02000300000000000000" charset="-122"/>
              </a:rPr>
              <a:t>评</a:t>
            </a:r>
            <a:endParaRPr sz="1125" b="1">
              <a:solidFill>
                <a:srgbClr val="344054"/>
              </a:solidFill>
              <a:latin typeface="vivo Sans" panose="02000300000000000000" charset="-122"/>
              <a:ea typeface="vivo Sans" panose="02000300000000000000" charset="-122"/>
              <a:cs typeface="vivo Sans" panose="02000300000000000000" charset="-122"/>
            </a:endParaRPr>
          </a:p>
        </p:txBody>
      </p:sp>
      <p:sp>
        <p:nvSpPr>
          <p:cNvPr id="16"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txBody>
          <a:bodyPr/>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a:sym typeface="+mn-ea"/>
              </a:rPr>
              <a:t>TOP5证明</a:t>
            </a:r>
            <a:r>
              <a:rPr lang="zh-CN">
                <a:sym typeface="+mn-ea"/>
              </a:rPr>
              <a:t>趋势规律</a:t>
            </a:r>
            <a:r>
              <a:rPr>
                <a:sym typeface="+mn-ea"/>
              </a:rPr>
              <a:t>：</a:t>
            </a:r>
            <a:r>
              <a:rPr lang="zh-CN">
                <a:sym typeface="+mn-ea"/>
              </a:rPr>
              <a:t>演唱会现场视觉</a:t>
            </a:r>
            <a:r>
              <a:rPr>
                <a:sym typeface="+mn-ea"/>
              </a:rPr>
              <a:t>与多机对比共同驱动增长</a:t>
            </a:r>
            <a:endParaRPr lang="zh-CN" altLang="en-US"/>
          </a:p>
        </p:txBody>
      </p:sp>
      <p:grpSp>
        <p:nvGrpSpPr>
          <p:cNvPr id="69" name="组合 68"/>
          <p:cNvGrpSpPr/>
          <p:nvPr/>
        </p:nvGrpSpPr>
        <p:grpSpPr>
          <a:xfrm>
            <a:off x="4262120" y="4567555"/>
            <a:ext cx="7629525" cy="1583055"/>
            <a:chOff x="547" y="6408"/>
            <a:chExt cx="12015" cy="2493"/>
          </a:xfrm>
        </p:grpSpPr>
        <p:sp>
          <p:nvSpPr>
            <p:cNvPr id="23" name="圆角矩形 22"/>
            <p:cNvSpPr>
              <a:spLocks noGrp="1"/>
            </p:cNvSpPr>
            <p:nvPr/>
          </p:nvSpPr>
          <p:spPr>
            <a:xfrm>
              <a:off x="547" y="6408"/>
              <a:ext cx="4187" cy="2493"/>
            </a:xfrm>
            <a:prstGeom prst="roundRect">
              <a:avLst>
                <a:gd name="adj" fmla="val 5405"/>
              </a:avLst>
            </a:prstGeom>
            <a:solidFill>
              <a:srgbClr val="FFFFFF"/>
            </a:solidFill>
            <a:ln w="9525">
              <a:solidFill>
                <a:srgbClr val="DCE3F2"/>
              </a:solidFill>
              <a:prstDash val="solid"/>
            </a:ln>
          </p:spPr>
          <p:txBody>
            <a:bodyPr/>
            <a:p>
              <a:r>
                <a:rPr lang="en-US" altLang="zh-CN"/>
                <a:t>              </a:t>
              </a:r>
              <a:endParaRPr lang="en-US" altLang="zh-CN"/>
            </a:p>
          </p:txBody>
        </p:sp>
        <p:sp>
          <p:nvSpPr>
            <p:cNvPr id="24" name="矩形 23"/>
            <p:cNvSpPr>
              <a:spLocks noGrp="1"/>
            </p:cNvSpPr>
            <p:nvPr/>
          </p:nvSpPr>
          <p:spPr>
            <a:xfrm>
              <a:off x="1022" y="6846"/>
              <a:ext cx="2274" cy="269"/>
            </a:xfrm>
            <a:prstGeom prst="rect">
              <a:avLst/>
            </a:prstGeom>
            <a:noFill/>
            <a:ln w="0">
              <a:noFill/>
              <a:prstDash val="solid"/>
            </a:ln>
          </p:spPr>
          <p:txBody>
            <a:bodyPr anchor="ctr"/>
            <a:lstStyle/>
            <a:p>
              <a:pPr algn="l">
                <a:defRPr sz="1050" b="1">
                  <a:solidFill>
                    <a:srgbClr val="3157FF"/>
                  </a:solidFill>
                  <a:latin typeface="微软雅黑" panose="020B0503020204020204" charset="-122"/>
                  <a:ea typeface="微软雅黑" panose="020B0503020204020204" charset="-122"/>
                  <a:cs typeface="微软雅黑" panose="020B0503020204020204" charset="-122"/>
                </a:defRPr>
              </a:pPr>
              <a:r>
                <a:rPr sz="1600">
                  <a:solidFill>
                    <a:srgbClr val="1230A5"/>
                  </a:solidFill>
                  <a:latin typeface="vivo Sans" panose="02000300000000000000" charset="-122"/>
                  <a:ea typeface="vivo Sans" panose="02000300000000000000" charset="-122"/>
                  <a:cs typeface="微软雅黑" panose="020B0503020204020204" charset="-122"/>
                </a:rPr>
                <a:t>已验证优势</a:t>
              </a:r>
              <a:endParaRPr sz="1600">
                <a:solidFill>
                  <a:srgbClr val="1230A5"/>
                </a:solidFill>
                <a:latin typeface="vivo Sans" panose="02000300000000000000" charset="-122"/>
                <a:ea typeface="vivo Sans" panose="02000300000000000000" charset="-122"/>
                <a:cs typeface="微软雅黑" panose="020B0503020204020204" charset="-122"/>
              </a:endParaRPr>
            </a:p>
          </p:txBody>
        </p:sp>
        <p:sp>
          <p:nvSpPr>
            <p:cNvPr id="25" name="矩形 24"/>
            <p:cNvSpPr>
              <a:spLocks noGrp="1"/>
            </p:cNvSpPr>
            <p:nvPr/>
          </p:nvSpPr>
          <p:spPr>
            <a:xfrm>
              <a:off x="1057" y="7236"/>
              <a:ext cx="5010" cy="390"/>
            </a:xfrm>
            <a:prstGeom prst="rect">
              <a:avLst/>
            </a:prstGeom>
            <a:noFill/>
            <a:ln w="0">
              <a:noFill/>
              <a:prstDash val="solid"/>
            </a:ln>
          </p:spPr>
          <p:txBody>
            <a:bodyPr anchor="ctr"/>
            <a:lstStyle/>
            <a:p>
              <a:pPr marL="171450" indent="-171450" algn="l">
                <a:buFont typeface="Wingdings" panose="05000000000000000000" charset="0"/>
                <a:buChar char=""/>
                <a:defRPr sz="940" b="0">
                  <a:solidFill>
                    <a:srgbClr val="172033"/>
                  </a:solidFill>
                  <a:latin typeface="微软雅黑" panose="020B0503020204020204" charset="-122"/>
                  <a:ea typeface="微软雅黑" panose="020B0503020204020204" charset="-122"/>
                  <a:cs typeface="微软雅黑" panose="020B0503020204020204" charset="-122"/>
                </a:defRPr>
              </a:pPr>
              <a:r>
                <a:rPr sz="940" b="1">
                  <a:solidFill>
                    <a:srgbClr val="172033"/>
                  </a:solidFill>
                  <a:latin typeface="vivo Sans" panose="02000300000000000000" charset="-122"/>
                  <a:ea typeface="vivo Sans" panose="02000300000000000000" charset="-122"/>
                  <a:cs typeface="微软雅黑" panose="020B0503020204020204" charset="-122"/>
                </a:rPr>
                <a:t>真实高难场景比参数更有说服力</a:t>
              </a:r>
              <a:endParaRPr sz="940" b="1">
                <a:solidFill>
                  <a:srgbClr val="172033"/>
                </a:solidFill>
                <a:latin typeface="vivo Sans" panose="02000300000000000000" charset="-122"/>
                <a:ea typeface="vivo Sans" panose="02000300000000000000" charset="-122"/>
                <a:cs typeface="微软雅黑" panose="020B0503020204020204" charset="-122"/>
              </a:endParaRPr>
            </a:p>
          </p:txBody>
        </p:sp>
        <p:sp>
          <p:nvSpPr>
            <p:cNvPr id="26" name="矩形 25"/>
            <p:cNvSpPr>
              <a:spLocks noGrp="1"/>
            </p:cNvSpPr>
            <p:nvPr/>
          </p:nvSpPr>
          <p:spPr>
            <a:xfrm>
              <a:off x="1057" y="7671"/>
              <a:ext cx="5010" cy="390"/>
            </a:xfrm>
            <a:prstGeom prst="rect">
              <a:avLst/>
            </a:prstGeom>
            <a:noFill/>
            <a:ln w="0">
              <a:noFill/>
              <a:prstDash val="solid"/>
            </a:ln>
          </p:spPr>
          <p:txBody>
            <a:bodyPr anchor="ctr"/>
            <a:lstStyle/>
            <a:p>
              <a:pPr marL="171450" indent="-171450" algn="l">
                <a:buFont typeface="Wingdings" panose="05000000000000000000" charset="0"/>
                <a:buChar char=""/>
                <a:defRPr sz="940" b="0">
                  <a:solidFill>
                    <a:srgbClr val="172033"/>
                  </a:solidFill>
                  <a:latin typeface="微软雅黑" panose="020B0503020204020204" charset="-122"/>
                  <a:ea typeface="微软雅黑" panose="020B0503020204020204" charset="-122"/>
                  <a:cs typeface="微软雅黑" panose="020B0503020204020204" charset="-122"/>
                </a:defRPr>
              </a:pPr>
              <a:r>
                <a:rPr sz="940" b="1">
                  <a:solidFill>
                    <a:srgbClr val="172033"/>
                  </a:solidFill>
                  <a:latin typeface="vivo Sans" panose="02000300000000000000" charset="-122"/>
                  <a:ea typeface="vivo Sans" panose="02000300000000000000" charset="-122"/>
                  <a:cs typeface="微软雅黑" panose="020B0503020204020204" charset="-122"/>
                </a:rPr>
                <a:t>多机同场对照，结果直观</a:t>
              </a:r>
              <a:endParaRPr sz="940" b="1">
                <a:solidFill>
                  <a:srgbClr val="172033"/>
                </a:solidFill>
                <a:latin typeface="vivo Sans" panose="02000300000000000000" charset="-122"/>
                <a:ea typeface="vivo Sans" panose="02000300000000000000" charset="-122"/>
                <a:cs typeface="微软雅黑" panose="020B0503020204020204" charset="-122"/>
              </a:endParaRPr>
            </a:p>
          </p:txBody>
        </p:sp>
        <p:sp>
          <p:nvSpPr>
            <p:cNvPr id="27" name="矩形 26"/>
            <p:cNvSpPr>
              <a:spLocks noGrp="1"/>
            </p:cNvSpPr>
            <p:nvPr/>
          </p:nvSpPr>
          <p:spPr>
            <a:xfrm>
              <a:off x="1057" y="8106"/>
              <a:ext cx="5010" cy="390"/>
            </a:xfrm>
            <a:prstGeom prst="rect">
              <a:avLst/>
            </a:prstGeom>
            <a:noFill/>
            <a:ln w="0">
              <a:noFill/>
              <a:prstDash val="solid"/>
            </a:ln>
          </p:spPr>
          <p:txBody>
            <a:bodyPr anchor="ctr"/>
            <a:lstStyle/>
            <a:p>
              <a:pPr marL="171450" indent="-171450" algn="l">
                <a:buFont typeface="Wingdings" panose="05000000000000000000" charset="0"/>
                <a:buChar char=""/>
                <a:defRPr sz="940" b="0">
                  <a:solidFill>
                    <a:srgbClr val="172033"/>
                  </a:solidFill>
                  <a:latin typeface="微软雅黑" panose="020B0503020204020204" charset="-122"/>
                  <a:ea typeface="微软雅黑" panose="020B0503020204020204" charset="-122"/>
                  <a:cs typeface="微软雅黑" panose="020B0503020204020204" charset="-122"/>
                </a:defRPr>
              </a:pPr>
              <a:r>
                <a:rPr sz="940" b="1">
                  <a:solidFill>
                    <a:srgbClr val="172033"/>
                  </a:solidFill>
                  <a:latin typeface="vivo Sans" panose="02000300000000000000" charset="-122"/>
                  <a:ea typeface="vivo Sans" panose="02000300000000000000" charset="-122"/>
                  <a:cs typeface="微软雅黑" panose="020B0503020204020204" charset="-122"/>
                </a:rPr>
                <a:t>反差标题降低点击门槛</a:t>
              </a:r>
              <a:endParaRPr sz="940" b="1">
                <a:solidFill>
                  <a:srgbClr val="172033"/>
                </a:solidFill>
                <a:latin typeface="vivo Sans" panose="02000300000000000000" charset="-122"/>
                <a:ea typeface="vivo Sans" panose="02000300000000000000" charset="-122"/>
                <a:cs typeface="微软雅黑" panose="020B0503020204020204" charset="-122"/>
              </a:endParaRPr>
            </a:p>
          </p:txBody>
        </p:sp>
        <p:sp>
          <p:nvSpPr>
            <p:cNvPr id="30" name="圆角矩形 29"/>
            <p:cNvSpPr>
              <a:spLocks noGrp="1"/>
            </p:cNvSpPr>
            <p:nvPr/>
          </p:nvSpPr>
          <p:spPr>
            <a:xfrm>
              <a:off x="5035" y="6409"/>
              <a:ext cx="7527" cy="2492"/>
            </a:xfrm>
            <a:prstGeom prst="roundRect">
              <a:avLst>
                <a:gd name="adj" fmla="val 5405"/>
              </a:avLst>
            </a:prstGeom>
            <a:solidFill>
              <a:srgbClr val="FFFFFF"/>
            </a:solidFill>
            <a:ln w="9525">
              <a:solidFill>
                <a:srgbClr val="DCE3F2"/>
              </a:solidFill>
              <a:prstDash val="solid"/>
            </a:ln>
          </p:spPr>
          <p:txBody>
            <a:bodyPr/>
            <a:p>
              <a:r>
                <a:rPr lang="en-US" altLang="zh-CN"/>
                <a:t>        </a:t>
              </a:r>
              <a:endParaRPr lang="en-US" altLang="zh-CN"/>
            </a:p>
          </p:txBody>
        </p:sp>
        <p:sp>
          <p:nvSpPr>
            <p:cNvPr id="42" name="矩形 41"/>
            <p:cNvSpPr>
              <a:spLocks noGrp="1"/>
            </p:cNvSpPr>
            <p:nvPr/>
          </p:nvSpPr>
          <p:spPr>
            <a:xfrm>
              <a:off x="5889" y="7252"/>
              <a:ext cx="2910" cy="390"/>
            </a:xfrm>
            <a:prstGeom prst="rect">
              <a:avLst/>
            </a:prstGeom>
            <a:noFill/>
            <a:ln w="0">
              <a:noFill/>
              <a:prstDash val="solid"/>
            </a:ln>
          </p:spPr>
          <p:txBody>
            <a:bodyPr anchor="ctr"/>
            <a:lstStyle/>
            <a:p>
              <a:pPr marL="171450" indent="-171450" algn="l">
                <a:buFont typeface="Wingdings" panose="05000000000000000000" charset="0"/>
                <a:buChar char=""/>
                <a:defRPr sz="940" b="0">
                  <a:solidFill>
                    <a:srgbClr val="172033"/>
                  </a:solidFill>
                  <a:latin typeface="微软雅黑" panose="020B0503020204020204" charset="-122"/>
                  <a:ea typeface="微软雅黑" panose="020B0503020204020204" charset="-122"/>
                  <a:cs typeface="微软雅黑" panose="020B0503020204020204" charset="-122"/>
                </a:defRPr>
              </a:pPr>
              <a:r>
                <a:rPr sz="940" b="1">
                  <a:solidFill>
                    <a:srgbClr val="172033"/>
                  </a:solidFill>
                  <a:latin typeface="vivo Sans" panose="02000300000000000000" charset="-122"/>
                  <a:ea typeface="vivo Sans" panose="02000300000000000000" charset="-122"/>
                  <a:cs typeface="微软雅黑" panose="020B0503020204020204" charset="-122"/>
                </a:rPr>
                <a:t>高流量仍受演唱会热点影响</a:t>
              </a:r>
              <a:endParaRPr sz="940" b="1">
                <a:solidFill>
                  <a:srgbClr val="172033"/>
                </a:solidFill>
                <a:latin typeface="vivo Sans" panose="02000300000000000000" charset="-122"/>
                <a:ea typeface="vivo Sans" panose="02000300000000000000" charset="-122"/>
                <a:cs typeface="微软雅黑" panose="020B0503020204020204" charset="-122"/>
              </a:endParaRPr>
            </a:p>
          </p:txBody>
        </p:sp>
        <p:sp>
          <p:nvSpPr>
            <p:cNvPr id="43" name="矩形 42"/>
            <p:cNvSpPr>
              <a:spLocks noGrp="1"/>
            </p:cNvSpPr>
            <p:nvPr/>
          </p:nvSpPr>
          <p:spPr>
            <a:xfrm>
              <a:off x="5889" y="7687"/>
              <a:ext cx="2910" cy="390"/>
            </a:xfrm>
            <a:prstGeom prst="rect">
              <a:avLst/>
            </a:prstGeom>
            <a:noFill/>
            <a:ln w="0">
              <a:noFill/>
              <a:prstDash val="solid"/>
            </a:ln>
          </p:spPr>
          <p:txBody>
            <a:bodyPr anchor="ctr"/>
            <a:lstStyle/>
            <a:p>
              <a:pPr marL="171450" indent="-171450" algn="l">
                <a:buFont typeface="Wingdings" panose="05000000000000000000" charset="0"/>
                <a:buChar char=""/>
                <a:defRPr sz="940" b="0">
                  <a:solidFill>
                    <a:srgbClr val="172033"/>
                  </a:solidFill>
                  <a:latin typeface="微软雅黑" panose="020B0503020204020204" charset="-122"/>
                  <a:ea typeface="微软雅黑" panose="020B0503020204020204" charset="-122"/>
                  <a:cs typeface="微软雅黑" panose="020B0503020204020204" charset="-122"/>
                </a:defRPr>
              </a:pPr>
              <a:r>
                <a:rPr lang="zh-CN" sz="940" b="1">
                  <a:solidFill>
                    <a:srgbClr val="172033"/>
                  </a:solidFill>
                  <a:latin typeface="vivo Sans" panose="02000300000000000000" charset="-122"/>
                  <a:ea typeface="vivo Sans" panose="02000300000000000000" charset="-122"/>
                  <a:cs typeface="vivo Sans" panose="02000300000000000000" charset="-122"/>
                </a:rPr>
                <a:t>高营销属性导致平台</a:t>
              </a:r>
              <a:r>
                <a:rPr lang="zh-CN" sz="940" b="1">
                  <a:solidFill>
                    <a:srgbClr val="172033"/>
                  </a:solidFill>
                  <a:latin typeface="vivo Sans" panose="02000300000000000000" charset="-122"/>
                  <a:ea typeface="vivo Sans" panose="02000300000000000000" charset="-122"/>
                  <a:cs typeface="vivo Sans" panose="02000300000000000000" charset="-122"/>
                </a:rPr>
                <a:t>限流</a:t>
              </a:r>
              <a:endParaRPr lang="zh-CN" sz="940" b="1">
                <a:solidFill>
                  <a:srgbClr val="172033"/>
                </a:solidFill>
                <a:latin typeface="vivo Sans" panose="02000300000000000000" charset="-122"/>
                <a:ea typeface="vivo Sans" panose="02000300000000000000" charset="-122"/>
                <a:cs typeface="vivo Sans" panose="02000300000000000000" charset="-122"/>
              </a:endParaRPr>
            </a:p>
          </p:txBody>
        </p:sp>
        <p:sp>
          <p:nvSpPr>
            <p:cNvPr id="44" name="圆角矩形 43"/>
            <p:cNvSpPr>
              <a:spLocks noGrp="1"/>
            </p:cNvSpPr>
            <p:nvPr/>
          </p:nvSpPr>
          <p:spPr>
            <a:xfrm>
              <a:off x="9039" y="6937"/>
              <a:ext cx="3060" cy="720"/>
            </a:xfrm>
            <a:prstGeom prst="roundRect">
              <a:avLst>
                <a:gd name="adj" fmla="val 16667"/>
              </a:avLst>
            </a:prstGeom>
            <a:solidFill>
              <a:srgbClr val="F5F7FF"/>
            </a:solidFill>
            <a:ln w="9525">
              <a:solidFill>
                <a:srgbClr val="DCE3F2"/>
              </a:solidFill>
              <a:prstDash val="solid"/>
            </a:ln>
          </p:spPr>
        </p:sp>
        <p:sp>
          <p:nvSpPr>
            <p:cNvPr id="45" name="矩形 44"/>
            <p:cNvSpPr>
              <a:spLocks noGrp="1"/>
            </p:cNvSpPr>
            <p:nvPr/>
          </p:nvSpPr>
          <p:spPr>
            <a:xfrm>
              <a:off x="9235" y="7221"/>
              <a:ext cx="1230" cy="27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1000" b="1">
                  <a:solidFill>
                    <a:srgbClr val="3157FF"/>
                  </a:solidFill>
                  <a:latin typeface="微软雅黑" panose="020B0503020204020204" charset="-122"/>
                  <a:ea typeface="微软雅黑" panose="020B0503020204020204" charset="-122"/>
                  <a:cs typeface="微软雅黑" panose="020B0503020204020204" charset="-122"/>
                </a:rPr>
                <a:t>流量入口</a:t>
              </a:r>
              <a:endParaRPr sz="10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47" name="矩形 46"/>
            <p:cNvSpPr>
              <a:spLocks noGrp="1"/>
            </p:cNvSpPr>
            <p:nvPr/>
          </p:nvSpPr>
          <p:spPr>
            <a:xfrm>
              <a:off x="10449" y="7102"/>
              <a:ext cx="1470" cy="510"/>
            </a:xfrm>
            <a:prstGeom prst="rect">
              <a:avLst/>
            </a:prstGeom>
            <a:noFill/>
            <a:ln w="0">
              <a:noFill/>
              <a:prstDash val="solid"/>
            </a:ln>
          </p:spPr>
          <p:txBody>
            <a:bodyPr anchor="ctr"/>
            <a:lstStyle/>
            <a:p>
              <a:pPr algn="l">
                <a:defRPr sz="735" b="0">
                  <a:solidFill>
                    <a:srgbClr val="172033"/>
                  </a:solidFill>
                  <a:latin typeface="微软雅黑" panose="020B0503020204020204" charset="-122"/>
                  <a:ea typeface="微软雅黑" panose="020B0503020204020204" charset="-122"/>
                  <a:cs typeface="微软雅黑" panose="020B0503020204020204" charset="-122"/>
                </a:defRPr>
              </a:pPr>
              <a:r>
                <a:rPr sz="735" b="0">
                  <a:solidFill>
                    <a:srgbClr val="172033"/>
                  </a:solidFill>
                  <a:latin typeface="微软雅黑" panose="020B0503020204020204" charset="-122"/>
                  <a:ea typeface="微软雅黑" panose="020B0503020204020204" charset="-122"/>
                  <a:cs typeface="微软雅黑" panose="020B0503020204020204" charset="-122"/>
                </a:rPr>
                <a:t>热点/IP/品牌聚合</a:t>
              </a:r>
              <a:endParaRPr sz="735"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65" name="圆角矩形 64"/>
            <p:cNvSpPr>
              <a:spLocks noGrp="1"/>
            </p:cNvSpPr>
            <p:nvPr/>
          </p:nvSpPr>
          <p:spPr>
            <a:xfrm>
              <a:off x="9039" y="7807"/>
              <a:ext cx="3060" cy="720"/>
            </a:xfrm>
            <a:prstGeom prst="roundRect">
              <a:avLst>
                <a:gd name="adj" fmla="val 16667"/>
              </a:avLst>
            </a:prstGeom>
            <a:solidFill>
              <a:srgbClr val="F5F7FF"/>
            </a:solidFill>
            <a:ln w="9525">
              <a:solidFill>
                <a:srgbClr val="DCE3F2"/>
              </a:solidFill>
              <a:prstDash val="solid"/>
            </a:ln>
          </p:spPr>
        </p:sp>
        <p:sp>
          <p:nvSpPr>
            <p:cNvPr id="66" name="矩形 65"/>
            <p:cNvSpPr>
              <a:spLocks noGrp="1"/>
            </p:cNvSpPr>
            <p:nvPr/>
          </p:nvSpPr>
          <p:spPr>
            <a:xfrm>
              <a:off x="9219" y="8018"/>
              <a:ext cx="1230" cy="27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1000" b="1">
                  <a:solidFill>
                    <a:srgbClr val="3157FF"/>
                  </a:solidFill>
                  <a:latin typeface="微软雅黑" panose="020B0503020204020204" charset="-122"/>
                  <a:ea typeface="微软雅黑" panose="020B0503020204020204" charset="-122"/>
                  <a:cs typeface="微软雅黑" panose="020B0503020204020204" charset="-122"/>
                </a:rPr>
                <a:t>高难场景</a:t>
              </a:r>
              <a:endParaRPr sz="10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67" name="矩形 66"/>
            <p:cNvSpPr>
              <a:spLocks noGrp="1"/>
            </p:cNvSpPr>
            <p:nvPr/>
          </p:nvSpPr>
          <p:spPr>
            <a:xfrm>
              <a:off x="10449" y="7897"/>
              <a:ext cx="1650" cy="510"/>
            </a:xfrm>
            <a:prstGeom prst="rect">
              <a:avLst/>
            </a:prstGeom>
            <a:noFill/>
            <a:ln w="0">
              <a:noFill/>
              <a:prstDash val="solid"/>
            </a:ln>
          </p:spPr>
          <p:txBody>
            <a:bodyPr anchor="ctr"/>
            <a:lstStyle/>
            <a:p>
              <a:pPr algn="l">
                <a:defRPr sz="735" b="0">
                  <a:solidFill>
                    <a:srgbClr val="172033"/>
                  </a:solidFill>
                  <a:latin typeface="微软雅黑" panose="020B0503020204020204" charset="-122"/>
                  <a:ea typeface="微软雅黑" panose="020B0503020204020204" charset="-122"/>
                  <a:cs typeface="微软雅黑" panose="020B0503020204020204" charset="-122"/>
                </a:defRPr>
              </a:pPr>
              <a:r>
                <a:rPr sz="735" b="0">
                  <a:solidFill>
                    <a:srgbClr val="172033"/>
                  </a:solidFill>
                  <a:latin typeface="微软雅黑" panose="020B0503020204020204" charset="-122"/>
                  <a:ea typeface="微软雅黑" panose="020B0503020204020204" charset="-122"/>
                  <a:cs typeface="微软雅黑" panose="020B0503020204020204" charset="-122"/>
                </a:rPr>
                <a:t>长焦、夜景、演唱会</a:t>
              </a:r>
              <a:endParaRPr sz="735" b="0">
                <a:solidFill>
                  <a:srgbClr val="172033"/>
                </a:solidFill>
                <a:latin typeface="微软雅黑" panose="020B0503020204020204" charset="-122"/>
                <a:ea typeface="微软雅黑" panose="020B0503020204020204" charset="-122"/>
                <a:cs typeface="微软雅黑" panose="020B0503020204020204" charset="-122"/>
              </a:endParaRPr>
            </a:p>
          </p:txBody>
        </p:sp>
      </p:grpSp>
      <p:sp>
        <p:nvSpPr>
          <p:cNvPr id="70" name="矩形 69"/>
          <p:cNvSpPr>
            <a:spLocks noGrp="1"/>
          </p:cNvSpPr>
          <p:nvPr/>
        </p:nvSpPr>
        <p:spPr>
          <a:xfrm>
            <a:off x="7556500" y="4845685"/>
            <a:ext cx="1443990" cy="170815"/>
          </a:xfrm>
          <a:prstGeom prst="rect">
            <a:avLst/>
          </a:prstGeom>
          <a:noFill/>
          <a:ln w="0">
            <a:noFill/>
            <a:prstDash val="solid"/>
          </a:ln>
        </p:spPr>
        <p:txBody>
          <a:bodyPr anchor="ctr"/>
          <a:lstStyle/>
          <a:p>
            <a:pPr algn="l">
              <a:defRPr sz="1050" b="1">
                <a:solidFill>
                  <a:srgbClr val="3157FF"/>
                </a:solidFill>
                <a:latin typeface="微软雅黑" panose="020B0503020204020204" charset="-122"/>
                <a:ea typeface="微软雅黑" panose="020B0503020204020204" charset="-122"/>
                <a:cs typeface="微软雅黑" panose="020B0503020204020204" charset="-122"/>
              </a:defRPr>
            </a:pPr>
            <a:r>
              <a:rPr lang="zh-CN" sz="1600">
                <a:solidFill>
                  <a:srgbClr val="1230A5"/>
                </a:solidFill>
                <a:latin typeface="vivo Sans" panose="02000300000000000000" charset="-122"/>
                <a:ea typeface="vivo Sans" panose="02000300000000000000" charset="-122"/>
                <a:cs typeface="微软雅黑" panose="020B0503020204020204" charset="-122"/>
              </a:rPr>
              <a:t>瓶颈与方法</a:t>
            </a:r>
            <a:endParaRPr lang="zh-CN" sz="1600">
              <a:solidFill>
                <a:srgbClr val="1230A5"/>
              </a:solidFill>
              <a:latin typeface="vivo Sans" panose="02000300000000000000" charset="-122"/>
              <a:ea typeface="vivo Sans" panose="02000300000000000000" charset="-122"/>
              <a:cs typeface="微软雅黑" panose="020B0503020204020204" charset="-122"/>
            </a:endParaRPr>
          </a:p>
        </p:txBody>
      </p:sp>
      <p:sp>
        <p:nvSpPr>
          <p:cNvPr id="71" name="矩形 70"/>
          <p:cNvSpPr>
            <a:spLocks noGrp="1"/>
          </p:cNvSpPr>
          <p:nvPr/>
        </p:nvSpPr>
        <p:spPr>
          <a:xfrm>
            <a:off x="7654290" y="5695950"/>
            <a:ext cx="1847850" cy="247650"/>
          </a:xfrm>
          <a:prstGeom prst="rect">
            <a:avLst/>
          </a:prstGeom>
          <a:noFill/>
          <a:ln w="0">
            <a:noFill/>
            <a:prstDash val="solid"/>
          </a:ln>
        </p:spPr>
        <p:txBody>
          <a:bodyPr anchor="ctr"/>
          <a:lstStyle/>
          <a:p>
            <a:pPr marL="171450" indent="-171450" algn="l">
              <a:buFont typeface="Wingdings" panose="05000000000000000000" charset="0"/>
              <a:buChar char=""/>
              <a:defRPr sz="940" b="0">
                <a:solidFill>
                  <a:srgbClr val="172033"/>
                </a:solidFill>
                <a:latin typeface="微软雅黑" panose="020B0503020204020204" charset="-122"/>
                <a:ea typeface="微软雅黑" panose="020B0503020204020204" charset="-122"/>
                <a:cs typeface="微软雅黑" panose="020B0503020204020204" charset="-122"/>
              </a:defRPr>
            </a:pPr>
            <a:r>
              <a:rPr lang="zh-CN" sz="940" b="1">
                <a:solidFill>
                  <a:srgbClr val="172033"/>
                </a:solidFill>
                <a:latin typeface="vivo Sans" panose="02000300000000000000" charset="-122"/>
                <a:ea typeface="vivo Sans" panose="02000300000000000000" charset="-122"/>
                <a:cs typeface="vivo Sans" panose="02000300000000000000" charset="-122"/>
              </a:rPr>
              <a:t>互动转化</a:t>
            </a:r>
            <a:r>
              <a:rPr lang="zh-CN" sz="940" b="1">
                <a:solidFill>
                  <a:srgbClr val="172033"/>
                </a:solidFill>
                <a:latin typeface="vivo Sans" panose="02000300000000000000" charset="-122"/>
                <a:ea typeface="vivo Sans" panose="02000300000000000000" charset="-122"/>
                <a:cs typeface="vivo Sans" panose="02000300000000000000" charset="-122"/>
              </a:rPr>
              <a:t>较弱</a:t>
            </a:r>
            <a:endParaRPr lang="zh-CN" sz="940" b="1">
              <a:solidFill>
                <a:srgbClr val="172033"/>
              </a:solidFill>
              <a:latin typeface="vivo Sans" panose="02000300000000000000" charset="-122"/>
              <a:ea typeface="vivo Sans" panose="02000300000000000000" charset="-122"/>
              <a:cs typeface="vivo Sans" panose="020003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9"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H1路径已验证，H2升级重点——回声现场影像</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微软雅黑" panose="020B0503020204020204" charset="-122"/>
                <a:ea typeface="微软雅黑" panose="020B0503020204020204" charset="-122"/>
                <a:cs typeface="微软雅黑" panose="020B0503020204020204" charset="-122"/>
              </a:rPr>
              <a:t>13</a:t>
            </a:r>
            <a:endParaRPr sz="675" b="0">
              <a:solidFill>
                <a:srgbClr val="8A96AA"/>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400050" y="838200"/>
            <a:ext cx="11391900" cy="685800"/>
          </a:xfrm>
          <a:prstGeom prst="roundRect">
            <a:avLst>
              <a:gd name="adj" fmla="val 11111"/>
            </a:avLst>
          </a:prstGeom>
          <a:solidFill>
            <a:srgbClr val="F5F7FF"/>
          </a:solidFill>
          <a:ln w="9525">
            <a:solidFill>
              <a:srgbClr val="DCE3F2"/>
            </a:solidFill>
            <a:prstDash val="solid"/>
          </a:ln>
        </p:spPr>
        <p:txBody>
          <a:bodyPr/>
          <a:p>
            <a:endParaRPr lang="zh-CN" altLang="en-US"/>
          </a:p>
        </p:txBody>
      </p:sp>
      <p:sp>
        <p:nvSpPr>
          <p:cNvPr id="7" name="矩形 6"/>
          <p:cNvSpPr>
            <a:spLocks noGrp="1"/>
          </p:cNvSpPr>
          <p:nvPr/>
        </p:nvSpPr>
        <p:spPr>
          <a:xfrm>
            <a:off x="571500" y="1076325"/>
            <a:ext cx="723900" cy="209550"/>
          </a:xfrm>
          <a:prstGeom prst="rect">
            <a:avLst/>
          </a:prstGeom>
          <a:noFill/>
          <a:ln w="0">
            <a:noFill/>
            <a:prstDash val="solid"/>
          </a:ln>
        </p:spPr>
        <p:txBody>
          <a:bodyPr anchor="ctr"/>
          <a:lstStyle/>
          <a:p>
            <a:pPr algn="l">
              <a:defRPr sz="900" b="1">
                <a:solidFill>
                  <a:srgbClr val="3157FF"/>
                </a:solidFill>
                <a:latin typeface="微软雅黑" panose="020B0503020204020204" charset="-122"/>
                <a:ea typeface="微软雅黑" panose="020B0503020204020204" charset="-122"/>
                <a:cs typeface="微软雅黑" panose="020B0503020204020204" charset="-122"/>
              </a:defRPr>
            </a:pPr>
            <a:r>
              <a:rPr sz="900" b="1">
                <a:solidFill>
                  <a:srgbClr val="3157FF"/>
                </a:solidFill>
                <a:latin typeface="微软雅黑" panose="020B0503020204020204" charset="-122"/>
                <a:ea typeface="微软雅黑" panose="020B0503020204020204" charset="-122"/>
                <a:cs typeface="微软雅黑" panose="020B0503020204020204" charset="-122"/>
              </a:rPr>
              <a:t>H1结论</a:t>
            </a:r>
            <a:endParaRPr sz="9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295400" y="1019175"/>
            <a:ext cx="4953000" cy="266700"/>
          </a:xfrm>
          <a:prstGeom prst="rect">
            <a:avLst/>
          </a:prstGeom>
          <a:noFill/>
          <a:ln w="0">
            <a:noFill/>
            <a:prstDash val="solid"/>
          </a:ln>
        </p:spPr>
        <p:txBody>
          <a:bodyPr anchor="ctr"/>
          <a:lstStyle/>
          <a:p>
            <a:pPr algn="l">
              <a:defRPr sz="1275" b="1">
                <a:solidFill>
                  <a:srgbClr val="172033"/>
                </a:solidFill>
                <a:latin typeface="微软雅黑" panose="020B0503020204020204" charset="-122"/>
                <a:ea typeface="微软雅黑" panose="020B0503020204020204" charset="-122"/>
                <a:cs typeface="微软雅黑" panose="020B0503020204020204" charset="-122"/>
              </a:defRPr>
            </a:pPr>
            <a:r>
              <a:rPr sz="1275" b="1">
                <a:solidFill>
                  <a:srgbClr val="172033"/>
                </a:solidFill>
                <a:latin typeface="微软雅黑" panose="020B0503020204020204" charset="-122"/>
                <a:ea typeface="微软雅黑" panose="020B0503020204020204" charset="-122"/>
                <a:cs typeface="微软雅黑" panose="020B0503020204020204" charset="-122"/>
              </a:rPr>
              <a:t>定位成立，但增长仍需要更宽的流量入口</a:t>
            </a:r>
            <a:endParaRPr sz="12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477000" y="1057275"/>
            <a:ext cx="2343150" cy="228600"/>
          </a:xfrm>
          <a:prstGeom prst="rect">
            <a:avLst/>
          </a:prstGeom>
          <a:noFill/>
          <a:ln w="0">
            <a:noFill/>
            <a:prstDash val="solid"/>
          </a:ln>
        </p:spPr>
        <p:txBody>
          <a:bodyPr anchor="ctr"/>
          <a:lstStyle/>
          <a:p>
            <a:pPr algn="l">
              <a:defRPr sz="900" b="1">
                <a:solidFill>
                  <a:srgbClr val="1230A5"/>
                </a:solidFill>
                <a:latin typeface="微软雅黑" panose="020B0503020204020204" charset="-122"/>
                <a:ea typeface="微软雅黑" panose="020B0503020204020204" charset="-122"/>
                <a:cs typeface="微软雅黑" panose="020B0503020204020204" charset="-122"/>
              </a:defRPr>
            </a:pPr>
            <a:r>
              <a:rPr sz="900" b="1">
                <a:solidFill>
                  <a:srgbClr val="1230A5"/>
                </a:solidFill>
                <a:latin typeface="微软雅黑" panose="020B0503020204020204" charset="-122"/>
                <a:ea typeface="微软雅黑" panose="020B0503020204020204" charset="-122"/>
                <a:cs typeface="微软雅黑" panose="020B0503020204020204" charset="-122"/>
              </a:rPr>
              <a:t>已验证  现场短视频｜多机横评</a:t>
            </a:r>
            <a:endParaRPr sz="900" b="1">
              <a:solidFill>
                <a:srgbClr val="1230A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858250" y="1057275"/>
            <a:ext cx="2724150" cy="228600"/>
          </a:xfrm>
          <a:prstGeom prst="rect">
            <a:avLst/>
          </a:prstGeom>
          <a:noFill/>
          <a:ln w="0">
            <a:noFill/>
            <a:prstDash val="solid"/>
          </a:ln>
        </p:spPr>
        <p:txBody>
          <a:bodyPr anchor="ctr"/>
          <a:lstStyle/>
          <a:p>
            <a:pPr algn="l">
              <a:defRPr sz="900" b="0">
                <a:solidFill>
                  <a:srgbClr val="667085"/>
                </a:solidFill>
                <a:latin typeface="微软雅黑" panose="020B0503020204020204" charset="-122"/>
                <a:ea typeface="微软雅黑" panose="020B0503020204020204" charset="-122"/>
                <a:cs typeface="微软雅黑" panose="020B0503020204020204" charset="-122"/>
              </a:defRPr>
            </a:pPr>
            <a:r>
              <a:rPr sz="900" b="0">
                <a:solidFill>
                  <a:srgbClr val="667085"/>
                </a:solidFill>
                <a:latin typeface="微软雅黑" panose="020B0503020204020204" charset="-122"/>
                <a:ea typeface="微软雅黑" panose="020B0503020204020204" charset="-122"/>
                <a:cs typeface="微软雅黑" panose="020B0503020204020204" charset="-122"/>
              </a:rPr>
              <a:t>待解决  热点依赖｜流量池</a:t>
            </a:r>
            <a:r>
              <a:rPr lang="zh-CN" sz="900" b="0">
                <a:solidFill>
                  <a:srgbClr val="667085"/>
                </a:solidFill>
                <a:latin typeface="微软雅黑" panose="020B0503020204020204" charset="-122"/>
                <a:ea typeface="微软雅黑" panose="020B0503020204020204" charset="-122"/>
                <a:cs typeface="微软雅黑" panose="020B0503020204020204" charset="-122"/>
              </a:rPr>
              <a:t>模糊</a:t>
            </a:r>
            <a:r>
              <a:rPr sz="900" b="0">
                <a:solidFill>
                  <a:srgbClr val="667085"/>
                </a:solidFill>
                <a:latin typeface="微软雅黑" panose="020B0503020204020204" charset="-122"/>
                <a:ea typeface="微软雅黑" panose="020B0503020204020204" charset="-122"/>
                <a:cs typeface="微软雅黑" panose="020B0503020204020204" charset="-122"/>
              </a:rPr>
              <a:t>｜含V密度</a:t>
            </a:r>
            <a:endParaRPr sz="900"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609600" y="3333750"/>
            <a:ext cx="167640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账号定位</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193675" y="4136390"/>
            <a:ext cx="1790700" cy="8763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lang="zh-CN" sz="1400" b="1">
                <a:solidFill>
                  <a:srgbClr val="667085"/>
                </a:solidFill>
                <a:latin typeface="vivo Sans" panose="02000300000000000000" charset="-122"/>
                <a:ea typeface="vivo Sans" panose="02000300000000000000" charset="-122"/>
                <a:cs typeface="微软雅黑" panose="020B0503020204020204" charset="-122"/>
              </a:rPr>
              <a:t>手机现场</a:t>
            </a:r>
            <a:r>
              <a:rPr sz="1400" b="1">
                <a:solidFill>
                  <a:srgbClr val="667085"/>
                </a:solidFill>
                <a:latin typeface="vivo Sans" panose="02000300000000000000" charset="-122"/>
                <a:ea typeface="vivo Sans" panose="02000300000000000000" charset="-122"/>
                <a:cs typeface="微软雅黑" panose="020B0503020204020204" charset="-122"/>
              </a:rPr>
              <a:t>影像</a:t>
            </a:r>
            <a:endParaRPr sz="1400" b="1">
              <a:solidFill>
                <a:srgbClr val="667085"/>
              </a:solidFill>
              <a:latin typeface="vivo Sans" panose="02000300000000000000" charset="-122"/>
              <a:ea typeface="vivo Sans" panose="02000300000000000000" charset="-122"/>
              <a:cs typeface="微软雅黑" panose="020B0503020204020204" charset="-122"/>
            </a:endParaRPr>
          </a:p>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sz="1400" b="1">
                <a:solidFill>
                  <a:srgbClr val="667085"/>
                </a:solidFill>
                <a:latin typeface="vivo Sans" panose="02000300000000000000" charset="-122"/>
                <a:ea typeface="vivo Sans" panose="02000300000000000000" charset="-122"/>
                <a:cs typeface="微软雅黑" panose="020B0503020204020204" charset="-122"/>
              </a:rPr>
              <a:t>体验官</a:t>
            </a:r>
            <a:endParaRPr sz="1400" b="1">
              <a:solidFill>
                <a:srgbClr val="667085"/>
              </a:solidFill>
              <a:latin typeface="vivo Sans" panose="02000300000000000000" charset="-122"/>
              <a:ea typeface="vivo Sans" panose="02000300000000000000" charset="-122"/>
              <a:cs typeface="微软雅黑" panose="020B0503020204020204" charset="-122"/>
            </a:endParaRPr>
          </a:p>
        </p:txBody>
      </p:sp>
      <p:sp>
        <p:nvSpPr>
          <p:cNvPr id="29" name="矩形 28"/>
          <p:cNvSpPr>
            <a:spLocks noGrp="1"/>
          </p:cNvSpPr>
          <p:nvPr/>
        </p:nvSpPr>
        <p:spPr>
          <a:xfrm>
            <a:off x="2895600" y="3333750"/>
            <a:ext cx="167640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赛道升级</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 name="矩形 31"/>
          <p:cNvSpPr>
            <a:spLocks noGrp="1"/>
          </p:cNvSpPr>
          <p:nvPr/>
        </p:nvSpPr>
        <p:spPr>
          <a:xfrm>
            <a:off x="2524125" y="4136390"/>
            <a:ext cx="2095500" cy="8763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lang="zh-CN" sz="1400" b="1">
                <a:solidFill>
                  <a:srgbClr val="667085"/>
                </a:solidFill>
                <a:latin typeface="vivo Sans" panose="02000300000000000000" charset="-122"/>
                <a:ea typeface="vivo Sans" panose="02000300000000000000" charset="-122"/>
                <a:cs typeface="微软雅黑" panose="020B0503020204020204" charset="-122"/>
              </a:rPr>
              <a:t>两大核心现场</a:t>
            </a:r>
            <a:endParaRPr lang="zh-CN" sz="1400" b="1">
              <a:solidFill>
                <a:srgbClr val="667085"/>
              </a:solidFill>
              <a:latin typeface="vivo Sans" panose="02000300000000000000" charset="-122"/>
              <a:ea typeface="vivo Sans" panose="02000300000000000000" charset="-122"/>
              <a:cs typeface="微软雅黑" panose="020B0503020204020204" charset="-122"/>
            </a:endParaRPr>
          </a:p>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sz="1400" b="1">
                <a:solidFill>
                  <a:srgbClr val="667085"/>
                </a:solidFill>
                <a:latin typeface="vivo Sans" panose="02000300000000000000" charset="-122"/>
                <a:ea typeface="vivo Sans" panose="02000300000000000000" charset="-122"/>
                <a:cs typeface="微软雅黑" panose="020B0503020204020204" charset="-122"/>
              </a:rPr>
              <a:t>演唱会＋日常高难场景</a:t>
            </a:r>
            <a:endParaRPr sz="1400" b="1">
              <a:solidFill>
                <a:srgbClr val="667085"/>
              </a:solidFill>
              <a:latin typeface="vivo Sans" panose="02000300000000000000" charset="-122"/>
              <a:ea typeface="vivo Sans" panose="02000300000000000000" charset="-122"/>
              <a:cs typeface="微软雅黑" panose="020B0503020204020204" charset="-122"/>
            </a:endParaRPr>
          </a:p>
        </p:txBody>
      </p:sp>
      <p:sp>
        <p:nvSpPr>
          <p:cNvPr id="40" name="矩形 39"/>
          <p:cNvSpPr>
            <a:spLocks noGrp="1"/>
          </p:cNvSpPr>
          <p:nvPr/>
        </p:nvSpPr>
        <p:spPr>
          <a:xfrm>
            <a:off x="5181600" y="3333750"/>
            <a:ext cx="167640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流量入口</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3" name="矩形 42"/>
          <p:cNvSpPr>
            <a:spLocks noGrp="1"/>
          </p:cNvSpPr>
          <p:nvPr/>
        </p:nvSpPr>
        <p:spPr>
          <a:xfrm>
            <a:off x="5124450" y="4136390"/>
            <a:ext cx="1790700" cy="8763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lang="zh-CN" sz="1400" b="1">
                <a:solidFill>
                  <a:srgbClr val="667085"/>
                </a:solidFill>
                <a:latin typeface="vivo Sans" panose="02000300000000000000" charset="-122"/>
                <a:ea typeface="vivo Sans" panose="02000300000000000000" charset="-122"/>
                <a:cs typeface="vivo Sans" panose="02000300000000000000" charset="-122"/>
              </a:rPr>
              <a:t>明星</a:t>
            </a:r>
            <a:r>
              <a:rPr lang="en-US" altLang="zh-CN" sz="1400" b="1">
                <a:solidFill>
                  <a:srgbClr val="667085"/>
                </a:solidFill>
                <a:latin typeface="vivo Sans" panose="02000300000000000000" charset="-122"/>
                <a:ea typeface="vivo Sans" panose="02000300000000000000" charset="-122"/>
                <a:cs typeface="vivo Sans" panose="02000300000000000000" charset="-122"/>
              </a:rPr>
              <a:t>IP</a:t>
            </a:r>
            <a:br>
              <a:rPr lang="en-US" altLang="zh-CN" sz="1400" b="1">
                <a:solidFill>
                  <a:srgbClr val="667085"/>
                </a:solidFill>
                <a:latin typeface="vivo Sans" panose="02000300000000000000" charset="-122"/>
                <a:ea typeface="vivo Sans" panose="02000300000000000000" charset="-122"/>
                <a:cs typeface="vivo Sans" panose="02000300000000000000" charset="-122"/>
              </a:rPr>
            </a:br>
            <a:r>
              <a:rPr lang="zh-CN" altLang="en-US" sz="1400" b="1">
                <a:solidFill>
                  <a:srgbClr val="667085"/>
                </a:solidFill>
                <a:latin typeface="vivo Sans" panose="02000300000000000000" charset="-122"/>
                <a:ea typeface="vivo Sans" panose="02000300000000000000" charset="-122"/>
                <a:cs typeface="vivo Sans" panose="02000300000000000000" charset="-122"/>
              </a:rPr>
              <a:t>热门</a:t>
            </a:r>
            <a:r>
              <a:rPr lang="zh-CN" altLang="en-US" sz="1400" b="1">
                <a:solidFill>
                  <a:srgbClr val="667085"/>
                </a:solidFill>
                <a:latin typeface="vivo Sans" panose="02000300000000000000" charset="-122"/>
                <a:ea typeface="vivo Sans" panose="02000300000000000000" charset="-122"/>
                <a:cs typeface="vivo Sans" panose="02000300000000000000" charset="-122"/>
              </a:rPr>
              <a:t>品牌</a:t>
            </a:r>
            <a:endParaRPr lang="zh-CN" altLang="en-US" sz="1400" b="1">
              <a:solidFill>
                <a:srgbClr val="667085"/>
              </a:solidFill>
              <a:latin typeface="vivo Sans" panose="02000300000000000000" charset="-122"/>
              <a:ea typeface="vivo Sans" panose="02000300000000000000" charset="-122"/>
              <a:cs typeface="vivo Sans" panose="02000300000000000000" charset="-122"/>
            </a:endParaRPr>
          </a:p>
        </p:txBody>
      </p:sp>
      <p:sp>
        <p:nvSpPr>
          <p:cNvPr id="51" name="矩形 50"/>
          <p:cNvSpPr>
            <a:spLocks noGrp="1"/>
          </p:cNvSpPr>
          <p:nvPr/>
        </p:nvSpPr>
        <p:spPr>
          <a:xfrm>
            <a:off x="7467600" y="3333750"/>
            <a:ext cx="167640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内容形式</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4" name="矩形 53"/>
          <p:cNvSpPr>
            <a:spLocks noGrp="1"/>
          </p:cNvSpPr>
          <p:nvPr/>
        </p:nvSpPr>
        <p:spPr>
          <a:xfrm>
            <a:off x="7305040" y="4136390"/>
            <a:ext cx="2096135" cy="8763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lang="zh-CN" sz="1400" b="1">
                <a:solidFill>
                  <a:srgbClr val="667085"/>
                </a:solidFill>
                <a:latin typeface="vivo Sans" panose="02000300000000000000" charset="-122"/>
                <a:ea typeface="vivo Sans" panose="02000300000000000000" charset="-122"/>
                <a:cs typeface="vivo Sans" panose="02000300000000000000" charset="-122"/>
              </a:rPr>
              <a:t>让手机只是</a:t>
            </a:r>
            <a:r>
              <a:rPr lang="zh-CN" sz="1400" b="1">
                <a:solidFill>
                  <a:srgbClr val="667085"/>
                </a:solidFill>
                <a:latin typeface="vivo Sans" panose="02000300000000000000" charset="-122"/>
                <a:ea typeface="vivo Sans" panose="02000300000000000000" charset="-122"/>
                <a:cs typeface="vivo Sans" panose="02000300000000000000" charset="-122"/>
              </a:rPr>
              <a:t>工具</a:t>
            </a:r>
            <a:endParaRPr lang="zh-CN" sz="1400" b="1">
              <a:solidFill>
                <a:srgbClr val="667085"/>
              </a:solidFill>
              <a:latin typeface="vivo Sans" panose="02000300000000000000" charset="-122"/>
              <a:ea typeface="vivo Sans" panose="02000300000000000000" charset="-122"/>
              <a:cs typeface="vivo Sans" panose="02000300000000000000" charset="-122"/>
            </a:endParaRPr>
          </a:p>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lang="zh-CN" sz="1400" b="1">
                <a:solidFill>
                  <a:srgbClr val="667085"/>
                </a:solidFill>
                <a:latin typeface="vivo Sans" panose="02000300000000000000" charset="-122"/>
                <a:ea typeface="vivo Sans" panose="02000300000000000000" charset="-122"/>
                <a:cs typeface="vivo Sans" panose="02000300000000000000" charset="-122"/>
              </a:rPr>
              <a:t>用视觉引导用户</a:t>
            </a:r>
            <a:r>
              <a:rPr lang="zh-CN" sz="1400" b="1">
                <a:solidFill>
                  <a:srgbClr val="667085"/>
                </a:solidFill>
                <a:latin typeface="vivo Sans" panose="02000300000000000000" charset="-122"/>
                <a:ea typeface="vivo Sans" panose="02000300000000000000" charset="-122"/>
                <a:cs typeface="vivo Sans" panose="02000300000000000000" charset="-122"/>
              </a:rPr>
              <a:t>决策</a:t>
            </a:r>
            <a:endParaRPr lang="zh-CN" sz="1400" b="1">
              <a:solidFill>
                <a:srgbClr val="667085"/>
              </a:solidFill>
              <a:latin typeface="vivo Sans" panose="02000300000000000000" charset="-122"/>
              <a:ea typeface="vivo Sans" panose="02000300000000000000" charset="-122"/>
              <a:cs typeface="vivo Sans" panose="02000300000000000000" charset="-122"/>
            </a:endParaRPr>
          </a:p>
        </p:txBody>
      </p:sp>
      <p:sp>
        <p:nvSpPr>
          <p:cNvPr id="62" name="矩形 61"/>
          <p:cNvSpPr>
            <a:spLocks noGrp="1"/>
          </p:cNvSpPr>
          <p:nvPr/>
        </p:nvSpPr>
        <p:spPr>
          <a:xfrm>
            <a:off x="9753600" y="3333750"/>
            <a:ext cx="167640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运营机制</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5" name="矩形 64"/>
          <p:cNvSpPr>
            <a:spLocks noGrp="1"/>
          </p:cNvSpPr>
          <p:nvPr/>
        </p:nvSpPr>
        <p:spPr>
          <a:xfrm>
            <a:off x="10039350" y="4136390"/>
            <a:ext cx="1790700" cy="8763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lang="zh-CN" sz="1400" b="1">
                <a:solidFill>
                  <a:srgbClr val="667085"/>
                </a:solidFill>
                <a:latin typeface="vivo Sans" panose="02000300000000000000" charset="-122"/>
                <a:ea typeface="vivo Sans" panose="02000300000000000000" charset="-122"/>
                <a:cs typeface="vivo Sans" panose="02000300000000000000" charset="-122"/>
              </a:rPr>
              <a:t>周更</a:t>
            </a:r>
            <a:r>
              <a:rPr lang="en-US" altLang="zh-CN" sz="1400" b="1">
                <a:solidFill>
                  <a:srgbClr val="667085"/>
                </a:solidFill>
                <a:latin typeface="vivo Sans" panose="02000300000000000000" charset="-122"/>
                <a:ea typeface="vivo Sans" panose="02000300000000000000" charset="-122"/>
                <a:cs typeface="vivo Sans" panose="02000300000000000000" charset="-122"/>
              </a:rPr>
              <a:t>1</a:t>
            </a:r>
            <a:r>
              <a:rPr lang="zh-CN" altLang="en-US" sz="1400" b="1">
                <a:solidFill>
                  <a:srgbClr val="667085"/>
                </a:solidFill>
                <a:latin typeface="vivo Sans" panose="02000300000000000000" charset="-122"/>
                <a:ea typeface="vivo Sans" panose="02000300000000000000" charset="-122"/>
                <a:cs typeface="vivo Sans" panose="02000300000000000000" charset="-122"/>
              </a:rPr>
              <a:t>长</a:t>
            </a:r>
            <a:r>
              <a:rPr lang="en-US" altLang="zh-CN" sz="1400" b="1">
                <a:solidFill>
                  <a:srgbClr val="667085"/>
                </a:solidFill>
                <a:latin typeface="vivo Sans" panose="02000300000000000000" charset="-122"/>
                <a:ea typeface="vivo Sans" panose="02000300000000000000" charset="-122"/>
                <a:cs typeface="vivo Sans" panose="02000300000000000000" charset="-122"/>
              </a:rPr>
              <a:t>3</a:t>
            </a:r>
            <a:r>
              <a:rPr lang="zh-CN" altLang="en-US" sz="1400" b="1">
                <a:solidFill>
                  <a:srgbClr val="667085"/>
                </a:solidFill>
                <a:latin typeface="vivo Sans" panose="02000300000000000000" charset="-122"/>
                <a:ea typeface="vivo Sans" panose="02000300000000000000" charset="-122"/>
                <a:cs typeface="vivo Sans" panose="02000300000000000000" charset="-122"/>
              </a:rPr>
              <a:t>短</a:t>
            </a:r>
            <a:endParaRPr lang="zh-CN" altLang="en-US" sz="1400" b="1">
              <a:solidFill>
                <a:srgbClr val="667085"/>
              </a:solidFill>
              <a:latin typeface="vivo Sans" panose="02000300000000000000" charset="-122"/>
              <a:ea typeface="vivo Sans" panose="02000300000000000000" charset="-122"/>
              <a:cs typeface="vivo Sans" panose="02000300000000000000" charset="-122"/>
            </a:endParaRPr>
          </a:p>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sz="1400" b="1">
                <a:solidFill>
                  <a:srgbClr val="667085"/>
                </a:solidFill>
                <a:latin typeface="vivo Sans" panose="02000300000000000000" charset="-122"/>
                <a:ea typeface="vivo Sans" panose="02000300000000000000" charset="-122"/>
                <a:cs typeface="vivo Sans" panose="02000300000000000000" charset="-122"/>
              </a:rPr>
              <a:t>含V控制</a:t>
            </a:r>
            <a:endParaRPr sz="1400" b="1">
              <a:solidFill>
                <a:srgbClr val="667085"/>
              </a:solidFill>
              <a:latin typeface="vivo Sans" panose="02000300000000000000" charset="-122"/>
              <a:ea typeface="vivo Sans" panose="02000300000000000000" charset="-122"/>
              <a:cs typeface="vivo Sans" panose="02000300000000000000" charset="-122"/>
            </a:endParaRPr>
          </a:p>
        </p:txBody>
      </p:sp>
      <p:sp>
        <p:nvSpPr>
          <p:cNvPr id="67" name="圆角矩形 66"/>
          <p:cNvSpPr>
            <a:spLocks noGrp="1"/>
          </p:cNvSpPr>
          <p:nvPr/>
        </p:nvSpPr>
        <p:spPr>
          <a:xfrm>
            <a:off x="400050" y="6115050"/>
            <a:ext cx="11391900" cy="361950"/>
          </a:xfrm>
          <a:prstGeom prst="roundRect">
            <a:avLst>
              <a:gd name="adj" fmla="val 21053"/>
            </a:avLst>
          </a:prstGeom>
          <a:solidFill>
            <a:srgbClr val="1230A5"/>
          </a:solidFill>
          <a:ln w="0">
            <a:noFill/>
            <a:prstDash val="solid"/>
          </a:ln>
        </p:spPr>
      </p:sp>
      <p:sp>
        <p:nvSpPr>
          <p:cNvPr id="68" name="矩形 67"/>
          <p:cNvSpPr>
            <a:spLocks noGrp="1"/>
          </p:cNvSpPr>
          <p:nvPr/>
        </p:nvSpPr>
        <p:spPr>
          <a:xfrm>
            <a:off x="609600" y="6153150"/>
            <a:ext cx="10934700" cy="266700"/>
          </a:xfrm>
          <a:prstGeom prst="rect">
            <a:avLst/>
          </a:prstGeom>
          <a:noFill/>
          <a:ln w="0">
            <a:noFill/>
            <a:prstDash val="solid"/>
          </a:ln>
        </p:spPr>
        <p:txBody>
          <a:bodyPr anchor="ctr"/>
          <a:lstStyle/>
          <a:p>
            <a:pPr algn="ctr">
              <a:defRPr sz="1125" b="1">
                <a:solidFill>
                  <a:srgbClr val="FFFFFF"/>
                </a:solidFill>
                <a:latin typeface="微软雅黑" panose="020B0503020204020204" charset="-122"/>
                <a:ea typeface="微软雅黑" panose="020B0503020204020204" charset="-122"/>
                <a:cs typeface="微软雅黑" panose="020B0503020204020204" charset="-122"/>
              </a:defRPr>
            </a:pPr>
            <a:r>
              <a:rPr sz="1125" b="1">
                <a:solidFill>
                  <a:srgbClr val="FFFFFF"/>
                </a:solidFill>
                <a:latin typeface="微软雅黑" panose="020B0503020204020204" charset="-122"/>
                <a:ea typeface="微软雅黑" panose="020B0503020204020204" charset="-122"/>
                <a:cs typeface="微软雅黑" panose="020B0503020204020204" charset="-122"/>
              </a:rPr>
              <a:t>H2目标  流量</a:t>
            </a:r>
            <a:r>
              <a:rPr lang="zh-CN" sz="1125" b="1">
                <a:solidFill>
                  <a:srgbClr val="FFFFFF"/>
                </a:solidFill>
                <a:latin typeface="微软雅黑" panose="020B0503020204020204" charset="-122"/>
                <a:ea typeface="微软雅黑" panose="020B0503020204020204" charset="-122"/>
                <a:cs typeface="微软雅黑" panose="020B0503020204020204" charset="-122"/>
              </a:rPr>
              <a:t>入口更聚焦</a:t>
            </a:r>
            <a:r>
              <a:rPr sz="1125" b="1">
                <a:solidFill>
                  <a:srgbClr val="FFFFFF"/>
                </a:solidFill>
                <a:latin typeface="微软雅黑" panose="020B0503020204020204" charset="-122"/>
                <a:ea typeface="微软雅黑" panose="020B0503020204020204" charset="-122"/>
                <a:cs typeface="微软雅黑" panose="020B0503020204020204" charset="-122"/>
              </a:rPr>
              <a:t>｜爆款可复制｜vivo</a:t>
            </a:r>
            <a:r>
              <a:rPr lang="zh-CN" sz="1125" b="1">
                <a:solidFill>
                  <a:srgbClr val="FFFFFF"/>
                </a:solidFill>
                <a:latin typeface="微软雅黑" panose="020B0503020204020204" charset="-122"/>
                <a:ea typeface="微软雅黑" panose="020B0503020204020204" charset="-122"/>
                <a:cs typeface="微软雅黑" panose="020B0503020204020204" charset="-122"/>
              </a:rPr>
              <a:t>影像传达</a:t>
            </a:r>
            <a:r>
              <a:rPr sz="1125" b="1">
                <a:solidFill>
                  <a:srgbClr val="FFFFFF"/>
                </a:solidFill>
                <a:latin typeface="微软雅黑" panose="020B0503020204020204" charset="-122"/>
                <a:ea typeface="微软雅黑" panose="020B0503020204020204" charset="-122"/>
                <a:cs typeface="微软雅黑" panose="020B0503020204020204" charset="-122"/>
              </a:rPr>
              <a:t>更自然</a:t>
            </a:r>
            <a:endParaRPr sz="11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830580" y="2439670"/>
            <a:ext cx="1153795" cy="245110"/>
          </a:xfrm>
          <a:prstGeom prst="rect">
            <a:avLst/>
          </a:prstGeom>
          <a:noFill/>
        </p:spPr>
        <p:txBody>
          <a:bodyPr wrap="square" rtlCol="0">
            <a:spAutoFit/>
          </a:bodyPr>
          <a:p>
            <a:r>
              <a:rPr lang="en-US" altLang="zh-CN" sz="1000">
                <a:solidFill>
                  <a:schemeClr val="bg1"/>
                </a:solidFill>
                <a:latin typeface="vivo Sans" panose="02000300000000000000" charset="-122"/>
                <a:ea typeface="vivo Sans" panose="02000300000000000000" charset="-122"/>
              </a:rPr>
              <a:t>（</a:t>
            </a:r>
            <a:r>
              <a:rPr lang="zh-CN" altLang="en-US" sz="1000">
                <a:solidFill>
                  <a:schemeClr val="bg1"/>
                </a:solidFill>
                <a:latin typeface="vivo Sans" panose="02000300000000000000" charset="-122"/>
                <a:ea typeface="vivo Sans" panose="02000300000000000000" charset="-122"/>
              </a:rPr>
              <a:t>手机摄影美图</a:t>
            </a:r>
            <a:r>
              <a:rPr lang="en-US" altLang="zh-CN" sz="1000">
                <a:solidFill>
                  <a:schemeClr val="bg1"/>
                </a:solidFill>
                <a:latin typeface="vivo Sans" panose="02000300000000000000" charset="-122"/>
                <a:ea typeface="vivo Sans" panose="02000300000000000000" charset="-122"/>
              </a:rPr>
              <a:t>）</a:t>
            </a:r>
            <a:endParaRPr lang="en-US" altLang="zh-CN" sz="1000">
              <a:solidFill>
                <a:schemeClr val="bg1"/>
              </a:solidFill>
              <a:latin typeface="vivo Sans" panose="02000300000000000000" charset="-122"/>
              <a:ea typeface="vivo Sans" panose="02000300000000000000" charset="-122"/>
            </a:endParaRPr>
          </a:p>
        </p:txBody>
      </p:sp>
      <p:sp>
        <p:nvSpPr>
          <p:cNvPr id="72" name="文本框 71"/>
          <p:cNvSpPr txBox="1"/>
          <p:nvPr/>
        </p:nvSpPr>
        <p:spPr>
          <a:xfrm>
            <a:off x="4972050" y="2439670"/>
            <a:ext cx="2165985" cy="245110"/>
          </a:xfrm>
          <a:prstGeom prst="rect">
            <a:avLst/>
          </a:prstGeom>
          <a:noFill/>
        </p:spPr>
        <p:txBody>
          <a:bodyPr wrap="square" rtlCol="0">
            <a:spAutoFit/>
          </a:bodyPr>
          <a:p>
            <a:r>
              <a:rPr lang="en-US" altLang="zh-CN" sz="1000">
                <a:solidFill>
                  <a:schemeClr val="bg1"/>
                </a:solidFill>
                <a:latin typeface="vivo Sans" panose="02000300000000000000" charset="-122"/>
                <a:ea typeface="vivo Sans" panose="02000300000000000000" charset="-122"/>
              </a:rPr>
              <a:t>（</a:t>
            </a:r>
            <a:r>
              <a:rPr lang="zh-CN" altLang="en-US" sz="1000">
                <a:solidFill>
                  <a:schemeClr val="bg1"/>
                </a:solidFill>
                <a:latin typeface="vivo Sans" panose="02000300000000000000" charset="-122"/>
                <a:ea typeface="vivo Sans" panose="02000300000000000000" charset="-122"/>
              </a:rPr>
              <a:t>明星</a:t>
            </a:r>
            <a:r>
              <a:rPr lang="en-US" altLang="zh-CN" sz="1000">
                <a:solidFill>
                  <a:schemeClr val="bg1"/>
                </a:solidFill>
                <a:latin typeface="vivo Sans" panose="02000300000000000000" charset="-122"/>
                <a:ea typeface="vivo Sans" panose="02000300000000000000" charset="-122"/>
              </a:rPr>
              <a:t>+</a:t>
            </a:r>
            <a:r>
              <a:rPr lang="zh-CN" altLang="en-US" sz="1000">
                <a:solidFill>
                  <a:schemeClr val="bg1"/>
                </a:solidFill>
                <a:latin typeface="vivo Sans" panose="02000300000000000000" charset="-122"/>
                <a:ea typeface="vivo Sans" panose="02000300000000000000" charset="-122"/>
              </a:rPr>
              <a:t>多机机型</a:t>
            </a:r>
            <a:r>
              <a:rPr lang="en-US" altLang="zh-CN" sz="1000">
                <a:solidFill>
                  <a:schemeClr val="bg1"/>
                </a:solidFill>
                <a:latin typeface="vivo Sans" panose="02000300000000000000" charset="-122"/>
                <a:ea typeface="vivo Sans" panose="02000300000000000000" charset="-122"/>
              </a:rPr>
              <a:t>，</a:t>
            </a:r>
            <a:r>
              <a:rPr lang="zh-CN" altLang="en-US" sz="1000">
                <a:solidFill>
                  <a:schemeClr val="bg1"/>
                </a:solidFill>
                <a:latin typeface="vivo Sans" panose="02000300000000000000" charset="-122"/>
                <a:ea typeface="vivo Sans" panose="02000300000000000000" charset="-122"/>
              </a:rPr>
              <a:t>左右分屏放图</a:t>
            </a:r>
            <a:r>
              <a:rPr lang="en-US" altLang="zh-CN" sz="1000">
                <a:solidFill>
                  <a:schemeClr val="bg1"/>
                </a:solidFill>
                <a:latin typeface="vivo Sans" panose="02000300000000000000" charset="-122"/>
                <a:ea typeface="vivo Sans" panose="02000300000000000000" charset="-122"/>
              </a:rPr>
              <a:t>）</a:t>
            </a:r>
            <a:endParaRPr lang="en-US" altLang="zh-CN" sz="1000">
              <a:solidFill>
                <a:schemeClr val="bg1"/>
              </a:solidFill>
              <a:latin typeface="vivo Sans" panose="02000300000000000000" charset="-122"/>
              <a:ea typeface="vivo Sans" panose="02000300000000000000" charset="-122"/>
            </a:endParaRPr>
          </a:p>
        </p:txBody>
      </p:sp>
      <p:sp>
        <p:nvSpPr>
          <p:cNvPr id="73" name="文本框 72"/>
          <p:cNvSpPr txBox="1"/>
          <p:nvPr/>
        </p:nvSpPr>
        <p:spPr>
          <a:xfrm>
            <a:off x="7729855" y="2439670"/>
            <a:ext cx="1153795" cy="245110"/>
          </a:xfrm>
          <a:prstGeom prst="rect">
            <a:avLst/>
          </a:prstGeom>
          <a:noFill/>
        </p:spPr>
        <p:txBody>
          <a:bodyPr wrap="square" rtlCol="0">
            <a:spAutoFit/>
          </a:bodyPr>
          <a:p>
            <a:r>
              <a:rPr lang="en-US" altLang="zh-CN" sz="1000">
                <a:solidFill>
                  <a:schemeClr val="bg1"/>
                </a:solidFill>
                <a:latin typeface="vivo Sans" panose="02000300000000000000" charset="-122"/>
                <a:ea typeface="vivo Sans" panose="02000300000000000000" charset="-122"/>
              </a:rPr>
              <a:t>（</a:t>
            </a:r>
            <a:r>
              <a:rPr lang="zh-CN" altLang="en-US" sz="1000">
                <a:solidFill>
                  <a:schemeClr val="bg1"/>
                </a:solidFill>
                <a:latin typeface="vivo Sans" panose="02000300000000000000" charset="-122"/>
                <a:ea typeface="vivo Sans" panose="02000300000000000000" charset="-122"/>
              </a:rPr>
              <a:t>现场成品图</a:t>
            </a:r>
            <a:r>
              <a:rPr lang="en-US" altLang="zh-CN" sz="1000">
                <a:solidFill>
                  <a:schemeClr val="bg1"/>
                </a:solidFill>
                <a:latin typeface="vivo Sans" panose="02000300000000000000" charset="-122"/>
                <a:ea typeface="vivo Sans" panose="02000300000000000000" charset="-122"/>
              </a:rPr>
              <a:t>）</a:t>
            </a:r>
            <a:endParaRPr lang="en-US" altLang="zh-CN" sz="1000">
              <a:solidFill>
                <a:schemeClr val="bg1"/>
              </a:solidFill>
              <a:latin typeface="vivo Sans" panose="02000300000000000000" charset="-122"/>
              <a:ea typeface="vivo Sans" panose="02000300000000000000" charset="-122"/>
            </a:endParaRPr>
          </a:p>
        </p:txBody>
      </p:sp>
      <p:sp>
        <p:nvSpPr>
          <p:cNvPr id="76" name="矩形 75"/>
          <p:cNvSpPr>
            <a:spLocks noGrp="1"/>
          </p:cNvSpPr>
          <p:nvPr/>
        </p:nvSpPr>
        <p:spPr>
          <a:xfrm>
            <a:off x="1143000" y="3200400"/>
            <a:ext cx="9715500" cy="38100"/>
          </a:xfrm>
          <a:prstGeom prst="rect">
            <a:avLst/>
          </a:prstGeom>
          <a:solidFill>
            <a:srgbClr val="D7E0FF"/>
          </a:solidFill>
          <a:ln w="0">
            <a:noFill/>
            <a:prstDash val="solid"/>
          </a:ln>
        </p:spPr>
      </p:sp>
      <p:sp>
        <p:nvSpPr>
          <p:cNvPr id="77" name="矩形 76"/>
          <p:cNvSpPr>
            <a:spLocks noGrp="1"/>
          </p:cNvSpPr>
          <p:nvPr/>
        </p:nvSpPr>
        <p:spPr>
          <a:xfrm>
            <a:off x="171450" y="25908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账号定位</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78" name="椭圆 77"/>
          <p:cNvSpPr>
            <a:spLocks noGrp="1"/>
          </p:cNvSpPr>
          <p:nvPr/>
        </p:nvSpPr>
        <p:spPr>
          <a:xfrm>
            <a:off x="914400" y="2990850"/>
            <a:ext cx="457200" cy="457200"/>
          </a:xfrm>
          <a:prstGeom prst="ellipse">
            <a:avLst/>
          </a:prstGeom>
          <a:solidFill>
            <a:srgbClr val="3157FF"/>
          </a:solidFill>
          <a:ln w="0">
            <a:noFill/>
            <a:prstDash val="solid"/>
          </a:ln>
        </p:spPr>
      </p:sp>
      <p:sp>
        <p:nvSpPr>
          <p:cNvPr id="79" name="矩形 78"/>
          <p:cNvSpPr>
            <a:spLocks noGrp="1"/>
          </p:cNvSpPr>
          <p:nvPr/>
        </p:nvSpPr>
        <p:spPr>
          <a:xfrm>
            <a:off x="914400" y="30861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01</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80" name="矩形 79"/>
          <p:cNvSpPr>
            <a:spLocks noGrp="1"/>
          </p:cNvSpPr>
          <p:nvPr/>
        </p:nvSpPr>
        <p:spPr>
          <a:xfrm>
            <a:off x="171450" y="36861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人设标签</a:t>
            </a:r>
            <a:r>
              <a:rPr lang="zh-CN" sz="1575" b="1">
                <a:solidFill>
                  <a:srgbClr val="1737C8"/>
                </a:solidFill>
                <a:latin typeface="vivo Sans" panose="02000300000000000000" charset="-122"/>
                <a:ea typeface="vivo Sans" panose="02000300000000000000" charset="-122"/>
                <a:cs typeface="vivo Sans" panose="02000300000000000000" charset="-122"/>
              </a:rPr>
              <a:t>定调</a:t>
            </a:r>
            <a:endParaRPr lang="zh-CN"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81" name="矩形 80"/>
          <p:cNvSpPr>
            <a:spLocks noGrp="1"/>
          </p:cNvSpPr>
          <p:nvPr/>
        </p:nvSpPr>
        <p:spPr>
          <a:xfrm>
            <a:off x="2600325" y="25908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赛道</a:t>
            </a:r>
            <a:r>
              <a:rPr lang="zh-CN" sz="1425" b="1">
                <a:solidFill>
                  <a:srgbClr val="344054"/>
                </a:solidFill>
                <a:latin typeface="vivo Sans" panose="02000300000000000000" charset="-122"/>
                <a:ea typeface="vivo Sans" panose="02000300000000000000" charset="-122"/>
                <a:cs typeface="vivo Sans" panose="02000300000000000000" charset="-122"/>
              </a:rPr>
              <a:t>垂直</a:t>
            </a:r>
            <a:endParaRPr lang="zh-CN"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82" name="椭圆 81"/>
          <p:cNvSpPr>
            <a:spLocks noGrp="1"/>
          </p:cNvSpPr>
          <p:nvPr/>
        </p:nvSpPr>
        <p:spPr>
          <a:xfrm>
            <a:off x="3343275" y="2990850"/>
            <a:ext cx="457200" cy="457200"/>
          </a:xfrm>
          <a:prstGeom prst="ellipse">
            <a:avLst/>
          </a:prstGeom>
          <a:solidFill>
            <a:srgbClr val="3157FF"/>
          </a:solidFill>
          <a:ln w="0">
            <a:noFill/>
            <a:prstDash val="solid"/>
          </a:ln>
        </p:spPr>
      </p:sp>
      <p:sp>
        <p:nvSpPr>
          <p:cNvPr id="83" name="矩形 82"/>
          <p:cNvSpPr>
            <a:spLocks noGrp="1"/>
          </p:cNvSpPr>
          <p:nvPr/>
        </p:nvSpPr>
        <p:spPr>
          <a:xfrm>
            <a:off x="3343275" y="30861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02</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84" name="矩形 83"/>
          <p:cNvSpPr>
            <a:spLocks noGrp="1"/>
          </p:cNvSpPr>
          <p:nvPr/>
        </p:nvSpPr>
        <p:spPr>
          <a:xfrm>
            <a:off x="2600325" y="36861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聚焦现场</a:t>
            </a:r>
            <a:r>
              <a:rPr lang="zh-CN" sz="1575" b="1">
                <a:solidFill>
                  <a:srgbClr val="1737C8"/>
                </a:solidFill>
                <a:latin typeface="vivo Sans" panose="02000300000000000000" charset="-122"/>
                <a:ea typeface="vivo Sans" panose="02000300000000000000" charset="-122"/>
                <a:cs typeface="vivo Sans" panose="02000300000000000000" charset="-122"/>
              </a:rPr>
              <a:t>摄影</a:t>
            </a:r>
            <a:endParaRPr lang="zh-CN"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85" name="矩形 84"/>
          <p:cNvSpPr>
            <a:spLocks noGrp="1"/>
          </p:cNvSpPr>
          <p:nvPr/>
        </p:nvSpPr>
        <p:spPr>
          <a:xfrm>
            <a:off x="5029200" y="25908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流量入口</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86" name="椭圆 85"/>
          <p:cNvSpPr>
            <a:spLocks noGrp="1"/>
          </p:cNvSpPr>
          <p:nvPr/>
        </p:nvSpPr>
        <p:spPr>
          <a:xfrm>
            <a:off x="5772150" y="2990850"/>
            <a:ext cx="457200" cy="457200"/>
          </a:xfrm>
          <a:prstGeom prst="ellipse">
            <a:avLst/>
          </a:prstGeom>
          <a:solidFill>
            <a:srgbClr val="3157FF"/>
          </a:solidFill>
          <a:ln w="0">
            <a:noFill/>
            <a:prstDash val="solid"/>
          </a:ln>
        </p:spPr>
      </p:sp>
      <p:sp>
        <p:nvSpPr>
          <p:cNvPr id="87" name="矩形 86"/>
          <p:cNvSpPr>
            <a:spLocks noGrp="1"/>
          </p:cNvSpPr>
          <p:nvPr/>
        </p:nvSpPr>
        <p:spPr>
          <a:xfrm>
            <a:off x="5772150" y="30861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03</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88" name="矩形 87"/>
          <p:cNvSpPr>
            <a:spLocks noGrp="1"/>
          </p:cNvSpPr>
          <p:nvPr/>
        </p:nvSpPr>
        <p:spPr>
          <a:xfrm>
            <a:off x="5029200" y="36861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流量</a:t>
            </a:r>
            <a:r>
              <a:rPr lang="en-US" altLang="zh-CN" sz="1575" b="1">
                <a:solidFill>
                  <a:srgbClr val="1737C8"/>
                </a:solidFill>
                <a:latin typeface="vivo Sans" panose="02000300000000000000" charset="-122"/>
                <a:ea typeface="vivo Sans" panose="02000300000000000000" charset="-122"/>
                <a:cs typeface="vivo Sans" panose="02000300000000000000" charset="-122"/>
              </a:rPr>
              <a:t>IP+</a:t>
            </a:r>
            <a:r>
              <a:rPr lang="zh-CN" altLang="en-US" sz="1575" b="1">
                <a:solidFill>
                  <a:srgbClr val="1737C8"/>
                </a:solidFill>
                <a:latin typeface="vivo Sans" panose="02000300000000000000" charset="-122"/>
                <a:ea typeface="vivo Sans" panose="02000300000000000000" charset="-122"/>
                <a:cs typeface="vivo Sans" panose="02000300000000000000" charset="-122"/>
              </a:rPr>
              <a:t>品牌</a:t>
            </a:r>
            <a:r>
              <a:rPr lang="zh-CN" altLang="en-US" sz="1575" b="1">
                <a:solidFill>
                  <a:srgbClr val="1737C8"/>
                </a:solidFill>
                <a:latin typeface="vivo Sans" panose="02000300000000000000" charset="-122"/>
                <a:ea typeface="vivo Sans" panose="02000300000000000000" charset="-122"/>
                <a:cs typeface="vivo Sans" panose="02000300000000000000" charset="-122"/>
              </a:rPr>
              <a:t>阵营</a:t>
            </a:r>
            <a:endParaRPr lang="zh-CN" altLang="en-US"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89" name="矩形 88"/>
          <p:cNvSpPr>
            <a:spLocks noGrp="1"/>
          </p:cNvSpPr>
          <p:nvPr/>
        </p:nvSpPr>
        <p:spPr>
          <a:xfrm>
            <a:off x="7458075" y="25908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内容形式</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90" name="椭圆 89"/>
          <p:cNvSpPr>
            <a:spLocks noGrp="1"/>
          </p:cNvSpPr>
          <p:nvPr/>
        </p:nvSpPr>
        <p:spPr>
          <a:xfrm>
            <a:off x="8201025" y="2990850"/>
            <a:ext cx="457200" cy="457200"/>
          </a:xfrm>
          <a:prstGeom prst="ellipse">
            <a:avLst/>
          </a:prstGeom>
          <a:solidFill>
            <a:srgbClr val="3157FF"/>
          </a:solidFill>
          <a:ln w="0">
            <a:noFill/>
            <a:prstDash val="solid"/>
          </a:ln>
        </p:spPr>
      </p:sp>
      <p:sp>
        <p:nvSpPr>
          <p:cNvPr id="91" name="矩形 90"/>
          <p:cNvSpPr>
            <a:spLocks noGrp="1"/>
          </p:cNvSpPr>
          <p:nvPr/>
        </p:nvSpPr>
        <p:spPr>
          <a:xfrm>
            <a:off x="8201025" y="30861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04</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92" name="矩形 91"/>
          <p:cNvSpPr>
            <a:spLocks noGrp="1"/>
          </p:cNvSpPr>
          <p:nvPr/>
        </p:nvSpPr>
        <p:spPr>
          <a:xfrm>
            <a:off x="7458075" y="36861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强化结果</a:t>
            </a:r>
            <a:r>
              <a:rPr lang="zh-CN" sz="1575" b="1">
                <a:solidFill>
                  <a:srgbClr val="1737C8"/>
                </a:solidFill>
                <a:latin typeface="vivo Sans" panose="02000300000000000000" charset="-122"/>
                <a:ea typeface="vivo Sans" panose="02000300000000000000" charset="-122"/>
                <a:cs typeface="vivo Sans" panose="02000300000000000000" charset="-122"/>
              </a:rPr>
              <a:t>表达</a:t>
            </a:r>
            <a:endParaRPr lang="zh-CN"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93" name="矩形 92"/>
          <p:cNvSpPr>
            <a:spLocks noGrp="1"/>
          </p:cNvSpPr>
          <p:nvPr/>
        </p:nvSpPr>
        <p:spPr>
          <a:xfrm>
            <a:off x="9886950" y="25908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运营机制</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94" name="椭圆 93"/>
          <p:cNvSpPr>
            <a:spLocks noGrp="1"/>
          </p:cNvSpPr>
          <p:nvPr/>
        </p:nvSpPr>
        <p:spPr>
          <a:xfrm>
            <a:off x="10629900" y="2990850"/>
            <a:ext cx="457200" cy="457200"/>
          </a:xfrm>
          <a:prstGeom prst="ellipse">
            <a:avLst/>
          </a:prstGeom>
          <a:solidFill>
            <a:srgbClr val="3157FF"/>
          </a:solidFill>
          <a:ln w="0">
            <a:noFill/>
            <a:prstDash val="solid"/>
          </a:ln>
        </p:spPr>
      </p:sp>
      <p:sp>
        <p:nvSpPr>
          <p:cNvPr id="95" name="矩形 94"/>
          <p:cNvSpPr>
            <a:spLocks noGrp="1"/>
          </p:cNvSpPr>
          <p:nvPr/>
        </p:nvSpPr>
        <p:spPr>
          <a:xfrm>
            <a:off x="10629900" y="30861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05</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96" name="矩形 95"/>
          <p:cNvSpPr>
            <a:spLocks noGrp="1"/>
          </p:cNvSpPr>
          <p:nvPr/>
        </p:nvSpPr>
        <p:spPr>
          <a:xfrm>
            <a:off x="9886950" y="36861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创意内容</a:t>
            </a:r>
            <a:r>
              <a:rPr lang="zh-CN" sz="1575" b="1">
                <a:solidFill>
                  <a:srgbClr val="1737C8"/>
                </a:solidFill>
                <a:latin typeface="vivo Sans" panose="02000300000000000000" charset="-122"/>
                <a:ea typeface="vivo Sans" panose="02000300000000000000" charset="-122"/>
                <a:cs typeface="vivo Sans" panose="02000300000000000000" charset="-122"/>
              </a:rPr>
              <a:t>规划</a:t>
            </a:r>
            <a:endParaRPr lang="zh-CN"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97" name="矩形 96"/>
          <p:cNvSpPr>
            <a:spLocks noGrp="1"/>
          </p:cNvSpPr>
          <p:nvPr/>
        </p:nvSpPr>
        <p:spPr>
          <a:xfrm>
            <a:off x="552450" y="2133600"/>
            <a:ext cx="1524000" cy="266700"/>
          </a:xfrm>
          <a:prstGeom prst="rect">
            <a:avLst/>
          </a:prstGeom>
          <a:noFill/>
          <a:ln w="0">
            <a:noFill/>
            <a:prstDash val="solid"/>
          </a:ln>
        </p:spPr>
        <p:txBody>
          <a:bodyPr anchor="ctr"/>
          <a:lstStyle/>
          <a:p>
            <a:pPr algn="l">
              <a:defRPr sz="1200" b="1">
                <a:solidFill>
                  <a:srgbClr val="3157FF"/>
                </a:solidFill>
                <a:latin typeface="微软雅黑" panose="020B0503020204020204" charset="-122"/>
                <a:ea typeface="微软雅黑" panose="020B0503020204020204" charset="-122"/>
                <a:cs typeface="微软雅黑" panose="020B0503020204020204" charset="-122"/>
              </a:defRPr>
            </a:pPr>
            <a:r>
              <a:rPr sz="1200" b="1">
                <a:solidFill>
                  <a:srgbClr val="3157FF"/>
                </a:solidFill>
                <a:latin typeface="微软雅黑" panose="020B0503020204020204" charset="-122"/>
                <a:ea typeface="微软雅黑" panose="020B0503020204020204" charset="-122"/>
                <a:cs typeface="微软雅黑" panose="020B0503020204020204" charset="-122"/>
              </a:rPr>
              <a:t>H2升级路径</a:t>
            </a:r>
            <a:endParaRPr sz="1200" b="1">
              <a:solidFill>
                <a:srgbClr val="3157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Rounded Corners 26"/>
          <p:cNvSpPr>
            <a:spLocks noGrp="1"/>
          </p:cNvSpPr>
          <p:nvPr/>
        </p:nvSpPr>
        <p:spPr>
          <a:xfrm>
            <a:off x="547370" y="391160"/>
            <a:ext cx="11097260" cy="522605"/>
          </a:xfrm>
          <a:prstGeom prst="roundRect">
            <a:avLst>
              <a:gd name="adj" fmla="val 50000"/>
            </a:avLst>
          </a:prstGeom>
          <a:solidFill>
            <a:srgbClr val="2B4FFF"/>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lang="zh-CN" altLang="en-US" sz="2400" b="1" i="0" u="none" cap="none">
                <a:ln>
                  <a:noFill/>
                </a:ln>
                <a:solidFill>
                  <a:prstClr val="white"/>
                </a:solidFill>
                <a:latin typeface="微软雅黑" panose="020B0503020204020204" charset="-122"/>
                <a:ea typeface="微软雅黑" panose="020B0503020204020204" charset="-122"/>
                <a:cs typeface="微软雅黑" panose="020B0503020204020204" charset="-122"/>
              </a:rPr>
              <a:t>内容形式</a:t>
            </a:r>
            <a:endParaRPr lang="zh-CN" altLang="en-US" sz="2400" b="1" i="0" u="none" cap="none">
              <a:ln>
                <a:noFill/>
              </a:ln>
              <a:solidFill>
                <a:prstClr val="white"/>
              </a:solidFill>
              <a:latin typeface="微软雅黑" panose="020B0503020204020204" charset="-122"/>
              <a:ea typeface="微软雅黑" panose="020B0503020204020204" charset="-122"/>
              <a:cs typeface="微软雅黑" panose="020B0503020204020204" charset="-122"/>
            </a:endParaRPr>
          </a:p>
        </p:txBody>
      </p:sp>
      <p:pic>
        <p:nvPicPr>
          <p:cNvPr id="35" name="图片 34" descr="截屏2026-08-02 14.02.42"/>
          <p:cNvPicPr>
            <a:picLocks noChangeAspect="1"/>
          </p:cNvPicPr>
          <p:nvPr/>
        </p:nvPicPr>
        <p:blipFill>
          <a:blip r:embed="rId1"/>
          <a:stretch>
            <a:fillRect/>
          </a:stretch>
        </p:blipFill>
        <p:spPr>
          <a:xfrm>
            <a:off x="9839325" y="2946400"/>
            <a:ext cx="2047240" cy="1143635"/>
          </a:xfrm>
          <a:prstGeom prst="rect">
            <a:avLst/>
          </a:prstGeom>
        </p:spPr>
      </p:pic>
      <p:pic>
        <p:nvPicPr>
          <p:cNvPr id="13" name="6821_1785655430">
            <a:hlinkClick r:id="" action="ppaction://media"/>
          </p:cNvPr>
          <p:cNvPicPr/>
          <p:nvPr>
            <a:videoFile r:link="rId2"/>
            <p:extLst>
              <p:ext uri="{DAA4B4D4-6D71-4841-9C94-3DE7FCFB9230}">
                <p14:media xmlns:p14="http://schemas.microsoft.com/office/powerpoint/2010/main" r:embed="rId3"/>
              </p:ext>
            </p:extLst>
          </p:nvPr>
        </p:nvPicPr>
        <p:blipFill>
          <a:blip r:embed="rId4"/>
          <a:stretch>
            <a:fillRect/>
          </a:stretch>
        </p:blipFill>
        <p:spPr>
          <a:xfrm>
            <a:off x="6423025" y="2943860"/>
            <a:ext cx="1667510" cy="2908935"/>
          </a:xfrm>
          <a:prstGeom prst="rect">
            <a:avLst/>
          </a:prstGeom>
        </p:spPr>
      </p:pic>
      <p:sp>
        <p:nvSpPr>
          <p:cNvPr id="14" name="AutoShape 5"/>
          <p:cNvSpPr/>
          <p:nvPr/>
        </p:nvSpPr>
        <p:spPr>
          <a:xfrm>
            <a:off x="304800" y="974090"/>
            <a:ext cx="5727700" cy="1055370"/>
          </a:xfrm>
          <a:prstGeom prst="roundRect">
            <a:avLst>
              <a:gd name="adj" fmla="val 0"/>
            </a:avLst>
          </a:prstGeom>
          <a:solidFill>
            <a:schemeClr val="accent1">
              <a:lumMod val="20000"/>
              <a:lumOff val="80000"/>
            </a:schemeClr>
          </a:solidFill>
          <a:ln w="12700" cap="flat" cmpd="sng">
            <a:solidFill>
              <a:srgbClr val="1230A5">
                <a:alpha val="20000"/>
              </a:srgbClr>
            </a:solidFill>
            <a:prstDash val="solid"/>
            <a:round/>
          </a:ln>
        </p:spPr>
        <p:txBody>
          <a:bodyPr vert="horz" wrap="square" lIns="63500" tIns="63500" rIns="63500" bIns="63500" rtlCol="0" anchor="ctr"/>
          <a:lstStyle/>
          <a:p>
            <a:pPr algn="ctr">
              <a:defRPr/>
            </a:pPr>
            <a:endParaRPr>
              <a:solidFill>
                <a:schemeClr val="tx1"/>
              </a:solidFill>
              <a:latin typeface="vivo Sans Regular" panose="02000300000000000000" charset="-122"/>
              <a:ea typeface="vivo Sans Regular" panose="02000300000000000000" charset="-122"/>
            </a:endParaRPr>
          </a:p>
        </p:txBody>
      </p:sp>
      <p:sp>
        <p:nvSpPr>
          <p:cNvPr id="15" name="AutoShape 7"/>
          <p:cNvSpPr/>
          <p:nvPr/>
        </p:nvSpPr>
        <p:spPr>
          <a:xfrm>
            <a:off x="438785" y="1078865"/>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01 </a:t>
            </a:r>
            <a:r>
              <a:rPr lang="zh-CN" alt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演唱会</a:t>
            </a:r>
            <a:r>
              <a:rPr lang="zh-CN" alt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现场</a:t>
            </a:r>
            <a:endParaRPr lang="zh-CN" alt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endParaRPr>
          </a:p>
        </p:txBody>
      </p:sp>
      <p:sp>
        <p:nvSpPr>
          <p:cNvPr id="16" name="AutoShape 8"/>
          <p:cNvSpPr/>
          <p:nvPr/>
        </p:nvSpPr>
        <p:spPr>
          <a:xfrm>
            <a:off x="438785" y="1459865"/>
            <a:ext cx="4635500" cy="43815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直拍纯享</a:t>
            </a:r>
            <a:r>
              <a:rPr lang="en-US" altLang="zh-CN"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精品放送</a:t>
            </a:r>
            <a:r>
              <a:rPr lang="en-US" altLang="zh-CN"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创意转场</a:t>
            </a:r>
            <a:r>
              <a:rPr lang="en-US" altLang="zh-CN"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视觉</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对比</a:t>
            </a:r>
            <a:endPar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endParaRPr>
          </a:p>
        </p:txBody>
      </p:sp>
      <p:sp>
        <p:nvSpPr>
          <p:cNvPr id="17" name="AutoShape 9"/>
          <p:cNvSpPr/>
          <p:nvPr/>
        </p:nvSpPr>
        <p:spPr>
          <a:xfrm>
            <a:off x="6159500" y="974090"/>
            <a:ext cx="5727700" cy="1055370"/>
          </a:xfrm>
          <a:prstGeom prst="roundRect">
            <a:avLst>
              <a:gd name="adj" fmla="val 0"/>
            </a:avLst>
          </a:prstGeom>
          <a:solidFill>
            <a:schemeClr val="accent1">
              <a:lumMod val="20000"/>
              <a:lumOff val="80000"/>
            </a:schemeClr>
          </a:solidFill>
          <a:ln w="12700" cap="flat" cmpd="sng">
            <a:solidFill>
              <a:srgbClr val="1230A5">
                <a:alpha val="20000"/>
              </a:srgbClr>
            </a:solidFill>
            <a:prstDash val="solid"/>
            <a:round/>
          </a:ln>
        </p:spPr>
        <p:txBody>
          <a:bodyPr vert="horz" wrap="square" lIns="63500" tIns="63500" rIns="63500" bIns="63500" rtlCol="0" anchor="ctr"/>
          <a:lstStyle/>
          <a:p>
            <a:pPr algn="ctr">
              <a:defRPr/>
            </a:pPr>
            <a:endParaRPr>
              <a:solidFill>
                <a:schemeClr val="tx1"/>
              </a:solidFill>
              <a:latin typeface="vivo Sans Regular" panose="02000300000000000000" charset="-122"/>
              <a:ea typeface="vivo Sans Regular" panose="02000300000000000000" charset="-122"/>
            </a:endParaRPr>
          </a:p>
        </p:txBody>
      </p:sp>
      <p:sp>
        <p:nvSpPr>
          <p:cNvPr id="18" name="AutoShape 11"/>
          <p:cNvSpPr/>
          <p:nvPr/>
        </p:nvSpPr>
        <p:spPr>
          <a:xfrm>
            <a:off x="6296025" y="109728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02 </a:t>
            </a:r>
            <a:r>
              <a:rPr lang="zh-CN" alt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日常</a:t>
            </a:r>
            <a:r>
              <a:rPr lang="zh-CN" alt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现场</a:t>
            </a:r>
            <a:endParaRPr lang="zh-CN" alt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endParaRPr>
          </a:p>
        </p:txBody>
      </p:sp>
      <p:sp>
        <p:nvSpPr>
          <p:cNvPr id="19" name="AutoShape 12"/>
          <p:cNvSpPr/>
          <p:nvPr/>
        </p:nvSpPr>
        <p:spPr>
          <a:xfrm>
            <a:off x="6296025" y="147828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第一视角</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沉浸对比</a:t>
            </a:r>
            <a:r>
              <a:rPr lang="en-US" altLang="zh-CN"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单卖点垂直对比</a:t>
            </a:r>
            <a:r>
              <a:rPr lang="en-US" altLang="zh-CN"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高难现场直击</a:t>
            </a:r>
            <a:r>
              <a:rPr lang="en-US" altLang="zh-CN"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创意实测</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对比</a:t>
            </a:r>
            <a:endPar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endParaRPr>
          </a:p>
        </p:txBody>
      </p:sp>
      <p:sp>
        <p:nvSpPr>
          <p:cNvPr id="20" name="文本框 19"/>
          <p:cNvSpPr txBox="1"/>
          <p:nvPr/>
        </p:nvSpPr>
        <p:spPr>
          <a:xfrm>
            <a:off x="4634230" y="1240790"/>
            <a:ext cx="1397000" cy="583565"/>
          </a:xfrm>
          <a:prstGeom prst="rect">
            <a:avLst/>
          </a:prstGeom>
          <a:noFill/>
        </p:spPr>
        <p:txBody>
          <a:bodyPr wrap="square" rtlCol="0">
            <a:spAutoFit/>
          </a:bodyPr>
          <a:p>
            <a:pPr algn="ctr"/>
            <a:r>
              <a:rPr lang="en-US" altLang="zh-CN" sz="3200" b="1">
                <a:solidFill>
                  <a:srgbClr val="3157FF"/>
                </a:solidFill>
                <a:latin typeface="vivo Sans" panose="02000300000000000000" charset="-122"/>
                <a:ea typeface="vivo Sans" panose="02000300000000000000" charset="-122"/>
              </a:rPr>
              <a:t>50%</a:t>
            </a:r>
            <a:endParaRPr lang="en-US" altLang="zh-CN" sz="3200" b="1">
              <a:solidFill>
                <a:srgbClr val="3157FF"/>
              </a:solidFill>
              <a:latin typeface="vivo Sans" panose="02000300000000000000" charset="-122"/>
              <a:ea typeface="vivo Sans" panose="02000300000000000000" charset="-122"/>
            </a:endParaRPr>
          </a:p>
        </p:txBody>
      </p:sp>
      <p:sp>
        <p:nvSpPr>
          <p:cNvPr id="21" name="文本框 20"/>
          <p:cNvSpPr txBox="1"/>
          <p:nvPr/>
        </p:nvSpPr>
        <p:spPr>
          <a:xfrm>
            <a:off x="10578465" y="1314450"/>
            <a:ext cx="1397000" cy="583565"/>
          </a:xfrm>
          <a:prstGeom prst="rect">
            <a:avLst/>
          </a:prstGeom>
          <a:noFill/>
        </p:spPr>
        <p:txBody>
          <a:bodyPr wrap="square" rtlCol="0">
            <a:spAutoFit/>
          </a:bodyPr>
          <a:p>
            <a:pPr algn="ctr"/>
            <a:r>
              <a:rPr lang="en-US" altLang="zh-CN" sz="3200" b="1">
                <a:solidFill>
                  <a:srgbClr val="3157FF"/>
                </a:solidFill>
                <a:latin typeface="vivo Sans" panose="02000300000000000000" charset="-122"/>
                <a:ea typeface="vivo Sans" panose="02000300000000000000" charset="-122"/>
              </a:rPr>
              <a:t>50%</a:t>
            </a:r>
            <a:endParaRPr lang="en-US" altLang="zh-CN" sz="3200" b="1">
              <a:solidFill>
                <a:srgbClr val="3157FF"/>
              </a:solidFill>
              <a:latin typeface="vivo Sans" panose="02000300000000000000" charset="-122"/>
              <a:ea typeface="vivo Sans" panose="02000300000000000000" charset="-122"/>
            </a:endParaRPr>
          </a:p>
        </p:txBody>
      </p:sp>
      <p:pic>
        <p:nvPicPr>
          <p:cNvPr id="22" name="6842_1785660772_raw">
            <a:hlinkClick r:id="" action="ppaction://media"/>
          </p:cNvPr>
          <p:cNvPicPr/>
          <p:nvPr>
            <a:videoFile r:link="rId5"/>
            <p:extLst>
              <p:ext uri="{DAA4B4D4-6D71-4841-9C94-3DE7FCFB9230}">
                <p14:media xmlns:p14="http://schemas.microsoft.com/office/powerpoint/2010/main" r:embed="rId6"/>
              </p:ext>
            </p:extLst>
          </p:nvPr>
        </p:nvPicPr>
        <p:blipFill>
          <a:blip r:embed="rId7"/>
          <a:stretch>
            <a:fillRect/>
          </a:stretch>
        </p:blipFill>
        <p:spPr>
          <a:xfrm>
            <a:off x="304800" y="2150745"/>
            <a:ext cx="1591310" cy="2840990"/>
          </a:xfrm>
          <a:prstGeom prst="rect">
            <a:avLst/>
          </a:prstGeom>
        </p:spPr>
      </p:pic>
      <p:pic>
        <p:nvPicPr>
          <p:cNvPr id="24" name="6844_1785660777">
            <a:hlinkClick r:id="" action="ppaction://media"/>
          </p:cNvPr>
          <p:cNvPicPr/>
          <p:nvPr>
            <a:videoFile r:link="rId8"/>
            <p:extLst>
              <p:ext uri="{DAA4B4D4-6D71-4841-9C94-3DE7FCFB9230}">
                <p14:media xmlns:p14="http://schemas.microsoft.com/office/powerpoint/2010/main" r:embed="rId9"/>
              </p:ext>
            </p:extLst>
          </p:nvPr>
        </p:nvPicPr>
        <p:blipFill>
          <a:blip r:embed="rId10"/>
          <a:stretch>
            <a:fillRect/>
          </a:stretch>
        </p:blipFill>
        <p:spPr>
          <a:xfrm>
            <a:off x="304800" y="5077460"/>
            <a:ext cx="3267075" cy="1742440"/>
          </a:xfrm>
          <a:prstGeom prst="rect">
            <a:avLst/>
          </a:prstGeom>
        </p:spPr>
      </p:pic>
      <p:pic>
        <p:nvPicPr>
          <p:cNvPr id="25" name="6843_1785660775">
            <a:hlinkClick r:id="" action="ppaction://media"/>
          </p:cNvPr>
          <p:cNvPicPr/>
          <p:nvPr>
            <a:videoFile r:link="rId11"/>
            <p:extLst>
              <p:ext uri="{DAA4B4D4-6D71-4841-9C94-3DE7FCFB9230}">
                <p14:media xmlns:p14="http://schemas.microsoft.com/office/powerpoint/2010/main" r:embed="rId12"/>
              </p:ext>
            </p:extLst>
          </p:nvPr>
        </p:nvPicPr>
        <p:blipFill>
          <a:blip r:embed="rId13"/>
          <a:stretch>
            <a:fillRect/>
          </a:stretch>
        </p:blipFill>
        <p:spPr>
          <a:xfrm>
            <a:off x="1979295" y="2154555"/>
            <a:ext cx="1591945" cy="2842895"/>
          </a:xfrm>
          <a:prstGeom prst="rect">
            <a:avLst/>
          </a:prstGeom>
        </p:spPr>
      </p:pic>
      <p:pic>
        <p:nvPicPr>
          <p:cNvPr id="27" name="6861_1785668815">
            <a:hlinkClick r:id="" action="ppaction://media"/>
          </p:cNvPr>
          <p:cNvPicPr/>
          <p:nvPr>
            <a:videoFile r:link="rId14"/>
            <p:extLst>
              <p:ext uri="{DAA4B4D4-6D71-4841-9C94-3DE7FCFB9230}">
                <p14:media xmlns:p14="http://schemas.microsoft.com/office/powerpoint/2010/main" r:embed="rId15"/>
              </p:ext>
            </p:extLst>
          </p:nvPr>
        </p:nvPicPr>
        <p:blipFill>
          <a:blip r:embed="rId16"/>
          <a:stretch>
            <a:fillRect/>
          </a:stretch>
        </p:blipFill>
        <p:spPr>
          <a:xfrm>
            <a:off x="8237220" y="2946400"/>
            <a:ext cx="1452245" cy="2906395"/>
          </a:xfrm>
          <a:prstGeom prst="rect">
            <a:avLst/>
          </a:prstGeom>
        </p:spPr>
      </p:pic>
      <p:pic>
        <p:nvPicPr>
          <p:cNvPr id="28" name="6862_1785669016">
            <a:hlinkClick r:id="" action="ppaction://media"/>
          </p:cNvPr>
          <p:cNvPicPr/>
          <p:nvPr>
            <a:videoFile r:link="rId17"/>
            <p:extLst>
              <p:ext uri="{DAA4B4D4-6D71-4841-9C94-3DE7FCFB9230}">
                <p14:media xmlns:p14="http://schemas.microsoft.com/office/powerpoint/2010/main" r:embed="rId18"/>
              </p:ext>
            </p:extLst>
          </p:nvPr>
        </p:nvPicPr>
        <p:blipFill>
          <a:blip r:embed="rId19"/>
          <a:stretch>
            <a:fillRect/>
          </a:stretch>
        </p:blipFill>
        <p:spPr>
          <a:xfrm>
            <a:off x="3683000" y="2151380"/>
            <a:ext cx="2352675" cy="4662805"/>
          </a:xfrm>
          <a:prstGeom prst="rect">
            <a:avLst/>
          </a:prstGeom>
        </p:spPr>
      </p:pic>
      <p:pic>
        <p:nvPicPr>
          <p:cNvPr id="29" name="图片 28" descr="截屏2026-08-02 14.01.50"/>
          <p:cNvPicPr>
            <a:picLocks noChangeAspect="1"/>
          </p:cNvPicPr>
          <p:nvPr/>
        </p:nvPicPr>
        <p:blipFill>
          <a:blip r:embed="rId20"/>
          <a:stretch>
            <a:fillRect/>
          </a:stretch>
        </p:blipFill>
        <p:spPr>
          <a:xfrm>
            <a:off x="9841865" y="4180205"/>
            <a:ext cx="2046605" cy="114681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13"/>
                </p:tgtEl>
              </p:cMediaNode>
            </p:video>
            <p:seq concurrent="1" nextAc="seek">
              <p:cTn id="3" restart="whenNotActive" fill="hold" evtFilter="cancelBubble" nodeType="interactiveSeq">
                <p:stCondLst>
                  <p:cond evt="onClick" delay="0">
                    <p:tgtEl>
                      <p:spTgt spid="1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3"/>
                                        </p:tgtEl>
                                      </p:cBhvr>
                                    </p:cmd>
                                  </p:childTnLst>
                                </p:cTn>
                              </p:par>
                            </p:childTnLst>
                          </p:cTn>
                        </p:par>
                      </p:childTnLst>
                    </p:cTn>
                  </p:par>
                </p:childTnLst>
              </p:cTn>
              <p:nextCondLst>
                <p:cond evt="onClick" delay="0">
                  <p:tgtEl>
                    <p:spTgt spid="13"/>
                  </p:tgtEl>
                </p:cond>
              </p:nextCondLst>
            </p:seq>
            <p:video fullScrn="0">
              <p:cMediaNode>
                <p:cTn id="8" fill="hold" display="1">
                  <p:stCondLst>
                    <p:cond delay="indefinite"/>
                  </p:stCondLst>
                </p:cTn>
                <p:tgtEl>
                  <p:spTgt spid="22"/>
                </p:tgtEl>
              </p:cMediaNode>
            </p:video>
            <p:seq concurrent="1" nextAc="seek">
              <p:cTn id="9" restart="whenNotActive" fill="hold" evtFilter="cancelBubble" nodeType="interactiveSeq">
                <p:stCondLst>
                  <p:cond evt="onClick" delay="0">
                    <p:tgtEl>
                      <p:spTgt spid="22"/>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additive="base">
                                        <p:cTn id="13" dur="1" fill="hold"/>
                                        <p:tgtEl>
                                          <p:spTgt spid="22"/>
                                        </p:tgtEl>
                                      </p:cBhvr>
                                    </p:cmd>
                                  </p:childTnLst>
                                </p:cTn>
                              </p:par>
                            </p:childTnLst>
                          </p:cTn>
                        </p:par>
                      </p:childTnLst>
                    </p:cTn>
                  </p:par>
                </p:childTnLst>
              </p:cTn>
              <p:nextCondLst>
                <p:cond evt="onClick" delay="0">
                  <p:tgtEl>
                    <p:spTgt spid="22"/>
                  </p:tgtEl>
                </p:cond>
              </p:nextCondLst>
            </p:seq>
            <p:video fullScrn="0">
              <p:cMediaNode>
                <p:cTn id="14" fill="hold" display="1">
                  <p:stCondLst>
                    <p:cond delay="indefinite"/>
                  </p:stCondLst>
                </p:cTn>
                <p:tgtEl>
                  <p:spTgt spid="24"/>
                </p:tgtEl>
              </p:cMediaNode>
            </p:video>
            <p:seq concurrent="1" nextAc="seek">
              <p:cTn id="15" restart="whenNotActive" fill="hold" evtFilter="cancelBubble" nodeType="interactiveSeq">
                <p:stCondLst>
                  <p:cond evt="onClick" delay="0">
                    <p:tgtEl>
                      <p:spTgt spid="24"/>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additive="base">
                                        <p:cTn id="19" dur="1" fill="hold"/>
                                        <p:tgtEl>
                                          <p:spTgt spid="24"/>
                                        </p:tgtEl>
                                      </p:cBhvr>
                                    </p:cmd>
                                  </p:childTnLst>
                                </p:cTn>
                              </p:par>
                            </p:childTnLst>
                          </p:cTn>
                        </p:par>
                      </p:childTnLst>
                    </p:cTn>
                  </p:par>
                </p:childTnLst>
              </p:cTn>
              <p:nextCondLst>
                <p:cond evt="onClick" delay="0">
                  <p:tgtEl>
                    <p:spTgt spid="24"/>
                  </p:tgtEl>
                </p:cond>
              </p:nextCondLst>
            </p:seq>
            <p:video fullScrn="0">
              <p:cMediaNode>
                <p:cTn id="20" fill="hold" display="1">
                  <p:stCondLst>
                    <p:cond delay="indefinite"/>
                  </p:stCondLst>
                </p:cTn>
                <p:tgtEl>
                  <p:spTgt spid="25"/>
                </p:tgtEl>
              </p:cMediaNode>
            </p:video>
            <p:seq concurrent="1" nextAc="seek">
              <p:cTn id="21" restart="whenNotActive" fill="hold" evtFilter="cancelBubble" nodeType="interactiveSeq">
                <p:stCondLst>
                  <p:cond evt="onClick" delay="0">
                    <p:tgtEl>
                      <p:spTgt spid="25"/>
                    </p:tgtEl>
                  </p:cond>
                </p:stCondLst>
                <p:endSync evt="end" delay="0">
                  <p:rtn val="all"/>
                </p:endSync>
                <p:childTnLst>
                  <p:par>
                    <p:cTn id="22" fill="hold">
                      <p:stCondLst>
                        <p:cond delay="0"/>
                      </p:stCondLst>
                      <p:childTnLst>
                        <p:par>
                          <p:cTn id="23" fill="hold">
                            <p:stCondLst>
                              <p:cond delay="0"/>
                            </p:stCondLst>
                            <p:childTnLst>
                              <p:par>
                                <p:cTn id="24" presetID="2" presetClass="mediacall" presetSubtype="0" fill="hold" nodeType="clickEffect">
                                  <p:stCondLst>
                                    <p:cond delay="0"/>
                                  </p:stCondLst>
                                  <p:childTnLst>
                                    <p:cmd type="call" cmd="togglePause">
                                      <p:cBhvr additive="base">
                                        <p:cTn id="25" dur="1" fill="hold"/>
                                        <p:tgtEl>
                                          <p:spTgt spid="25"/>
                                        </p:tgtEl>
                                      </p:cBhvr>
                                    </p:cmd>
                                  </p:childTnLst>
                                </p:cTn>
                              </p:par>
                            </p:childTnLst>
                          </p:cTn>
                        </p:par>
                      </p:childTnLst>
                    </p:cTn>
                  </p:par>
                </p:childTnLst>
              </p:cTn>
              <p:nextCondLst>
                <p:cond evt="onClick" delay="0">
                  <p:tgtEl>
                    <p:spTgt spid="25"/>
                  </p:tgtEl>
                </p:cond>
              </p:nextCondLst>
            </p:seq>
            <p:video fullScrn="0">
              <p:cMediaNode>
                <p:cTn id="26" fill="hold" display="1">
                  <p:stCondLst>
                    <p:cond delay="indefinite"/>
                  </p:stCondLst>
                </p:cTn>
                <p:tgtEl>
                  <p:spTgt spid="27"/>
                </p:tgtEl>
              </p:cMediaNode>
            </p:video>
            <p:seq concurrent="1" nextAc="seek">
              <p:cTn id="27" restart="whenNotActive" fill="hold" evtFilter="cancelBubble" nodeType="interactiveSeq">
                <p:stCondLst>
                  <p:cond evt="onClick" delay="0">
                    <p:tgtEl>
                      <p:spTgt spid="27"/>
                    </p:tgtEl>
                  </p:cond>
                </p:stCondLst>
                <p:endSync evt="end" delay="0">
                  <p:rtn val="all"/>
                </p:endSync>
                <p:childTnLst>
                  <p:par>
                    <p:cTn id="28" fill="hold">
                      <p:stCondLst>
                        <p:cond delay="0"/>
                      </p:stCondLst>
                      <p:childTnLst>
                        <p:par>
                          <p:cTn id="29" fill="hold">
                            <p:stCondLst>
                              <p:cond delay="0"/>
                            </p:stCondLst>
                            <p:childTnLst>
                              <p:par>
                                <p:cTn id="30" presetID="2" presetClass="mediacall" presetSubtype="0" fill="hold" nodeType="clickEffect">
                                  <p:stCondLst>
                                    <p:cond delay="0"/>
                                  </p:stCondLst>
                                  <p:childTnLst>
                                    <p:cmd type="call" cmd="togglePause">
                                      <p:cBhvr additive="base">
                                        <p:cTn id="31" dur="1" fill="hold"/>
                                        <p:tgtEl>
                                          <p:spTgt spid="27"/>
                                        </p:tgtEl>
                                      </p:cBhvr>
                                    </p:cmd>
                                  </p:childTnLst>
                                </p:cTn>
                              </p:par>
                            </p:childTnLst>
                          </p:cTn>
                        </p:par>
                      </p:childTnLst>
                    </p:cTn>
                  </p:par>
                </p:childTnLst>
              </p:cTn>
              <p:nextCondLst>
                <p:cond evt="onClick" delay="0">
                  <p:tgtEl>
                    <p:spTgt spid="27"/>
                  </p:tgtEl>
                </p:cond>
              </p:nextCondLst>
            </p:seq>
            <p:video fullScrn="0">
              <p:cMediaNode>
                <p:cTn id="32" fill="hold" display="1">
                  <p:stCondLst>
                    <p:cond delay="indefinite"/>
                  </p:stCondLst>
                </p:cTn>
                <p:tgtEl>
                  <p:spTgt spid="28"/>
                </p:tgtEl>
              </p:cMediaNode>
            </p:video>
            <p:seq concurrent="1" nextAc="seek">
              <p:cTn id="33" restart="whenNotActive" fill="hold" evtFilter="cancelBubble" nodeType="interactiveSeq">
                <p:stCondLst>
                  <p:cond evt="onClick" delay="0">
                    <p:tgtEl>
                      <p:spTgt spid="28"/>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additive="base">
                                        <p:cTn id="37"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2" name="圆角矩形 61"/>
          <p:cNvSpPr>
            <a:spLocks noGrp="1"/>
          </p:cNvSpPr>
          <p:nvPr/>
        </p:nvSpPr>
        <p:spPr>
          <a:xfrm>
            <a:off x="2750820" y="2703195"/>
            <a:ext cx="2289175" cy="3697605"/>
          </a:xfrm>
          <a:prstGeom prst="roundRect">
            <a:avLst>
              <a:gd name="adj" fmla="val 7407"/>
            </a:avLst>
          </a:prstGeom>
          <a:solidFill>
            <a:srgbClr val="FFFFFF"/>
          </a:solidFill>
          <a:ln w="9525">
            <a:solidFill>
              <a:srgbClr val="DCE3F2"/>
            </a:solidFill>
            <a:prstDash val="solid"/>
          </a:ln>
        </p:spPr>
      </p:sp>
      <p:sp>
        <p:nvSpPr>
          <p:cNvPr id="61" name="圆角矩形 60"/>
          <p:cNvSpPr>
            <a:spLocks noGrp="1"/>
          </p:cNvSpPr>
          <p:nvPr/>
        </p:nvSpPr>
        <p:spPr>
          <a:xfrm>
            <a:off x="304800" y="2703195"/>
            <a:ext cx="2289175" cy="3697605"/>
          </a:xfrm>
          <a:prstGeom prst="roundRect">
            <a:avLst>
              <a:gd name="adj" fmla="val 7407"/>
            </a:avLst>
          </a:prstGeom>
          <a:solidFill>
            <a:srgbClr val="FFFFFF"/>
          </a:solidFill>
          <a:ln w="9525">
            <a:solidFill>
              <a:srgbClr val="DCE3F2"/>
            </a:solidFill>
            <a:prstDash val="solid"/>
          </a:ln>
        </p:spPr>
      </p:sp>
      <p:sp>
        <p:nvSpPr>
          <p:cNvPr id="52"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a:ln>
                  <a:noFill/>
                </a:ln>
                <a:solidFill>
                  <a:prstClr val="white"/>
                </a:solidFill>
                <a:sym typeface="+mn-ea"/>
              </a:rPr>
              <a:t>H1完成启动，</a:t>
            </a:r>
            <a:r>
              <a:rPr lang="zh-CN">
                <a:ln>
                  <a:noFill/>
                </a:ln>
                <a:solidFill>
                  <a:prstClr val="white"/>
                </a:solidFill>
                <a:sym typeface="+mn-ea"/>
              </a:rPr>
              <a:t>沉淀粉丝和信任基础</a:t>
            </a:r>
            <a:r>
              <a:rPr lang="en-US" altLang="zh-CN">
                <a:ln>
                  <a:noFill/>
                </a:ln>
                <a:solidFill>
                  <a:prstClr val="white"/>
                </a:solidFill>
                <a:sym typeface="+mn-ea"/>
              </a:rPr>
              <a:t>，</a:t>
            </a:r>
            <a:r>
              <a:rPr lang="zh-CN" altLang="en-US">
                <a:ln>
                  <a:noFill/>
                </a:ln>
                <a:solidFill>
                  <a:prstClr val="white"/>
                </a:solidFill>
                <a:sym typeface="+mn-ea"/>
              </a:rPr>
              <a:t>并</a:t>
            </a:r>
            <a:r>
              <a:rPr lang="zh-CN">
                <a:ln>
                  <a:noFill/>
                </a:ln>
                <a:solidFill>
                  <a:prstClr val="white"/>
                </a:solidFill>
                <a:sym typeface="+mn-ea"/>
              </a:rPr>
              <a:t>形成标准化实测流程</a:t>
            </a:r>
            <a:r>
              <a:rPr lang="en-US" altLang="zh-CN">
                <a:ln>
                  <a:noFill/>
                </a:ln>
                <a:solidFill>
                  <a:prstClr val="white"/>
                </a:solidFill>
                <a:sym typeface="+mn-ea"/>
              </a:rPr>
              <a:t>——</a:t>
            </a:r>
            <a:r>
              <a:rPr lang="zh-CN" altLang="en-US">
                <a:ln>
                  <a:noFill/>
                </a:ln>
                <a:solidFill>
                  <a:prstClr val="white"/>
                </a:solidFill>
                <a:sym typeface="+mn-ea"/>
              </a:rPr>
              <a:t>回声</a:t>
            </a:r>
            <a:r>
              <a:rPr lang="zh-CN" altLang="en-US">
                <a:ln>
                  <a:noFill/>
                </a:ln>
                <a:solidFill>
                  <a:prstClr val="white"/>
                </a:solidFill>
                <a:sym typeface="+mn-ea"/>
              </a:rPr>
              <a:t>屏幕所</a:t>
            </a:r>
            <a:endParaRPr lang="zh-CN" altLang="en-US">
              <a:ln>
                <a:noFill/>
              </a:ln>
              <a:solidFill>
                <a:prstClr val="white"/>
              </a:solidFill>
              <a:sym typeface="+mn-ea"/>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微软雅黑" panose="020B0503020204020204" charset="-122"/>
                <a:ea typeface="微软雅黑" panose="020B0503020204020204" charset="-122"/>
                <a:cs typeface="微软雅黑" panose="020B0503020204020204" charset="-122"/>
              </a:rPr>
              <a:t>14</a:t>
            </a:r>
            <a:endParaRPr sz="675" b="0">
              <a:solidFill>
                <a:srgbClr val="8A96AA"/>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0050" y="81915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微软雅黑" panose="020B0503020204020204" charset="-122"/>
                <a:ea typeface="微软雅黑" panose="020B0503020204020204" charset="-122"/>
                <a:cs typeface="微软雅黑" panose="020B0503020204020204" charset="-122"/>
              </a:rPr>
              <a:t>账号定位</a:t>
            </a:r>
            <a:endParaRPr sz="9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0050" y="1076325"/>
            <a:ext cx="1524000" cy="19050"/>
          </a:xfrm>
          <a:prstGeom prst="rect">
            <a:avLst/>
          </a:prstGeom>
          <a:solidFill>
            <a:srgbClr val="3157FF"/>
          </a:solidFill>
          <a:ln w="0">
            <a:noFill/>
            <a:prstDash val="solid"/>
          </a:ln>
        </p:spPr>
      </p:sp>
      <p:sp>
        <p:nvSpPr>
          <p:cNvPr id="8" name="矩形 7"/>
          <p:cNvSpPr>
            <a:spLocks noGrp="1"/>
          </p:cNvSpPr>
          <p:nvPr/>
        </p:nvSpPr>
        <p:spPr>
          <a:xfrm>
            <a:off x="400050" y="1104900"/>
            <a:ext cx="4762500" cy="361950"/>
          </a:xfrm>
          <a:prstGeom prst="rect">
            <a:avLst/>
          </a:prstGeom>
          <a:noFill/>
          <a:ln w="0">
            <a:noFill/>
            <a:prstDash val="solid"/>
          </a:ln>
        </p:spPr>
        <p:txBody>
          <a:bodyPr anchor="ctr"/>
          <a:lstStyle/>
          <a:p>
            <a:pPr algn="l">
              <a:defRPr sz="1875" b="1">
                <a:solidFill>
                  <a:srgbClr val="172033"/>
                </a:solidFill>
                <a:latin typeface="微软雅黑" panose="020B0503020204020204" charset="-122"/>
                <a:ea typeface="微软雅黑" panose="020B0503020204020204" charset="-122"/>
                <a:cs typeface="微软雅黑" panose="020B0503020204020204" charset="-122"/>
              </a:defRPr>
            </a:pPr>
            <a:r>
              <a:rPr lang="zh-CN" sz="1875" b="1">
                <a:solidFill>
                  <a:srgbClr val="172033"/>
                </a:solidFill>
                <a:latin typeface="微软雅黑" panose="020B0503020204020204" charset="-122"/>
                <a:ea typeface="微软雅黑" panose="020B0503020204020204" charset="-122"/>
                <a:cs typeface="微软雅黑" panose="020B0503020204020204" charset="-122"/>
              </a:rPr>
              <a:t>屏幕实测</a:t>
            </a:r>
            <a:r>
              <a:rPr lang="zh-CN" sz="1875" b="1">
                <a:solidFill>
                  <a:srgbClr val="172033"/>
                </a:solidFill>
                <a:latin typeface="微软雅黑" panose="020B0503020204020204" charset="-122"/>
                <a:ea typeface="微软雅黑" panose="020B0503020204020204" charset="-122"/>
                <a:cs typeface="微软雅黑" panose="020B0503020204020204" charset="-122"/>
              </a:rPr>
              <a:t>专家</a:t>
            </a:r>
            <a:endParaRPr lang="zh-CN" sz="18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400050" y="1438275"/>
            <a:ext cx="4762500" cy="266700"/>
          </a:xfrm>
          <a:prstGeom prst="rect">
            <a:avLst/>
          </a:prstGeom>
          <a:noFill/>
          <a:ln w="0">
            <a:noFill/>
            <a:prstDash val="solid"/>
          </a:ln>
        </p:spPr>
        <p:txBody>
          <a:bodyPr anchor="ctr"/>
          <a:lstStyle/>
          <a:p>
            <a:pPr algn="l">
              <a:defRPr sz="975" b="0">
                <a:solidFill>
                  <a:srgbClr val="667085"/>
                </a:solidFill>
                <a:latin typeface="微软雅黑" panose="020B0503020204020204" charset="-122"/>
                <a:ea typeface="微软雅黑" panose="020B0503020204020204" charset="-122"/>
                <a:cs typeface="微软雅黑" panose="020B0503020204020204" charset="-122"/>
              </a:defRPr>
            </a:pPr>
            <a:r>
              <a:rPr sz="975" b="0">
                <a:solidFill>
                  <a:srgbClr val="667085"/>
                </a:solidFill>
                <a:latin typeface="微软雅黑" panose="020B0503020204020204" charset="-122"/>
                <a:ea typeface="微软雅黑" panose="020B0503020204020204" charset="-122"/>
                <a:cs typeface="微软雅黑" panose="020B0503020204020204" charset="-122"/>
              </a:rPr>
              <a:t>屏幕实测 × 多机横评 × 技术趋势解析</a:t>
            </a:r>
            <a:endParaRPr sz="97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400050" y="1790700"/>
            <a:ext cx="142875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51435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1.1万+</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49530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粉丝沉淀</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971675" y="1790700"/>
            <a:ext cx="142875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2085975"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33条</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066925"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内容发布</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3543300" y="1790700"/>
            <a:ext cx="1428750" cy="666750"/>
          </a:xfrm>
          <a:prstGeom prst="roundRect">
            <a:avLst>
              <a:gd name="adj" fmla="val 11429"/>
            </a:avLst>
          </a:prstGeom>
          <a:solidFill>
            <a:srgbClr val="F5F7FF"/>
          </a:solidFill>
          <a:ln w="9525">
            <a:solidFill>
              <a:srgbClr val="DCE3F2"/>
            </a:solidFill>
            <a:prstDash val="solid"/>
          </a:ln>
        </p:spPr>
      </p:sp>
      <p:sp>
        <p:nvSpPr>
          <p:cNvPr id="17" name="矩形 16"/>
          <p:cNvSpPr>
            <a:spLocks noGrp="1"/>
          </p:cNvSpPr>
          <p:nvPr/>
        </p:nvSpPr>
        <p:spPr>
          <a:xfrm>
            <a:off x="365760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16%</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363855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爆款率</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49530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完整发布页截图</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4953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曲面屏趋势</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248602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微软雅黑" panose="020B0503020204020204" charset="-122"/>
                <a:ea typeface="微软雅黑" panose="020B0503020204020204" charset="-122"/>
                <a:cs typeface="微软雅黑" panose="020B0503020204020204" charset="-122"/>
              </a:rPr>
              <a:t>+</a:t>
            </a:r>
            <a:endParaRPr sz="25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207645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完整发布页截图</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365760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完整发布页截图</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36576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iPhone vs 安卓</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圆角矩形 37"/>
          <p:cNvSpPr>
            <a:spLocks noGrp="1"/>
          </p:cNvSpPr>
          <p:nvPr/>
        </p:nvSpPr>
        <p:spPr>
          <a:xfrm>
            <a:off x="5334000" y="838200"/>
            <a:ext cx="6457950" cy="4876800"/>
          </a:xfrm>
          <a:prstGeom prst="roundRect">
            <a:avLst>
              <a:gd name="adj" fmla="val 1563"/>
            </a:avLst>
          </a:prstGeom>
          <a:solidFill>
            <a:srgbClr val="FFFFFF"/>
          </a:solidFill>
          <a:ln w="9525">
            <a:solidFill>
              <a:srgbClr val="DCE3F2"/>
            </a:solidFill>
            <a:prstDash val="solid"/>
          </a:ln>
        </p:spPr>
      </p:sp>
      <p:sp>
        <p:nvSpPr>
          <p:cNvPr id="39" name="矩形 38"/>
          <p:cNvSpPr>
            <a:spLocks noGrp="1"/>
          </p:cNvSpPr>
          <p:nvPr/>
        </p:nvSpPr>
        <p:spPr>
          <a:xfrm>
            <a:off x="5562600" y="1000125"/>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微软雅黑" panose="020B0503020204020204" charset="-122"/>
                <a:ea typeface="微软雅黑" panose="020B0503020204020204" charset="-122"/>
                <a:cs typeface="微软雅黑" panose="020B0503020204020204" charset="-122"/>
              </a:rPr>
              <a:t>播放趋势（千次）</a:t>
            </a:r>
            <a:endParaRPr sz="975" b="1">
              <a:solidFill>
                <a:srgbClr val="1230A5"/>
              </a:solidFill>
              <a:latin typeface="微软雅黑" panose="020B0503020204020204" charset="-122"/>
              <a:ea typeface="微软雅黑" panose="020B0503020204020204" charset="-122"/>
              <a:cs typeface="微软雅黑" panose="020B0503020204020204" charset="-122"/>
            </a:endParaRPr>
          </a:p>
        </p:txBody>
      </p:sp>
      <p:graphicFrame>
        <p:nvGraphicFramePr>
          <p:cNvPr id="91" name="Chart"/>
          <p:cNvGraphicFramePr/>
          <p:nvPr/>
        </p:nvGraphicFramePr>
        <p:xfrm>
          <a:off x="5562600" y="1228725"/>
          <a:ext cx="5981700" cy="2038350"/>
        </p:xfrm>
        <a:graphic>
          <a:graphicData uri="http://schemas.openxmlformats.org/drawingml/2006/chart">
            <c:chart xmlns:c="http://schemas.openxmlformats.org/drawingml/2006/chart" xmlns:r="http://schemas.openxmlformats.org/officeDocument/2006/relationships" r:id="rId1"/>
          </a:graphicData>
        </a:graphic>
      </p:graphicFrame>
      <p:sp>
        <p:nvSpPr>
          <p:cNvPr id="41" name="矩形 40"/>
          <p:cNvSpPr>
            <a:spLocks noGrp="1"/>
          </p:cNvSpPr>
          <p:nvPr/>
        </p:nvSpPr>
        <p:spPr>
          <a:xfrm>
            <a:off x="5562600" y="3409950"/>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微软雅黑" panose="020B0503020204020204" charset="-122"/>
                <a:ea typeface="微软雅黑" panose="020B0503020204020204" charset="-122"/>
                <a:cs typeface="微软雅黑" panose="020B0503020204020204" charset="-122"/>
              </a:rPr>
              <a:t>粉丝趋势（千人）</a:t>
            </a:r>
            <a:endParaRPr sz="975" b="1">
              <a:solidFill>
                <a:srgbClr val="1230A5"/>
              </a:solidFill>
              <a:latin typeface="微软雅黑" panose="020B0503020204020204" charset="-122"/>
              <a:ea typeface="微软雅黑" panose="020B0503020204020204" charset="-122"/>
              <a:cs typeface="微软雅黑" panose="020B0503020204020204" charset="-122"/>
            </a:endParaRPr>
          </a:p>
        </p:txBody>
      </p:sp>
      <p:graphicFrame>
        <p:nvGraphicFramePr>
          <p:cNvPr id="93" name="Chart"/>
          <p:cNvGraphicFramePr/>
          <p:nvPr/>
        </p:nvGraphicFramePr>
        <p:xfrm>
          <a:off x="5562600" y="3638550"/>
          <a:ext cx="5981700" cy="1657350"/>
        </p:xfrm>
        <a:graphic>
          <a:graphicData uri="http://schemas.openxmlformats.org/drawingml/2006/chart">
            <c:chart xmlns:c="http://schemas.openxmlformats.org/drawingml/2006/chart" xmlns:r="http://schemas.openxmlformats.org/officeDocument/2006/relationships" r:id="rId2"/>
          </a:graphicData>
        </a:graphic>
      </p:graphicFrame>
      <p:sp>
        <p:nvSpPr>
          <p:cNvPr id="43" name="圆角矩形 42"/>
          <p:cNvSpPr>
            <a:spLocks noGrp="1"/>
          </p:cNvSpPr>
          <p:nvPr/>
        </p:nvSpPr>
        <p:spPr>
          <a:xfrm>
            <a:off x="5334000" y="5829300"/>
            <a:ext cx="2038350" cy="571500"/>
          </a:xfrm>
          <a:prstGeom prst="roundRect">
            <a:avLst>
              <a:gd name="adj" fmla="val 13333"/>
            </a:avLst>
          </a:prstGeom>
          <a:solidFill>
            <a:srgbClr val="F5F7FF"/>
          </a:solidFill>
          <a:ln w="9525">
            <a:solidFill>
              <a:srgbClr val="DCE3F2"/>
            </a:solidFill>
            <a:prstDash val="solid"/>
          </a:ln>
        </p:spPr>
      </p:sp>
      <p:sp>
        <p:nvSpPr>
          <p:cNvPr id="44" name="矩形 43"/>
          <p:cNvSpPr>
            <a:spLocks noGrp="1"/>
          </p:cNvSpPr>
          <p:nvPr/>
        </p:nvSpPr>
        <p:spPr>
          <a:xfrm>
            <a:off x="54483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1000">
                <a:solidFill>
                  <a:srgbClr val="3157FF"/>
                </a:solidFill>
                <a:latin typeface="vivo Sans" panose="02000300000000000000" charset="-122"/>
                <a:ea typeface="vivo Sans" panose="02000300000000000000" charset="-122"/>
                <a:cs typeface="vivo Sans" panose="02000300000000000000" charset="-122"/>
              </a:rPr>
              <a:t>2月｜冷启动</a:t>
            </a:r>
            <a:endParaRPr sz="1000">
              <a:solidFill>
                <a:srgbClr val="3157FF"/>
              </a:solidFill>
              <a:latin typeface="vivo Sans" panose="02000300000000000000" charset="-122"/>
              <a:ea typeface="vivo Sans" panose="02000300000000000000" charset="-122"/>
              <a:cs typeface="vivo Sans" panose="02000300000000000000" charset="-122"/>
            </a:endParaRPr>
          </a:p>
        </p:txBody>
      </p:sp>
      <p:sp>
        <p:nvSpPr>
          <p:cNvPr id="45" name="矩形 44"/>
          <p:cNvSpPr>
            <a:spLocks noGrp="1"/>
          </p:cNvSpPr>
          <p:nvPr/>
        </p:nvSpPr>
        <p:spPr>
          <a:xfrm>
            <a:off x="54483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1000">
                <a:solidFill>
                  <a:srgbClr val="172033"/>
                </a:solidFill>
                <a:latin typeface="vivo Sans" panose="02000300000000000000" charset="-122"/>
                <a:ea typeface="vivo Sans" panose="02000300000000000000" charset="-122"/>
                <a:cs typeface="微软雅黑" panose="020B0503020204020204" charset="-122"/>
              </a:rPr>
              <a:t>实测对比切入屏幕痛点</a:t>
            </a:r>
            <a:endParaRPr sz="1000">
              <a:solidFill>
                <a:srgbClr val="172033"/>
              </a:solidFill>
              <a:latin typeface="vivo Sans" panose="02000300000000000000" charset="-122"/>
              <a:ea typeface="vivo Sans" panose="02000300000000000000" charset="-122"/>
              <a:cs typeface="微软雅黑" panose="020B0503020204020204" charset="-122"/>
            </a:endParaRPr>
          </a:p>
        </p:txBody>
      </p:sp>
      <p:sp>
        <p:nvSpPr>
          <p:cNvPr id="46" name="圆角矩形 45"/>
          <p:cNvSpPr>
            <a:spLocks noGrp="1"/>
          </p:cNvSpPr>
          <p:nvPr/>
        </p:nvSpPr>
        <p:spPr>
          <a:xfrm>
            <a:off x="7486650" y="5829300"/>
            <a:ext cx="2038350" cy="571500"/>
          </a:xfrm>
          <a:prstGeom prst="roundRect">
            <a:avLst>
              <a:gd name="adj" fmla="val 13333"/>
            </a:avLst>
          </a:prstGeom>
          <a:solidFill>
            <a:srgbClr val="F5F7FF"/>
          </a:solidFill>
          <a:ln w="9525">
            <a:solidFill>
              <a:srgbClr val="DCE3F2"/>
            </a:solidFill>
            <a:prstDash val="solid"/>
          </a:ln>
        </p:spPr>
      </p:sp>
      <p:sp>
        <p:nvSpPr>
          <p:cNvPr id="47" name="矩形 46"/>
          <p:cNvSpPr>
            <a:spLocks noGrp="1"/>
          </p:cNvSpPr>
          <p:nvPr/>
        </p:nvSpPr>
        <p:spPr>
          <a:xfrm>
            <a:off x="760095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1000">
                <a:solidFill>
                  <a:srgbClr val="3157FF"/>
                </a:solidFill>
                <a:latin typeface="vivo Sans" panose="02000300000000000000" charset="-122"/>
                <a:ea typeface="vivo Sans" panose="02000300000000000000" charset="-122"/>
                <a:cs typeface="vivo Sans" panose="02000300000000000000" charset="-122"/>
              </a:rPr>
              <a:t>4月｜爆发</a:t>
            </a:r>
            <a:endParaRPr sz="1000">
              <a:solidFill>
                <a:srgbClr val="3157FF"/>
              </a:solidFill>
              <a:latin typeface="vivo Sans" panose="02000300000000000000" charset="-122"/>
              <a:ea typeface="vivo Sans" panose="02000300000000000000" charset="-122"/>
              <a:cs typeface="vivo Sans" panose="02000300000000000000" charset="-122"/>
            </a:endParaRPr>
          </a:p>
        </p:txBody>
      </p:sp>
      <p:sp>
        <p:nvSpPr>
          <p:cNvPr id="48" name="矩形 47"/>
          <p:cNvSpPr>
            <a:spLocks noGrp="1"/>
          </p:cNvSpPr>
          <p:nvPr/>
        </p:nvSpPr>
        <p:spPr>
          <a:xfrm>
            <a:off x="760095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lang="zh-CN" sz="1000">
                <a:solidFill>
                  <a:srgbClr val="172033"/>
                </a:solidFill>
                <a:latin typeface="vivo Sans" panose="02000300000000000000" charset="-122"/>
                <a:ea typeface="vivo Sans" panose="02000300000000000000" charset="-122"/>
                <a:cs typeface="微软雅黑" panose="020B0503020204020204" charset="-122"/>
              </a:rPr>
              <a:t>曲面屏单挑拉动数据增长</a:t>
            </a:r>
            <a:endParaRPr lang="zh-CN" sz="1000">
              <a:solidFill>
                <a:srgbClr val="172033"/>
              </a:solidFill>
              <a:latin typeface="vivo Sans" panose="02000300000000000000" charset="-122"/>
              <a:ea typeface="vivo Sans" panose="02000300000000000000" charset="-122"/>
              <a:cs typeface="微软雅黑" panose="020B0503020204020204" charset="-122"/>
            </a:endParaRPr>
          </a:p>
        </p:txBody>
      </p:sp>
      <p:sp>
        <p:nvSpPr>
          <p:cNvPr id="49" name="圆角矩形 48"/>
          <p:cNvSpPr>
            <a:spLocks noGrp="1"/>
          </p:cNvSpPr>
          <p:nvPr/>
        </p:nvSpPr>
        <p:spPr>
          <a:xfrm>
            <a:off x="9639300" y="5829300"/>
            <a:ext cx="2152015" cy="571500"/>
          </a:xfrm>
          <a:prstGeom prst="roundRect">
            <a:avLst>
              <a:gd name="adj" fmla="val 13333"/>
            </a:avLst>
          </a:prstGeom>
          <a:solidFill>
            <a:srgbClr val="F5F7FF"/>
          </a:solidFill>
          <a:ln w="9525">
            <a:solidFill>
              <a:srgbClr val="DCE3F2"/>
            </a:solidFill>
            <a:prstDash val="solid"/>
          </a:ln>
        </p:spPr>
      </p:sp>
      <p:sp>
        <p:nvSpPr>
          <p:cNvPr id="50" name="矩形 49"/>
          <p:cNvSpPr>
            <a:spLocks noGrp="1"/>
          </p:cNvSpPr>
          <p:nvPr/>
        </p:nvSpPr>
        <p:spPr>
          <a:xfrm>
            <a:off x="97536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1000">
                <a:solidFill>
                  <a:srgbClr val="3157FF"/>
                </a:solidFill>
                <a:latin typeface="vivo Sans" panose="02000300000000000000" charset="-122"/>
                <a:ea typeface="vivo Sans" panose="02000300000000000000" charset="-122"/>
                <a:cs typeface="vivo Sans" panose="02000300000000000000" charset="-122"/>
              </a:rPr>
              <a:t>5–7月｜波动增长</a:t>
            </a:r>
            <a:endParaRPr sz="1000">
              <a:solidFill>
                <a:srgbClr val="3157FF"/>
              </a:solidFill>
              <a:latin typeface="vivo Sans" panose="02000300000000000000" charset="-122"/>
              <a:ea typeface="vivo Sans" panose="02000300000000000000" charset="-122"/>
              <a:cs typeface="vivo Sans" panose="02000300000000000000" charset="-122"/>
            </a:endParaRPr>
          </a:p>
        </p:txBody>
      </p:sp>
      <p:sp>
        <p:nvSpPr>
          <p:cNvPr id="51" name="矩形 50"/>
          <p:cNvSpPr>
            <a:spLocks noGrp="1"/>
          </p:cNvSpPr>
          <p:nvPr/>
        </p:nvSpPr>
        <p:spPr>
          <a:xfrm>
            <a:off x="9753600" y="6096000"/>
            <a:ext cx="2116455"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lang="zh-CN" sz="1000">
                <a:solidFill>
                  <a:srgbClr val="172033"/>
                </a:solidFill>
                <a:latin typeface="vivo Sans" panose="02000300000000000000" charset="-122"/>
                <a:ea typeface="vivo Sans" panose="02000300000000000000" charset="-122"/>
                <a:cs typeface="vivo Sans" panose="02000300000000000000" charset="-122"/>
              </a:rPr>
              <a:t>新品首测</a:t>
            </a:r>
            <a:r>
              <a:rPr lang="en-US" altLang="zh-CN" sz="1000">
                <a:solidFill>
                  <a:srgbClr val="172033"/>
                </a:solidFill>
                <a:latin typeface="vivo Sans" panose="02000300000000000000" charset="-122"/>
                <a:ea typeface="vivo Sans" panose="02000300000000000000" charset="-122"/>
                <a:cs typeface="vivo Sans" panose="02000300000000000000" charset="-122"/>
              </a:rPr>
              <a:t>+</a:t>
            </a:r>
            <a:r>
              <a:rPr sz="1000">
                <a:solidFill>
                  <a:srgbClr val="172033"/>
                </a:solidFill>
                <a:latin typeface="vivo Sans" panose="02000300000000000000" charset="-122"/>
                <a:ea typeface="vivo Sans" panose="02000300000000000000" charset="-122"/>
                <a:cs typeface="vivo Sans" panose="02000300000000000000" charset="-122"/>
              </a:rPr>
              <a:t>争议话题拉升</a:t>
            </a:r>
            <a:r>
              <a:rPr lang="zh-CN" sz="1000">
                <a:solidFill>
                  <a:srgbClr val="172033"/>
                </a:solidFill>
                <a:latin typeface="vivo Sans" panose="02000300000000000000" charset="-122"/>
                <a:ea typeface="vivo Sans" panose="02000300000000000000" charset="-122"/>
                <a:cs typeface="vivo Sans" panose="02000300000000000000" charset="-122"/>
              </a:rPr>
              <a:t>粉丝增长</a:t>
            </a:r>
            <a:endParaRPr lang="zh-CN" sz="1000">
              <a:solidFill>
                <a:srgbClr val="172033"/>
              </a:solidFill>
              <a:latin typeface="vivo Sans" panose="02000300000000000000" charset="-122"/>
              <a:ea typeface="vivo Sans" panose="02000300000000000000" charset="-122"/>
              <a:cs typeface="vivo Sans" panose="02000300000000000000" charset="-122"/>
            </a:endParaRPr>
          </a:p>
        </p:txBody>
      </p:sp>
      <p:pic>
        <p:nvPicPr>
          <p:cNvPr id="40" name="图片 39" descr="截屏2026-07-29 15.17.09"/>
          <p:cNvPicPr>
            <a:picLocks noChangeAspect="1"/>
          </p:cNvPicPr>
          <p:nvPr/>
        </p:nvPicPr>
        <p:blipFill>
          <a:blip r:embed="rId3"/>
          <a:srcRect l="7633" r="5393"/>
          <a:stretch>
            <a:fillRect/>
          </a:stretch>
        </p:blipFill>
        <p:spPr>
          <a:xfrm>
            <a:off x="400050" y="3791585"/>
            <a:ext cx="2116455" cy="1370965"/>
          </a:xfrm>
          <a:prstGeom prst="roundRect">
            <a:avLst/>
          </a:prstGeom>
        </p:spPr>
      </p:pic>
      <p:pic>
        <p:nvPicPr>
          <p:cNvPr id="42" name="图片 41" descr="截屏2026-07-29 15.22.51"/>
          <p:cNvPicPr>
            <a:picLocks noChangeAspect="1"/>
          </p:cNvPicPr>
          <p:nvPr/>
        </p:nvPicPr>
        <p:blipFill>
          <a:blip r:embed="rId4"/>
          <a:srcRect l="6869" r="9262"/>
          <a:stretch>
            <a:fillRect/>
          </a:stretch>
        </p:blipFill>
        <p:spPr>
          <a:xfrm>
            <a:off x="2863850" y="3792220"/>
            <a:ext cx="2070100" cy="1370330"/>
          </a:xfrm>
          <a:prstGeom prst="roundRect">
            <a:avLst/>
          </a:prstGeom>
        </p:spPr>
      </p:pic>
      <p:sp>
        <p:nvSpPr>
          <p:cNvPr id="53" name="矩形 52"/>
          <p:cNvSpPr>
            <a:spLocks noGrp="1"/>
          </p:cNvSpPr>
          <p:nvPr/>
        </p:nvSpPr>
        <p:spPr>
          <a:xfrm>
            <a:off x="691515" y="2954655"/>
            <a:ext cx="1493520" cy="295275"/>
          </a:xfrm>
          <a:prstGeom prst="rect">
            <a:avLst/>
          </a:prstGeom>
          <a:noFill/>
          <a:ln w="0">
            <a:noFill/>
            <a:prstDash val="solid"/>
          </a:ln>
        </p:spPr>
        <p:txBody>
          <a:bodyPr wrap="square" lIns="0" tIns="0" rIns="0" bIns="0" anchor="t">
            <a:noAutofit/>
          </a:bodyPr>
          <a:lstStyle/>
          <a:p>
            <a:pPr algn="ctr">
              <a:defRPr sz="1350" b="1">
                <a:solidFill>
                  <a:srgbClr val="101828"/>
                </a:solidFill>
                <a:latin typeface="vivo Sans" panose="02000300000000000000" charset="-122"/>
                <a:ea typeface="vivo Sans" panose="02000300000000000000" charset="-122"/>
                <a:cs typeface="vivo Sans" panose="02000300000000000000" charset="-122"/>
              </a:defRPr>
            </a:pPr>
            <a:r>
              <a:rPr lang="zh-CN" sz="1600" b="1">
                <a:solidFill>
                  <a:schemeClr val="tx1"/>
                </a:solidFill>
                <a:latin typeface="vivo Sans" panose="02000300000000000000" charset="-122"/>
                <a:ea typeface="vivo Sans" panose="02000300000000000000" charset="-122"/>
                <a:cs typeface="vivo Sans" panose="02000300000000000000" charset="-122"/>
              </a:rPr>
              <a:t>多机</a:t>
            </a:r>
            <a:r>
              <a:rPr lang="zh-CN" sz="1600" b="1">
                <a:solidFill>
                  <a:schemeClr val="tx1"/>
                </a:solidFill>
                <a:latin typeface="vivo Sans" panose="02000300000000000000" charset="-122"/>
                <a:ea typeface="vivo Sans" panose="02000300000000000000" charset="-122"/>
                <a:cs typeface="vivo Sans" panose="02000300000000000000" charset="-122"/>
              </a:rPr>
              <a:t>横屏</a:t>
            </a:r>
            <a:endParaRPr lang="zh-CN" sz="1600" b="1">
              <a:solidFill>
                <a:schemeClr val="tx1"/>
              </a:solidFill>
              <a:latin typeface="vivo Sans" panose="02000300000000000000" charset="-122"/>
              <a:ea typeface="vivo Sans" panose="02000300000000000000" charset="-122"/>
              <a:cs typeface="vivo Sans" panose="02000300000000000000" charset="-122"/>
            </a:endParaRPr>
          </a:p>
        </p:txBody>
      </p:sp>
      <p:sp>
        <p:nvSpPr>
          <p:cNvPr id="54" name="矩形 53"/>
          <p:cNvSpPr>
            <a:spLocks noGrp="1"/>
          </p:cNvSpPr>
          <p:nvPr/>
        </p:nvSpPr>
        <p:spPr>
          <a:xfrm>
            <a:off x="400050" y="3352800"/>
            <a:ext cx="2076450" cy="295275"/>
          </a:xfrm>
          <a:prstGeom prst="rect">
            <a:avLst/>
          </a:prstGeom>
          <a:noFill/>
          <a:ln w="0">
            <a:noFill/>
            <a:prstDash val="solid"/>
          </a:ln>
        </p:spPr>
        <p:txBody>
          <a:bodyPr wrap="square" lIns="0" tIns="0" rIns="0" bIns="0" anchor="t">
            <a:normAutofit/>
          </a:bodyPr>
          <a:lstStyle/>
          <a:p>
            <a:pPr algn="ctr">
              <a:defRPr sz="1275" b="0">
                <a:solidFill>
                  <a:srgbClr val="475467"/>
                </a:solidFill>
                <a:latin typeface="vivo Sans" panose="02000300000000000000" charset="-122"/>
                <a:ea typeface="vivo Sans" panose="02000300000000000000" charset="-122"/>
                <a:cs typeface="vivo Sans" panose="02000300000000000000" charset="-122"/>
              </a:defRPr>
            </a:pPr>
            <a:r>
              <a:rPr lang="zh-CN" sz="1000" b="0">
                <a:solidFill>
                  <a:srgbClr val="475467"/>
                </a:solidFill>
                <a:latin typeface="vivo Sans" panose="02000300000000000000" charset="-122"/>
                <a:ea typeface="vivo Sans" panose="02000300000000000000" charset="-122"/>
                <a:cs typeface="vivo Sans" panose="02000300000000000000" charset="-122"/>
              </a:rPr>
              <a:t>双</a:t>
            </a:r>
            <a:r>
              <a:rPr lang="zh-CN" sz="1000" b="0">
                <a:solidFill>
                  <a:srgbClr val="475467"/>
                </a:solidFill>
                <a:latin typeface="vivo Sans" panose="02000300000000000000" charset="-122"/>
                <a:ea typeface="vivo Sans" panose="02000300000000000000" charset="-122"/>
                <a:cs typeface="vivo Sans" panose="02000300000000000000" charset="-122"/>
              </a:rPr>
              <a:t>机对决</a:t>
            </a:r>
            <a:r>
              <a:rPr lang="en-US" altLang="zh-CN" sz="1000" b="0">
                <a:solidFill>
                  <a:srgbClr val="475467"/>
                </a:solidFill>
                <a:latin typeface="vivo Sans" panose="02000300000000000000" charset="-122"/>
                <a:ea typeface="vivo Sans" panose="02000300000000000000" charset="-122"/>
                <a:cs typeface="vivo Sans" panose="02000300000000000000" charset="-122"/>
              </a:rPr>
              <a:t>/</a:t>
            </a:r>
            <a:r>
              <a:rPr lang="zh-CN" altLang="en-US" sz="1000" b="0">
                <a:solidFill>
                  <a:srgbClr val="475467"/>
                </a:solidFill>
                <a:latin typeface="vivo Sans" panose="02000300000000000000" charset="-122"/>
                <a:ea typeface="vivo Sans" panose="02000300000000000000" charset="-122"/>
                <a:cs typeface="vivo Sans" panose="02000300000000000000" charset="-122"/>
              </a:rPr>
              <a:t>多机对比</a:t>
            </a:r>
            <a:r>
              <a:rPr lang="en-US" altLang="zh-CN" sz="1000" b="0">
                <a:solidFill>
                  <a:srgbClr val="475467"/>
                </a:solidFill>
                <a:latin typeface="vivo Sans" panose="02000300000000000000" charset="-122"/>
                <a:ea typeface="vivo Sans" panose="02000300000000000000" charset="-122"/>
                <a:cs typeface="vivo Sans" panose="02000300000000000000" charset="-122"/>
              </a:rPr>
              <a:t>/</a:t>
            </a:r>
            <a:r>
              <a:rPr lang="zh-CN" altLang="en-US" sz="1000" b="0">
                <a:solidFill>
                  <a:srgbClr val="475467"/>
                </a:solidFill>
                <a:latin typeface="vivo Sans" panose="02000300000000000000" charset="-122"/>
                <a:ea typeface="vivo Sans" panose="02000300000000000000" charset="-122"/>
                <a:cs typeface="vivo Sans" panose="02000300000000000000" charset="-122"/>
              </a:rPr>
              <a:t>阵营</a:t>
            </a:r>
            <a:r>
              <a:rPr lang="zh-CN" altLang="en-US" sz="1000" b="0">
                <a:solidFill>
                  <a:srgbClr val="475467"/>
                </a:solidFill>
                <a:latin typeface="vivo Sans" panose="02000300000000000000" charset="-122"/>
                <a:ea typeface="vivo Sans" panose="02000300000000000000" charset="-122"/>
                <a:cs typeface="vivo Sans" panose="02000300000000000000" charset="-122"/>
              </a:rPr>
              <a:t>对打</a:t>
            </a:r>
            <a:endParaRPr lang="zh-CN" altLang="en-US" sz="1000" b="0">
              <a:solidFill>
                <a:srgbClr val="475467"/>
              </a:solidFill>
              <a:latin typeface="vivo Sans" panose="02000300000000000000" charset="-122"/>
              <a:ea typeface="vivo Sans" panose="02000300000000000000" charset="-122"/>
              <a:cs typeface="vivo Sans" panose="02000300000000000000" charset="-122"/>
            </a:endParaRPr>
          </a:p>
        </p:txBody>
      </p:sp>
      <p:sp>
        <p:nvSpPr>
          <p:cNvPr id="55" name="矩形 54"/>
          <p:cNvSpPr>
            <a:spLocks noGrp="1"/>
          </p:cNvSpPr>
          <p:nvPr/>
        </p:nvSpPr>
        <p:spPr>
          <a:xfrm>
            <a:off x="578485" y="5405120"/>
            <a:ext cx="1809750" cy="371475"/>
          </a:xfrm>
          <a:prstGeom prst="rect">
            <a:avLst/>
          </a:prstGeom>
          <a:noFill/>
          <a:ln w="0">
            <a:noFill/>
            <a:prstDash val="solid"/>
          </a:ln>
        </p:spPr>
        <p:txBody>
          <a:bodyPr wrap="square" lIns="0" tIns="0" rIns="0" bIns="0" anchor="t">
            <a:noAutofit/>
          </a:bodyPr>
          <a:lstStyle/>
          <a:p>
            <a:pPr algn="ctr">
              <a:defRPr sz="3600" b="1">
                <a:solidFill>
                  <a:srgbClr val="415FFF"/>
                </a:solidFill>
                <a:latin typeface="vivo Sans" panose="02000300000000000000" charset="-122"/>
                <a:ea typeface="vivo Sans" panose="02000300000000000000" charset="-122"/>
                <a:cs typeface="vivo Sans" panose="02000300000000000000" charset="-122"/>
              </a:defRPr>
            </a:pPr>
            <a:r>
              <a:rPr lang="en-US" sz="2400">
                <a:solidFill>
                  <a:srgbClr val="415FFF"/>
                </a:solidFill>
              </a:rPr>
              <a:t>65w</a:t>
            </a:r>
            <a:endParaRPr lang="en-US" sz="2400">
              <a:solidFill>
                <a:srgbClr val="415FFF"/>
              </a:solidFill>
            </a:endParaRPr>
          </a:p>
        </p:txBody>
      </p:sp>
      <p:sp>
        <p:nvSpPr>
          <p:cNvPr id="56" name="矩形 55"/>
          <p:cNvSpPr>
            <a:spLocks noGrp="1"/>
          </p:cNvSpPr>
          <p:nvPr/>
        </p:nvSpPr>
        <p:spPr>
          <a:xfrm>
            <a:off x="1000125" y="5905500"/>
            <a:ext cx="971550" cy="247650"/>
          </a:xfrm>
          <a:prstGeom prst="rect">
            <a:avLst/>
          </a:prstGeom>
          <a:noFill/>
          <a:ln w="0">
            <a:noFill/>
            <a:prstDash val="solid"/>
          </a:ln>
        </p:spPr>
        <p:txBody>
          <a:bodyPr wrap="square" lIns="0" tIns="0" rIns="0" bIns="0" anchor="t">
            <a:normAutofit fontScale="90000"/>
          </a:bodyPr>
          <a:lstStyle/>
          <a:p>
            <a:pPr algn="l">
              <a:defRPr sz="1350" b="1">
                <a:solidFill>
                  <a:srgbClr val="475467"/>
                </a:solidFill>
                <a:latin typeface="vivo Sans" panose="02000300000000000000" charset="-122"/>
                <a:ea typeface="vivo Sans" panose="02000300000000000000" charset="-122"/>
                <a:cs typeface="vivo Sans" panose="02000300000000000000" charset="-122"/>
              </a:defRPr>
            </a:pPr>
            <a:r>
              <a:rPr lang="zh-CN" sz="1350" b="1">
                <a:solidFill>
                  <a:srgbClr val="475467"/>
                </a:solidFill>
                <a:latin typeface="vivo Sans" panose="02000300000000000000" charset="-122"/>
                <a:ea typeface="vivo Sans" panose="02000300000000000000" charset="-122"/>
                <a:cs typeface="vivo Sans" panose="02000300000000000000" charset="-122"/>
              </a:rPr>
              <a:t>单条</a:t>
            </a:r>
            <a:r>
              <a:rPr sz="1350" b="1">
                <a:solidFill>
                  <a:srgbClr val="475467"/>
                </a:solidFill>
                <a:latin typeface="vivo Sans" panose="02000300000000000000" charset="-122"/>
                <a:ea typeface="vivo Sans" panose="02000300000000000000" charset="-122"/>
                <a:cs typeface="vivo Sans" panose="02000300000000000000" charset="-122"/>
              </a:rPr>
              <a:t>最高播放</a:t>
            </a:r>
            <a:endParaRPr sz="1350" b="1">
              <a:solidFill>
                <a:srgbClr val="475467"/>
              </a:solidFill>
              <a:latin typeface="vivo Sans" panose="02000300000000000000" charset="-122"/>
              <a:ea typeface="vivo Sans" panose="02000300000000000000" charset="-122"/>
              <a:cs typeface="vivo Sans" panose="02000300000000000000" charset="-122"/>
            </a:endParaRPr>
          </a:p>
        </p:txBody>
      </p:sp>
      <p:sp>
        <p:nvSpPr>
          <p:cNvPr id="57" name="矩形 56"/>
          <p:cNvSpPr>
            <a:spLocks noGrp="1"/>
          </p:cNvSpPr>
          <p:nvPr/>
        </p:nvSpPr>
        <p:spPr>
          <a:xfrm>
            <a:off x="3148965" y="2937510"/>
            <a:ext cx="1493520" cy="295275"/>
          </a:xfrm>
          <a:prstGeom prst="rect">
            <a:avLst/>
          </a:prstGeom>
          <a:noFill/>
          <a:ln w="0">
            <a:noFill/>
            <a:prstDash val="solid"/>
          </a:ln>
        </p:spPr>
        <p:txBody>
          <a:bodyPr wrap="square" lIns="0" tIns="0" rIns="0" bIns="0" anchor="t">
            <a:noAutofit/>
          </a:bodyPr>
          <a:lstStyle/>
          <a:p>
            <a:pPr algn="ctr">
              <a:defRPr sz="1350" b="1">
                <a:solidFill>
                  <a:srgbClr val="101828"/>
                </a:solidFill>
                <a:latin typeface="vivo Sans" panose="02000300000000000000" charset="-122"/>
                <a:ea typeface="vivo Sans" panose="02000300000000000000" charset="-122"/>
                <a:cs typeface="vivo Sans" panose="02000300000000000000" charset="-122"/>
              </a:defRPr>
            </a:pPr>
            <a:r>
              <a:rPr lang="zh-CN" sz="1600" b="1">
                <a:solidFill>
                  <a:schemeClr val="tx1"/>
                </a:solidFill>
                <a:latin typeface="vivo Sans" panose="02000300000000000000" charset="-122"/>
                <a:ea typeface="vivo Sans" panose="02000300000000000000" charset="-122"/>
                <a:cs typeface="vivo Sans" panose="02000300000000000000" charset="-122"/>
              </a:rPr>
              <a:t>单机</a:t>
            </a:r>
            <a:r>
              <a:rPr lang="zh-CN" sz="1600" b="1">
                <a:solidFill>
                  <a:schemeClr val="tx1"/>
                </a:solidFill>
                <a:latin typeface="vivo Sans" panose="02000300000000000000" charset="-122"/>
                <a:ea typeface="vivo Sans" panose="02000300000000000000" charset="-122"/>
                <a:cs typeface="vivo Sans" panose="02000300000000000000" charset="-122"/>
              </a:rPr>
              <a:t>实测</a:t>
            </a:r>
            <a:endParaRPr lang="zh-CN" sz="1600" b="1">
              <a:solidFill>
                <a:schemeClr val="tx1"/>
              </a:solidFill>
              <a:latin typeface="vivo Sans" panose="02000300000000000000" charset="-122"/>
              <a:ea typeface="vivo Sans" panose="02000300000000000000" charset="-122"/>
              <a:cs typeface="vivo Sans" panose="02000300000000000000" charset="-122"/>
            </a:endParaRPr>
          </a:p>
        </p:txBody>
      </p:sp>
      <p:sp>
        <p:nvSpPr>
          <p:cNvPr id="58" name="矩形 57"/>
          <p:cNvSpPr>
            <a:spLocks noGrp="1"/>
          </p:cNvSpPr>
          <p:nvPr/>
        </p:nvSpPr>
        <p:spPr>
          <a:xfrm>
            <a:off x="2857500" y="3343275"/>
            <a:ext cx="2076450" cy="295275"/>
          </a:xfrm>
          <a:prstGeom prst="rect">
            <a:avLst/>
          </a:prstGeom>
          <a:noFill/>
          <a:ln w="0">
            <a:noFill/>
            <a:prstDash val="solid"/>
          </a:ln>
        </p:spPr>
        <p:txBody>
          <a:bodyPr wrap="square" lIns="0" tIns="0" rIns="0" bIns="0" anchor="t">
            <a:normAutofit/>
          </a:bodyPr>
          <a:lstStyle/>
          <a:p>
            <a:pPr algn="ctr">
              <a:defRPr sz="1275" b="0">
                <a:solidFill>
                  <a:srgbClr val="475467"/>
                </a:solidFill>
                <a:latin typeface="vivo Sans" panose="02000300000000000000" charset="-122"/>
                <a:ea typeface="vivo Sans" panose="02000300000000000000" charset="-122"/>
                <a:cs typeface="vivo Sans" panose="02000300000000000000" charset="-122"/>
              </a:defRPr>
            </a:pPr>
            <a:r>
              <a:rPr lang="zh-CN" sz="1000" b="0">
                <a:solidFill>
                  <a:srgbClr val="475467"/>
                </a:solidFill>
                <a:latin typeface="vivo Sans" panose="02000300000000000000" charset="-122"/>
                <a:ea typeface="vivo Sans" panose="02000300000000000000" charset="-122"/>
                <a:cs typeface="vivo Sans" panose="02000300000000000000" charset="-122"/>
              </a:rPr>
              <a:t>新品首测</a:t>
            </a:r>
            <a:r>
              <a:rPr lang="en-US" altLang="zh-CN" sz="1000" b="0">
                <a:solidFill>
                  <a:srgbClr val="475467"/>
                </a:solidFill>
                <a:latin typeface="vivo Sans" panose="02000300000000000000" charset="-122"/>
                <a:ea typeface="vivo Sans" panose="02000300000000000000" charset="-122"/>
                <a:cs typeface="vivo Sans" panose="02000300000000000000" charset="-122"/>
              </a:rPr>
              <a:t>/</a:t>
            </a:r>
            <a:r>
              <a:rPr lang="zh-CN" altLang="en-US" sz="1000" b="0">
                <a:solidFill>
                  <a:srgbClr val="475467"/>
                </a:solidFill>
                <a:latin typeface="vivo Sans" panose="02000300000000000000" charset="-122"/>
                <a:ea typeface="vivo Sans" panose="02000300000000000000" charset="-122"/>
                <a:cs typeface="vivo Sans" panose="02000300000000000000" charset="-122"/>
              </a:rPr>
              <a:t>经典机型</a:t>
            </a:r>
            <a:r>
              <a:rPr lang="zh-CN" altLang="en-US" sz="1000" b="0">
                <a:solidFill>
                  <a:srgbClr val="475467"/>
                </a:solidFill>
                <a:latin typeface="vivo Sans" panose="02000300000000000000" charset="-122"/>
                <a:ea typeface="vivo Sans" panose="02000300000000000000" charset="-122"/>
                <a:cs typeface="vivo Sans" panose="02000300000000000000" charset="-122"/>
              </a:rPr>
              <a:t>测评</a:t>
            </a:r>
            <a:endParaRPr lang="zh-CN" altLang="en-US" sz="1000" b="0">
              <a:solidFill>
                <a:srgbClr val="475467"/>
              </a:solidFill>
              <a:latin typeface="vivo Sans" panose="02000300000000000000" charset="-122"/>
              <a:ea typeface="vivo Sans" panose="02000300000000000000" charset="-122"/>
              <a:cs typeface="vivo Sans" panose="02000300000000000000" charset="-122"/>
            </a:endParaRPr>
          </a:p>
        </p:txBody>
      </p:sp>
      <p:sp>
        <p:nvSpPr>
          <p:cNvPr id="59" name="矩形 58"/>
          <p:cNvSpPr>
            <a:spLocks noGrp="1"/>
          </p:cNvSpPr>
          <p:nvPr/>
        </p:nvSpPr>
        <p:spPr>
          <a:xfrm>
            <a:off x="3048000" y="5405120"/>
            <a:ext cx="1809750" cy="371475"/>
          </a:xfrm>
          <a:prstGeom prst="rect">
            <a:avLst/>
          </a:prstGeom>
          <a:noFill/>
          <a:ln w="0">
            <a:noFill/>
            <a:prstDash val="solid"/>
          </a:ln>
        </p:spPr>
        <p:txBody>
          <a:bodyPr wrap="square" lIns="0" tIns="0" rIns="0" bIns="0" anchor="t">
            <a:noAutofit/>
          </a:bodyPr>
          <a:lstStyle/>
          <a:p>
            <a:pPr algn="ctr">
              <a:defRPr sz="3600" b="1">
                <a:solidFill>
                  <a:srgbClr val="415FFF"/>
                </a:solidFill>
                <a:latin typeface="vivo Sans" panose="02000300000000000000" charset="-122"/>
                <a:ea typeface="vivo Sans" panose="02000300000000000000" charset="-122"/>
                <a:cs typeface="vivo Sans" panose="02000300000000000000" charset="-122"/>
              </a:defRPr>
            </a:pPr>
            <a:r>
              <a:rPr lang="en-US" sz="2400">
                <a:solidFill>
                  <a:srgbClr val="415FFF"/>
                </a:solidFill>
              </a:rPr>
              <a:t>53w</a:t>
            </a:r>
            <a:endParaRPr lang="en-US" sz="2400">
              <a:solidFill>
                <a:srgbClr val="415FFF"/>
              </a:solidFill>
            </a:endParaRPr>
          </a:p>
        </p:txBody>
      </p:sp>
      <p:sp>
        <p:nvSpPr>
          <p:cNvPr id="60" name="矩形 59"/>
          <p:cNvSpPr>
            <a:spLocks noGrp="1"/>
          </p:cNvSpPr>
          <p:nvPr/>
        </p:nvSpPr>
        <p:spPr>
          <a:xfrm>
            <a:off x="3455035" y="5886450"/>
            <a:ext cx="971550" cy="247650"/>
          </a:xfrm>
          <a:prstGeom prst="rect">
            <a:avLst/>
          </a:prstGeom>
          <a:noFill/>
          <a:ln w="0">
            <a:noFill/>
            <a:prstDash val="solid"/>
          </a:ln>
        </p:spPr>
        <p:txBody>
          <a:bodyPr wrap="square" lIns="0" tIns="0" rIns="0" bIns="0" anchor="t">
            <a:normAutofit fontScale="90000"/>
          </a:bodyPr>
          <a:lstStyle/>
          <a:p>
            <a:pPr algn="l">
              <a:defRPr sz="1350" b="1">
                <a:solidFill>
                  <a:srgbClr val="475467"/>
                </a:solidFill>
                <a:latin typeface="vivo Sans" panose="02000300000000000000" charset="-122"/>
                <a:ea typeface="vivo Sans" panose="02000300000000000000" charset="-122"/>
                <a:cs typeface="vivo Sans" panose="02000300000000000000" charset="-122"/>
              </a:defRPr>
            </a:pPr>
            <a:r>
              <a:rPr lang="zh-CN" sz="1350" b="1">
                <a:solidFill>
                  <a:srgbClr val="475467"/>
                </a:solidFill>
                <a:latin typeface="vivo Sans" panose="02000300000000000000" charset="-122"/>
                <a:ea typeface="vivo Sans" panose="02000300000000000000" charset="-122"/>
                <a:cs typeface="vivo Sans" panose="02000300000000000000" charset="-122"/>
              </a:rPr>
              <a:t>单条</a:t>
            </a:r>
            <a:r>
              <a:rPr sz="1350" b="1">
                <a:solidFill>
                  <a:srgbClr val="475467"/>
                </a:solidFill>
                <a:latin typeface="vivo Sans" panose="02000300000000000000" charset="-122"/>
                <a:ea typeface="vivo Sans" panose="02000300000000000000" charset="-122"/>
                <a:cs typeface="vivo Sans" panose="02000300000000000000" charset="-122"/>
              </a:rPr>
              <a:t>最高播放</a:t>
            </a:r>
            <a:endParaRPr sz="1350" b="1">
              <a:solidFill>
                <a:srgbClr val="475467"/>
              </a:solidFill>
              <a:latin typeface="vivo Sans" panose="02000300000000000000" charset="-122"/>
              <a:ea typeface="vivo Sans" panose="02000300000000000000" charset="-122"/>
              <a:cs typeface="vivo Sans" panose="020003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9" name="表格 1"/>
          <p:cNvGraphicFramePr/>
          <p:nvPr>
            <p:custDataLst>
              <p:tags r:id="rId1"/>
            </p:custDataLst>
          </p:nvPr>
        </p:nvGraphicFramePr>
        <p:xfrm>
          <a:off x="346075" y="914400"/>
          <a:ext cx="11299190" cy="2367915"/>
        </p:xfrm>
        <a:graphic>
          <a:graphicData uri="http://schemas.openxmlformats.org/drawingml/2006/table">
            <a:tbl>
              <a:tblPr firstRow="1" bandRow="1">
                <a:tableStyleId>{5C22544A-7EE6-4342-B048-85BDC9FD1C3A}</a:tableStyleId>
              </a:tblPr>
              <a:tblGrid>
                <a:gridCol w="904875"/>
                <a:gridCol w="1410970"/>
                <a:gridCol w="1134745"/>
                <a:gridCol w="1556385"/>
                <a:gridCol w="3924935"/>
                <a:gridCol w="1178560"/>
                <a:gridCol w="1188720"/>
              </a:tblGrid>
              <a:tr h="426085">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排名</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日期</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内容类型</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时长</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内容标题</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播放量</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c>
                  <a:txBody>
                    <a:bodyPr wrap="square">
                      <a:spAutoFit/>
                    </a:bodyPr>
                    <a:lstStyle/>
                    <a:p>
                      <a:pPr algn="ctr">
                        <a:lnSpc>
                          <a:spcPct val="120000"/>
                        </a:lnSpc>
                        <a:spcBef>
                          <a:spcPts val="0"/>
                        </a:spcBef>
                        <a:spcAft>
                          <a:spcPts val="0"/>
                        </a:spcAft>
                        <a:buNone/>
                      </a:pPr>
                      <a:r>
                        <a:rPr sz="1125" b="1">
                          <a:solidFill>
                            <a:srgbClr val="FFFFFF"/>
                          </a:solidFill>
                          <a:latin typeface="vivo Sans" panose="02000300000000000000" charset="-122"/>
                          <a:ea typeface="vivo Sans" panose="02000300000000000000" charset="-122"/>
                          <a:cs typeface="vivo Sans" panose="02000300000000000000" charset="-122"/>
                        </a:rPr>
                        <a:t>互动量</a:t>
                      </a:r>
                      <a:endParaRPr sz="1125" b="1">
                        <a:solidFill>
                          <a:srgbClr val="FFFFFF"/>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3157FF"/>
                    </a:solidFill>
                  </a:tcPr>
                </a:tc>
              </a:tr>
              <a:tr h="332105">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1</a:t>
                      </a:r>
                      <a:endParaRPr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4/10</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a:solidFill>
                            <a:srgbClr val="101828"/>
                          </a:solidFill>
                          <a:latin typeface="vivo Sans" panose="02000300000000000000" charset="-122"/>
                          <a:ea typeface="vivo Sans" panose="02000300000000000000" charset="-122"/>
                          <a:cs typeface="vivo Sans" panose="02000300000000000000" charset="-122"/>
                          <a:sym typeface="+mn-ea"/>
                        </a:rPr>
                        <a:t>双机</a:t>
                      </a:r>
                      <a:r>
                        <a:rPr lang="zh-CN" sz="975">
                          <a:solidFill>
                            <a:srgbClr val="101828"/>
                          </a:solidFill>
                          <a:latin typeface="vivo Sans" panose="02000300000000000000" charset="-122"/>
                          <a:ea typeface="vivo Sans" panose="02000300000000000000" charset="-122"/>
                          <a:cs typeface="vivo Sans" panose="02000300000000000000" charset="-122"/>
                          <a:sym typeface="+mn-ea"/>
                        </a:rPr>
                        <a:t>对比</a:t>
                      </a:r>
                      <a:r>
                        <a:rPr sz="975">
                          <a:solidFill>
                            <a:srgbClr val="101828"/>
                          </a:solidFill>
                          <a:latin typeface="vivo Sans" panose="02000300000000000000" charset="-122"/>
                          <a:ea typeface="vivo Sans" panose="02000300000000000000" charset="-122"/>
                          <a:cs typeface="vivo Sans" panose="02000300000000000000" charset="-122"/>
                          <a:sym typeface="+mn-ea"/>
                        </a:rPr>
                        <a:t>实测</a:t>
                      </a:r>
                      <a:endParaRPr lang="zh-CN"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43s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曲面屏为什么正在消失</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63.15万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6543</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r>
              <a:tr h="368935">
                <a:tc>
                  <a:txBody>
                    <a:bodyPr/>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a:t>
                      </a:r>
                      <a:r>
                        <a:rPr lang="en-US" sz="975" b="1">
                          <a:solidFill>
                            <a:srgbClr val="101828"/>
                          </a:solidFill>
                          <a:latin typeface="vivo Sans" panose="02000300000000000000" charset="-122"/>
                          <a:ea typeface="vivo Sans" panose="02000300000000000000" charset="-122"/>
                          <a:cs typeface="vivo Sans" panose="02000300000000000000" charset="-122"/>
                        </a:rPr>
                        <a:t>2</a:t>
                      </a:r>
                      <a:endParaRPr lang="en-US"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6/26</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单机实测</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2m41s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三星M14折叠屏</a:t>
                      </a:r>
                      <a:r>
                        <a:rPr lang="en-US" sz="975" b="0">
                          <a:solidFill>
                            <a:srgbClr val="101828"/>
                          </a:solidFill>
                          <a:latin typeface="vivo Sans" panose="02000300000000000000" charset="-122"/>
                          <a:ea typeface="vivo Sans" panose="02000300000000000000" charset="-122"/>
                          <a:cs typeface="vivo Sans" panose="02000300000000000000" charset="-122"/>
                        </a:rPr>
                        <a:t> X Fold6</a:t>
                      </a:r>
                      <a:r>
                        <a:rPr sz="975" b="0">
                          <a:solidFill>
                            <a:srgbClr val="101828"/>
                          </a:solidFill>
                          <a:latin typeface="vivo Sans" panose="02000300000000000000" charset="-122"/>
                          <a:ea typeface="vivo Sans" panose="02000300000000000000" charset="-122"/>
                          <a:cs typeface="vivo Sans" panose="02000300000000000000" charset="-122"/>
                        </a:rPr>
                        <a:t>首发实测</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a:p>
                      <a:pPr algn="ctr">
                        <a:lnSpc>
                          <a:spcPct val="120000"/>
                        </a:lnSpc>
                        <a:spcBef>
                          <a:spcPts val="0"/>
                        </a:spcBef>
                        <a:spcAft>
                          <a:spcPts val="0"/>
                        </a:spcAft>
                        <a:buNone/>
                      </a:pPr>
                      <a:r>
                        <a:rPr lang="en-US" sz="975" b="1">
                          <a:solidFill>
                            <a:srgbClr val="1737C8"/>
                          </a:solidFill>
                          <a:latin typeface="vivo Sans" panose="02000300000000000000" charset="-122"/>
                          <a:ea typeface="vivo Sans" panose="02000300000000000000" charset="-122"/>
                          <a:cs typeface="vivo Sans" panose="02000300000000000000" charset="-122"/>
                        </a:rPr>
                        <a:t>53</a:t>
                      </a:r>
                      <a:r>
                        <a:rPr sz="975" b="1">
                          <a:solidFill>
                            <a:srgbClr val="1737C8"/>
                          </a:solidFill>
                          <a:latin typeface="vivo Sans" panose="02000300000000000000" charset="-122"/>
                          <a:ea typeface="vivo Sans" panose="02000300000000000000" charset="-122"/>
                          <a:cs typeface="vivo Sans" panose="02000300000000000000" charset="-122"/>
                        </a:rPr>
                        <a:t>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9388</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r>
              <a:tr h="368935">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a:t>
                      </a:r>
                      <a:r>
                        <a:rPr lang="en-US" sz="975" b="1">
                          <a:solidFill>
                            <a:srgbClr val="101828"/>
                          </a:solidFill>
                          <a:latin typeface="vivo Sans" panose="02000300000000000000" charset="-122"/>
                          <a:ea typeface="vivo Sans" panose="02000300000000000000" charset="-122"/>
                          <a:cs typeface="vivo Sans" panose="02000300000000000000" charset="-122"/>
                        </a:rPr>
                        <a:t>3</a:t>
                      </a:r>
                      <a:endParaRPr lang="en-US"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6/13</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a:solidFill>
                            <a:srgbClr val="101828"/>
                          </a:solidFill>
                          <a:latin typeface="vivo Sans" panose="02000300000000000000" charset="-122"/>
                          <a:ea typeface="vivo Sans" panose="02000300000000000000" charset="-122"/>
                          <a:cs typeface="vivo Sans" panose="02000300000000000000" charset="-122"/>
                          <a:sym typeface="+mn-ea"/>
                        </a:rPr>
                        <a:t>双机</a:t>
                      </a:r>
                      <a:r>
                        <a:rPr lang="zh-CN" sz="975">
                          <a:solidFill>
                            <a:srgbClr val="101828"/>
                          </a:solidFill>
                          <a:latin typeface="vivo Sans" panose="02000300000000000000" charset="-122"/>
                          <a:ea typeface="vivo Sans" panose="02000300000000000000" charset="-122"/>
                          <a:cs typeface="vivo Sans" panose="02000300000000000000" charset="-122"/>
                          <a:sym typeface="+mn-ea"/>
                        </a:rPr>
                        <a:t>对比</a:t>
                      </a:r>
                      <a:r>
                        <a:rPr sz="975">
                          <a:solidFill>
                            <a:srgbClr val="101828"/>
                          </a:solidFill>
                          <a:latin typeface="vivo Sans" panose="02000300000000000000" charset="-122"/>
                          <a:ea typeface="vivo Sans" panose="02000300000000000000" charset="-122"/>
                          <a:cs typeface="vivo Sans" panose="02000300000000000000" charset="-122"/>
                          <a:sym typeface="+mn-ea"/>
                        </a:rPr>
                        <a:t>实测</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1m52s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iPhone屏幕一定</a:t>
                      </a:r>
                      <a:r>
                        <a:rPr lang="zh-CN" sz="975" b="0">
                          <a:solidFill>
                            <a:srgbClr val="101828"/>
                          </a:solidFill>
                          <a:latin typeface="vivo Sans" panose="02000300000000000000" charset="-122"/>
                          <a:ea typeface="vivo Sans" panose="02000300000000000000" charset="-122"/>
                          <a:cs typeface="vivo Sans" panose="02000300000000000000" charset="-122"/>
                        </a:rPr>
                        <a:t>比华为</a:t>
                      </a:r>
                      <a:r>
                        <a:rPr sz="975" b="0">
                          <a:solidFill>
                            <a:srgbClr val="101828"/>
                          </a:solidFill>
                          <a:latin typeface="vivo Sans" panose="02000300000000000000" charset="-122"/>
                          <a:ea typeface="vivo Sans" panose="02000300000000000000" charset="-122"/>
                          <a:cs typeface="vivo Sans" panose="02000300000000000000" charset="-122"/>
                        </a:rPr>
                        <a:t>更高级吗</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lang="en-US" sz="975" b="1">
                          <a:solidFill>
                            <a:srgbClr val="1737C8"/>
                          </a:solidFill>
                          <a:latin typeface="vivo Sans" panose="02000300000000000000" charset="-122"/>
                          <a:ea typeface="vivo Sans" panose="02000300000000000000" charset="-122"/>
                          <a:cs typeface="vivo Sans" panose="02000300000000000000" charset="-122"/>
                        </a:rPr>
                        <a:t>51</a:t>
                      </a:r>
                      <a:r>
                        <a:rPr sz="975" b="1">
                          <a:solidFill>
                            <a:srgbClr val="1737C8"/>
                          </a:solidFill>
                          <a:latin typeface="vivo Sans" panose="02000300000000000000" charset="-122"/>
                          <a:ea typeface="vivo Sans" panose="02000300000000000000" charset="-122"/>
                          <a:cs typeface="vivo Sans" panose="02000300000000000000" charset="-122"/>
                        </a:rPr>
                        <a:t>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6871</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r>
              <a:tr h="502920">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a:t>
                      </a:r>
                      <a:r>
                        <a:rPr lang="en-US" sz="975" b="1">
                          <a:solidFill>
                            <a:srgbClr val="101828"/>
                          </a:solidFill>
                          <a:latin typeface="vivo Sans" panose="02000300000000000000" charset="-122"/>
                          <a:ea typeface="vivo Sans" panose="02000300000000000000" charset="-122"/>
                          <a:cs typeface="vivo Sans" panose="02000300000000000000" charset="-122"/>
                        </a:rPr>
                        <a:t>4</a:t>
                      </a:r>
                      <a:endParaRPr lang="en-US"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2/19</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a:solidFill>
                            <a:srgbClr val="101828"/>
                          </a:solidFill>
                          <a:latin typeface="vivo Sans" panose="02000300000000000000" charset="-122"/>
                          <a:ea typeface="vivo Sans" panose="02000300000000000000" charset="-122"/>
                          <a:cs typeface="vivo Sans" panose="02000300000000000000" charset="-122"/>
                          <a:sym typeface="+mn-ea"/>
                        </a:rPr>
                        <a:t>双机</a:t>
                      </a:r>
                      <a:r>
                        <a:rPr lang="zh-CN" sz="975">
                          <a:solidFill>
                            <a:srgbClr val="101828"/>
                          </a:solidFill>
                          <a:latin typeface="vivo Sans" panose="02000300000000000000" charset="-122"/>
                          <a:ea typeface="vivo Sans" panose="02000300000000000000" charset="-122"/>
                          <a:cs typeface="vivo Sans" panose="02000300000000000000" charset="-122"/>
                          <a:sym typeface="+mn-ea"/>
                        </a:rPr>
                        <a:t>对比</a:t>
                      </a:r>
                      <a:r>
                        <a:rPr sz="975">
                          <a:solidFill>
                            <a:srgbClr val="101828"/>
                          </a:solidFill>
                          <a:latin typeface="vivo Sans" panose="02000300000000000000" charset="-122"/>
                          <a:ea typeface="vivo Sans" panose="02000300000000000000" charset="-122"/>
                          <a:cs typeface="vivo Sans" panose="02000300000000000000" charset="-122"/>
                          <a:sym typeface="+mn-ea"/>
                        </a:rPr>
                        <a:t>实测</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43s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iPhone屏幕比安卓高级吗</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26.6万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2804</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FFFFF"/>
                    </a:solidFill>
                  </a:tcPr>
                </a:tc>
              </a:tr>
              <a:tr h="368935">
                <a:tc>
                  <a:txBody>
                    <a:bodyPr wrap="square">
                      <a:spAutoFit/>
                    </a:bodyPr>
                    <a:lstStyle/>
                    <a:p>
                      <a:pPr algn="ctr">
                        <a:lnSpc>
                          <a:spcPct val="120000"/>
                        </a:lnSpc>
                        <a:spcBef>
                          <a:spcPts val="0"/>
                        </a:spcBef>
                        <a:spcAft>
                          <a:spcPts val="0"/>
                        </a:spcAft>
                        <a:buNone/>
                      </a:pPr>
                      <a:r>
                        <a:rPr sz="975" b="1">
                          <a:solidFill>
                            <a:srgbClr val="101828"/>
                          </a:solidFill>
                          <a:latin typeface="vivo Sans" panose="02000300000000000000" charset="-122"/>
                          <a:ea typeface="vivo Sans" panose="02000300000000000000" charset="-122"/>
                          <a:cs typeface="vivo Sans" panose="02000300000000000000" charset="-122"/>
                        </a:rPr>
                        <a:t>TOP </a:t>
                      </a:r>
                      <a:r>
                        <a:rPr lang="en-US" sz="975" b="1">
                          <a:solidFill>
                            <a:srgbClr val="101828"/>
                          </a:solidFill>
                          <a:latin typeface="vivo Sans" panose="02000300000000000000" charset="-122"/>
                          <a:ea typeface="vivo Sans" panose="02000300000000000000" charset="-122"/>
                          <a:cs typeface="vivo Sans" panose="02000300000000000000" charset="-122"/>
                        </a:rPr>
                        <a:t>5</a:t>
                      </a:r>
                      <a:endParaRPr lang="en-US" sz="975" b="1">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3/24</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多机横评</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2m25s</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0">
                          <a:solidFill>
                            <a:srgbClr val="101828"/>
                          </a:solidFill>
                          <a:latin typeface="vivo Sans" panose="02000300000000000000" charset="-122"/>
                          <a:ea typeface="vivo Sans" panose="02000300000000000000" charset="-122"/>
                          <a:cs typeface="vivo Sans" panose="02000300000000000000" charset="-122"/>
                        </a:rPr>
                        <a:t>哪台手机真正“为发烧而生”</a:t>
                      </a:r>
                      <a:endParaRPr sz="975" b="0">
                        <a:solidFill>
                          <a:srgbClr val="10182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23.7万</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c>
                  <a:txBody>
                    <a:bodyPr wrap="square">
                      <a:spAutoFit/>
                    </a:bodyPr>
                    <a:lstStyle/>
                    <a:p>
                      <a:pPr algn="ctr">
                        <a:lnSpc>
                          <a:spcPct val="120000"/>
                        </a:lnSpc>
                        <a:spcBef>
                          <a:spcPts val="0"/>
                        </a:spcBef>
                        <a:spcAft>
                          <a:spcPts val="0"/>
                        </a:spcAft>
                        <a:buNone/>
                      </a:pPr>
                      <a:r>
                        <a:rPr sz="975" b="1">
                          <a:solidFill>
                            <a:srgbClr val="1737C8"/>
                          </a:solidFill>
                          <a:latin typeface="vivo Sans" panose="02000300000000000000" charset="-122"/>
                          <a:ea typeface="vivo Sans" panose="02000300000000000000" charset="-122"/>
                          <a:cs typeface="vivo Sans" panose="02000300000000000000" charset="-122"/>
                        </a:rPr>
                        <a:t>2738</a:t>
                      </a:r>
                      <a:endParaRPr sz="975" b="1">
                        <a:solidFill>
                          <a:srgbClr val="1737C8"/>
                        </a:solidFill>
                        <a:latin typeface="vivo Sans" panose="02000300000000000000" charset="-122"/>
                        <a:ea typeface="vivo Sans" panose="02000300000000000000" charset="-122"/>
                        <a:cs typeface="vivo Sans" panose="02000300000000000000" charset="-122"/>
                      </a:endParaRPr>
                    </a:p>
                  </a:txBody>
                  <a:tcPr marL="47625" marR="47625" marT="28575" marB="28575" anchor="ctr">
                    <a:solidFill>
                      <a:srgbClr val="F5F7FF"/>
                    </a:solidFill>
                  </a:tcPr>
                </a:tc>
              </a:tr>
            </a:tbl>
          </a:graphicData>
        </a:graphic>
      </p:graphicFrame>
      <p:sp>
        <p:nvSpPr>
          <p:cNvPr id="28" name="矩形 27"/>
          <p:cNvSpPr>
            <a:spLocks noGrp="1"/>
          </p:cNvSpPr>
          <p:nvPr/>
        </p:nvSpPr>
        <p:spPr>
          <a:xfrm>
            <a:off x="533400" y="3724275"/>
            <a:ext cx="1524000" cy="276225"/>
          </a:xfrm>
          <a:prstGeom prst="rect">
            <a:avLst/>
          </a:prstGeom>
          <a:noFill/>
          <a:ln w="0">
            <a:noFill/>
            <a:prstDash val="solid"/>
          </a:ln>
        </p:spPr>
        <p:txBody>
          <a:bodyPr wrap="square" lIns="0" tIns="0" rIns="0" bIns="0" anchor="t">
            <a:normAutofit/>
          </a:bodyPr>
          <a:lstStyle/>
          <a:p>
            <a:pPr algn="l">
              <a:buNone/>
              <a:defRPr sz="1500" b="1">
                <a:solidFill>
                  <a:srgbClr val="3157FF"/>
                </a:solidFill>
                <a:latin typeface="vivo Sans" panose="02000300000000000000" charset="-122"/>
                <a:ea typeface="vivo Sans" panose="02000300000000000000" charset="-122"/>
                <a:cs typeface="vivo Sans" panose="02000300000000000000" charset="-122"/>
              </a:defRPr>
            </a:pPr>
            <a:r>
              <a:rPr lang="zh-CN" sz="1500" b="1">
                <a:solidFill>
                  <a:srgbClr val="3157FF"/>
                </a:solidFill>
                <a:latin typeface="vivo Sans" panose="02000300000000000000" charset="-122"/>
                <a:ea typeface="vivo Sans" panose="02000300000000000000" charset="-122"/>
                <a:cs typeface="vivo Sans" panose="02000300000000000000" charset="-122"/>
              </a:rPr>
              <a:t>爆款</a:t>
            </a:r>
            <a:r>
              <a:rPr lang="zh-CN" sz="1500" b="1">
                <a:solidFill>
                  <a:srgbClr val="3157FF"/>
                </a:solidFill>
                <a:latin typeface="vivo Sans" panose="02000300000000000000" charset="-122"/>
                <a:ea typeface="vivo Sans" panose="02000300000000000000" charset="-122"/>
                <a:cs typeface="vivo Sans" panose="02000300000000000000" charset="-122"/>
              </a:rPr>
              <a:t>规律</a:t>
            </a:r>
            <a:endParaRPr lang="zh-CN" sz="1500" b="1">
              <a:solidFill>
                <a:srgbClr val="3157FF"/>
              </a:solidFill>
              <a:latin typeface="vivo Sans" panose="02000300000000000000" charset="-122"/>
              <a:ea typeface="vivo Sans" panose="02000300000000000000" charset="-122"/>
              <a:cs typeface="vivo Sans" panose="02000300000000000000" charset="-122"/>
            </a:endParaRPr>
          </a:p>
        </p:txBody>
      </p:sp>
      <p:sp>
        <p:nvSpPr>
          <p:cNvPr id="41" name="矩形 40"/>
          <p:cNvSpPr>
            <a:spLocks noGrp="1"/>
          </p:cNvSpPr>
          <p:nvPr/>
        </p:nvSpPr>
        <p:spPr>
          <a:xfrm>
            <a:off x="4305300" y="3962400"/>
            <a:ext cx="19050" cy="2076450"/>
          </a:xfrm>
          <a:prstGeom prst="rect">
            <a:avLst/>
          </a:prstGeom>
          <a:solidFill>
            <a:srgbClr val="D7E0FF"/>
          </a:solidFill>
          <a:ln w="0">
            <a:noFill/>
            <a:prstDash val="solid"/>
          </a:ln>
        </p:spPr>
      </p:sp>
      <p:sp>
        <p:nvSpPr>
          <p:cNvPr id="42" name="矩形 41"/>
          <p:cNvSpPr>
            <a:spLocks noGrp="1"/>
          </p:cNvSpPr>
          <p:nvPr/>
        </p:nvSpPr>
        <p:spPr>
          <a:xfrm>
            <a:off x="4572000" y="3800475"/>
            <a:ext cx="819150" cy="276225"/>
          </a:xfrm>
          <a:prstGeom prst="rect">
            <a:avLst/>
          </a:prstGeom>
          <a:noFill/>
          <a:ln w="0">
            <a:noFill/>
            <a:prstDash val="solid"/>
          </a:ln>
        </p:spPr>
        <p:txBody>
          <a:bodyPr wrap="square" lIns="0" tIns="0" rIns="0" bIns="0" anchor="t">
            <a:normAutofit/>
          </a:bodyPr>
          <a:lstStyle/>
          <a:p>
            <a:pPr algn="l">
              <a:buNone/>
              <a:defRPr sz="1500" b="1">
                <a:solidFill>
                  <a:srgbClr val="3157FF"/>
                </a:solidFill>
                <a:latin typeface="vivo Sans" panose="02000300000000000000" charset="-122"/>
                <a:ea typeface="vivo Sans" panose="02000300000000000000" charset="-122"/>
                <a:cs typeface="vivo Sans" panose="02000300000000000000" charset="-122"/>
              </a:defRPr>
            </a:pPr>
            <a:r>
              <a:rPr sz="1500" b="1">
                <a:solidFill>
                  <a:srgbClr val="3157FF"/>
                </a:solidFill>
                <a:latin typeface="vivo Sans" panose="02000300000000000000" charset="-122"/>
                <a:ea typeface="vivo Sans" panose="02000300000000000000" charset="-122"/>
                <a:cs typeface="vivo Sans" panose="02000300000000000000" charset="-122"/>
              </a:rPr>
              <a:t>优势</a:t>
            </a:r>
            <a:endParaRPr sz="1500" b="1">
              <a:solidFill>
                <a:srgbClr val="3157FF"/>
              </a:solidFill>
              <a:latin typeface="vivo Sans" panose="02000300000000000000" charset="-122"/>
              <a:ea typeface="vivo Sans" panose="02000300000000000000" charset="-122"/>
              <a:cs typeface="vivo Sans" panose="02000300000000000000" charset="-122"/>
            </a:endParaRPr>
          </a:p>
        </p:txBody>
      </p:sp>
      <p:sp>
        <p:nvSpPr>
          <p:cNvPr id="43" name="矩形 42"/>
          <p:cNvSpPr>
            <a:spLocks noGrp="1"/>
          </p:cNvSpPr>
          <p:nvPr/>
        </p:nvSpPr>
        <p:spPr>
          <a:xfrm>
            <a:off x="4572000" y="4171950"/>
            <a:ext cx="3048000" cy="828675"/>
          </a:xfrm>
          <a:prstGeom prst="rect">
            <a:avLst/>
          </a:prstGeom>
          <a:noFill/>
          <a:ln w="0">
            <a:noFill/>
            <a:prstDash val="solid"/>
          </a:ln>
        </p:spPr>
        <p:txBody>
          <a:bodyPr wrap="square" lIns="0" tIns="0" rIns="0" bIns="0" anchor="t">
            <a:normAutofit lnSpcReduction="10000"/>
          </a:bodyPr>
          <a:lstStyle/>
          <a:p>
            <a:pPr marL="285750" indent="-285750" algn="l">
              <a:lnSpc>
                <a:spcPct val="150000"/>
              </a:lnSpc>
              <a:buFont typeface="Arial" panose="020B0604020202020204" pitchFamily="34" charset="0"/>
              <a:buChar char="•"/>
              <a:defRPr sz="1275" b="0">
                <a:solidFill>
                  <a:srgbClr val="344054"/>
                </a:solidFill>
                <a:latin typeface="vivo Sans" panose="02000300000000000000" charset="-122"/>
                <a:ea typeface="vivo Sans" panose="02000300000000000000" charset="-122"/>
                <a:cs typeface="vivo Sans" panose="02000300000000000000" charset="-122"/>
              </a:defRPr>
            </a:pPr>
            <a:r>
              <a:rPr sz="1275" b="0">
                <a:solidFill>
                  <a:srgbClr val="344054"/>
                </a:solidFill>
                <a:latin typeface="vivo Sans" panose="02000300000000000000" charset="-122"/>
                <a:ea typeface="vivo Sans" panose="02000300000000000000" charset="-122"/>
                <a:cs typeface="vivo Sans" panose="02000300000000000000" charset="-122"/>
              </a:rPr>
              <a:t>屏幕赛道定位专业清晰</a:t>
            </a:r>
            <a:endParaRPr sz="1275" b="0">
              <a:solidFill>
                <a:srgbClr val="344054"/>
              </a:solidFill>
              <a:latin typeface="vivo Sans" panose="02000300000000000000" charset="-122"/>
              <a:ea typeface="vivo Sans" panose="02000300000000000000" charset="-122"/>
              <a:cs typeface="vivo Sans" panose="02000300000000000000" charset="-122"/>
            </a:endParaRPr>
          </a:p>
          <a:p>
            <a:pPr marL="285750" indent="-285750" algn="l">
              <a:lnSpc>
                <a:spcPct val="150000"/>
              </a:lnSpc>
              <a:buFont typeface="Arial" panose="020B0604020202020204" pitchFamily="34" charset="0"/>
              <a:buChar char="•"/>
              <a:defRPr sz="1275" b="0">
                <a:solidFill>
                  <a:srgbClr val="344054"/>
                </a:solidFill>
                <a:latin typeface="vivo Sans" panose="02000300000000000000" charset="-122"/>
                <a:ea typeface="vivo Sans" panose="02000300000000000000" charset="-122"/>
                <a:cs typeface="vivo Sans" panose="02000300000000000000" charset="-122"/>
              </a:defRPr>
            </a:pPr>
            <a:r>
              <a:rPr sz="1275" b="0">
                <a:solidFill>
                  <a:srgbClr val="344054"/>
                </a:solidFill>
                <a:latin typeface="vivo Sans" panose="02000300000000000000" charset="-122"/>
                <a:ea typeface="vivo Sans" panose="02000300000000000000" charset="-122"/>
                <a:cs typeface="vivo Sans" panose="02000300000000000000" charset="-122"/>
              </a:rPr>
              <a:t>争议问题天然激发讨论</a:t>
            </a:r>
            <a:endParaRPr sz="1275" b="0">
              <a:solidFill>
                <a:srgbClr val="344054"/>
              </a:solidFill>
              <a:latin typeface="vivo Sans" panose="02000300000000000000" charset="-122"/>
              <a:ea typeface="vivo Sans" panose="02000300000000000000" charset="-122"/>
              <a:cs typeface="vivo Sans" panose="02000300000000000000" charset="-122"/>
            </a:endParaRPr>
          </a:p>
          <a:p>
            <a:pPr marL="285750" indent="-285750" algn="l">
              <a:lnSpc>
                <a:spcPct val="150000"/>
              </a:lnSpc>
              <a:buFont typeface="Arial" panose="020B0604020202020204" pitchFamily="34" charset="0"/>
              <a:buChar char="•"/>
              <a:defRPr sz="1275" b="0">
                <a:solidFill>
                  <a:srgbClr val="344054"/>
                </a:solidFill>
                <a:latin typeface="vivo Sans" panose="02000300000000000000" charset="-122"/>
                <a:ea typeface="vivo Sans" panose="02000300000000000000" charset="-122"/>
                <a:cs typeface="vivo Sans" panose="02000300000000000000" charset="-122"/>
              </a:defRPr>
            </a:pPr>
            <a:r>
              <a:rPr sz="1275" b="0">
                <a:solidFill>
                  <a:srgbClr val="344054"/>
                </a:solidFill>
                <a:latin typeface="vivo Sans" panose="02000300000000000000" charset="-122"/>
                <a:ea typeface="vivo Sans" panose="02000300000000000000" charset="-122"/>
                <a:cs typeface="vivo Sans" panose="02000300000000000000" charset="-122"/>
              </a:rPr>
              <a:t>实测证据强化内容信任</a:t>
            </a:r>
            <a:endParaRPr sz="1275" b="0">
              <a:solidFill>
                <a:srgbClr val="344054"/>
              </a:solidFill>
              <a:latin typeface="vivo Sans" panose="02000300000000000000" charset="-122"/>
              <a:ea typeface="vivo Sans" panose="02000300000000000000" charset="-122"/>
              <a:cs typeface="vivo Sans" panose="02000300000000000000" charset="-122"/>
            </a:endParaRPr>
          </a:p>
        </p:txBody>
      </p:sp>
      <p:sp>
        <p:nvSpPr>
          <p:cNvPr id="44" name="矩形 43"/>
          <p:cNvSpPr>
            <a:spLocks noGrp="1"/>
          </p:cNvSpPr>
          <p:nvPr/>
        </p:nvSpPr>
        <p:spPr>
          <a:xfrm>
            <a:off x="4572000" y="5153025"/>
            <a:ext cx="819150" cy="276225"/>
          </a:xfrm>
          <a:prstGeom prst="rect">
            <a:avLst/>
          </a:prstGeom>
          <a:noFill/>
          <a:ln w="0">
            <a:noFill/>
            <a:prstDash val="solid"/>
          </a:ln>
        </p:spPr>
        <p:txBody>
          <a:bodyPr wrap="square" lIns="0" tIns="0" rIns="0" bIns="0" anchor="t">
            <a:normAutofit/>
          </a:bodyPr>
          <a:lstStyle/>
          <a:p>
            <a:pPr algn="l">
              <a:buNone/>
              <a:defRPr sz="1500" b="1">
                <a:solidFill>
                  <a:srgbClr val="1737C8"/>
                </a:solidFill>
                <a:latin typeface="vivo Sans" panose="02000300000000000000" charset="-122"/>
                <a:ea typeface="vivo Sans" panose="02000300000000000000" charset="-122"/>
                <a:cs typeface="vivo Sans" panose="02000300000000000000" charset="-122"/>
              </a:defRPr>
            </a:pPr>
            <a:r>
              <a:rPr sz="1500" b="1">
                <a:solidFill>
                  <a:srgbClr val="2B4FFF"/>
                </a:solidFill>
                <a:latin typeface="vivo Sans" panose="02000300000000000000" charset="-122"/>
                <a:ea typeface="vivo Sans" panose="02000300000000000000" charset="-122"/>
                <a:cs typeface="vivo Sans" panose="02000300000000000000" charset="-122"/>
              </a:rPr>
              <a:t>瓶颈</a:t>
            </a:r>
            <a:endParaRPr sz="1500" b="1">
              <a:solidFill>
                <a:srgbClr val="2B4FFF"/>
              </a:solidFill>
              <a:latin typeface="vivo Sans" panose="02000300000000000000" charset="-122"/>
              <a:ea typeface="vivo Sans" panose="02000300000000000000" charset="-122"/>
              <a:cs typeface="vivo Sans" panose="02000300000000000000" charset="-122"/>
            </a:endParaRPr>
          </a:p>
        </p:txBody>
      </p:sp>
      <p:sp>
        <p:nvSpPr>
          <p:cNvPr id="45" name="矩形 44"/>
          <p:cNvSpPr>
            <a:spLocks noGrp="1"/>
          </p:cNvSpPr>
          <p:nvPr/>
        </p:nvSpPr>
        <p:spPr>
          <a:xfrm>
            <a:off x="4572000" y="5524500"/>
            <a:ext cx="3048000" cy="828675"/>
          </a:xfrm>
          <a:prstGeom prst="rect">
            <a:avLst/>
          </a:prstGeom>
          <a:noFill/>
          <a:ln w="0">
            <a:noFill/>
            <a:prstDash val="solid"/>
          </a:ln>
        </p:spPr>
        <p:txBody>
          <a:bodyPr wrap="square" lIns="0" tIns="0" rIns="0" bIns="0" anchor="t">
            <a:normAutofit lnSpcReduction="10000"/>
          </a:bodyPr>
          <a:lstStyle/>
          <a:p>
            <a:pPr marL="285750" indent="-285750" algn="l">
              <a:lnSpc>
                <a:spcPct val="150000"/>
              </a:lnSpc>
              <a:buFont typeface="Arial" panose="020B0604020202020204" pitchFamily="34" charset="0"/>
              <a:buChar char="•"/>
              <a:defRPr sz="1275" b="0">
                <a:solidFill>
                  <a:srgbClr val="344054"/>
                </a:solidFill>
                <a:latin typeface="vivo Sans" panose="02000300000000000000" charset="-122"/>
                <a:ea typeface="vivo Sans" panose="02000300000000000000" charset="-122"/>
                <a:cs typeface="vivo Sans" panose="02000300000000000000" charset="-122"/>
              </a:defRPr>
            </a:pPr>
            <a:r>
              <a:rPr sz="1275" b="0">
                <a:solidFill>
                  <a:srgbClr val="344054"/>
                </a:solidFill>
                <a:latin typeface="vivo Sans" panose="02000300000000000000" charset="-122"/>
                <a:ea typeface="vivo Sans" panose="02000300000000000000" charset="-122"/>
                <a:cs typeface="vivo Sans" panose="02000300000000000000" charset="-122"/>
              </a:rPr>
              <a:t>增长仍受新机与热点周期影响</a:t>
            </a:r>
            <a:endParaRPr sz="1275" b="0">
              <a:solidFill>
                <a:srgbClr val="344054"/>
              </a:solidFill>
              <a:latin typeface="vivo Sans" panose="02000300000000000000" charset="-122"/>
              <a:ea typeface="vivo Sans" panose="02000300000000000000" charset="-122"/>
              <a:cs typeface="vivo Sans" panose="02000300000000000000" charset="-122"/>
            </a:endParaRPr>
          </a:p>
          <a:p>
            <a:pPr marL="285750" indent="-285750" algn="l">
              <a:lnSpc>
                <a:spcPct val="150000"/>
              </a:lnSpc>
              <a:buFont typeface="Arial" panose="020B0604020202020204" pitchFamily="34" charset="0"/>
              <a:buChar char="•"/>
              <a:defRPr sz="1275" b="0">
                <a:solidFill>
                  <a:srgbClr val="344054"/>
                </a:solidFill>
                <a:latin typeface="vivo Sans" panose="02000300000000000000" charset="-122"/>
                <a:ea typeface="vivo Sans" panose="02000300000000000000" charset="-122"/>
                <a:cs typeface="vivo Sans" panose="02000300000000000000" charset="-122"/>
              </a:defRPr>
            </a:pPr>
            <a:r>
              <a:rPr sz="1275" b="0">
                <a:solidFill>
                  <a:srgbClr val="344054"/>
                </a:solidFill>
                <a:latin typeface="vivo Sans" panose="02000300000000000000" charset="-122"/>
                <a:ea typeface="vivo Sans" panose="02000300000000000000" charset="-122"/>
                <a:cs typeface="vivo Sans" panose="02000300000000000000" charset="-122"/>
              </a:rPr>
              <a:t>垂直赛道</a:t>
            </a:r>
            <a:r>
              <a:rPr lang="zh-CN" sz="1275" b="0">
                <a:solidFill>
                  <a:srgbClr val="344054"/>
                </a:solidFill>
                <a:latin typeface="vivo Sans" panose="02000300000000000000" charset="-122"/>
                <a:ea typeface="vivo Sans" panose="02000300000000000000" charset="-122"/>
                <a:cs typeface="vivo Sans" panose="02000300000000000000" charset="-122"/>
              </a:rPr>
              <a:t>极窄</a:t>
            </a:r>
            <a:r>
              <a:rPr sz="1275" b="0">
                <a:solidFill>
                  <a:srgbClr val="344054"/>
                </a:solidFill>
                <a:latin typeface="vivo Sans" panose="02000300000000000000" charset="-122"/>
                <a:ea typeface="vivo Sans" panose="02000300000000000000" charset="-122"/>
                <a:cs typeface="vivo Sans" panose="02000300000000000000" charset="-122"/>
              </a:rPr>
              <a:t>限制日常流量入口</a:t>
            </a:r>
            <a:endParaRPr sz="1275" b="0">
              <a:solidFill>
                <a:srgbClr val="344054"/>
              </a:solidFill>
              <a:latin typeface="vivo Sans" panose="02000300000000000000" charset="-122"/>
              <a:ea typeface="vivo Sans" panose="02000300000000000000" charset="-122"/>
              <a:cs typeface="vivo Sans" panose="02000300000000000000" charset="-122"/>
            </a:endParaRPr>
          </a:p>
          <a:p>
            <a:pPr marL="285750" indent="-285750" algn="l">
              <a:lnSpc>
                <a:spcPct val="150000"/>
              </a:lnSpc>
              <a:buFont typeface="Arial" panose="020B0604020202020204" pitchFamily="34" charset="0"/>
              <a:buChar char="•"/>
              <a:defRPr sz="1275" b="0">
                <a:solidFill>
                  <a:srgbClr val="344054"/>
                </a:solidFill>
                <a:latin typeface="vivo Sans" panose="02000300000000000000" charset="-122"/>
                <a:ea typeface="vivo Sans" panose="02000300000000000000" charset="-122"/>
                <a:cs typeface="vivo Sans" panose="02000300000000000000" charset="-122"/>
              </a:defRPr>
            </a:pPr>
            <a:r>
              <a:rPr sz="1275" b="0">
                <a:solidFill>
                  <a:srgbClr val="344054"/>
                </a:solidFill>
                <a:latin typeface="vivo Sans" panose="02000300000000000000" charset="-122"/>
                <a:ea typeface="vivo Sans" panose="02000300000000000000" charset="-122"/>
                <a:cs typeface="vivo Sans" panose="02000300000000000000" charset="-122"/>
              </a:rPr>
              <a:t>高播放内容互动转化不稳定</a:t>
            </a:r>
            <a:endParaRPr sz="1275" b="0">
              <a:solidFill>
                <a:srgbClr val="344054"/>
              </a:solidFill>
              <a:latin typeface="vivo Sans" panose="02000300000000000000" charset="-122"/>
              <a:ea typeface="vivo Sans" panose="02000300000000000000" charset="-122"/>
              <a:cs typeface="vivo Sans" panose="02000300000000000000" charset="-122"/>
            </a:endParaRPr>
          </a:p>
        </p:txBody>
      </p:sp>
      <p:sp>
        <p:nvSpPr>
          <p:cNvPr id="46" name="矩形 45"/>
          <p:cNvSpPr>
            <a:spLocks noGrp="1"/>
          </p:cNvSpPr>
          <p:nvPr/>
        </p:nvSpPr>
        <p:spPr>
          <a:xfrm>
            <a:off x="7810500" y="3962400"/>
            <a:ext cx="19050" cy="2076450"/>
          </a:xfrm>
          <a:prstGeom prst="rect">
            <a:avLst/>
          </a:prstGeom>
          <a:solidFill>
            <a:srgbClr val="D7E0FF"/>
          </a:solidFill>
          <a:ln w="0">
            <a:noFill/>
            <a:prstDash val="solid"/>
          </a:ln>
        </p:spPr>
      </p:sp>
      <p:sp>
        <p:nvSpPr>
          <p:cNvPr id="47" name="矩形 46"/>
          <p:cNvSpPr>
            <a:spLocks noGrp="1"/>
          </p:cNvSpPr>
          <p:nvPr/>
        </p:nvSpPr>
        <p:spPr>
          <a:xfrm>
            <a:off x="8115300" y="3800475"/>
            <a:ext cx="1714500" cy="276225"/>
          </a:xfrm>
          <a:prstGeom prst="rect">
            <a:avLst/>
          </a:prstGeom>
          <a:noFill/>
          <a:ln w="0">
            <a:noFill/>
            <a:prstDash val="solid"/>
          </a:ln>
        </p:spPr>
        <p:txBody>
          <a:bodyPr wrap="square" lIns="0" tIns="0" rIns="0" bIns="0" anchor="t">
            <a:normAutofit/>
          </a:bodyPr>
          <a:lstStyle/>
          <a:p>
            <a:pPr algn="l">
              <a:buNone/>
              <a:defRPr sz="1500" b="1">
                <a:solidFill>
                  <a:srgbClr val="3157FF"/>
                </a:solidFill>
                <a:latin typeface="vivo Sans" panose="02000300000000000000" charset="-122"/>
                <a:ea typeface="vivo Sans" panose="02000300000000000000" charset="-122"/>
                <a:cs typeface="vivo Sans" panose="02000300000000000000" charset="-122"/>
              </a:defRPr>
            </a:pPr>
            <a:r>
              <a:rPr sz="1500" b="1">
                <a:solidFill>
                  <a:srgbClr val="3157FF"/>
                </a:solidFill>
                <a:latin typeface="vivo Sans" panose="02000300000000000000" charset="-122"/>
                <a:ea typeface="vivo Sans" panose="02000300000000000000" charset="-122"/>
                <a:cs typeface="vivo Sans" panose="02000300000000000000" charset="-122"/>
              </a:rPr>
              <a:t>方法论</a:t>
            </a:r>
            <a:endParaRPr sz="1500" b="1">
              <a:solidFill>
                <a:srgbClr val="3157FF"/>
              </a:solidFill>
              <a:latin typeface="vivo Sans" panose="02000300000000000000" charset="-122"/>
              <a:ea typeface="vivo Sans" panose="02000300000000000000" charset="-122"/>
              <a:cs typeface="vivo Sans" panose="02000300000000000000" charset="-122"/>
            </a:endParaRPr>
          </a:p>
        </p:txBody>
      </p:sp>
      <p:sp>
        <p:nvSpPr>
          <p:cNvPr id="48" name="椭圆 47"/>
          <p:cNvSpPr>
            <a:spLocks noGrp="1"/>
          </p:cNvSpPr>
          <p:nvPr/>
        </p:nvSpPr>
        <p:spPr>
          <a:xfrm>
            <a:off x="8134350" y="4171950"/>
            <a:ext cx="266700" cy="266700"/>
          </a:xfrm>
          <a:prstGeom prst="ellipse">
            <a:avLst/>
          </a:prstGeom>
          <a:solidFill>
            <a:srgbClr val="3157FF"/>
          </a:solidFill>
          <a:ln w="0">
            <a:noFill/>
            <a:prstDash val="solid"/>
          </a:ln>
        </p:spPr>
      </p:sp>
      <p:sp>
        <p:nvSpPr>
          <p:cNvPr id="49" name="矩形 48"/>
          <p:cNvSpPr>
            <a:spLocks noGrp="1"/>
          </p:cNvSpPr>
          <p:nvPr/>
        </p:nvSpPr>
        <p:spPr>
          <a:xfrm>
            <a:off x="8134350" y="4210050"/>
            <a:ext cx="266700" cy="180975"/>
          </a:xfrm>
          <a:prstGeom prst="rect">
            <a:avLst/>
          </a:prstGeom>
          <a:noFill/>
          <a:ln w="0">
            <a:noFill/>
            <a:prstDash val="solid"/>
          </a:ln>
        </p:spPr>
        <p:txBody>
          <a:bodyPr wrap="square" lIns="0" tIns="0" rIns="0" bIns="0" anchor="ctr">
            <a:noAutofit/>
          </a:bodyPr>
          <a:lstStyle/>
          <a:p>
            <a:pPr algn="ctr">
              <a:buNone/>
              <a:defRPr sz="975" b="1">
                <a:solidFill>
                  <a:srgbClr val="FFFFFF"/>
                </a:solidFill>
                <a:latin typeface="vivo Sans" panose="02000300000000000000" charset="-122"/>
                <a:ea typeface="vivo Sans" panose="02000300000000000000" charset="-122"/>
                <a:cs typeface="vivo Sans" panose="02000300000000000000" charset="-122"/>
              </a:defRPr>
            </a:pPr>
            <a:r>
              <a:rPr sz="975" b="1">
                <a:solidFill>
                  <a:srgbClr val="FFFFFF"/>
                </a:solidFill>
                <a:latin typeface="vivo Sans" panose="02000300000000000000" charset="-122"/>
                <a:ea typeface="vivo Sans" panose="02000300000000000000" charset="-122"/>
                <a:cs typeface="vivo Sans" panose="02000300000000000000" charset="-122"/>
              </a:rPr>
              <a:t>01</a:t>
            </a:r>
            <a:endParaRPr sz="975" b="1">
              <a:solidFill>
                <a:srgbClr val="FFFFFF"/>
              </a:solidFill>
              <a:latin typeface="vivo Sans" panose="02000300000000000000" charset="-122"/>
              <a:ea typeface="vivo Sans" panose="02000300000000000000" charset="-122"/>
              <a:cs typeface="vivo Sans" panose="02000300000000000000" charset="-122"/>
            </a:endParaRPr>
          </a:p>
        </p:txBody>
      </p:sp>
      <p:sp>
        <p:nvSpPr>
          <p:cNvPr id="50" name="矩形 49"/>
          <p:cNvSpPr>
            <a:spLocks noGrp="1"/>
          </p:cNvSpPr>
          <p:nvPr/>
        </p:nvSpPr>
        <p:spPr>
          <a:xfrm>
            <a:off x="8515350" y="4201160"/>
            <a:ext cx="1524000" cy="228600"/>
          </a:xfrm>
          <a:prstGeom prst="rect">
            <a:avLst/>
          </a:prstGeom>
          <a:noFill/>
          <a:ln w="0">
            <a:noFill/>
            <a:prstDash val="solid"/>
          </a:ln>
        </p:spPr>
        <p:txBody>
          <a:bodyPr wrap="square" lIns="0" tIns="0" rIns="0" bIns="0" anchor="t">
            <a:normAutofit/>
          </a:bodyPr>
          <a:lstStyle/>
          <a:p>
            <a:pPr algn="l">
              <a:buNone/>
              <a:defRPr sz="1275" b="1">
                <a:solidFill>
                  <a:srgbClr val="101828"/>
                </a:solidFill>
                <a:latin typeface="vivo Sans" panose="02000300000000000000" charset="-122"/>
                <a:ea typeface="vivo Sans" panose="02000300000000000000" charset="-122"/>
                <a:cs typeface="vivo Sans" panose="02000300000000000000" charset="-122"/>
              </a:defRPr>
            </a:pPr>
            <a:r>
              <a:rPr sz="1275" b="1">
                <a:solidFill>
                  <a:srgbClr val="101828"/>
                </a:solidFill>
                <a:latin typeface="vivo Sans" panose="02000300000000000000" charset="-122"/>
                <a:ea typeface="vivo Sans" panose="02000300000000000000" charset="-122"/>
                <a:cs typeface="vivo Sans" panose="02000300000000000000" charset="-122"/>
              </a:rPr>
              <a:t>选用户痛点</a:t>
            </a:r>
            <a:endParaRPr sz="1275" b="1">
              <a:solidFill>
                <a:srgbClr val="101828"/>
              </a:solidFill>
              <a:latin typeface="vivo Sans" panose="02000300000000000000" charset="-122"/>
              <a:ea typeface="vivo Sans" panose="02000300000000000000" charset="-122"/>
              <a:cs typeface="vivo Sans" panose="02000300000000000000" charset="-122"/>
            </a:endParaRPr>
          </a:p>
        </p:txBody>
      </p:sp>
      <p:sp>
        <p:nvSpPr>
          <p:cNvPr id="51" name="矩形 50"/>
          <p:cNvSpPr>
            <a:spLocks noGrp="1"/>
          </p:cNvSpPr>
          <p:nvPr/>
        </p:nvSpPr>
        <p:spPr>
          <a:xfrm>
            <a:off x="9925050" y="4162425"/>
            <a:ext cx="1657350" cy="323850"/>
          </a:xfrm>
          <a:prstGeom prst="rect">
            <a:avLst/>
          </a:prstGeom>
          <a:noFill/>
          <a:ln w="0">
            <a:noFill/>
            <a:prstDash val="solid"/>
          </a:ln>
        </p:spPr>
        <p:txBody>
          <a:bodyPr wrap="square" lIns="0" tIns="0" rIns="0" bIns="0" anchor="t">
            <a:normAutofit/>
          </a:bodyPr>
          <a:lstStyle/>
          <a:p>
            <a:pPr algn="l">
              <a:lnSpc>
                <a:spcPct val="105000"/>
              </a:lnSpc>
              <a:buNone/>
              <a:defRPr sz="1125" b="0">
                <a:solidFill>
                  <a:srgbClr val="667085"/>
                </a:solidFill>
                <a:latin typeface="vivo Sans" panose="02000300000000000000" charset="-122"/>
                <a:ea typeface="vivo Sans" panose="02000300000000000000" charset="-122"/>
                <a:cs typeface="vivo Sans" panose="02000300000000000000" charset="-122"/>
              </a:defRPr>
            </a:pPr>
            <a:r>
              <a:rPr lang="zh-CN" sz="1125" b="0">
                <a:solidFill>
                  <a:srgbClr val="667085"/>
                </a:solidFill>
                <a:latin typeface="vivo Sans" panose="02000300000000000000" charset="-122"/>
                <a:ea typeface="vivo Sans" panose="02000300000000000000" charset="-122"/>
                <a:cs typeface="vivo Sans" panose="02000300000000000000" charset="-122"/>
              </a:rPr>
              <a:t>大小屏</a:t>
            </a:r>
            <a:r>
              <a:rPr sz="1125" b="0">
                <a:solidFill>
                  <a:srgbClr val="667085"/>
                </a:solidFill>
                <a:latin typeface="vivo Sans" panose="02000300000000000000" charset="-122"/>
                <a:ea typeface="vivo Sans" panose="02000300000000000000" charset="-122"/>
                <a:cs typeface="vivo Sans" panose="02000300000000000000" charset="-122"/>
              </a:rPr>
              <a:t>/频闪/护眼</a:t>
            </a:r>
            <a:endParaRPr sz="1125" b="0">
              <a:solidFill>
                <a:srgbClr val="667085"/>
              </a:solidFill>
              <a:latin typeface="vivo Sans" panose="02000300000000000000" charset="-122"/>
              <a:ea typeface="vivo Sans" panose="02000300000000000000" charset="-122"/>
              <a:cs typeface="vivo Sans" panose="02000300000000000000" charset="-122"/>
            </a:endParaRPr>
          </a:p>
        </p:txBody>
      </p:sp>
      <p:sp>
        <p:nvSpPr>
          <p:cNvPr id="52" name="椭圆 51"/>
          <p:cNvSpPr>
            <a:spLocks noGrp="1"/>
          </p:cNvSpPr>
          <p:nvPr/>
        </p:nvSpPr>
        <p:spPr>
          <a:xfrm>
            <a:off x="8134350" y="4629150"/>
            <a:ext cx="266700" cy="266700"/>
          </a:xfrm>
          <a:prstGeom prst="ellipse">
            <a:avLst/>
          </a:prstGeom>
          <a:solidFill>
            <a:srgbClr val="3157FF"/>
          </a:solidFill>
          <a:ln w="0">
            <a:noFill/>
            <a:prstDash val="solid"/>
          </a:ln>
        </p:spPr>
      </p:sp>
      <p:sp>
        <p:nvSpPr>
          <p:cNvPr id="53" name="矩形 52"/>
          <p:cNvSpPr>
            <a:spLocks noGrp="1"/>
          </p:cNvSpPr>
          <p:nvPr/>
        </p:nvSpPr>
        <p:spPr>
          <a:xfrm>
            <a:off x="8134350" y="4667250"/>
            <a:ext cx="266700" cy="180975"/>
          </a:xfrm>
          <a:prstGeom prst="rect">
            <a:avLst/>
          </a:prstGeom>
          <a:noFill/>
          <a:ln w="0">
            <a:noFill/>
            <a:prstDash val="solid"/>
          </a:ln>
        </p:spPr>
        <p:txBody>
          <a:bodyPr wrap="square" lIns="0" tIns="0" rIns="0" bIns="0" anchor="ctr">
            <a:noAutofit/>
          </a:bodyPr>
          <a:lstStyle/>
          <a:p>
            <a:pPr algn="ctr">
              <a:buNone/>
              <a:defRPr sz="975" b="1">
                <a:solidFill>
                  <a:srgbClr val="FFFFFF"/>
                </a:solidFill>
                <a:latin typeface="vivo Sans" panose="02000300000000000000" charset="-122"/>
                <a:ea typeface="vivo Sans" panose="02000300000000000000" charset="-122"/>
                <a:cs typeface="vivo Sans" panose="02000300000000000000" charset="-122"/>
              </a:defRPr>
            </a:pPr>
            <a:r>
              <a:rPr sz="975" b="1">
                <a:solidFill>
                  <a:srgbClr val="FFFFFF"/>
                </a:solidFill>
                <a:latin typeface="vivo Sans" panose="02000300000000000000" charset="-122"/>
                <a:ea typeface="vivo Sans" panose="02000300000000000000" charset="-122"/>
                <a:cs typeface="vivo Sans" panose="02000300000000000000" charset="-122"/>
              </a:rPr>
              <a:t>02</a:t>
            </a:r>
            <a:endParaRPr sz="975" b="1">
              <a:solidFill>
                <a:srgbClr val="FFFFFF"/>
              </a:solidFill>
              <a:latin typeface="vivo Sans" panose="02000300000000000000" charset="-122"/>
              <a:ea typeface="vivo Sans" panose="02000300000000000000" charset="-122"/>
              <a:cs typeface="vivo Sans" panose="02000300000000000000" charset="-122"/>
            </a:endParaRPr>
          </a:p>
        </p:txBody>
      </p:sp>
      <p:sp>
        <p:nvSpPr>
          <p:cNvPr id="54" name="矩形 53"/>
          <p:cNvSpPr>
            <a:spLocks noGrp="1"/>
          </p:cNvSpPr>
          <p:nvPr/>
        </p:nvSpPr>
        <p:spPr>
          <a:xfrm>
            <a:off x="8515350" y="4668520"/>
            <a:ext cx="1524000" cy="228600"/>
          </a:xfrm>
          <a:prstGeom prst="rect">
            <a:avLst/>
          </a:prstGeom>
          <a:noFill/>
          <a:ln w="0">
            <a:noFill/>
            <a:prstDash val="solid"/>
          </a:ln>
        </p:spPr>
        <p:txBody>
          <a:bodyPr wrap="square" lIns="0" tIns="0" rIns="0" bIns="0" anchor="t">
            <a:normAutofit/>
          </a:bodyPr>
          <a:lstStyle/>
          <a:p>
            <a:pPr algn="l">
              <a:buNone/>
              <a:defRPr sz="1275" b="1">
                <a:solidFill>
                  <a:srgbClr val="101828"/>
                </a:solidFill>
                <a:latin typeface="vivo Sans" panose="02000300000000000000" charset="-122"/>
                <a:ea typeface="vivo Sans" panose="02000300000000000000" charset="-122"/>
                <a:cs typeface="vivo Sans" panose="02000300000000000000" charset="-122"/>
              </a:defRPr>
            </a:pPr>
            <a:r>
              <a:rPr sz="1275" b="1">
                <a:solidFill>
                  <a:srgbClr val="101828"/>
                </a:solidFill>
                <a:latin typeface="vivo Sans" panose="02000300000000000000" charset="-122"/>
                <a:ea typeface="vivo Sans" panose="02000300000000000000" charset="-122"/>
                <a:cs typeface="vivo Sans" panose="02000300000000000000" charset="-122"/>
              </a:rPr>
              <a:t>做</a:t>
            </a:r>
            <a:r>
              <a:rPr lang="zh-CN" sz="1275" b="1">
                <a:solidFill>
                  <a:srgbClr val="101828"/>
                </a:solidFill>
                <a:latin typeface="vivo Sans" panose="02000300000000000000" charset="-122"/>
                <a:ea typeface="vivo Sans" panose="02000300000000000000" charset="-122"/>
                <a:cs typeface="vivo Sans" panose="02000300000000000000" charset="-122"/>
              </a:rPr>
              <a:t>热议</a:t>
            </a:r>
            <a:r>
              <a:rPr lang="zh-CN" sz="1275" b="1">
                <a:solidFill>
                  <a:srgbClr val="101828"/>
                </a:solidFill>
                <a:latin typeface="vivo Sans" panose="02000300000000000000" charset="-122"/>
                <a:ea typeface="vivo Sans" panose="02000300000000000000" charset="-122"/>
                <a:cs typeface="vivo Sans" panose="02000300000000000000" charset="-122"/>
              </a:rPr>
              <a:t>品牌</a:t>
            </a:r>
            <a:endParaRPr lang="zh-CN" sz="1275" b="1">
              <a:solidFill>
                <a:srgbClr val="101828"/>
              </a:solidFill>
              <a:latin typeface="vivo Sans" panose="02000300000000000000" charset="-122"/>
              <a:ea typeface="vivo Sans" panose="02000300000000000000" charset="-122"/>
              <a:cs typeface="vivo Sans" panose="02000300000000000000" charset="-122"/>
            </a:endParaRPr>
          </a:p>
        </p:txBody>
      </p:sp>
      <p:sp>
        <p:nvSpPr>
          <p:cNvPr id="55" name="矩形 54"/>
          <p:cNvSpPr>
            <a:spLocks noGrp="1"/>
          </p:cNvSpPr>
          <p:nvPr/>
        </p:nvSpPr>
        <p:spPr>
          <a:xfrm>
            <a:off x="9925050" y="4619625"/>
            <a:ext cx="1657350" cy="323850"/>
          </a:xfrm>
          <a:prstGeom prst="rect">
            <a:avLst/>
          </a:prstGeom>
          <a:noFill/>
          <a:ln w="0">
            <a:noFill/>
            <a:prstDash val="solid"/>
          </a:ln>
        </p:spPr>
        <p:txBody>
          <a:bodyPr wrap="square" lIns="0" tIns="0" rIns="0" bIns="0" anchor="t">
            <a:normAutofit/>
          </a:bodyPr>
          <a:lstStyle/>
          <a:p>
            <a:pPr algn="l">
              <a:lnSpc>
                <a:spcPct val="105000"/>
              </a:lnSpc>
              <a:buNone/>
              <a:defRPr sz="1125" b="0">
                <a:solidFill>
                  <a:srgbClr val="667085"/>
                </a:solidFill>
                <a:latin typeface="vivo Sans" panose="02000300000000000000" charset="-122"/>
                <a:ea typeface="vivo Sans" panose="02000300000000000000" charset="-122"/>
                <a:cs typeface="vivo Sans" panose="02000300000000000000" charset="-122"/>
              </a:defRPr>
            </a:pPr>
            <a:r>
              <a:rPr lang="zh-CN" sz="1125" b="0">
                <a:solidFill>
                  <a:srgbClr val="667085"/>
                </a:solidFill>
                <a:latin typeface="vivo Sans" panose="02000300000000000000" charset="-122"/>
                <a:ea typeface="vivo Sans" panose="02000300000000000000" charset="-122"/>
                <a:cs typeface="vivo Sans" panose="02000300000000000000" charset="-122"/>
              </a:rPr>
              <a:t>苹果</a:t>
            </a:r>
            <a:r>
              <a:rPr sz="1125" b="0">
                <a:solidFill>
                  <a:srgbClr val="667085"/>
                </a:solidFill>
                <a:latin typeface="vivo Sans" panose="02000300000000000000" charset="-122"/>
                <a:ea typeface="vivo Sans" panose="02000300000000000000" charset="-122"/>
                <a:cs typeface="vivo Sans" panose="02000300000000000000" charset="-122"/>
              </a:rPr>
              <a:t> vs 安卓/华为</a:t>
            </a:r>
            <a:endParaRPr sz="1125" b="0">
              <a:solidFill>
                <a:srgbClr val="667085"/>
              </a:solidFill>
              <a:latin typeface="vivo Sans" panose="02000300000000000000" charset="-122"/>
              <a:ea typeface="vivo Sans" panose="02000300000000000000" charset="-122"/>
              <a:cs typeface="vivo Sans" panose="02000300000000000000" charset="-122"/>
            </a:endParaRPr>
          </a:p>
        </p:txBody>
      </p:sp>
      <p:sp>
        <p:nvSpPr>
          <p:cNvPr id="56" name="椭圆 55"/>
          <p:cNvSpPr>
            <a:spLocks noGrp="1"/>
          </p:cNvSpPr>
          <p:nvPr/>
        </p:nvSpPr>
        <p:spPr>
          <a:xfrm>
            <a:off x="8134350" y="5086350"/>
            <a:ext cx="266700" cy="266700"/>
          </a:xfrm>
          <a:prstGeom prst="ellipse">
            <a:avLst/>
          </a:prstGeom>
          <a:solidFill>
            <a:srgbClr val="3157FF"/>
          </a:solidFill>
          <a:ln w="0">
            <a:noFill/>
            <a:prstDash val="solid"/>
          </a:ln>
        </p:spPr>
      </p:sp>
      <p:sp>
        <p:nvSpPr>
          <p:cNvPr id="57" name="矩形 56"/>
          <p:cNvSpPr>
            <a:spLocks noGrp="1"/>
          </p:cNvSpPr>
          <p:nvPr/>
        </p:nvSpPr>
        <p:spPr>
          <a:xfrm>
            <a:off x="8134350" y="5124450"/>
            <a:ext cx="266700" cy="180975"/>
          </a:xfrm>
          <a:prstGeom prst="rect">
            <a:avLst/>
          </a:prstGeom>
          <a:noFill/>
          <a:ln w="0">
            <a:noFill/>
            <a:prstDash val="solid"/>
          </a:ln>
        </p:spPr>
        <p:txBody>
          <a:bodyPr wrap="square" lIns="0" tIns="0" rIns="0" bIns="0" anchor="ctr">
            <a:noAutofit/>
          </a:bodyPr>
          <a:lstStyle/>
          <a:p>
            <a:pPr algn="ctr">
              <a:buNone/>
              <a:defRPr sz="975" b="1">
                <a:solidFill>
                  <a:srgbClr val="FFFFFF"/>
                </a:solidFill>
                <a:latin typeface="vivo Sans" panose="02000300000000000000" charset="-122"/>
                <a:ea typeface="vivo Sans" panose="02000300000000000000" charset="-122"/>
                <a:cs typeface="vivo Sans" panose="02000300000000000000" charset="-122"/>
              </a:defRPr>
            </a:pPr>
            <a:r>
              <a:rPr sz="975" b="1">
                <a:solidFill>
                  <a:srgbClr val="FFFFFF"/>
                </a:solidFill>
                <a:latin typeface="vivo Sans" panose="02000300000000000000" charset="-122"/>
                <a:ea typeface="vivo Sans" panose="02000300000000000000" charset="-122"/>
                <a:cs typeface="vivo Sans" panose="02000300000000000000" charset="-122"/>
              </a:rPr>
              <a:t>03</a:t>
            </a:r>
            <a:endParaRPr sz="975" b="1">
              <a:solidFill>
                <a:srgbClr val="FFFFFF"/>
              </a:solidFill>
              <a:latin typeface="vivo Sans" panose="02000300000000000000" charset="-122"/>
              <a:ea typeface="vivo Sans" panose="02000300000000000000" charset="-122"/>
              <a:cs typeface="vivo Sans" panose="02000300000000000000" charset="-122"/>
            </a:endParaRPr>
          </a:p>
        </p:txBody>
      </p:sp>
      <p:sp>
        <p:nvSpPr>
          <p:cNvPr id="58" name="矩形 57"/>
          <p:cNvSpPr>
            <a:spLocks noGrp="1"/>
          </p:cNvSpPr>
          <p:nvPr/>
        </p:nvSpPr>
        <p:spPr>
          <a:xfrm>
            <a:off x="8515350" y="5124450"/>
            <a:ext cx="1524000" cy="228600"/>
          </a:xfrm>
          <a:prstGeom prst="rect">
            <a:avLst/>
          </a:prstGeom>
          <a:noFill/>
          <a:ln w="0">
            <a:noFill/>
            <a:prstDash val="solid"/>
          </a:ln>
        </p:spPr>
        <p:txBody>
          <a:bodyPr wrap="square" lIns="0" tIns="0" rIns="0" bIns="0" anchor="t">
            <a:normAutofit/>
          </a:bodyPr>
          <a:lstStyle/>
          <a:p>
            <a:pPr algn="l">
              <a:buNone/>
              <a:defRPr sz="1275" b="1">
                <a:solidFill>
                  <a:srgbClr val="101828"/>
                </a:solidFill>
                <a:latin typeface="vivo Sans" panose="02000300000000000000" charset="-122"/>
                <a:ea typeface="vivo Sans" panose="02000300000000000000" charset="-122"/>
                <a:cs typeface="vivo Sans" panose="02000300000000000000" charset="-122"/>
              </a:defRPr>
            </a:pPr>
            <a:r>
              <a:rPr sz="1275" b="1">
                <a:solidFill>
                  <a:srgbClr val="101828"/>
                </a:solidFill>
                <a:latin typeface="vivo Sans" panose="02000300000000000000" charset="-122"/>
                <a:ea typeface="vivo Sans" panose="02000300000000000000" charset="-122"/>
                <a:cs typeface="vivo Sans" panose="02000300000000000000" charset="-122"/>
              </a:rPr>
              <a:t>给实测证据</a:t>
            </a:r>
            <a:endParaRPr sz="1275" b="1">
              <a:solidFill>
                <a:srgbClr val="101828"/>
              </a:solidFill>
              <a:latin typeface="vivo Sans" panose="02000300000000000000" charset="-122"/>
              <a:ea typeface="vivo Sans" panose="02000300000000000000" charset="-122"/>
              <a:cs typeface="vivo Sans" panose="02000300000000000000" charset="-122"/>
            </a:endParaRPr>
          </a:p>
        </p:txBody>
      </p:sp>
      <p:sp>
        <p:nvSpPr>
          <p:cNvPr id="59" name="矩形 58"/>
          <p:cNvSpPr>
            <a:spLocks noGrp="1"/>
          </p:cNvSpPr>
          <p:nvPr/>
        </p:nvSpPr>
        <p:spPr>
          <a:xfrm>
            <a:off x="9925050" y="5076825"/>
            <a:ext cx="1657350" cy="323850"/>
          </a:xfrm>
          <a:prstGeom prst="rect">
            <a:avLst/>
          </a:prstGeom>
          <a:noFill/>
          <a:ln w="0">
            <a:noFill/>
            <a:prstDash val="solid"/>
          </a:ln>
        </p:spPr>
        <p:txBody>
          <a:bodyPr wrap="square" lIns="0" tIns="0" rIns="0" bIns="0" anchor="t">
            <a:normAutofit/>
          </a:bodyPr>
          <a:lstStyle/>
          <a:p>
            <a:pPr algn="l">
              <a:lnSpc>
                <a:spcPct val="105000"/>
              </a:lnSpc>
              <a:buNone/>
              <a:defRPr sz="1125" b="0">
                <a:solidFill>
                  <a:srgbClr val="667085"/>
                </a:solidFill>
                <a:latin typeface="vivo Sans" panose="02000300000000000000" charset="-122"/>
                <a:ea typeface="vivo Sans" panose="02000300000000000000" charset="-122"/>
                <a:cs typeface="vivo Sans" panose="02000300000000000000" charset="-122"/>
              </a:defRPr>
            </a:pPr>
            <a:r>
              <a:rPr sz="1125" b="0">
                <a:solidFill>
                  <a:srgbClr val="667085"/>
                </a:solidFill>
                <a:latin typeface="vivo Sans" panose="02000300000000000000" charset="-122"/>
                <a:ea typeface="vivo Sans" panose="02000300000000000000" charset="-122"/>
                <a:cs typeface="vivo Sans" panose="02000300000000000000" charset="-122"/>
              </a:rPr>
              <a:t>同场数据＋明确结论</a:t>
            </a:r>
            <a:endParaRPr sz="1125" b="0">
              <a:solidFill>
                <a:srgbClr val="667085"/>
              </a:solidFill>
              <a:latin typeface="vivo Sans" panose="02000300000000000000" charset="-122"/>
              <a:ea typeface="vivo Sans" panose="02000300000000000000" charset="-122"/>
              <a:cs typeface="vivo Sans" panose="02000300000000000000" charset="-122"/>
            </a:endParaRPr>
          </a:p>
        </p:txBody>
      </p:sp>
      <p:sp>
        <p:nvSpPr>
          <p:cNvPr id="60" name="椭圆 59"/>
          <p:cNvSpPr>
            <a:spLocks noGrp="1"/>
          </p:cNvSpPr>
          <p:nvPr/>
        </p:nvSpPr>
        <p:spPr>
          <a:xfrm>
            <a:off x="8134350" y="5543550"/>
            <a:ext cx="266700" cy="266700"/>
          </a:xfrm>
          <a:prstGeom prst="ellipse">
            <a:avLst/>
          </a:prstGeom>
          <a:solidFill>
            <a:srgbClr val="3157FF"/>
          </a:solidFill>
          <a:ln w="0">
            <a:noFill/>
            <a:prstDash val="solid"/>
          </a:ln>
        </p:spPr>
      </p:sp>
      <p:sp>
        <p:nvSpPr>
          <p:cNvPr id="61" name="矩形 60"/>
          <p:cNvSpPr>
            <a:spLocks noGrp="1"/>
          </p:cNvSpPr>
          <p:nvPr/>
        </p:nvSpPr>
        <p:spPr>
          <a:xfrm>
            <a:off x="8134350" y="5581650"/>
            <a:ext cx="266700" cy="180975"/>
          </a:xfrm>
          <a:prstGeom prst="rect">
            <a:avLst/>
          </a:prstGeom>
          <a:noFill/>
          <a:ln w="0">
            <a:noFill/>
            <a:prstDash val="solid"/>
          </a:ln>
        </p:spPr>
        <p:txBody>
          <a:bodyPr wrap="square" lIns="0" tIns="0" rIns="0" bIns="0" anchor="ctr">
            <a:noAutofit/>
          </a:bodyPr>
          <a:lstStyle/>
          <a:p>
            <a:pPr algn="ctr">
              <a:buNone/>
              <a:defRPr sz="975" b="1">
                <a:solidFill>
                  <a:srgbClr val="FFFFFF"/>
                </a:solidFill>
                <a:latin typeface="vivo Sans" panose="02000300000000000000" charset="-122"/>
                <a:ea typeface="vivo Sans" panose="02000300000000000000" charset="-122"/>
                <a:cs typeface="vivo Sans" panose="02000300000000000000" charset="-122"/>
              </a:defRPr>
            </a:pPr>
            <a:r>
              <a:rPr sz="975" b="1">
                <a:solidFill>
                  <a:srgbClr val="FFFFFF"/>
                </a:solidFill>
                <a:latin typeface="vivo Sans" panose="02000300000000000000" charset="-122"/>
                <a:ea typeface="vivo Sans" panose="02000300000000000000" charset="-122"/>
                <a:cs typeface="vivo Sans" panose="02000300000000000000" charset="-122"/>
              </a:rPr>
              <a:t>04</a:t>
            </a:r>
            <a:endParaRPr sz="975" b="1">
              <a:solidFill>
                <a:srgbClr val="FFFFFF"/>
              </a:solidFill>
              <a:latin typeface="vivo Sans" panose="02000300000000000000" charset="-122"/>
              <a:ea typeface="vivo Sans" panose="02000300000000000000" charset="-122"/>
              <a:cs typeface="vivo Sans" panose="02000300000000000000" charset="-122"/>
            </a:endParaRPr>
          </a:p>
        </p:txBody>
      </p:sp>
      <p:sp>
        <p:nvSpPr>
          <p:cNvPr id="62" name="矩形 61"/>
          <p:cNvSpPr>
            <a:spLocks noGrp="1"/>
          </p:cNvSpPr>
          <p:nvPr/>
        </p:nvSpPr>
        <p:spPr>
          <a:xfrm>
            <a:off x="8515350" y="5580380"/>
            <a:ext cx="1524000" cy="228600"/>
          </a:xfrm>
          <a:prstGeom prst="rect">
            <a:avLst/>
          </a:prstGeom>
          <a:noFill/>
          <a:ln w="0">
            <a:noFill/>
            <a:prstDash val="solid"/>
          </a:ln>
        </p:spPr>
        <p:txBody>
          <a:bodyPr wrap="square" lIns="0" tIns="0" rIns="0" bIns="0" anchor="t">
            <a:normAutofit/>
          </a:bodyPr>
          <a:lstStyle/>
          <a:p>
            <a:pPr algn="l">
              <a:buNone/>
              <a:defRPr sz="1275" b="1">
                <a:solidFill>
                  <a:srgbClr val="101828"/>
                </a:solidFill>
                <a:latin typeface="vivo Sans" panose="02000300000000000000" charset="-122"/>
                <a:ea typeface="vivo Sans" panose="02000300000000000000" charset="-122"/>
                <a:cs typeface="vivo Sans" panose="02000300000000000000" charset="-122"/>
              </a:defRPr>
            </a:pPr>
            <a:r>
              <a:rPr sz="1275" b="1">
                <a:solidFill>
                  <a:srgbClr val="101828"/>
                </a:solidFill>
                <a:latin typeface="vivo Sans" panose="02000300000000000000" charset="-122"/>
                <a:ea typeface="vivo Sans" panose="02000300000000000000" charset="-122"/>
                <a:cs typeface="vivo Sans" panose="02000300000000000000" charset="-122"/>
              </a:rPr>
              <a:t>追</a:t>
            </a:r>
            <a:r>
              <a:rPr lang="zh-CN" sz="1275" b="1">
                <a:solidFill>
                  <a:srgbClr val="101828"/>
                </a:solidFill>
                <a:latin typeface="vivo Sans" panose="02000300000000000000" charset="-122"/>
                <a:ea typeface="vivo Sans" panose="02000300000000000000" charset="-122"/>
                <a:cs typeface="vivo Sans" panose="02000300000000000000" charset="-122"/>
              </a:rPr>
              <a:t>新机</a:t>
            </a:r>
            <a:r>
              <a:rPr lang="zh-CN" sz="1275" b="1">
                <a:solidFill>
                  <a:srgbClr val="101828"/>
                </a:solidFill>
                <a:latin typeface="vivo Sans" panose="02000300000000000000" charset="-122"/>
                <a:ea typeface="vivo Sans" panose="02000300000000000000" charset="-122"/>
                <a:cs typeface="vivo Sans" panose="02000300000000000000" charset="-122"/>
              </a:rPr>
              <a:t>热点</a:t>
            </a:r>
            <a:endParaRPr lang="zh-CN" sz="1275" b="1">
              <a:solidFill>
                <a:srgbClr val="101828"/>
              </a:solidFill>
              <a:latin typeface="vivo Sans" panose="02000300000000000000" charset="-122"/>
              <a:ea typeface="vivo Sans" panose="02000300000000000000" charset="-122"/>
              <a:cs typeface="vivo Sans" panose="02000300000000000000" charset="-122"/>
            </a:endParaRPr>
          </a:p>
        </p:txBody>
      </p:sp>
      <p:sp>
        <p:nvSpPr>
          <p:cNvPr id="63" name="矩形 62"/>
          <p:cNvSpPr>
            <a:spLocks noGrp="1"/>
          </p:cNvSpPr>
          <p:nvPr/>
        </p:nvSpPr>
        <p:spPr>
          <a:xfrm>
            <a:off x="9925050" y="5534025"/>
            <a:ext cx="1657350" cy="323850"/>
          </a:xfrm>
          <a:prstGeom prst="rect">
            <a:avLst/>
          </a:prstGeom>
          <a:noFill/>
          <a:ln w="0">
            <a:noFill/>
            <a:prstDash val="solid"/>
          </a:ln>
        </p:spPr>
        <p:txBody>
          <a:bodyPr wrap="square" lIns="0" tIns="0" rIns="0" bIns="0" anchor="t">
            <a:normAutofit/>
          </a:bodyPr>
          <a:lstStyle/>
          <a:p>
            <a:pPr algn="l">
              <a:lnSpc>
                <a:spcPct val="105000"/>
              </a:lnSpc>
              <a:buNone/>
              <a:defRPr sz="1125" b="0">
                <a:solidFill>
                  <a:srgbClr val="667085"/>
                </a:solidFill>
                <a:latin typeface="vivo Sans" panose="02000300000000000000" charset="-122"/>
                <a:ea typeface="vivo Sans" panose="02000300000000000000" charset="-122"/>
                <a:cs typeface="vivo Sans" panose="02000300000000000000" charset="-122"/>
              </a:defRPr>
            </a:pPr>
            <a:r>
              <a:rPr sz="1125" b="0">
                <a:solidFill>
                  <a:srgbClr val="667085"/>
                </a:solidFill>
                <a:latin typeface="vivo Sans" panose="02000300000000000000" charset="-122"/>
                <a:ea typeface="vivo Sans" panose="02000300000000000000" charset="-122"/>
                <a:cs typeface="vivo Sans" panose="02000300000000000000" charset="-122"/>
              </a:rPr>
              <a:t>新机发布＋稀缺实测</a:t>
            </a:r>
            <a:endParaRPr sz="1125" b="0">
              <a:solidFill>
                <a:srgbClr val="667085"/>
              </a:solidFill>
              <a:latin typeface="vivo Sans" panose="02000300000000000000" charset="-122"/>
              <a:ea typeface="vivo Sans" panose="02000300000000000000" charset="-122"/>
              <a:cs typeface="vivo Sans" panose="02000300000000000000" charset="-122"/>
            </a:endParaRPr>
          </a:p>
        </p:txBody>
      </p:sp>
      <p:sp>
        <p:nvSpPr>
          <p:cNvPr id="2" name="圆角矩形 1"/>
          <p:cNvSpPr/>
          <p:nvPr/>
        </p:nvSpPr>
        <p:spPr>
          <a:xfrm>
            <a:off x="533400" y="4225290"/>
            <a:ext cx="1456690" cy="556895"/>
          </a:xfrm>
          <a:prstGeom prst="roundRect">
            <a:avLst/>
          </a:prstGeom>
          <a:solidFill>
            <a:srgbClr val="1230A5"/>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圆角矩形 2"/>
          <p:cNvSpPr/>
          <p:nvPr/>
        </p:nvSpPr>
        <p:spPr>
          <a:xfrm>
            <a:off x="2219960" y="4225290"/>
            <a:ext cx="1456690" cy="556895"/>
          </a:xfrm>
          <a:prstGeom prst="roundRect">
            <a:avLst/>
          </a:prstGeom>
          <a:solidFill>
            <a:srgbClr val="1230A5"/>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圆角矩形 3"/>
          <p:cNvSpPr/>
          <p:nvPr/>
        </p:nvSpPr>
        <p:spPr>
          <a:xfrm>
            <a:off x="533400" y="5056505"/>
            <a:ext cx="1456690" cy="556895"/>
          </a:xfrm>
          <a:prstGeom prst="roundRect">
            <a:avLst/>
          </a:prstGeom>
          <a:solidFill>
            <a:srgbClr val="1230A5"/>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2219960" y="5076825"/>
            <a:ext cx="1456690" cy="556895"/>
          </a:xfrm>
          <a:prstGeom prst="roundRect">
            <a:avLst/>
          </a:prstGeom>
          <a:solidFill>
            <a:srgbClr val="1230A5"/>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654685" y="4332605"/>
            <a:ext cx="1334770" cy="306705"/>
          </a:xfrm>
          <a:prstGeom prst="rect">
            <a:avLst/>
          </a:prstGeom>
          <a:noFill/>
        </p:spPr>
        <p:txBody>
          <a:bodyPr wrap="square" rtlCol="0">
            <a:spAutoFit/>
          </a:bodyPr>
          <a:p>
            <a:pPr marL="285750" indent="-285750">
              <a:buFont typeface="Wingdings" panose="05000000000000000000" charset="0"/>
              <a:buChar char=""/>
            </a:pPr>
            <a:r>
              <a:rPr lang="zh-CN" altLang="en-US" sz="1400">
                <a:solidFill>
                  <a:schemeClr val="bg1"/>
                </a:solidFill>
                <a:latin typeface="vivo Sans" panose="02000300000000000000" charset="-122"/>
                <a:ea typeface="vivo Sans" panose="02000300000000000000" charset="-122"/>
              </a:rPr>
              <a:t>阵营对立</a:t>
            </a:r>
            <a:endParaRPr lang="zh-CN" altLang="en-US" sz="1400">
              <a:solidFill>
                <a:schemeClr val="bg1"/>
              </a:solidFill>
              <a:latin typeface="vivo Sans" panose="02000300000000000000" charset="-122"/>
              <a:ea typeface="vivo Sans" panose="02000300000000000000" charset="-122"/>
            </a:endParaRPr>
          </a:p>
        </p:txBody>
      </p:sp>
      <p:sp>
        <p:nvSpPr>
          <p:cNvPr id="7" name="文本框 6"/>
          <p:cNvSpPr txBox="1"/>
          <p:nvPr/>
        </p:nvSpPr>
        <p:spPr>
          <a:xfrm>
            <a:off x="2361565" y="4332605"/>
            <a:ext cx="1277620" cy="306705"/>
          </a:xfrm>
          <a:prstGeom prst="rect">
            <a:avLst/>
          </a:prstGeom>
          <a:noFill/>
        </p:spPr>
        <p:txBody>
          <a:bodyPr wrap="square" rtlCol="0">
            <a:spAutoFit/>
          </a:bodyPr>
          <a:p>
            <a:pPr marL="285750" indent="-285750">
              <a:buFont typeface="Wingdings" panose="05000000000000000000" charset="0"/>
              <a:buChar char=""/>
            </a:pPr>
            <a:r>
              <a:rPr lang="zh-CN" altLang="en-US" sz="1400">
                <a:solidFill>
                  <a:schemeClr val="bg1"/>
                </a:solidFill>
                <a:latin typeface="vivo Sans" panose="02000300000000000000" charset="-122"/>
                <a:ea typeface="vivo Sans" panose="02000300000000000000" charset="-122"/>
              </a:rPr>
              <a:t>争议前置</a:t>
            </a:r>
            <a:endParaRPr lang="zh-CN" altLang="en-US" sz="1400">
              <a:solidFill>
                <a:schemeClr val="bg1"/>
              </a:solidFill>
              <a:latin typeface="vivo Sans" panose="02000300000000000000" charset="-122"/>
              <a:ea typeface="vivo Sans" panose="02000300000000000000" charset="-122"/>
            </a:endParaRPr>
          </a:p>
        </p:txBody>
      </p:sp>
      <p:sp>
        <p:nvSpPr>
          <p:cNvPr id="8" name="文本框 7"/>
          <p:cNvSpPr txBox="1"/>
          <p:nvPr/>
        </p:nvSpPr>
        <p:spPr>
          <a:xfrm>
            <a:off x="713105" y="5153025"/>
            <a:ext cx="1276985" cy="306705"/>
          </a:xfrm>
          <a:prstGeom prst="rect">
            <a:avLst/>
          </a:prstGeom>
          <a:noFill/>
        </p:spPr>
        <p:txBody>
          <a:bodyPr wrap="square" rtlCol="0">
            <a:spAutoFit/>
          </a:bodyPr>
          <a:p>
            <a:pPr marL="285750" indent="-285750">
              <a:buFont typeface="Wingdings" panose="05000000000000000000" charset="0"/>
              <a:buChar char=""/>
            </a:pPr>
            <a:r>
              <a:rPr lang="zh-CN" altLang="en-US" sz="1400">
                <a:solidFill>
                  <a:schemeClr val="bg1"/>
                </a:solidFill>
                <a:latin typeface="vivo Sans" panose="02000300000000000000" charset="-122"/>
                <a:ea typeface="vivo Sans" panose="02000300000000000000" charset="-122"/>
              </a:rPr>
              <a:t>专业实测</a:t>
            </a:r>
            <a:endParaRPr lang="zh-CN" altLang="en-US" sz="1400">
              <a:solidFill>
                <a:schemeClr val="bg1"/>
              </a:solidFill>
              <a:latin typeface="vivo Sans" panose="02000300000000000000" charset="-122"/>
              <a:ea typeface="vivo Sans" panose="02000300000000000000" charset="-122"/>
            </a:endParaRPr>
          </a:p>
        </p:txBody>
      </p:sp>
      <p:sp>
        <p:nvSpPr>
          <p:cNvPr id="9" name="文本框 8"/>
          <p:cNvSpPr txBox="1"/>
          <p:nvPr/>
        </p:nvSpPr>
        <p:spPr>
          <a:xfrm>
            <a:off x="2361565" y="5175250"/>
            <a:ext cx="1277620" cy="306705"/>
          </a:xfrm>
          <a:prstGeom prst="rect">
            <a:avLst/>
          </a:prstGeom>
          <a:noFill/>
        </p:spPr>
        <p:txBody>
          <a:bodyPr wrap="square" rtlCol="0">
            <a:spAutoFit/>
          </a:bodyPr>
          <a:p>
            <a:pPr marL="285750" indent="-285750">
              <a:buFont typeface="Wingdings" panose="05000000000000000000" charset="0"/>
              <a:buChar char=""/>
            </a:pPr>
            <a:r>
              <a:rPr lang="zh-CN" altLang="en-US" sz="1400">
                <a:solidFill>
                  <a:schemeClr val="bg1"/>
                </a:solidFill>
                <a:latin typeface="vivo Sans" panose="02000300000000000000" charset="-122"/>
                <a:ea typeface="vivo Sans" panose="02000300000000000000" charset="-122"/>
              </a:rPr>
              <a:t>新机</a:t>
            </a:r>
            <a:r>
              <a:rPr lang="zh-CN" altLang="en-US" sz="1400">
                <a:solidFill>
                  <a:schemeClr val="bg1"/>
                </a:solidFill>
                <a:latin typeface="vivo Sans" panose="02000300000000000000" charset="-122"/>
                <a:ea typeface="vivo Sans" panose="02000300000000000000" charset="-122"/>
              </a:rPr>
              <a:t>首测</a:t>
            </a:r>
            <a:endParaRPr lang="zh-CN" altLang="en-US" sz="1400">
              <a:solidFill>
                <a:schemeClr val="bg1"/>
              </a:solidFill>
              <a:latin typeface="vivo Sans" panose="02000300000000000000" charset="-122"/>
              <a:ea typeface="vivo Sans" panose="02000300000000000000" charset="-122"/>
            </a:endParaRPr>
          </a:p>
        </p:txBody>
      </p:sp>
      <p:sp>
        <p:nvSpPr>
          <p:cNvPr id="38"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11"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TOP5证明：争议话题与实测对比共同驱动增长</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a:spLocks noGrp="1"/>
          </p:cNvSpPr>
          <p:nvPr/>
        </p:nvSpPr>
        <p:spPr>
          <a:xfrm>
            <a:off x="1794510" y="1933575"/>
            <a:ext cx="8369935" cy="457200"/>
          </a:xfrm>
          <a:prstGeom prst="rect">
            <a:avLst/>
          </a:prstGeom>
          <a:noFill/>
          <a:ln w="0">
            <a:noFill/>
            <a:prstDash val="solid"/>
          </a:ln>
        </p:spPr>
        <p:txBody>
          <a:bodyPr wrap="square" lIns="0" tIns="0" rIns="0" bIns="0" anchor="t">
            <a:noAutofit/>
          </a:bodyPr>
          <a:lstStyle/>
          <a:p>
            <a:pPr algn="l">
              <a:buNone/>
              <a:defRPr sz="1650" b="1">
                <a:solidFill>
                  <a:srgbClr val="3157FF"/>
                </a:solidFill>
                <a:latin typeface="vivo Sans" panose="02000300000000000000" charset="-122"/>
                <a:ea typeface="vivo Sans" panose="02000300000000000000" charset="-122"/>
                <a:cs typeface="vivo Sans" panose="02000300000000000000" charset="-122"/>
              </a:defRPr>
            </a:pPr>
            <a:r>
              <a:rPr sz="3100" b="1">
                <a:solidFill>
                  <a:srgbClr val="1230A5"/>
                </a:solidFill>
                <a:latin typeface="vivo Sans" panose="02000300000000000000" charset="-122"/>
                <a:ea typeface="vivo Sans" panose="02000300000000000000" charset="-122"/>
                <a:cs typeface="vivo Sans" panose="02000300000000000000" charset="-122"/>
              </a:rPr>
              <a:t>H2</a:t>
            </a:r>
            <a:r>
              <a:rPr lang="zh-CN" sz="3100" b="1">
                <a:solidFill>
                  <a:srgbClr val="1230A5"/>
                </a:solidFill>
                <a:latin typeface="vivo Sans" panose="02000300000000000000" charset="-122"/>
                <a:ea typeface="vivo Sans" panose="02000300000000000000" charset="-122"/>
                <a:cs typeface="vivo Sans" panose="02000300000000000000" charset="-122"/>
              </a:rPr>
              <a:t>优化策略</a:t>
            </a:r>
            <a:r>
              <a:rPr lang="en-US" altLang="zh-CN" sz="3100" b="1">
                <a:solidFill>
                  <a:srgbClr val="1230A5"/>
                </a:solidFill>
                <a:latin typeface="vivo Sans" panose="02000300000000000000" charset="-122"/>
                <a:ea typeface="vivo Sans" panose="02000300000000000000" charset="-122"/>
                <a:cs typeface="vivo Sans" panose="02000300000000000000" charset="-122"/>
              </a:rPr>
              <a:t>：</a:t>
            </a:r>
            <a:r>
              <a:rPr lang="en-US" altLang="zh-CN" sz="3100" b="1">
                <a:solidFill>
                  <a:schemeClr val="tx1"/>
                </a:solidFill>
                <a:latin typeface="vivo Sans" panose="02000300000000000000" charset="-122"/>
                <a:ea typeface="vivo Sans" panose="02000300000000000000" charset="-122"/>
                <a:cs typeface="vivo Sans" panose="02000300000000000000" charset="-122"/>
              </a:rPr>
              <a:t>「</a:t>
            </a:r>
            <a:r>
              <a:rPr lang="zh-CN" altLang="en-US" sz="3100" b="1">
                <a:solidFill>
                  <a:schemeClr val="tx1"/>
                </a:solidFill>
                <a:latin typeface="vivo Sans" panose="02000300000000000000" charset="-122"/>
                <a:ea typeface="vivo Sans" panose="02000300000000000000" charset="-122"/>
                <a:cs typeface="vivo Sans" panose="02000300000000000000" charset="-122"/>
              </a:rPr>
              <a:t>稳固专业地位</a:t>
            </a:r>
            <a:r>
              <a:rPr lang="en-US" altLang="zh-CN" sz="3100" b="1">
                <a:solidFill>
                  <a:schemeClr val="tx1"/>
                </a:solidFill>
                <a:latin typeface="vivo Sans" panose="02000300000000000000" charset="-122"/>
                <a:ea typeface="vivo Sans" panose="02000300000000000000" charset="-122"/>
                <a:cs typeface="vivo Sans" panose="02000300000000000000" charset="-122"/>
              </a:rPr>
              <a:t>，</a:t>
            </a:r>
            <a:r>
              <a:rPr lang="zh-CN" altLang="en-US" sz="3100" b="1">
                <a:solidFill>
                  <a:schemeClr val="tx1"/>
                </a:solidFill>
                <a:latin typeface="vivo Sans" panose="02000300000000000000" charset="-122"/>
                <a:ea typeface="vivo Sans" panose="02000300000000000000" charset="-122"/>
                <a:cs typeface="vivo Sans" panose="02000300000000000000" charset="-122"/>
              </a:rPr>
              <a:t>提升用户转化</a:t>
            </a:r>
            <a:r>
              <a:rPr lang="en-US" altLang="zh-CN" sz="3100" b="1">
                <a:solidFill>
                  <a:schemeClr val="tx1"/>
                </a:solidFill>
                <a:latin typeface="vivo Sans" panose="02000300000000000000" charset="-122"/>
                <a:ea typeface="vivo Sans" panose="02000300000000000000" charset="-122"/>
                <a:cs typeface="vivo Sans" panose="02000300000000000000" charset="-122"/>
              </a:rPr>
              <a:t>」</a:t>
            </a:r>
            <a:endParaRPr lang="en-US" altLang="zh-CN" sz="3100" b="1">
              <a:solidFill>
                <a:schemeClr val="tx1"/>
              </a:solidFill>
              <a:latin typeface="vivo Sans" panose="02000300000000000000" charset="-122"/>
              <a:ea typeface="vivo Sans" panose="02000300000000000000" charset="-122"/>
              <a:cs typeface="vivo Sans" panose="02000300000000000000" charset="-122"/>
            </a:endParaRPr>
          </a:p>
        </p:txBody>
      </p:sp>
      <p:sp>
        <p:nvSpPr>
          <p:cNvPr id="20" name="矩形 19"/>
          <p:cNvSpPr>
            <a:spLocks noGrp="1"/>
          </p:cNvSpPr>
          <p:nvPr/>
        </p:nvSpPr>
        <p:spPr>
          <a:xfrm>
            <a:off x="1143000" y="3657600"/>
            <a:ext cx="9715500" cy="38100"/>
          </a:xfrm>
          <a:prstGeom prst="rect">
            <a:avLst/>
          </a:prstGeom>
          <a:solidFill>
            <a:srgbClr val="D7E0FF"/>
          </a:solidFill>
          <a:ln w="0">
            <a:noFill/>
            <a:prstDash val="solid"/>
          </a:ln>
        </p:spPr>
      </p:sp>
      <p:sp>
        <p:nvSpPr>
          <p:cNvPr id="21" name="矩形 20"/>
          <p:cNvSpPr>
            <a:spLocks noGrp="1"/>
          </p:cNvSpPr>
          <p:nvPr/>
        </p:nvSpPr>
        <p:spPr>
          <a:xfrm>
            <a:off x="171450" y="30480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账号定位</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22" name="椭圆 21"/>
          <p:cNvSpPr>
            <a:spLocks noGrp="1"/>
          </p:cNvSpPr>
          <p:nvPr/>
        </p:nvSpPr>
        <p:spPr>
          <a:xfrm>
            <a:off x="914400" y="3448050"/>
            <a:ext cx="457200" cy="457200"/>
          </a:xfrm>
          <a:prstGeom prst="ellipse">
            <a:avLst/>
          </a:prstGeom>
          <a:solidFill>
            <a:srgbClr val="3157FF"/>
          </a:solidFill>
          <a:ln w="0">
            <a:noFill/>
            <a:prstDash val="solid"/>
          </a:ln>
        </p:spPr>
      </p:sp>
      <p:sp>
        <p:nvSpPr>
          <p:cNvPr id="23" name="矩形 22"/>
          <p:cNvSpPr>
            <a:spLocks noGrp="1"/>
          </p:cNvSpPr>
          <p:nvPr/>
        </p:nvSpPr>
        <p:spPr>
          <a:xfrm>
            <a:off x="914400" y="35433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01</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24" name="矩形 23"/>
          <p:cNvSpPr>
            <a:spLocks noGrp="1"/>
          </p:cNvSpPr>
          <p:nvPr/>
        </p:nvSpPr>
        <p:spPr>
          <a:xfrm>
            <a:off x="171450" y="41433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sz="1575" b="1">
                <a:solidFill>
                  <a:srgbClr val="1737C8"/>
                </a:solidFill>
                <a:latin typeface="vivo Sans" panose="02000300000000000000" charset="-122"/>
                <a:ea typeface="vivo Sans" panose="02000300000000000000" charset="-122"/>
                <a:cs typeface="vivo Sans" panose="02000300000000000000" charset="-122"/>
              </a:rPr>
              <a:t>专业标签升级</a:t>
            </a:r>
            <a:endParaRPr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25" name="矩形 24"/>
          <p:cNvSpPr>
            <a:spLocks noGrp="1"/>
          </p:cNvSpPr>
          <p:nvPr/>
        </p:nvSpPr>
        <p:spPr>
          <a:xfrm>
            <a:off x="171450" y="4562475"/>
            <a:ext cx="1943100" cy="609600"/>
          </a:xfrm>
          <a:prstGeom prst="rect">
            <a:avLst/>
          </a:prstGeom>
          <a:noFill/>
          <a:ln w="0">
            <a:noFill/>
            <a:prstDash val="solid"/>
          </a:ln>
        </p:spPr>
        <p:txBody>
          <a:bodyPr wrap="square" lIns="0" tIns="0" rIns="0" bIns="0" anchor="t">
            <a:normAutofit/>
          </a:bodyPr>
          <a:lstStyle/>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sz="1200" b="1">
                <a:solidFill>
                  <a:srgbClr val="344054"/>
                </a:solidFill>
                <a:cs typeface="vivo Sans" panose="02000300000000000000" charset="-122"/>
              </a:rPr>
              <a:t>屏幕</a:t>
            </a:r>
            <a:r>
              <a:rPr lang="zh-CN" sz="1200" b="1">
                <a:solidFill>
                  <a:srgbClr val="344054"/>
                </a:solidFill>
                <a:cs typeface="vivo Sans" panose="02000300000000000000" charset="-122"/>
              </a:rPr>
              <a:t>实测</a:t>
            </a:r>
            <a:r>
              <a:rPr sz="1200" b="1">
                <a:solidFill>
                  <a:srgbClr val="344054"/>
                </a:solidFill>
                <a:cs typeface="vivo Sans" panose="02000300000000000000" charset="-122"/>
              </a:rPr>
              <a:t>体验</a:t>
            </a:r>
            <a:r>
              <a:rPr lang="zh-CN" sz="1200" b="1">
                <a:solidFill>
                  <a:srgbClr val="344054"/>
                </a:solidFill>
                <a:cs typeface="vivo Sans" panose="02000300000000000000" charset="-122"/>
              </a:rPr>
              <a:t>官</a:t>
            </a:r>
            <a:endParaRPr lang="zh-CN" sz="1200" b="1">
              <a:solidFill>
                <a:srgbClr val="344054"/>
              </a:solidFill>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en-US" altLang="zh-CN" sz="1200" b="1">
                <a:solidFill>
                  <a:srgbClr val="344054"/>
                </a:solidFill>
                <a:cs typeface="vivo Sans" panose="02000300000000000000" charset="-122"/>
              </a:rPr>
              <a:t>「</a:t>
            </a:r>
            <a:r>
              <a:rPr lang="zh-CN" sz="1200" b="1">
                <a:solidFill>
                  <a:srgbClr val="344054"/>
                </a:solidFill>
                <a:cs typeface="vivo Sans" panose="02000300000000000000" charset="-122"/>
              </a:rPr>
              <a:t>所长</a:t>
            </a:r>
            <a:r>
              <a:rPr lang="en-US" altLang="zh-CN" sz="1200" b="1">
                <a:solidFill>
                  <a:srgbClr val="344054"/>
                </a:solidFill>
                <a:cs typeface="vivo Sans" panose="02000300000000000000" charset="-122"/>
              </a:rPr>
              <a:t>」</a:t>
            </a:r>
            <a:endParaRPr lang="en-US" altLang="zh-CN" sz="1200" b="1">
              <a:solidFill>
                <a:srgbClr val="344054"/>
              </a:solidFill>
              <a:cs typeface="vivo Sans" panose="02000300000000000000" charset="-122"/>
            </a:endParaRPr>
          </a:p>
        </p:txBody>
      </p:sp>
      <p:sp>
        <p:nvSpPr>
          <p:cNvPr id="26" name="矩形 25"/>
          <p:cNvSpPr>
            <a:spLocks noGrp="1"/>
          </p:cNvSpPr>
          <p:nvPr/>
        </p:nvSpPr>
        <p:spPr>
          <a:xfrm>
            <a:off x="2600325" y="30480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赛道升级</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27" name="椭圆 26"/>
          <p:cNvSpPr>
            <a:spLocks noGrp="1"/>
          </p:cNvSpPr>
          <p:nvPr/>
        </p:nvSpPr>
        <p:spPr>
          <a:xfrm>
            <a:off x="3343275" y="3448050"/>
            <a:ext cx="457200" cy="457200"/>
          </a:xfrm>
          <a:prstGeom prst="ellipse">
            <a:avLst/>
          </a:prstGeom>
          <a:solidFill>
            <a:srgbClr val="3157FF"/>
          </a:solidFill>
          <a:ln w="0">
            <a:noFill/>
            <a:prstDash val="solid"/>
          </a:ln>
        </p:spPr>
      </p:sp>
      <p:sp>
        <p:nvSpPr>
          <p:cNvPr id="28" name="矩形 27"/>
          <p:cNvSpPr>
            <a:spLocks noGrp="1"/>
          </p:cNvSpPr>
          <p:nvPr/>
        </p:nvSpPr>
        <p:spPr>
          <a:xfrm>
            <a:off x="3343275" y="35433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02</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29" name="矩形 28"/>
          <p:cNvSpPr>
            <a:spLocks noGrp="1"/>
          </p:cNvSpPr>
          <p:nvPr/>
        </p:nvSpPr>
        <p:spPr>
          <a:xfrm>
            <a:off x="2600325" y="41433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拓</a:t>
            </a:r>
            <a:r>
              <a:rPr sz="1575" b="1">
                <a:solidFill>
                  <a:srgbClr val="1737C8"/>
                </a:solidFill>
                <a:latin typeface="vivo Sans" panose="02000300000000000000" charset="-122"/>
                <a:ea typeface="vivo Sans" panose="02000300000000000000" charset="-122"/>
                <a:cs typeface="vivo Sans" panose="02000300000000000000" charset="-122"/>
              </a:rPr>
              <a:t>展</a:t>
            </a:r>
            <a:r>
              <a:rPr lang="zh-CN" sz="1575" b="1">
                <a:solidFill>
                  <a:srgbClr val="1737C8"/>
                </a:solidFill>
                <a:latin typeface="vivo Sans" panose="02000300000000000000" charset="-122"/>
                <a:ea typeface="vivo Sans" panose="02000300000000000000" charset="-122"/>
                <a:cs typeface="vivo Sans" panose="02000300000000000000" charset="-122"/>
              </a:rPr>
              <a:t>体验</a:t>
            </a:r>
            <a:r>
              <a:rPr sz="1575" b="1">
                <a:solidFill>
                  <a:srgbClr val="1737C8"/>
                </a:solidFill>
                <a:latin typeface="vivo Sans" panose="02000300000000000000" charset="-122"/>
                <a:ea typeface="vivo Sans" panose="02000300000000000000" charset="-122"/>
                <a:cs typeface="vivo Sans" panose="02000300000000000000" charset="-122"/>
              </a:rPr>
              <a:t>场景</a:t>
            </a:r>
            <a:endParaRPr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30" name="矩形 29"/>
          <p:cNvSpPr>
            <a:spLocks noGrp="1"/>
          </p:cNvSpPr>
          <p:nvPr/>
        </p:nvSpPr>
        <p:spPr>
          <a:xfrm>
            <a:off x="2600325" y="4562475"/>
            <a:ext cx="1943100" cy="609600"/>
          </a:xfrm>
          <a:prstGeom prst="rect">
            <a:avLst/>
          </a:prstGeom>
          <a:noFill/>
          <a:ln w="0">
            <a:noFill/>
            <a:prstDash val="solid"/>
          </a:ln>
        </p:spPr>
        <p:txBody>
          <a:bodyPr wrap="square" lIns="0" tIns="0" rIns="0" bIns="0" anchor="t">
            <a:normAutofit lnSpcReduction="10000"/>
          </a:bodyPr>
          <a:lstStyle/>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sz="1200" b="1">
                <a:solidFill>
                  <a:srgbClr val="344054"/>
                </a:solidFill>
                <a:cs typeface="vivo Sans" panose="02000300000000000000" charset="-122"/>
              </a:rPr>
              <a:t>增设固定体验栏目</a:t>
            </a:r>
            <a:endParaRPr lang="zh-CN" sz="1200" b="1">
              <a:solidFill>
                <a:srgbClr val="344054"/>
              </a:solidFill>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sz="1200" b="1">
                <a:solidFill>
                  <a:srgbClr val="344054"/>
                </a:solidFill>
                <a:cs typeface="vivo Sans" panose="02000300000000000000" charset="-122"/>
              </a:rPr>
              <a:t>户外</a:t>
            </a:r>
            <a:r>
              <a:rPr sz="1200" b="1">
                <a:solidFill>
                  <a:srgbClr val="344054"/>
                </a:solidFill>
                <a:cs typeface="vivo Sans" panose="02000300000000000000" charset="-122"/>
              </a:rPr>
              <a:t>、</a:t>
            </a:r>
            <a:r>
              <a:rPr lang="zh-CN" sz="1200" b="1">
                <a:solidFill>
                  <a:srgbClr val="344054"/>
                </a:solidFill>
                <a:cs typeface="vivo Sans" panose="02000300000000000000" charset="-122"/>
              </a:rPr>
              <a:t>夜晚</a:t>
            </a:r>
            <a:r>
              <a:rPr sz="1200" b="1">
                <a:solidFill>
                  <a:srgbClr val="344054"/>
                </a:solidFill>
                <a:cs typeface="vivo Sans" panose="02000300000000000000" charset="-122"/>
              </a:rPr>
              <a:t>、</a:t>
            </a:r>
            <a:r>
              <a:rPr lang="zh-CN" sz="1200" b="1">
                <a:solidFill>
                  <a:srgbClr val="344054"/>
                </a:solidFill>
                <a:cs typeface="vivo Sans" panose="02000300000000000000" charset="-122"/>
              </a:rPr>
              <a:t>游戏</a:t>
            </a:r>
            <a:endParaRPr lang="zh-CN" sz="1200" b="1">
              <a:solidFill>
                <a:srgbClr val="344054"/>
              </a:solidFill>
              <a:cs typeface="vivo Sans" panose="02000300000000000000" charset="-122"/>
            </a:endParaRPr>
          </a:p>
        </p:txBody>
      </p:sp>
      <p:sp>
        <p:nvSpPr>
          <p:cNvPr id="31" name="矩形 30"/>
          <p:cNvSpPr>
            <a:spLocks noGrp="1"/>
          </p:cNvSpPr>
          <p:nvPr/>
        </p:nvSpPr>
        <p:spPr>
          <a:xfrm>
            <a:off x="5029200" y="30480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流量入口</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32" name="椭圆 31"/>
          <p:cNvSpPr>
            <a:spLocks noGrp="1"/>
          </p:cNvSpPr>
          <p:nvPr/>
        </p:nvSpPr>
        <p:spPr>
          <a:xfrm>
            <a:off x="5772150" y="3448050"/>
            <a:ext cx="457200" cy="457200"/>
          </a:xfrm>
          <a:prstGeom prst="ellipse">
            <a:avLst/>
          </a:prstGeom>
          <a:solidFill>
            <a:srgbClr val="3157FF"/>
          </a:solidFill>
          <a:ln w="0">
            <a:noFill/>
            <a:prstDash val="solid"/>
          </a:ln>
        </p:spPr>
      </p:sp>
      <p:sp>
        <p:nvSpPr>
          <p:cNvPr id="33" name="矩形 32"/>
          <p:cNvSpPr>
            <a:spLocks noGrp="1"/>
          </p:cNvSpPr>
          <p:nvPr/>
        </p:nvSpPr>
        <p:spPr>
          <a:xfrm>
            <a:off x="5772150" y="35433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03</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34" name="矩形 33"/>
          <p:cNvSpPr>
            <a:spLocks noGrp="1"/>
          </p:cNvSpPr>
          <p:nvPr/>
        </p:nvSpPr>
        <p:spPr>
          <a:xfrm>
            <a:off x="5029200" y="41433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sz="1575" b="1">
                <a:solidFill>
                  <a:srgbClr val="1737C8"/>
                </a:solidFill>
                <a:latin typeface="vivo Sans" panose="02000300000000000000" charset="-122"/>
                <a:ea typeface="vivo Sans" panose="02000300000000000000" charset="-122"/>
                <a:cs typeface="vivo Sans" panose="02000300000000000000" charset="-122"/>
              </a:rPr>
              <a:t>绑定公</a:t>
            </a:r>
            <a:r>
              <a:rPr lang="zh-CN" sz="1575" b="1">
                <a:solidFill>
                  <a:srgbClr val="1737C8"/>
                </a:solidFill>
                <a:latin typeface="vivo Sans" panose="02000300000000000000" charset="-122"/>
                <a:ea typeface="vivo Sans" panose="02000300000000000000" charset="-122"/>
                <a:cs typeface="vivo Sans" panose="02000300000000000000" charset="-122"/>
              </a:rPr>
              <a:t>众</a:t>
            </a:r>
            <a:r>
              <a:rPr sz="1575" b="1">
                <a:solidFill>
                  <a:srgbClr val="1737C8"/>
                </a:solidFill>
                <a:latin typeface="vivo Sans" panose="02000300000000000000" charset="-122"/>
                <a:ea typeface="vivo Sans" panose="02000300000000000000" charset="-122"/>
                <a:cs typeface="vivo Sans" panose="02000300000000000000" charset="-122"/>
              </a:rPr>
              <a:t>议题</a:t>
            </a:r>
            <a:endParaRPr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35" name="矩形 34"/>
          <p:cNvSpPr>
            <a:spLocks noGrp="1"/>
          </p:cNvSpPr>
          <p:nvPr/>
        </p:nvSpPr>
        <p:spPr>
          <a:xfrm>
            <a:off x="5029200" y="4562475"/>
            <a:ext cx="1943100" cy="609600"/>
          </a:xfrm>
          <a:prstGeom prst="rect">
            <a:avLst/>
          </a:prstGeom>
          <a:noFill/>
          <a:ln w="0">
            <a:noFill/>
            <a:prstDash val="solid"/>
          </a:ln>
        </p:spPr>
        <p:txBody>
          <a:bodyPr wrap="square" lIns="0" tIns="0" rIns="0" bIns="0" anchor="t">
            <a:normAutofit/>
          </a:bodyPr>
          <a:lstStyle/>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sz="1200" b="1">
                <a:solidFill>
                  <a:srgbClr val="344054"/>
                </a:solidFill>
                <a:cs typeface="vivo Sans" panose="02000300000000000000" charset="-122"/>
              </a:rPr>
              <a:t>新机节点</a:t>
            </a:r>
            <a:endParaRPr lang="en-US" sz="1200" b="1">
              <a:solidFill>
                <a:srgbClr val="344054"/>
              </a:solidFill>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altLang="en-US" sz="1200" b="1">
                <a:solidFill>
                  <a:srgbClr val="344054"/>
                </a:solidFill>
                <a:cs typeface="vivo Sans" panose="02000300000000000000" charset="-122"/>
              </a:rPr>
              <a:t>阵营对立</a:t>
            </a:r>
            <a:endParaRPr lang="zh-CN" altLang="en-US" sz="1200" b="1">
              <a:solidFill>
                <a:srgbClr val="344054"/>
              </a:solidFill>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sz="1200" b="1">
                <a:solidFill>
                  <a:srgbClr val="344054"/>
                </a:solidFill>
                <a:cs typeface="vivo Sans" panose="02000300000000000000" charset="-122"/>
              </a:rPr>
              <a:t>产品争议</a:t>
            </a:r>
            <a:endParaRPr lang="zh-CN" sz="1200" b="1">
              <a:solidFill>
                <a:srgbClr val="344054"/>
              </a:solidFill>
              <a:cs typeface="vivo Sans" panose="02000300000000000000" charset="-122"/>
            </a:endParaRPr>
          </a:p>
        </p:txBody>
      </p:sp>
      <p:sp>
        <p:nvSpPr>
          <p:cNvPr id="36" name="矩形 35"/>
          <p:cNvSpPr>
            <a:spLocks noGrp="1"/>
          </p:cNvSpPr>
          <p:nvPr/>
        </p:nvSpPr>
        <p:spPr>
          <a:xfrm>
            <a:off x="7458075" y="30480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内容形式</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37" name="椭圆 36"/>
          <p:cNvSpPr>
            <a:spLocks noGrp="1"/>
          </p:cNvSpPr>
          <p:nvPr/>
        </p:nvSpPr>
        <p:spPr>
          <a:xfrm>
            <a:off x="8201025" y="3448050"/>
            <a:ext cx="457200" cy="457200"/>
          </a:xfrm>
          <a:prstGeom prst="ellipse">
            <a:avLst/>
          </a:prstGeom>
          <a:solidFill>
            <a:srgbClr val="3157FF"/>
          </a:solidFill>
          <a:ln w="0">
            <a:noFill/>
            <a:prstDash val="solid"/>
          </a:ln>
        </p:spPr>
      </p:sp>
      <p:sp>
        <p:nvSpPr>
          <p:cNvPr id="38" name="矩形 37"/>
          <p:cNvSpPr>
            <a:spLocks noGrp="1"/>
          </p:cNvSpPr>
          <p:nvPr/>
        </p:nvSpPr>
        <p:spPr>
          <a:xfrm>
            <a:off x="8201025" y="35433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04</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39" name="矩形 38"/>
          <p:cNvSpPr>
            <a:spLocks noGrp="1"/>
          </p:cNvSpPr>
          <p:nvPr/>
        </p:nvSpPr>
        <p:spPr>
          <a:xfrm>
            <a:off x="7458075" y="4143375"/>
            <a:ext cx="1943100" cy="295275"/>
          </a:xfrm>
          <a:prstGeom prst="rect">
            <a:avLst/>
          </a:prstGeom>
          <a:noFill/>
          <a:ln w="0">
            <a:noFill/>
            <a:prstDash val="solid"/>
          </a:ln>
        </p:spPr>
        <p:txBody>
          <a:bodyPr wrap="square" lIns="0" tIns="0" rIns="0" bIns="0" anchor="t">
            <a:normAutofit fontScale="90000"/>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sz="1575" b="1">
                <a:solidFill>
                  <a:srgbClr val="1737C8"/>
                </a:solidFill>
                <a:latin typeface="vivo Sans" panose="02000300000000000000" charset="-122"/>
                <a:ea typeface="vivo Sans" panose="02000300000000000000" charset="-122"/>
                <a:cs typeface="vivo Sans" panose="02000300000000000000" charset="-122"/>
              </a:rPr>
              <a:t>云评＋实测</a:t>
            </a:r>
            <a:r>
              <a:rPr lang="en-US" sz="1575" b="1">
                <a:solidFill>
                  <a:srgbClr val="1737C8"/>
                </a:solidFill>
                <a:latin typeface="vivo Sans" panose="02000300000000000000" charset="-122"/>
                <a:ea typeface="vivo Sans" panose="02000300000000000000" charset="-122"/>
                <a:cs typeface="vivo Sans" panose="02000300000000000000" charset="-122"/>
              </a:rPr>
              <a:t>+</a:t>
            </a:r>
            <a:r>
              <a:rPr lang="zh-CN" altLang="en-US" sz="1575" b="1">
                <a:solidFill>
                  <a:srgbClr val="1737C8"/>
                </a:solidFill>
                <a:latin typeface="vivo Sans" panose="02000300000000000000" charset="-122"/>
                <a:ea typeface="vivo Sans" panose="02000300000000000000" charset="-122"/>
                <a:cs typeface="vivo Sans" panose="02000300000000000000" charset="-122"/>
              </a:rPr>
              <a:t>体验</a:t>
            </a:r>
            <a:r>
              <a:rPr sz="1575" b="1">
                <a:solidFill>
                  <a:srgbClr val="1737C8"/>
                </a:solidFill>
                <a:latin typeface="vivo Sans" panose="02000300000000000000" charset="-122"/>
                <a:ea typeface="vivo Sans" panose="02000300000000000000" charset="-122"/>
                <a:cs typeface="vivo Sans" panose="02000300000000000000" charset="-122"/>
              </a:rPr>
              <a:t>组合</a:t>
            </a:r>
            <a:endParaRPr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40" name="矩形 39"/>
          <p:cNvSpPr>
            <a:spLocks noGrp="1"/>
          </p:cNvSpPr>
          <p:nvPr/>
        </p:nvSpPr>
        <p:spPr>
          <a:xfrm>
            <a:off x="7458075" y="4562475"/>
            <a:ext cx="1943100" cy="609600"/>
          </a:xfrm>
          <a:prstGeom prst="rect">
            <a:avLst/>
          </a:prstGeom>
          <a:noFill/>
          <a:ln w="0">
            <a:noFill/>
            <a:prstDash val="solid"/>
          </a:ln>
        </p:spPr>
        <p:txBody>
          <a:bodyPr wrap="square" lIns="0" tIns="0" rIns="0" bIns="0" anchor="t">
            <a:normAutofit/>
          </a:bodyPr>
          <a:lstStyle/>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sz="1200" b="1">
                <a:solidFill>
                  <a:srgbClr val="344054"/>
                </a:solidFill>
                <a:cs typeface="vivo Sans" panose="02000300000000000000" charset="-122"/>
              </a:rPr>
              <a:t>短评抢热点</a:t>
            </a:r>
            <a:endParaRPr sz="1200" b="1">
              <a:solidFill>
                <a:srgbClr val="344054"/>
              </a:solidFill>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sz="1200" b="1">
                <a:solidFill>
                  <a:srgbClr val="344054"/>
                </a:solidFill>
                <a:cs typeface="vivo Sans" panose="02000300000000000000" charset="-122"/>
              </a:rPr>
              <a:t>实测</a:t>
            </a:r>
            <a:r>
              <a:rPr sz="1200" b="1">
                <a:solidFill>
                  <a:srgbClr val="344054"/>
                </a:solidFill>
                <a:cs typeface="vivo Sans" panose="02000300000000000000" charset="-122"/>
              </a:rPr>
              <a:t>沉淀专业</a:t>
            </a:r>
            <a:endParaRPr sz="1200" b="1">
              <a:solidFill>
                <a:srgbClr val="344054"/>
              </a:solidFill>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sz="1200" b="1">
                <a:solidFill>
                  <a:srgbClr val="344054"/>
                </a:solidFill>
                <a:cs typeface="vivo Sans" panose="02000300000000000000" charset="-122"/>
              </a:rPr>
              <a:t>体验代入用户</a:t>
            </a:r>
            <a:endParaRPr lang="zh-CN" sz="1200" b="1">
              <a:solidFill>
                <a:srgbClr val="344054"/>
              </a:solidFill>
              <a:cs typeface="vivo Sans" panose="02000300000000000000" charset="-122"/>
            </a:endParaRPr>
          </a:p>
        </p:txBody>
      </p:sp>
      <p:sp>
        <p:nvSpPr>
          <p:cNvPr id="41" name="矩形 40"/>
          <p:cNvSpPr>
            <a:spLocks noGrp="1"/>
          </p:cNvSpPr>
          <p:nvPr/>
        </p:nvSpPr>
        <p:spPr>
          <a:xfrm>
            <a:off x="9886950" y="3048000"/>
            <a:ext cx="1943100" cy="276225"/>
          </a:xfrm>
          <a:prstGeom prst="rect">
            <a:avLst/>
          </a:prstGeom>
          <a:noFill/>
          <a:ln w="0">
            <a:noFill/>
            <a:prstDash val="solid"/>
          </a:ln>
        </p:spPr>
        <p:txBody>
          <a:bodyPr wrap="square" lIns="0" tIns="0" rIns="0" bIns="0" anchor="t">
            <a:normAutofit/>
          </a:bodyPr>
          <a:lstStyle/>
          <a:p>
            <a:pPr algn="ctr">
              <a:buNone/>
              <a:defRPr sz="1425" b="1">
                <a:solidFill>
                  <a:srgbClr val="344054"/>
                </a:solidFill>
                <a:latin typeface="vivo Sans" panose="02000300000000000000" charset="-122"/>
                <a:ea typeface="vivo Sans" panose="02000300000000000000" charset="-122"/>
                <a:cs typeface="vivo Sans" panose="02000300000000000000" charset="-122"/>
              </a:defRPr>
            </a:pPr>
            <a:r>
              <a:rPr sz="1425" b="1">
                <a:solidFill>
                  <a:srgbClr val="344054"/>
                </a:solidFill>
                <a:latin typeface="vivo Sans" panose="02000300000000000000" charset="-122"/>
                <a:ea typeface="vivo Sans" panose="02000300000000000000" charset="-122"/>
                <a:cs typeface="vivo Sans" panose="02000300000000000000" charset="-122"/>
              </a:rPr>
              <a:t>运营机制</a:t>
            </a:r>
            <a:endParaRPr sz="1425" b="1">
              <a:solidFill>
                <a:srgbClr val="344054"/>
              </a:solidFill>
              <a:latin typeface="vivo Sans" panose="02000300000000000000" charset="-122"/>
              <a:ea typeface="vivo Sans" panose="02000300000000000000" charset="-122"/>
              <a:cs typeface="vivo Sans" panose="02000300000000000000" charset="-122"/>
            </a:endParaRPr>
          </a:p>
        </p:txBody>
      </p:sp>
      <p:sp>
        <p:nvSpPr>
          <p:cNvPr id="42" name="椭圆 41"/>
          <p:cNvSpPr>
            <a:spLocks noGrp="1"/>
          </p:cNvSpPr>
          <p:nvPr/>
        </p:nvSpPr>
        <p:spPr>
          <a:xfrm>
            <a:off x="10629900" y="3448050"/>
            <a:ext cx="457200" cy="457200"/>
          </a:xfrm>
          <a:prstGeom prst="ellipse">
            <a:avLst/>
          </a:prstGeom>
          <a:solidFill>
            <a:srgbClr val="3157FF"/>
          </a:solidFill>
          <a:ln w="0">
            <a:noFill/>
            <a:prstDash val="solid"/>
          </a:ln>
        </p:spPr>
      </p:sp>
      <p:sp>
        <p:nvSpPr>
          <p:cNvPr id="43" name="矩形 42"/>
          <p:cNvSpPr>
            <a:spLocks noGrp="1"/>
          </p:cNvSpPr>
          <p:nvPr/>
        </p:nvSpPr>
        <p:spPr>
          <a:xfrm>
            <a:off x="10629900" y="3543300"/>
            <a:ext cx="457200" cy="257175"/>
          </a:xfrm>
          <a:prstGeom prst="rect">
            <a:avLst/>
          </a:prstGeom>
          <a:noFill/>
          <a:ln w="0">
            <a:noFill/>
            <a:prstDash val="solid"/>
          </a:ln>
        </p:spPr>
        <p:txBody>
          <a:bodyPr wrap="square" lIns="0" tIns="0" rIns="0" bIns="0" anchor="ctr">
            <a:noAutofit/>
          </a:bodyPr>
          <a:lstStyle/>
          <a:p>
            <a:pPr algn="ctr">
              <a:buNone/>
              <a:defRPr sz="1275" b="1">
                <a:solidFill>
                  <a:srgbClr val="FFFFFF"/>
                </a:solidFill>
                <a:latin typeface="vivo Sans" panose="02000300000000000000" charset="-122"/>
                <a:ea typeface="vivo Sans" panose="02000300000000000000" charset="-122"/>
                <a:cs typeface="vivo Sans" panose="02000300000000000000" charset="-122"/>
              </a:defRPr>
            </a:pPr>
            <a:r>
              <a:rPr sz="1275" b="1">
                <a:solidFill>
                  <a:srgbClr val="FFFFFF"/>
                </a:solidFill>
                <a:latin typeface="vivo Sans" panose="02000300000000000000" charset="-122"/>
                <a:ea typeface="vivo Sans" panose="02000300000000000000" charset="-122"/>
                <a:cs typeface="vivo Sans" panose="02000300000000000000" charset="-122"/>
              </a:rPr>
              <a:t>05</a:t>
            </a:r>
            <a:endParaRPr sz="1275" b="1">
              <a:solidFill>
                <a:srgbClr val="FFFFFF"/>
              </a:solidFill>
              <a:latin typeface="vivo Sans" panose="02000300000000000000" charset="-122"/>
              <a:ea typeface="vivo Sans" panose="02000300000000000000" charset="-122"/>
              <a:cs typeface="vivo Sans" panose="02000300000000000000" charset="-122"/>
            </a:endParaRPr>
          </a:p>
        </p:txBody>
      </p:sp>
      <p:sp>
        <p:nvSpPr>
          <p:cNvPr id="44" name="矩形 43"/>
          <p:cNvSpPr>
            <a:spLocks noGrp="1"/>
          </p:cNvSpPr>
          <p:nvPr/>
        </p:nvSpPr>
        <p:spPr>
          <a:xfrm>
            <a:off x="9886950" y="4143375"/>
            <a:ext cx="1943100" cy="295275"/>
          </a:xfrm>
          <a:prstGeom prst="rect">
            <a:avLst/>
          </a:prstGeom>
          <a:noFill/>
          <a:ln w="0">
            <a:noFill/>
            <a:prstDash val="solid"/>
          </a:ln>
        </p:spPr>
        <p:txBody>
          <a:bodyPr wrap="square" lIns="0" tIns="0" rIns="0" bIns="0" anchor="t">
            <a:normAutofit/>
          </a:bodyPr>
          <a:lstStyle/>
          <a:p>
            <a:pPr algn="ctr">
              <a:buNone/>
              <a:defRPr sz="1575" b="1">
                <a:solidFill>
                  <a:srgbClr val="1737C8"/>
                </a:solidFill>
                <a:latin typeface="vivo Sans" panose="02000300000000000000" charset="-122"/>
                <a:ea typeface="vivo Sans" panose="02000300000000000000" charset="-122"/>
                <a:cs typeface="vivo Sans" panose="02000300000000000000" charset="-122"/>
              </a:defRPr>
            </a:pPr>
            <a:r>
              <a:rPr lang="zh-CN" sz="1575" b="1">
                <a:solidFill>
                  <a:srgbClr val="1737C8"/>
                </a:solidFill>
                <a:latin typeface="vivo Sans" panose="02000300000000000000" charset="-122"/>
                <a:ea typeface="vivo Sans" panose="02000300000000000000" charset="-122"/>
                <a:cs typeface="vivo Sans" panose="02000300000000000000" charset="-122"/>
              </a:rPr>
              <a:t>用户决策选题</a:t>
            </a:r>
            <a:r>
              <a:rPr lang="en-US" altLang="zh-CN" sz="1575" b="1">
                <a:solidFill>
                  <a:srgbClr val="1737C8"/>
                </a:solidFill>
                <a:latin typeface="vivo Sans" panose="02000300000000000000" charset="-122"/>
                <a:ea typeface="vivo Sans" panose="02000300000000000000" charset="-122"/>
                <a:cs typeface="vivo Sans" panose="02000300000000000000" charset="-122"/>
              </a:rPr>
              <a:t>+</a:t>
            </a:r>
            <a:r>
              <a:rPr lang="zh-CN" altLang="en-US" sz="1575" b="1">
                <a:solidFill>
                  <a:srgbClr val="1737C8"/>
                </a:solidFill>
                <a:latin typeface="vivo Sans" panose="02000300000000000000" charset="-122"/>
                <a:ea typeface="vivo Sans" panose="02000300000000000000" charset="-122"/>
                <a:cs typeface="vivo Sans" panose="02000300000000000000" charset="-122"/>
              </a:rPr>
              <a:t>互动</a:t>
            </a:r>
            <a:endParaRPr lang="zh-CN" altLang="en-US" sz="1575" b="1">
              <a:solidFill>
                <a:srgbClr val="1737C8"/>
              </a:solidFill>
              <a:latin typeface="vivo Sans" panose="02000300000000000000" charset="-122"/>
              <a:ea typeface="vivo Sans" panose="02000300000000000000" charset="-122"/>
              <a:cs typeface="vivo Sans" panose="02000300000000000000" charset="-122"/>
            </a:endParaRPr>
          </a:p>
        </p:txBody>
      </p:sp>
      <p:sp>
        <p:nvSpPr>
          <p:cNvPr id="45" name="矩形 44"/>
          <p:cNvSpPr>
            <a:spLocks noGrp="1"/>
          </p:cNvSpPr>
          <p:nvPr/>
        </p:nvSpPr>
        <p:spPr>
          <a:xfrm>
            <a:off x="9886950" y="4562475"/>
            <a:ext cx="1943100" cy="609600"/>
          </a:xfrm>
          <a:prstGeom prst="rect">
            <a:avLst/>
          </a:prstGeom>
          <a:noFill/>
          <a:ln w="0">
            <a:noFill/>
            <a:prstDash val="solid"/>
          </a:ln>
        </p:spPr>
        <p:txBody>
          <a:bodyPr wrap="square" lIns="0" tIns="0" rIns="0" bIns="0" anchor="t">
            <a:normAutofit/>
          </a:bodyPr>
          <a:lstStyle/>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lang="zh-CN" sz="1200" b="0">
                <a:solidFill>
                  <a:srgbClr val="344054"/>
                </a:solidFill>
                <a:latin typeface="vivo Sans" panose="02000300000000000000" charset="-122"/>
                <a:ea typeface="vivo Sans" panose="02000300000000000000" charset="-122"/>
                <a:cs typeface="vivo Sans" panose="02000300000000000000" charset="-122"/>
              </a:rPr>
              <a:t>引导用户决策</a:t>
            </a:r>
            <a:endParaRPr lang="zh-CN" sz="1200" b="0">
              <a:solidFill>
                <a:srgbClr val="344054"/>
              </a:solidFill>
              <a:latin typeface="vivo Sans" panose="02000300000000000000" charset="-122"/>
              <a:ea typeface="vivo Sans" panose="02000300000000000000" charset="-122"/>
              <a:cs typeface="vivo Sans" panose="02000300000000000000" charset="-122"/>
            </a:endParaRPr>
          </a:p>
          <a:p>
            <a:pPr algn="ctr">
              <a:lnSpc>
                <a:spcPct val="110000"/>
              </a:lnSpc>
              <a:buNone/>
              <a:defRPr sz="1200" b="0">
                <a:solidFill>
                  <a:srgbClr val="344054"/>
                </a:solidFill>
                <a:latin typeface="vivo Sans" panose="02000300000000000000" charset="-122"/>
                <a:ea typeface="vivo Sans" panose="02000300000000000000" charset="-122"/>
                <a:cs typeface="vivo Sans" panose="02000300000000000000" charset="-122"/>
              </a:defRPr>
            </a:pPr>
            <a:r>
              <a:rPr sz="1200" b="0">
                <a:solidFill>
                  <a:srgbClr val="344054"/>
                </a:solidFill>
                <a:latin typeface="vivo Sans" panose="02000300000000000000" charset="-122"/>
                <a:ea typeface="vivo Sans" panose="02000300000000000000" charset="-122"/>
                <a:cs typeface="vivo Sans" panose="02000300000000000000" charset="-122"/>
              </a:rPr>
              <a:t>强化互动转化</a:t>
            </a:r>
            <a:endParaRPr sz="1200" b="0">
              <a:solidFill>
                <a:srgbClr val="344054"/>
              </a:solidFill>
              <a:latin typeface="vivo Sans" panose="02000300000000000000" charset="-122"/>
              <a:ea typeface="vivo Sans" panose="02000300000000000000" charset="-122"/>
              <a:cs typeface="vivo Sans" panose="02000300000000000000" charset="-122"/>
            </a:endParaRPr>
          </a:p>
        </p:txBody>
      </p:sp>
      <p:sp>
        <p:nvSpPr>
          <p:cNvPr id="2" name="矩形 1"/>
          <p:cNvSpPr>
            <a:spLocks noGrp="1"/>
          </p:cNvSpPr>
          <p:nvPr/>
        </p:nvSpPr>
        <p:spPr>
          <a:xfrm>
            <a:off x="781050" y="5934075"/>
            <a:ext cx="1333500" cy="257175"/>
          </a:xfrm>
          <a:prstGeom prst="rect">
            <a:avLst/>
          </a:prstGeom>
          <a:noFill/>
          <a:ln w="0">
            <a:noFill/>
            <a:prstDash val="solid"/>
          </a:ln>
        </p:spPr>
        <p:txBody>
          <a:bodyPr wrap="square" lIns="0" tIns="0" rIns="0" bIns="0" anchor="t">
            <a:normAutofit/>
          </a:bodyPr>
          <a:lstStyle/>
          <a:p>
            <a:pPr algn="l">
              <a:buNone/>
              <a:defRPr sz="1425" b="1">
                <a:solidFill>
                  <a:srgbClr val="FFFFFF"/>
                </a:solidFill>
                <a:latin typeface="vivo Sans" panose="02000300000000000000" charset="-122"/>
                <a:ea typeface="vivo Sans" panose="02000300000000000000" charset="-122"/>
                <a:cs typeface="vivo Sans" panose="02000300000000000000" charset="-122"/>
              </a:defRPr>
            </a:pPr>
            <a:r>
              <a:rPr lang="zh-CN" sz="1425" b="1">
                <a:solidFill>
                  <a:srgbClr val="FFFFFF"/>
                </a:solidFill>
                <a:latin typeface="vivo Sans" panose="02000300000000000000" charset="-122"/>
                <a:ea typeface="vivo Sans" panose="02000300000000000000" charset="-122"/>
                <a:cs typeface="vivo Sans" panose="02000300000000000000" charset="-122"/>
              </a:rPr>
              <a:t>核心</a:t>
            </a:r>
            <a:r>
              <a:rPr lang="zh-CN" sz="1425" b="1">
                <a:solidFill>
                  <a:srgbClr val="FFFFFF"/>
                </a:solidFill>
                <a:latin typeface="vivo Sans" panose="02000300000000000000" charset="-122"/>
                <a:ea typeface="vivo Sans" panose="02000300000000000000" charset="-122"/>
                <a:cs typeface="vivo Sans" panose="02000300000000000000" charset="-122"/>
              </a:rPr>
              <a:t>升级策略</a:t>
            </a:r>
            <a:endParaRPr lang="zh-CN" sz="1425" b="1">
              <a:solidFill>
                <a:srgbClr val="FFFFFF"/>
              </a:solidFill>
              <a:latin typeface="vivo Sans" panose="02000300000000000000" charset="-122"/>
              <a:ea typeface="vivo Sans" panose="02000300000000000000" charset="-122"/>
              <a:cs typeface="vivo Sans" panose="02000300000000000000" charset="-122"/>
            </a:endParaRPr>
          </a:p>
        </p:txBody>
      </p:sp>
      <p:sp>
        <p:nvSpPr>
          <p:cNvPr id="69"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4"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H1路径已验证，H2升级重点——回声屏幕所</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400050" y="838200"/>
            <a:ext cx="11391900" cy="685800"/>
          </a:xfrm>
          <a:prstGeom prst="roundRect">
            <a:avLst>
              <a:gd name="adj" fmla="val 11111"/>
            </a:avLst>
          </a:prstGeom>
          <a:solidFill>
            <a:srgbClr val="F5F7FF"/>
          </a:solidFill>
          <a:ln w="9525">
            <a:solidFill>
              <a:srgbClr val="DCE3F2"/>
            </a:solidFill>
            <a:prstDash val="solid"/>
          </a:ln>
        </p:spPr>
      </p:sp>
      <p:sp>
        <p:nvSpPr>
          <p:cNvPr id="7" name="矩形 6"/>
          <p:cNvSpPr>
            <a:spLocks noGrp="1"/>
          </p:cNvSpPr>
          <p:nvPr/>
        </p:nvSpPr>
        <p:spPr>
          <a:xfrm>
            <a:off x="571500" y="1076325"/>
            <a:ext cx="723900" cy="209550"/>
          </a:xfrm>
          <a:prstGeom prst="rect">
            <a:avLst/>
          </a:prstGeom>
          <a:noFill/>
          <a:ln w="0">
            <a:noFill/>
            <a:prstDash val="solid"/>
          </a:ln>
        </p:spPr>
        <p:txBody>
          <a:bodyPr anchor="ctr"/>
          <a:lstStyle/>
          <a:p>
            <a:pPr algn="l">
              <a:defRPr sz="900" b="1">
                <a:solidFill>
                  <a:srgbClr val="3157FF"/>
                </a:solidFill>
                <a:latin typeface="微软雅黑" panose="020B0503020204020204" charset="-122"/>
                <a:ea typeface="微软雅黑" panose="020B0503020204020204" charset="-122"/>
                <a:cs typeface="微软雅黑" panose="020B0503020204020204" charset="-122"/>
              </a:defRPr>
            </a:pPr>
            <a:r>
              <a:rPr sz="900" b="1">
                <a:solidFill>
                  <a:srgbClr val="3157FF"/>
                </a:solidFill>
                <a:latin typeface="微软雅黑" panose="020B0503020204020204" charset="-122"/>
                <a:ea typeface="微软雅黑" panose="020B0503020204020204" charset="-122"/>
                <a:cs typeface="微软雅黑" panose="020B0503020204020204" charset="-122"/>
              </a:rPr>
              <a:t>H1结论</a:t>
            </a:r>
            <a:endParaRPr sz="9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143000" y="1051560"/>
            <a:ext cx="5279390" cy="266700"/>
          </a:xfrm>
          <a:prstGeom prst="rect">
            <a:avLst/>
          </a:prstGeom>
          <a:noFill/>
          <a:ln w="0">
            <a:noFill/>
            <a:prstDash val="solid"/>
          </a:ln>
        </p:spPr>
        <p:txBody>
          <a:bodyPr anchor="ctr"/>
          <a:lstStyle/>
          <a:p>
            <a:pPr algn="l">
              <a:defRPr sz="1275" b="1">
                <a:solidFill>
                  <a:srgbClr val="172033"/>
                </a:solidFill>
                <a:latin typeface="微软雅黑" panose="020B0503020204020204" charset="-122"/>
                <a:ea typeface="微软雅黑" panose="020B0503020204020204" charset="-122"/>
                <a:cs typeface="微软雅黑" panose="020B0503020204020204" charset="-122"/>
              </a:defRPr>
            </a:pPr>
            <a:r>
              <a:rPr sz="1275" b="1">
                <a:solidFill>
                  <a:srgbClr val="172033"/>
                </a:solidFill>
                <a:latin typeface="微软雅黑" panose="020B0503020204020204" charset="-122"/>
                <a:ea typeface="微软雅黑" panose="020B0503020204020204" charset="-122"/>
                <a:cs typeface="微软雅黑" panose="020B0503020204020204" charset="-122"/>
              </a:rPr>
              <a:t>专业定位成立，</a:t>
            </a:r>
            <a:r>
              <a:rPr lang="zh-CN" sz="1275" b="1">
                <a:solidFill>
                  <a:srgbClr val="172033"/>
                </a:solidFill>
                <a:latin typeface="微软雅黑" panose="020B0503020204020204" charset="-122"/>
                <a:ea typeface="微软雅黑" panose="020B0503020204020204" charset="-122"/>
                <a:cs typeface="微软雅黑" panose="020B0503020204020204" charset="-122"/>
              </a:rPr>
              <a:t>数据表现优异，</a:t>
            </a:r>
            <a:r>
              <a:rPr sz="1275" b="1">
                <a:solidFill>
                  <a:srgbClr val="172033"/>
                </a:solidFill>
                <a:latin typeface="微软雅黑" panose="020B0503020204020204" charset="-122"/>
                <a:ea typeface="微软雅黑" panose="020B0503020204020204" charset="-122"/>
                <a:cs typeface="微软雅黑" panose="020B0503020204020204" charset="-122"/>
              </a:rPr>
              <a:t>但</a:t>
            </a:r>
            <a:r>
              <a:rPr lang="zh-CN" sz="1275" b="1">
                <a:solidFill>
                  <a:srgbClr val="172033"/>
                </a:solidFill>
                <a:latin typeface="微软雅黑" panose="020B0503020204020204" charset="-122"/>
                <a:ea typeface="微软雅黑" panose="020B0503020204020204" charset="-122"/>
                <a:cs typeface="微软雅黑" panose="020B0503020204020204" charset="-122"/>
              </a:rPr>
              <a:t>形式单一导致破圈</a:t>
            </a:r>
            <a:r>
              <a:rPr lang="zh-CN" sz="1275" b="1">
                <a:solidFill>
                  <a:srgbClr val="172033"/>
                </a:solidFill>
                <a:latin typeface="微软雅黑" panose="020B0503020204020204" charset="-122"/>
                <a:ea typeface="微软雅黑" panose="020B0503020204020204" charset="-122"/>
                <a:cs typeface="微软雅黑" panose="020B0503020204020204" charset="-122"/>
              </a:rPr>
              <a:t>局限</a:t>
            </a:r>
            <a:endParaRPr lang="zh-CN" sz="12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487160" y="1060450"/>
            <a:ext cx="2343150" cy="228600"/>
          </a:xfrm>
          <a:prstGeom prst="rect">
            <a:avLst/>
          </a:prstGeom>
          <a:noFill/>
          <a:ln w="0">
            <a:noFill/>
            <a:prstDash val="solid"/>
          </a:ln>
        </p:spPr>
        <p:txBody>
          <a:bodyPr anchor="ctr"/>
          <a:lstStyle/>
          <a:p>
            <a:pPr algn="l">
              <a:defRPr sz="900" b="1">
                <a:solidFill>
                  <a:srgbClr val="1230A5"/>
                </a:solidFill>
                <a:latin typeface="微软雅黑" panose="020B0503020204020204" charset="-122"/>
                <a:ea typeface="微软雅黑" panose="020B0503020204020204" charset="-122"/>
                <a:cs typeface="微软雅黑" panose="020B0503020204020204" charset="-122"/>
              </a:defRPr>
            </a:pPr>
            <a:r>
              <a:rPr sz="1200">
                <a:solidFill>
                  <a:srgbClr val="1230A5"/>
                </a:solidFill>
                <a:latin typeface="vivo Sans" panose="02000300000000000000" charset="-122"/>
                <a:ea typeface="vivo Sans" panose="02000300000000000000" charset="-122"/>
                <a:cs typeface="vivo Sans" panose="02000300000000000000" charset="-122"/>
              </a:rPr>
              <a:t>已验证</a:t>
            </a:r>
            <a:r>
              <a:rPr sz="1200" b="0">
                <a:solidFill>
                  <a:srgbClr val="1230A5"/>
                </a:solidFill>
                <a:latin typeface="vivo Sans" panose="02000300000000000000" charset="-122"/>
                <a:ea typeface="vivo Sans" panose="02000300000000000000" charset="-122"/>
                <a:cs typeface="vivo Sans" panose="02000300000000000000" charset="-122"/>
              </a:rPr>
              <a:t>  痛点｜对照｜实测</a:t>
            </a:r>
            <a:endParaRPr sz="1200" b="0">
              <a:solidFill>
                <a:srgbClr val="1230A5"/>
              </a:solidFill>
              <a:latin typeface="vivo Sans" panose="02000300000000000000" charset="-122"/>
              <a:ea typeface="vivo Sans" panose="02000300000000000000" charset="-122"/>
              <a:cs typeface="vivo Sans" panose="02000300000000000000" charset="-122"/>
            </a:endParaRPr>
          </a:p>
        </p:txBody>
      </p:sp>
      <p:sp>
        <p:nvSpPr>
          <p:cNvPr id="5" name="矩形 4"/>
          <p:cNvSpPr>
            <a:spLocks noGrp="1"/>
          </p:cNvSpPr>
          <p:nvPr/>
        </p:nvSpPr>
        <p:spPr>
          <a:xfrm>
            <a:off x="8658225" y="1048385"/>
            <a:ext cx="2944495" cy="257175"/>
          </a:xfrm>
          <a:prstGeom prst="rect">
            <a:avLst/>
          </a:prstGeom>
          <a:noFill/>
          <a:ln w="0">
            <a:noFill/>
            <a:prstDash val="solid"/>
          </a:ln>
        </p:spPr>
        <p:txBody>
          <a:bodyPr anchor="ctr"/>
          <a:lstStyle/>
          <a:p>
            <a:pPr algn="l">
              <a:defRPr sz="900" b="0">
                <a:solidFill>
                  <a:srgbClr val="667085"/>
                </a:solidFill>
                <a:latin typeface="微软雅黑" panose="020B0503020204020204" charset="-122"/>
                <a:ea typeface="微软雅黑" panose="020B0503020204020204" charset="-122"/>
                <a:cs typeface="微软雅黑" panose="020B0503020204020204" charset="-122"/>
              </a:defRPr>
            </a:pPr>
            <a:r>
              <a:rPr sz="1200" b="1">
                <a:solidFill>
                  <a:srgbClr val="667085"/>
                </a:solidFill>
                <a:latin typeface="vivo Sans" panose="02000300000000000000" charset="-122"/>
                <a:ea typeface="vivo Sans" panose="02000300000000000000" charset="-122"/>
                <a:cs typeface="vivo Sans" panose="02000300000000000000" charset="-122"/>
              </a:rPr>
              <a:t>待解决</a:t>
            </a:r>
            <a:r>
              <a:rPr sz="1200">
                <a:solidFill>
                  <a:srgbClr val="667085"/>
                </a:solidFill>
                <a:latin typeface="vivo Sans" panose="02000300000000000000" charset="-122"/>
                <a:ea typeface="vivo Sans" panose="02000300000000000000" charset="-122"/>
                <a:cs typeface="vivo Sans" panose="02000300000000000000" charset="-122"/>
              </a:rPr>
              <a:t>  热点依赖｜赛道</a:t>
            </a:r>
            <a:r>
              <a:rPr lang="zh-CN" sz="1200">
                <a:solidFill>
                  <a:srgbClr val="667085"/>
                </a:solidFill>
                <a:latin typeface="vivo Sans" panose="02000300000000000000" charset="-122"/>
                <a:ea typeface="vivo Sans" panose="02000300000000000000" charset="-122"/>
                <a:cs typeface="vivo Sans" panose="02000300000000000000" charset="-122"/>
              </a:rPr>
              <a:t>极</a:t>
            </a:r>
            <a:r>
              <a:rPr sz="1200">
                <a:solidFill>
                  <a:srgbClr val="667085"/>
                </a:solidFill>
                <a:latin typeface="vivo Sans" panose="02000300000000000000" charset="-122"/>
                <a:ea typeface="vivo Sans" panose="02000300000000000000" charset="-122"/>
                <a:cs typeface="vivo Sans" panose="02000300000000000000" charset="-122"/>
              </a:rPr>
              <a:t>窄｜互动转化</a:t>
            </a:r>
            <a:endParaRPr sz="1200">
              <a:solidFill>
                <a:srgbClr val="667085"/>
              </a:solidFill>
              <a:latin typeface="vivo Sans" panose="02000300000000000000" charset="-122"/>
              <a:ea typeface="vivo Sans" panose="02000300000000000000" charset="-122"/>
              <a:cs typeface="vivo Sans" panose="02000300000000000000" charset="-122"/>
            </a:endParaRPr>
          </a:p>
        </p:txBody>
      </p:sp>
      <p:sp>
        <p:nvSpPr>
          <p:cNvPr id="67" name="圆角矩形 66"/>
          <p:cNvSpPr>
            <a:spLocks noGrp="1"/>
          </p:cNvSpPr>
          <p:nvPr/>
        </p:nvSpPr>
        <p:spPr>
          <a:xfrm>
            <a:off x="400050" y="6115050"/>
            <a:ext cx="11391900" cy="361950"/>
          </a:xfrm>
          <a:prstGeom prst="roundRect">
            <a:avLst>
              <a:gd name="adj" fmla="val 21053"/>
            </a:avLst>
          </a:prstGeom>
          <a:solidFill>
            <a:srgbClr val="1230A5"/>
          </a:solidFill>
          <a:ln w="0">
            <a:noFill/>
            <a:prstDash val="solid"/>
          </a:ln>
        </p:spPr>
      </p:sp>
      <p:sp>
        <p:nvSpPr>
          <p:cNvPr id="68" name="矩形 67"/>
          <p:cNvSpPr>
            <a:spLocks noGrp="1"/>
          </p:cNvSpPr>
          <p:nvPr/>
        </p:nvSpPr>
        <p:spPr>
          <a:xfrm>
            <a:off x="609600" y="6153150"/>
            <a:ext cx="10934700" cy="266700"/>
          </a:xfrm>
          <a:prstGeom prst="rect">
            <a:avLst/>
          </a:prstGeom>
          <a:noFill/>
          <a:ln w="0">
            <a:noFill/>
            <a:prstDash val="solid"/>
          </a:ln>
        </p:spPr>
        <p:txBody>
          <a:bodyPr anchor="ctr"/>
          <a:lstStyle/>
          <a:p>
            <a:pPr algn="ctr">
              <a:defRPr sz="1125" b="1">
                <a:solidFill>
                  <a:srgbClr val="FFFFFF"/>
                </a:solidFill>
                <a:latin typeface="微软雅黑" panose="020B0503020204020204" charset="-122"/>
                <a:ea typeface="微软雅黑" panose="020B0503020204020204" charset="-122"/>
                <a:cs typeface="微软雅黑" panose="020B0503020204020204" charset="-122"/>
              </a:defRPr>
            </a:pPr>
            <a:r>
              <a:rPr sz="1125" b="1">
                <a:solidFill>
                  <a:srgbClr val="FFFFFF"/>
                </a:solidFill>
                <a:latin typeface="微软雅黑" panose="020B0503020204020204" charset="-122"/>
                <a:ea typeface="微软雅黑" panose="020B0503020204020204" charset="-122"/>
                <a:cs typeface="微软雅黑" panose="020B0503020204020204" charset="-122"/>
              </a:rPr>
              <a:t>H2目标  降低周期依赖｜提升互动转化｜沉淀屏幕专业心智</a:t>
            </a:r>
            <a:endParaRPr sz="1125"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utoShape 5"/>
          <p:cNvSpPr/>
          <p:nvPr/>
        </p:nvSpPr>
        <p:spPr>
          <a:xfrm>
            <a:off x="304800" y="974090"/>
            <a:ext cx="5727700" cy="1055370"/>
          </a:xfrm>
          <a:prstGeom prst="roundRect">
            <a:avLst>
              <a:gd name="adj" fmla="val 0"/>
            </a:avLst>
          </a:prstGeom>
          <a:solidFill>
            <a:schemeClr val="accent1">
              <a:lumMod val="20000"/>
              <a:lumOff val="80000"/>
            </a:schemeClr>
          </a:solidFill>
          <a:ln w="12700" cap="flat" cmpd="sng">
            <a:solidFill>
              <a:srgbClr val="1230A5">
                <a:alpha val="20000"/>
              </a:srgbClr>
            </a:solidFill>
            <a:prstDash val="solid"/>
            <a:round/>
          </a:ln>
        </p:spPr>
        <p:txBody>
          <a:bodyPr vert="horz" wrap="square" lIns="63500" tIns="63500" rIns="63500" bIns="63500" rtlCol="0" anchor="ctr"/>
          <a:lstStyle/>
          <a:p>
            <a:pPr algn="ctr">
              <a:defRPr/>
            </a:pPr>
            <a:endParaRPr>
              <a:solidFill>
                <a:schemeClr val="tx1"/>
              </a:solidFill>
              <a:latin typeface="vivo Sans Regular" panose="02000300000000000000" charset="-122"/>
              <a:ea typeface="vivo Sans Regular" panose="02000300000000000000" charset="-122"/>
            </a:endParaR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 y="1144270"/>
            <a:ext cx="362585" cy="249555"/>
          </a:xfrm>
          <a:prstGeom prst="rect">
            <a:avLst/>
          </a:prstGeom>
        </p:spPr>
      </p:pic>
      <p:sp>
        <p:nvSpPr>
          <p:cNvPr id="7" name="AutoShape 7"/>
          <p:cNvSpPr/>
          <p:nvPr/>
        </p:nvSpPr>
        <p:spPr>
          <a:xfrm>
            <a:off x="781685" y="1078865"/>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硬核参数 · 专业实测</a:t>
            </a:r>
            <a:endParaRPr 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endParaRPr>
          </a:p>
        </p:txBody>
      </p:sp>
      <p:sp>
        <p:nvSpPr>
          <p:cNvPr id="8" name="AutoShape 8"/>
          <p:cNvSpPr/>
          <p:nvPr/>
        </p:nvSpPr>
        <p:spPr>
          <a:xfrm>
            <a:off x="438785" y="1459865"/>
            <a:ext cx="4635500" cy="43815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拆解核心性能指标，通过多维度数据化对比与严苛测试，还原产品最真实</a:t>
            </a:r>
            <a:endPar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endParaRPr>
          </a:p>
          <a:p>
            <a:pPr marL="0" indent="0" algn="l">
              <a:lnSpc>
                <a:spcPct val="108000"/>
              </a:lnSpc>
              <a:defRPr/>
            </a:pPr>
            <a:r>
              <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的性能表现，为用户提供客观、可信赖的决策依据。</a:t>
            </a:r>
            <a:endPar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endParaRPr>
          </a:p>
        </p:txBody>
      </p:sp>
      <p:sp>
        <p:nvSpPr>
          <p:cNvPr id="9" name="AutoShape 9"/>
          <p:cNvSpPr/>
          <p:nvPr/>
        </p:nvSpPr>
        <p:spPr>
          <a:xfrm>
            <a:off x="6159500" y="974090"/>
            <a:ext cx="5727700" cy="1055370"/>
          </a:xfrm>
          <a:prstGeom prst="roundRect">
            <a:avLst>
              <a:gd name="adj" fmla="val 0"/>
            </a:avLst>
          </a:prstGeom>
          <a:solidFill>
            <a:schemeClr val="accent1">
              <a:lumMod val="20000"/>
              <a:lumOff val="80000"/>
            </a:schemeClr>
          </a:solidFill>
          <a:ln w="12700" cap="flat" cmpd="sng">
            <a:solidFill>
              <a:srgbClr val="1230A5">
                <a:alpha val="20000"/>
              </a:srgbClr>
            </a:solidFill>
            <a:prstDash val="solid"/>
            <a:round/>
          </a:ln>
        </p:spPr>
        <p:txBody>
          <a:bodyPr vert="horz" wrap="square" lIns="63500" tIns="63500" rIns="63500" bIns="63500" rtlCol="0" anchor="ctr"/>
          <a:lstStyle/>
          <a:p>
            <a:pPr algn="ctr">
              <a:defRPr/>
            </a:pPr>
            <a:endParaRPr>
              <a:solidFill>
                <a:schemeClr val="tx1"/>
              </a:solidFill>
              <a:latin typeface="vivo Sans Regular" panose="02000300000000000000" charset="-122"/>
              <a:ea typeface="vivo Sans Regular" panose="02000300000000000000" charset="-122"/>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25" y="1097280"/>
            <a:ext cx="362585" cy="362585"/>
          </a:xfrm>
          <a:prstGeom prst="rect">
            <a:avLst/>
          </a:prstGeom>
        </p:spPr>
      </p:pic>
      <p:sp>
        <p:nvSpPr>
          <p:cNvPr id="11" name="AutoShape 11"/>
          <p:cNvSpPr/>
          <p:nvPr/>
        </p:nvSpPr>
        <p:spPr>
          <a:xfrm>
            <a:off x="6658610" y="109728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rPr>
              <a:t>多维视角 · 场景沉浸</a:t>
            </a:r>
            <a:endParaRPr lang="en-US" sz="1600" b="1" i="0" u="none" strike="noStrike">
              <a:solidFill>
                <a:schemeClr val="tx1"/>
              </a:solidFill>
              <a:latin typeface="vivo Sans Regular" panose="02000300000000000000" charset="-122"/>
              <a:ea typeface="vivo Sans Regular" panose="02000300000000000000" charset="-122"/>
              <a:cs typeface="vivo Sans Regular" panose="02000300000000000000" charset="-122"/>
              <a:sym typeface="Noto Sans SC" panose="020B0200000000000000" charset="-122"/>
            </a:endParaRPr>
          </a:p>
        </p:txBody>
      </p:sp>
      <p:sp>
        <p:nvSpPr>
          <p:cNvPr id="12" name="AutoShape 12"/>
          <p:cNvSpPr/>
          <p:nvPr/>
        </p:nvSpPr>
        <p:spPr>
          <a:xfrm>
            <a:off x="6296025" y="147828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从用户实际使用角度出发，展现产品在不同环境下的适配度与体验感，</a:t>
            </a:r>
            <a:endPar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endParaRPr>
          </a:p>
          <a:p>
            <a:pPr marL="0" indent="0" algn="l">
              <a:lnSpc>
                <a:spcPct val="108000"/>
              </a:lnSpc>
              <a:defRPr/>
            </a:pPr>
            <a:r>
              <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增强</a:t>
            </a:r>
            <a:r>
              <a:rPr lang="zh-CN" alt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用户</a:t>
            </a:r>
            <a:r>
              <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rPr>
              <a:t>代入感。</a:t>
            </a:r>
            <a:endParaRPr lang="en-US" sz="1000" b="0" i="0" u="none" strike="noStrike">
              <a:solidFill>
                <a:schemeClr val="tx1">
                  <a:alpha val="70196"/>
                </a:schemeClr>
              </a:solidFill>
              <a:latin typeface="vivo Sans Regular" panose="02000300000000000000" charset="-122"/>
              <a:ea typeface="vivo Sans Regular" panose="02000300000000000000" charset="-122"/>
              <a:cs typeface="Noto Sans SC" panose="020B0200000000000000" charset="-122"/>
              <a:sym typeface="Noto Sans SC" panose="020B0200000000000000" charset="-122"/>
            </a:endParaRPr>
          </a:p>
        </p:txBody>
      </p:sp>
      <p:sp>
        <p:nvSpPr>
          <p:cNvPr id="56"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57"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lang="zh-CN" sz="1800" b="1">
                <a:solidFill>
                  <a:srgbClr val="FFFFFF"/>
                </a:solidFill>
                <a:latin typeface="vivo Sans Regular" panose="02000300000000000000" charset="-122"/>
                <a:ea typeface="vivo Sans Regular" panose="02000300000000000000" charset="-122"/>
                <a:cs typeface="vivo Sans Regular" panose="02000300000000000000" charset="-122"/>
              </a:rPr>
              <a:t>内容形式升级</a:t>
            </a:r>
            <a:r>
              <a:rPr lang="en-US" altLang="zh-CN" sz="1800" b="1">
                <a:solidFill>
                  <a:srgbClr val="FFFFFF"/>
                </a:solidFill>
                <a:latin typeface="vivo Sans Regular" panose="02000300000000000000" charset="-122"/>
                <a:ea typeface="vivo Sans Regular" panose="02000300000000000000" charset="-122"/>
                <a:cs typeface="vivo Sans Regular" panose="02000300000000000000" charset="-122"/>
              </a:rPr>
              <a:t>：</a:t>
            </a:r>
            <a:r>
              <a:rPr lang="zh-CN" altLang="en-US" sz="1800" b="1">
                <a:solidFill>
                  <a:srgbClr val="FFFFFF"/>
                </a:solidFill>
                <a:latin typeface="vivo Sans Regular" panose="02000300000000000000" charset="-122"/>
                <a:ea typeface="vivo Sans Regular" panose="02000300000000000000" charset="-122"/>
                <a:cs typeface="vivo Sans Regular" panose="02000300000000000000" charset="-122"/>
              </a:rPr>
              <a:t>硬核参数</a:t>
            </a:r>
            <a:r>
              <a:rPr lang="en-US" altLang="zh-CN" sz="1800" b="1">
                <a:solidFill>
                  <a:srgbClr val="FFFFFF"/>
                </a:solidFill>
                <a:latin typeface="vivo Sans Regular" panose="02000300000000000000" charset="-122"/>
                <a:ea typeface="vivo Sans Regular" panose="02000300000000000000" charset="-122"/>
                <a:cs typeface="vivo Sans Regular" panose="02000300000000000000" charset="-122"/>
              </a:rPr>
              <a:t>+</a:t>
            </a:r>
            <a:r>
              <a:rPr lang="zh-CN" altLang="en-US" sz="1800" b="1">
                <a:solidFill>
                  <a:srgbClr val="FFFFFF"/>
                </a:solidFill>
                <a:latin typeface="vivo Sans Regular" panose="02000300000000000000" charset="-122"/>
                <a:ea typeface="vivo Sans Regular" panose="02000300000000000000" charset="-122"/>
                <a:cs typeface="vivo Sans Regular" panose="02000300000000000000" charset="-122"/>
              </a:rPr>
              <a:t>多维</a:t>
            </a:r>
            <a:r>
              <a:rPr lang="zh-CN" altLang="en-US" sz="1800" b="1">
                <a:solidFill>
                  <a:srgbClr val="FFFFFF"/>
                </a:solidFill>
                <a:latin typeface="vivo Sans Regular" panose="02000300000000000000" charset="-122"/>
                <a:ea typeface="vivo Sans Regular" panose="02000300000000000000" charset="-122"/>
                <a:cs typeface="vivo Sans Regular" panose="02000300000000000000" charset="-122"/>
              </a:rPr>
              <a:t>视角</a:t>
            </a:r>
            <a:endParaRPr lang="zh-CN" altLang="en-US" sz="1800" b="1">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2" name="文本框 1"/>
          <p:cNvSpPr txBox="1"/>
          <p:nvPr/>
        </p:nvSpPr>
        <p:spPr>
          <a:xfrm>
            <a:off x="4634230" y="1240790"/>
            <a:ext cx="1397000" cy="583565"/>
          </a:xfrm>
          <a:prstGeom prst="rect">
            <a:avLst/>
          </a:prstGeom>
          <a:noFill/>
        </p:spPr>
        <p:txBody>
          <a:bodyPr wrap="square" rtlCol="0">
            <a:spAutoFit/>
          </a:bodyPr>
          <a:p>
            <a:pPr algn="ctr"/>
            <a:r>
              <a:rPr lang="en-US" altLang="zh-CN" sz="3200" b="1">
                <a:solidFill>
                  <a:srgbClr val="3157FF"/>
                </a:solidFill>
                <a:latin typeface="vivo Sans Regular" panose="02000300000000000000" charset="-122"/>
                <a:ea typeface="vivo Sans Regular" panose="02000300000000000000" charset="-122"/>
              </a:rPr>
              <a:t>60%</a:t>
            </a:r>
            <a:endParaRPr lang="en-US" altLang="zh-CN" sz="3200" b="1">
              <a:solidFill>
                <a:srgbClr val="3157FF"/>
              </a:solidFill>
              <a:latin typeface="vivo Sans Regular" panose="02000300000000000000" charset="-122"/>
              <a:ea typeface="vivo Sans Regular" panose="02000300000000000000" charset="-122"/>
            </a:endParaRPr>
          </a:p>
        </p:txBody>
      </p:sp>
      <p:sp>
        <p:nvSpPr>
          <p:cNvPr id="3" name="文本框 2"/>
          <p:cNvSpPr txBox="1"/>
          <p:nvPr/>
        </p:nvSpPr>
        <p:spPr>
          <a:xfrm>
            <a:off x="10578465" y="1314450"/>
            <a:ext cx="1397000" cy="583565"/>
          </a:xfrm>
          <a:prstGeom prst="rect">
            <a:avLst/>
          </a:prstGeom>
          <a:noFill/>
        </p:spPr>
        <p:txBody>
          <a:bodyPr wrap="square" rtlCol="0">
            <a:spAutoFit/>
          </a:bodyPr>
          <a:p>
            <a:pPr algn="ctr"/>
            <a:r>
              <a:rPr lang="en-US" altLang="zh-CN" sz="3200" b="1">
                <a:solidFill>
                  <a:srgbClr val="3157FF"/>
                </a:solidFill>
                <a:latin typeface="vivo Sans Regular" panose="02000300000000000000" charset="-122"/>
                <a:ea typeface="vivo Sans Regular" panose="02000300000000000000" charset="-122"/>
              </a:rPr>
              <a:t>40%</a:t>
            </a:r>
            <a:endParaRPr lang="en-US" altLang="zh-CN" sz="3200" b="1">
              <a:solidFill>
                <a:srgbClr val="3157FF"/>
              </a:solidFill>
              <a:latin typeface="vivo Sans Regular" panose="02000300000000000000" charset="-122"/>
              <a:ea typeface="vivo Sans Regular" panose="02000300000000000000" charset="-122"/>
            </a:endParaRPr>
          </a:p>
        </p:txBody>
      </p:sp>
      <p:sp>
        <p:nvSpPr>
          <p:cNvPr id="4" name="文本框 3"/>
          <p:cNvSpPr txBox="1"/>
          <p:nvPr/>
        </p:nvSpPr>
        <p:spPr>
          <a:xfrm>
            <a:off x="2992120" y="2436495"/>
            <a:ext cx="6208395" cy="398780"/>
          </a:xfrm>
          <a:prstGeom prst="rect">
            <a:avLst/>
          </a:prstGeom>
          <a:noFill/>
        </p:spPr>
        <p:txBody>
          <a:bodyPr wrap="square" rtlCol="0">
            <a:spAutoFit/>
          </a:bodyPr>
          <a:p>
            <a:pPr algn="ctr"/>
            <a:r>
              <a:rPr lang="zh-CN" altLang="en-US" sz="2000" b="1">
                <a:solidFill>
                  <a:srgbClr val="3157FF"/>
                </a:solidFill>
                <a:latin typeface="vivo Sans Regular" panose="02000300000000000000" charset="-122"/>
                <a:ea typeface="vivo Sans Regular" panose="02000300000000000000" charset="-122"/>
              </a:rPr>
              <a:t>多维视角内容</a:t>
            </a:r>
            <a:r>
              <a:rPr lang="en-US" altLang="zh-CN" sz="2000" b="1">
                <a:solidFill>
                  <a:srgbClr val="3157FF"/>
                </a:solidFill>
                <a:latin typeface="vivo Sans Regular" panose="02000300000000000000" charset="-122"/>
                <a:ea typeface="vivo Sans Regular" panose="02000300000000000000" charset="-122"/>
              </a:rPr>
              <a:t>，</a:t>
            </a:r>
            <a:r>
              <a:rPr lang="zh-CN" altLang="en-US" sz="2000" b="1">
                <a:solidFill>
                  <a:srgbClr val="3157FF"/>
                </a:solidFill>
                <a:latin typeface="vivo Sans Regular" panose="02000300000000000000" charset="-122"/>
                <a:ea typeface="vivo Sans Regular" panose="02000300000000000000" charset="-122"/>
              </a:rPr>
              <a:t>可分为场景体验和创意实验</a:t>
            </a:r>
            <a:endParaRPr lang="zh-CN" altLang="en-US" sz="2000" b="1">
              <a:solidFill>
                <a:srgbClr val="3157FF"/>
              </a:solidFill>
              <a:latin typeface="vivo Sans Regular" panose="02000300000000000000" charset="-122"/>
              <a:ea typeface="vivo Sans Regular" panose="02000300000000000000" charset="-122"/>
            </a:endParaRPr>
          </a:p>
        </p:txBody>
      </p:sp>
      <p:sp>
        <p:nvSpPr>
          <p:cNvPr id="13" name="文本框 12"/>
          <p:cNvSpPr txBox="1"/>
          <p:nvPr/>
        </p:nvSpPr>
        <p:spPr>
          <a:xfrm>
            <a:off x="304800" y="3091815"/>
            <a:ext cx="1555115" cy="337185"/>
          </a:xfrm>
          <a:prstGeom prst="rect">
            <a:avLst/>
          </a:prstGeom>
          <a:noFill/>
        </p:spPr>
        <p:txBody>
          <a:bodyPr wrap="square" rtlCol="0">
            <a:spAutoFit/>
          </a:bodyPr>
          <a:p>
            <a:pPr algn="l"/>
            <a:r>
              <a:rPr lang="en-US" altLang="zh-CN" sz="1600" b="1">
                <a:solidFill>
                  <a:srgbClr val="1230A5"/>
                </a:solidFill>
                <a:latin typeface="vivo Sans Regular" panose="02000300000000000000" charset="-122"/>
                <a:ea typeface="vivo Sans Regular" panose="02000300000000000000" charset="-122"/>
                <a:cs typeface="vivo Sans Regular" panose="02000300000000000000" charset="-122"/>
              </a:rPr>
              <a:t>01 </a:t>
            </a:r>
            <a:r>
              <a:rPr lang="zh-CN" altLang="en-US" sz="1600" b="1">
                <a:solidFill>
                  <a:srgbClr val="1230A5"/>
                </a:solidFill>
                <a:latin typeface="vivo Sans Regular" panose="02000300000000000000" charset="-122"/>
                <a:ea typeface="vivo Sans Regular" panose="02000300000000000000" charset="-122"/>
                <a:cs typeface="vivo Sans Regular" panose="02000300000000000000" charset="-122"/>
              </a:rPr>
              <a:t>场景体验</a:t>
            </a:r>
            <a:endParaRPr lang="en-US" altLang="zh-CN" sz="1600" b="1">
              <a:solidFill>
                <a:srgbClr val="1230A5"/>
              </a:solidFill>
              <a:latin typeface="vivo Sans Regular" panose="02000300000000000000" charset="-122"/>
              <a:ea typeface="vivo Sans Regular" panose="02000300000000000000" charset="-122"/>
              <a:cs typeface="vivo Sans Regular" panose="02000300000000000000" charset="-122"/>
            </a:endParaRPr>
          </a:p>
        </p:txBody>
      </p:sp>
      <p:sp>
        <p:nvSpPr>
          <p:cNvPr id="14" name="文本框 13"/>
          <p:cNvSpPr txBox="1"/>
          <p:nvPr/>
        </p:nvSpPr>
        <p:spPr>
          <a:xfrm>
            <a:off x="6159500" y="3084830"/>
            <a:ext cx="1555115" cy="337185"/>
          </a:xfrm>
          <a:prstGeom prst="rect">
            <a:avLst/>
          </a:prstGeom>
          <a:noFill/>
        </p:spPr>
        <p:txBody>
          <a:bodyPr wrap="square" rtlCol="0">
            <a:spAutoFit/>
          </a:bodyPr>
          <a:p>
            <a:pPr algn="l"/>
            <a:r>
              <a:rPr lang="en-US" altLang="zh-CN" sz="1600" b="1">
                <a:solidFill>
                  <a:srgbClr val="1230A5"/>
                </a:solidFill>
                <a:latin typeface="vivo Sans Regular" panose="02000300000000000000" charset="-122"/>
                <a:ea typeface="vivo Sans Regular" panose="02000300000000000000" charset="-122"/>
                <a:cs typeface="vivo Sans Regular" panose="02000300000000000000" charset="-122"/>
              </a:rPr>
              <a:t>02 </a:t>
            </a:r>
            <a:r>
              <a:rPr lang="zh-CN" altLang="en-US" sz="1600" b="1">
                <a:solidFill>
                  <a:srgbClr val="1230A5"/>
                </a:solidFill>
                <a:latin typeface="vivo Sans Regular" panose="02000300000000000000" charset="-122"/>
                <a:ea typeface="vivo Sans Regular" panose="02000300000000000000" charset="-122"/>
                <a:cs typeface="vivo Sans Regular" panose="02000300000000000000" charset="-122"/>
              </a:rPr>
              <a:t>创意</a:t>
            </a:r>
            <a:r>
              <a:rPr lang="zh-CN" altLang="en-US" sz="1600" b="1">
                <a:solidFill>
                  <a:srgbClr val="1230A5"/>
                </a:solidFill>
                <a:latin typeface="vivo Sans Regular" panose="02000300000000000000" charset="-122"/>
                <a:ea typeface="vivo Sans Regular" panose="02000300000000000000" charset="-122"/>
                <a:cs typeface="vivo Sans Regular" panose="02000300000000000000" charset="-122"/>
              </a:rPr>
              <a:t>实验</a:t>
            </a:r>
            <a:endParaRPr lang="zh-CN" altLang="en-US" sz="1600" b="1">
              <a:solidFill>
                <a:srgbClr val="1230A5"/>
              </a:solidFill>
              <a:latin typeface="vivo Sans Regular" panose="02000300000000000000" charset="-122"/>
              <a:ea typeface="vivo Sans Regular" panose="02000300000000000000" charset="-122"/>
              <a:cs typeface="vivo Sans Regular" panose="02000300000000000000" charset="-122"/>
            </a:endParaRPr>
          </a:p>
        </p:txBody>
      </p:sp>
      <p:sp>
        <p:nvSpPr>
          <p:cNvPr id="40" name="圆角矩形 39"/>
          <p:cNvSpPr>
            <a:spLocks noGrp="1"/>
          </p:cNvSpPr>
          <p:nvPr/>
        </p:nvSpPr>
        <p:spPr>
          <a:xfrm>
            <a:off x="304800" y="3563620"/>
            <a:ext cx="4636135" cy="2995295"/>
          </a:xfrm>
          <a:prstGeom prst="roundRect">
            <a:avLst>
              <a:gd name="adj" fmla="val 5405"/>
            </a:avLst>
          </a:prstGeom>
          <a:solidFill>
            <a:srgbClr val="FFFFFF"/>
          </a:solidFill>
          <a:ln w="9525">
            <a:solidFill>
              <a:srgbClr val="DCE3F2"/>
            </a:solidFill>
            <a:prstDash val="solid"/>
          </a:ln>
        </p:spPr>
        <p:txBody>
          <a:bodyPr/>
          <a:p>
            <a:endParaRPr lang="zh-CN" altLang="en-US">
              <a:latin typeface="vivo Sans Regular" panose="02000300000000000000" charset="-122"/>
              <a:ea typeface="vivo Sans Regular" panose="02000300000000000000" charset="-122"/>
            </a:endParaRPr>
          </a:p>
        </p:txBody>
      </p:sp>
      <p:sp>
        <p:nvSpPr>
          <p:cNvPr id="59" name="圆角矩形 58"/>
          <p:cNvSpPr>
            <a:spLocks noGrp="1"/>
          </p:cNvSpPr>
          <p:nvPr/>
        </p:nvSpPr>
        <p:spPr>
          <a:xfrm>
            <a:off x="6257925" y="3562985"/>
            <a:ext cx="5629275" cy="2996565"/>
          </a:xfrm>
          <a:prstGeom prst="roundRect">
            <a:avLst>
              <a:gd name="adj" fmla="val 5405"/>
            </a:avLst>
          </a:prstGeom>
          <a:solidFill>
            <a:srgbClr val="1230A5">
              <a:alpha val="13000"/>
            </a:srgbClr>
          </a:solidFill>
          <a:ln w="9525">
            <a:solidFill>
              <a:srgbClr val="DCE3F2"/>
            </a:solidFill>
            <a:prstDash val="solid"/>
          </a:ln>
        </p:spPr>
        <p:txBody>
          <a:bodyPr/>
          <a:p>
            <a:endParaRPr lang="zh-CN" altLang="en-US">
              <a:latin typeface="vivo Sans Regular" panose="02000300000000000000" charset="-122"/>
              <a:ea typeface="vivo Sans Regular" panose="02000300000000000000" charset="-122"/>
            </a:endParaRPr>
          </a:p>
        </p:txBody>
      </p:sp>
      <p:sp>
        <p:nvSpPr>
          <p:cNvPr id="15" name="文本框 14"/>
          <p:cNvSpPr txBox="1"/>
          <p:nvPr/>
        </p:nvSpPr>
        <p:spPr>
          <a:xfrm>
            <a:off x="419100" y="3714750"/>
            <a:ext cx="5553710" cy="645160"/>
          </a:xfrm>
          <a:prstGeom prst="rect">
            <a:avLst/>
          </a:prstGeom>
          <a:noFill/>
        </p:spPr>
        <p:txBody>
          <a:bodyPr wrap="square" rtlCol="0">
            <a:spAutoFit/>
          </a:bodyPr>
          <a:p>
            <a:pPr marL="171450" indent="-171450">
              <a:lnSpc>
                <a:spcPct val="150000"/>
              </a:lnSpc>
              <a:buFont typeface="Arial" panose="020B0604020202020204" pitchFamily="34" charset="0"/>
              <a:buChar char="•"/>
            </a:pPr>
            <a:r>
              <a:rPr lang="zh-CN" altLang="en-US" sz="1200" b="1">
                <a:latin typeface="vivo Sans Regular" panose="02000300000000000000" charset="-122"/>
                <a:ea typeface="vivo Sans Regular" panose="02000300000000000000" charset="-122"/>
                <a:cs typeface="vivo Sans Regular" panose="02000300000000000000" charset="-122"/>
              </a:rPr>
              <a:t>对标参考</a:t>
            </a:r>
            <a:r>
              <a:rPr lang="en-US" altLang="zh-CN" sz="1200" b="1">
                <a:latin typeface="vivo Sans Regular" panose="02000300000000000000" charset="-122"/>
                <a:ea typeface="vivo Sans Regular" panose="02000300000000000000" charset="-122"/>
                <a:cs typeface="vivo Sans Regular" panose="02000300000000000000" charset="-122"/>
              </a:rPr>
              <a:t>：</a:t>
            </a:r>
            <a:r>
              <a:rPr lang="zh-CN" altLang="en-US" sz="1200">
                <a:latin typeface="vivo Sans Regular" panose="02000300000000000000" charset="-122"/>
                <a:ea typeface="vivo Sans Regular" panose="02000300000000000000" charset="-122"/>
                <a:cs typeface="vivo Sans Regular" panose="02000300000000000000" charset="-122"/>
              </a:rPr>
              <a:t>请不要叫我测评君</a:t>
            </a:r>
            <a:r>
              <a:rPr lang="en-US" altLang="zh-CN" sz="1200">
                <a:latin typeface="vivo Sans Regular" panose="02000300000000000000" charset="-122"/>
                <a:ea typeface="vivo Sans Regular" panose="02000300000000000000" charset="-122"/>
                <a:cs typeface="vivo Sans Regular" panose="02000300000000000000" charset="-122"/>
              </a:rPr>
              <a:t>/</a:t>
            </a:r>
            <a:r>
              <a:rPr lang="zh-CN" altLang="en-US" sz="1200">
                <a:latin typeface="vivo Sans Regular" panose="02000300000000000000" charset="-122"/>
                <a:ea typeface="vivo Sans Regular" panose="02000300000000000000" charset="-122"/>
                <a:cs typeface="vivo Sans Regular" panose="02000300000000000000" charset="-122"/>
              </a:rPr>
              <a:t>野生测试猿</a:t>
            </a:r>
            <a:r>
              <a:rPr lang="en-US" altLang="zh-CN" sz="1200">
                <a:latin typeface="vivo Sans Regular" panose="02000300000000000000" charset="-122"/>
                <a:ea typeface="vivo Sans Regular" panose="02000300000000000000" charset="-122"/>
                <a:cs typeface="vivo Sans Regular" panose="02000300000000000000" charset="-122"/>
              </a:rPr>
              <a:t>：</a:t>
            </a:r>
            <a:endParaRPr lang="en-US" altLang="zh-CN" sz="1200">
              <a:latin typeface="vivo Sans Regular" panose="02000300000000000000" charset="-122"/>
              <a:ea typeface="vivo Sans Regular" panose="02000300000000000000" charset="-122"/>
              <a:cs typeface="vivo Sans Regular" panose="02000300000000000000" charset="-122"/>
            </a:endParaRPr>
          </a:p>
          <a:p>
            <a:pPr marL="171450" indent="-171450">
              <a:lnSpc>
                <a:spcPct val="150000"/>
              </a:lnSpc>
              <a:buFont typeface="Arial" panose="020B0604020202020204" pitchFamily="34" charset="0"/>
              <a:buChar char="•"/>
            </a:pPr>
            <a:r>
              <a:rPr lang="zh-CN" altLang="en-US" sz="1200" b="1">
                <a:latin typeface="vivo Sans Regular" panose="02000300000000000000" charset="-122"/>
                <a:ea typeface="vivo Sans Regular" panose="02000300000000000000" charset="-122"/>
                <a:cs typeface="vivo Sans Regular" panose="02000300000000000000" charset="-122"/>
              </a:rPr>
              <a:t>视频链接</a:t>
            </a:r>
            <a:r>
              <a:rPr lang="en-US" altLang="zh-CN" sz="1200" b="1">
                <a:latin typeface="vivo Sans Regular" panose="02000300000000000000" charset="-122"/>
                <a:ea typeface="vivo Sans Regular" panose="02000300000000000000" charset="-122"/>
                <a:cs typeface="vivo Sans Regular" panose="02000300000000000000" charset="-122"/>
              </a:rPr>
              <a:t>：</a:t>
            </a:r>
            <a:r>
              <a:rPr lang="en-US" altLang="zh-CN" sz="1000">
                <a:latin typeface="vivo Sans Regular" panose="02000300000000000000" charset="-122"/>
                <a:ea typeface="vivo Sans Regular" panose="02000300000000000000" charset="-122"/>
                <a:cs typeface="vivo Sans Regular" panose="02000300000000000000" charset="-122"/>
              </a:rPr>
              <a:t>https://www.douyin.com/video/7529069363262016783</a:t>
            </a:r>
            <a:endParaRPr lang="en-US" altLang="zh-CN" sz="1000">
              <a:latin typeface="vivo Sans Regular" panose="02000300000000000000" charset="-122"/>
              <a:ea typeface="vivo Sans Regular" panose="02000300000000000000" charset="-122"/>
              <a:cs typeface="vivo Sans Regular" panose="02000300000000000000" charset="-122"/>
            </a:endParaRPr>
          </a:p>
        </p:txBody>
      </p:sp>
      <p:pic>
        <p:nvPicPr>
          <p:cNvPr id="16" name="图片 15" descr="截屏2026-08-02 15.17.14"/>
          <p:cNvPicPr>
            <a:picLocks noChangeAspect="1"/>
          </p:cNvPicPr>
          <p:nvPr/>
        </p:nvPicPr>
        <p:blipFill>
          <a:blip r:embed="rId5"/>
          <a:stretch>
            <a:fillRect/>
          </a:stretch>
        </p:blipFill>
        <p:spPr>
          <a:xfrm>
            <a:off x="748030" y="4359910"/>
            <a:ext cx="1898650" cy="1060450"/>
          </a:xfrm>
          <a:prstGeom prst="rect">
            <a:avLst/>
          </a:prstGeom>
        </p:spPr>
      </p:pic>
      <p:pic>
        <p:nvPicPr>
          <p:cNvPr id="17" name="图片 16" descr="截屏2026-08-02 15.14.47"/>
          <p:cNvPicPr>
            <a:picLocks noChangeAspect="1"/>
          </p:cNvPicPr>
          <p:nvPr/>
        </p:nvPicPr>
        <p:blipFill>
          <a:blip r:embed="rId6"/>
          <a:stretch>
            <a:fillRect/>
          </a:stretch>
        </p:blipFill>
        <p:spPr>
          <a:xfrm>
            <a:off x="2698115" y="4359910"/>
            <a:ext cx="1898015" cy="1063625"/>
          </a:xfrm>
          <a:prstGeom prst="rect">
            <a:avLst/>
          </a:prstGeom>
        </p:spPr>
      </p:pic>
      <p:pic>
        <p:nvPicPr>
          <p:cNvPr id="18" name="图片 17" descr="截屏2026-08-02 15.14.22"/>
          <p:cNvPicPr>
            <a:picLocks noChangeAspect="1"/>
          </p:cNvPicPr>
          <p:nvPr/>
        </p:nvPicPr>
        <p:blipFill>
          <a:blip r:embed="rId7"/>
          <a:stretch>
            <a:fillRect/>
          </a:stretch>
        </p:blipFill>
        <p:spPr>
          <a:xfrm>
            <a:off x="2698115" y="5452745"/>
            <a:ext cx="1899285" cy="1063625"/>
          </a:xfrm>
          <a:prstGeom prst="rect">
            <a:avLst/>
          </a:prstGeom>
        </p:spPr>
      </p:pic>
      <p:pic>
        <p:nvPicPr>
          <p:cNvPr id="19" name="图片 18" descr="截屏2026-08-02 15.15.23"/>
          <p:cNvPicPr>
            <a:picLocks noChangeAspect="1"/>
          </p:cNvPicPr>
          <p:nvPr/>
        </p:nvPicPr>
        <p:blipFill>
          <a:blip r:embed="rId8"/>
          <a:stretch>
            <a:fillRect/>
          </a:stretch>
        </p:blipFill>
        <p:spPr>
          <a:xfrm>
            <a:off x="748030" y="5452745"/>
            <a:ext cx="1898015" cy="1068070"/>
          </a:xfrm>
          <a:prstGeom prst="rect">
            <a:avLst/>
          </a:prstGeom>
        </p:spPr>
      </p:pic>
      <p:sp>
        <p:nvSpPr>
          <p:cNvPr id="20" name="文本框 19"/>
          <p:cNvSpPr txBox="1"/>
          <p:nvPr/>
        </p:nvSpPr>
        <p:spPr>
          <a:xfrm>
            <a:off x="6296025" y="3719830"/>
            <a:ext cx="1300480" cy="460375"/>
          </a:xfrm>
          <a:prstGeom prst="rect">
            <a:avLst/>
          </a:prstGeom>
          <a:noFill/>
        </p:spPr>
        <p:txBody>
          <a:bodyPr wrap="square" rtlCol="0">
            <a:spAutoFit/>
          </a:bodyPr>
          <a:p>
            <a:pPr algn="ctr"/>
            <a:r>
              <a:rPr lang="zh-CN" altLang="en-US" sz="1000">
                <a:latin typeface="vivo Sans Regular" panose="02000300000000000000" charset="-122"/>
                <a:ea typeface="vivo Sans Regular" panose="02000300000000000000" charset="-122"/>
                <a:cs typeface="vivo Sans Regular" panose="02000300000000000000" charset="-122"/>
              </a:rPr>
              <a:t>形式</a:t>
            </a:r>
            <a:r>
              <a:rPr lang="en-US" altLang="zh-CN" sz="1000">
                <a:latin typeface="vivo Sans Regular" panose="02000300000000000000" charset="-122"/>
                <a:ea typeface="vivo Sans Regular" panose="02000300000000000000" charset="-122"/>
                <a:cs typeface="vivo Sans Regular" panose="02000300000000000000" charset="-122"/>
              </a:rPr>
              <a:t>1</a:t>
            </a:r>
            <a:endParaRPr lang="en-US" altLang="zh-CN" sz="1000">
              <a:latin typeface="vivo Sans Regular" panose="02000300000000000000" charset="-122"/>
              <a:ea typeface="vivo Sans Regular" panose="02000300000000000000" charset="-122"/>
              <a:cs typeface="vivo Sans Regular" panose="02000300000000000000" charset="-122"/>
            </a:endParaRPr>
          </a:p>
          <a:p>
            <a:pPr algn="ctr"/>
            <a:r>
              <a:rPr lang="zh-CN" altLang="en-US" sz="1400" b="1">
                <a:latin typeface="vivo Sans Regular" panose="02000300000000000000" charset="-122"/>
                <a:ea typeface="vivo Sans Regular" panose="02000300000000000000" charset="-122"/>
                <a:cs typeface="vivo Sans Regular" panose="02000300000000000000" charset="-122"/>
              </a:rPr>
              <a:t>创意实验</a:t>
            </a:r>
            <a:endParaRPr lang="zh-CN" altLang="en-US" sz="1400" b="1">
              <a:latin typeface="vivo Sans Regular" panose="02000300000000000000" charset="-122"/>
              <a:ea typeface="vivo Sans Regular" panose="02000300000000000000" charset="-122"/>
              <a:cs typeface="vivo Sans Regular" panose="02000300000000000000" charset="-122"/>
            </a:endParaRPr>
          </a:p>
        </p:txBody>
      </p:sp>
      <p:sp>
        <p:nvSpPr>
          <p:cNvPr id="21" name="文本框 20"/>
          <p:cNvSpPr txBox="1"/>
          <p:nvPr/>
        </p:nvSpPr>
        <p:spPr>
          <a:xfrm>
            <a:off x="7967345" y="3714750"/>
            <a:ext cx="1300480" cy="460375"/>
          </a:xfrm>
          <a:prstGeom prst="rect">
            <a:avLst/>
          </a:prstGeom>
          <a:noFill/>
        </p:spPr>
        <p:txBody>
          <a:bodyPr wrap="square" rtlCol="0">
            <a:spAutoFit/>
          </a:bodyPr>
          <a:p>
            <a:pPr algn="ctr"/>
            <a:r>
              <a:rPr lang="zh-CN" altLang="en-US" sz="1000">
                <a:latin typeface="vivo Sans Regular" panose="02000300000000000000" charset="-122"/>
                <a:ea typeface="vivo Sans Regular" panose="02000300000000000000" charset="-122"/>
                <a:cs typeface="vivo Sans Regular" panose="02000300000000000000" charset="-122"/>
              </a:rPr>
              <a:t>形式</a:t>
            </a:r>
            <a:r>
              <a:rPr lang="en-US" altLang="zh-CN" sz="1000">
                <a:latin typeface="vivo Sans Regular" panose="02000300000000000000" charset="-122"/>
                <a:ea typeface="vivo Sans Regular" panose="02000300000000000000" charset="-122"/>
                <a:cs typeface="vivo Sans Regular" panose="02000300000000000000" charset="-122"/>
              </a:rPr>
              <a:t>2</a:t>
            </a:r>
            <a:endParaRPr lang="en-US" altLang="zh-CN" sz="1000">
              <a:latin typeface="vivo Sans Regular" panose="02000300000000000000" charset="-122"/>
              <a:ea typeface="vivo Sans Regular" panose="02000300000000000000" charset="-122"/>
              <a:cs typeface="vivo Sans Regular" panose="02000300000000000000" charset="-122"/>
            </a:endParaRPr>
          </a:p>
          <a:p>
            <a:pPr algn="ctr"/>
            <a:r>
              <a:rPr lang="zh-CN" altLang="en-US" sz="1400" b="1">
                <a:latin typeface="vivo Sans Regular" panose="02000300000000000000" charset="-122"/>
                <a:ea typeface="vivo Sans Regular" panose="02000300000000000000" charset="-122"/>
                <a:cs typeface="vivo Sans Regular" panose="02000300000000000000" charset="-122"/>
              </a:rPr>
              <a:t>视觉</a:t>
            </a:r>
            <a:r>
              <a:rPr lang="zh-CN" altLang="en-US" sz="1400" b="1">
                <a:latin typeface="vivo Sans Regular" panose="02000300000000000000" charset="-122"/>
                <a:ea typeface="vivo Sans Regular" panose="02000300000000000000" charset="-122"/>
                <a:cs typeface="vivo Sans Regular" panose="02000300000000000000" charset="-122"/>
              </a:rPr>
              <a:t>对比</a:t>
            </a:r>
            <a:endParaRPr lang="zh-CN" altLang="en-US" sz="1400" b="1">
              <a:latin typeface="vivo Sans Regular" panose="02000300000000000000" charset="-122"/>
              <a:ea typeface="vivo Sans Regular" panose="02000300000000000000" charset="-122"/>
              <a:cs typeface="vivo Sans Regular" panose="02000300000000000000" charset="-122"/>
            </a:endParaRPr>
          </a:p>
        </p:txBody>
      </p:sp>
      <p:sp>
        <p:nvSpPr>
          <p:cNvPr id="22" name="文本框 21"/>
          <p:cNvSpPr txBox="1"/>
          <p:nvPr/>
        </p:nvSpPr>
        <p:spPr>
          <a:xfrm>
            <a:off x="9972040" y="3714750"/>
            <a:ext cx="1300480" cy="460375"/>
          </a:xfrm>
          <a:prstGeom prst="rect">
            <a:avLst/>
          </a:prstGeom>
          <a:noFill/>
        </p:spPr>
        <p:txBody>
          <a:bodyPr wrap="square" rtlCol="0">
            <a:spAutoFit/>
          </a:bodyPr>
          <a:p>
            <a:pPr algn="ctr"/>
            <a:r>
              <a:rPr lang="zh-CN" altLang="en-US" sz="1000">
                <a:latin typeface="vivo Sans Regular" panose="02000300000000000000" charset="-122"/>
                <a:ea typeface="vivo Sans Regular" panose="02000300000000000000" charset="-122"/>
                <a:cs typeface="vivo Sans Regular" panose="02000300000000000000" charset="-122"/>
              </a:rPr>
              <a:t>形式</a:t>
            </a:r>
            <a:r>
              <a:rPr lang="en-US" altLang="zh-CN" sz="1000">
                <a:latin typeface="vivo Sans Regular" panose="02000300000000000000" charset="-122"/>
                <a:ea typeface="vivo Sans Regular" panose="02000300000000000000" charset="-122"/>
                <a:cs typeface="vivo Sans Regular" panose="02000300000000000000" charset="-122"/>
              </a:rPr>
              <a:t>3</a:t>
            </a:r>
            <a:endParaRPr lang="en-US" altLang="zh-CN" sz="1000">
              <a:latin typeface="vivo Sans Regular" panose="02000300000000000000" charset="-122"/>
              <a:ea typeface="vivo Sans Regular" panose="02000300000000000000" charset="-122"/>
              <a:cs typeface="vivo Sans Regular" panose="02000300000000000000" charset="-122"/>
            </a:endParaRPr>
          </a:p>
          <a:p>
            <a:pPr algn="ctr"/>
            <a:r>
              <a:rPr lang="zh-CN" altLang="en-US" sz="1400" b="1">
                <a:latin typeface="vivo Sans Regular" panose="02000300000000000000" charset="-122"/>
                <a:ea typeface="vivo Sans Regular" panose="02000300000000000000" charset="-122"/>
                <a:cs typeface="vivo Sans Regular" panose="02000300000000000000" charset="-122"/>
              </a:rPr>
              <a:t>创意</a:t>
            </a:r>
            <a:r>
              <a:rPr lang="zh-CN" altLang="en-US" sz="1400" b="1">
                <a:latin typeface="vivo Sans Regular" panose="02000300000000000000" charset="-122"/>
                <a:ea typeface="vivo Sans Regular" panose="02000300000000000000" charset="-122"/>
                <a:cs typeface="vivo Sans Regular" panose="02000300000000000000" charset="-122"/>
              </a:rPr>
              <a:t>视觉</a:t>
            </a:r>
            <a:endParaRPr lang="zh-CN" altLang="en-US" sz="1400" b="1">
              <a:latin typeface="vivo Sans Regular" panose="02000300000000000000" charset="-122"/>
              <a:ea typeface="vivo Sans Regular" panose="02000300000000000000" charset="-122"/>
              <a:cs typeface="vivo Sans Regular" panose="02000300000000000000" charset="-122"/>
            </a:endParaRPr>
          </a:p>
        </p:txBody>
      </p:sp>
      <p:pic>
        <p:nvPicPr>
          <p:cNvPr id="23" name="图片 22" descr="截屏2026-08-02 14.01.50"/>
          <p:cNvPicPr>
            <a:picLocks noChangeAspect="1"/>
          </p:cNvPicPr>
          <p:nvPr/>
        </p:nvPicPr>
        <p:blipFill>
          <a:blip r:embed="rId9"/>
          <a:stretch>
            <a:fillRect/>
          </a:stretch>
        </p:blipFill>
        <p:spPr>
          <a:xfrm>
            <a:off x="6325235" y="4180205"/>
            <a:ext cx="1271270" cy="712470"/>
          </a:xfrm>
          <a:prstGeom prst="rect">
            <a:avLst/>
          </a:prstGeom>
        </p:spPr>
      </p:pic>
      <p:pic>
        <p:nvPicPr>
          <p:cNvPr id="35" name="图片 34" descr="截屏2026-08-02 14.02.42"/>
          <p:cNvPicPr>
            <a:picLocks noChangeAspect="1"/>
          </p:cNvPicPr>
          <p:nvPr/>
        </p:nvPicPr>
        <p:blipFill>
          <a:blip r:embed="rId10"/>
          <a:stretch>
            <a:fillRect/>
          </a:stretch>
        </p:blipFill>
        <p:spPr>
          <a:xfrm>
            <a:off x="6325235" y="4965065"/>
            <a:ext cx="1270635" cy="709930"/>
          </a:xfrm>
          <a:prstGeom prst="rect">
            <a:avLst/>
          </a:prstGeom>
        </p:spPr>
      </p:pic>
      <p:pic>
        <p:nvPicPr>
          <p:cNvPr id="24" name="6824_1785655476">
            <a:hlinkClick r:id="" action="ppaction://media"/>
          </p:cNvPr>
          <p:cNvPicPr/>
          <p:nvPr>
            <a:videoFile r:link="rId11"/>
            <p:extLst>
              <p:ext uri="{DAA4B4D4-6D71-4841-9C94-3DE7FCFB9230}">
                <p14:media xmlns:p14="http://schemas.microsoft.com/office/powerpoint/2010/main" r:embed="rId12"/>
              </p:ext>
            </p:extLst>
          </p:nvPr>
        </p:nvPicPr>
        <p:blipFill>
          <a:blip r:embed="rId13"/>
          <a:stretch>
            <a:fillRect/>
          </a:stretch>
        </p:blipFill>
        <p:spPr>
          <a:xfrm>
            <a:off x="9710420" y="4175125"/>
            <a:ext cx="2019300" cy="1240155"/>
          </a:xfrm>
          <a:prstGeom prst="rect">
            <a:avLst/>
          </a:prstGeom>
        </p:spPr>
      </p:pic>
      <p:pic>
        <p:nvPicPr>
          <p:cNvPr id="25" name="6823_1785655473">
            <a:hlinkClick r:id="" action="ppaction://media"/>
          </p:cNvPr>
          <p:cNvPicPr/>
          <p:nvPr>
            <a:videoFile r:link="rId14"/>
            <p:extLst>
              <p:ext uri="{DAA4B4D4-6D71-4841-9C94-3DE7FCFB9230}">
                <p14:media xmlns:p14="http://schemas.microsoft.com/office/powerpoint/2010/main" r:embed="rId15"/>
              </p:ext>
            </p:extLst>
          </p:nvPr>
        </p:nvPicPr>
        <p:blipFill>
          <a:blip r:embed="rId16"/>
          <a:stretch>
            <a:fillRect/>
          </a:stretch>
        </p:blipFill>
        <p:spPr>
          <a:xfrm>
            <a:off x="7724140" y="4180205"/>
            <a:ext cx="1799590" cy="1054735"/>
          </a:xfrm>
          <a:prstGeom prst="rect">
            <a:avLst/>
          </a:prstGeom>
        </p:spPr>
      </p:pic>
      <p:pic>
        <p:nvPicPr>
          <p:cNvPr id="26" name="6827_1785655602">
            <a:hlinkClick r:id="" action="ppaction://media"/>
          </p:cNvPr>
          <p:cNvPicPr/>
          <p:nvPr>
            <a:videoFile r:link="rId17"/>
            <p:extLst>
              <p:ext uri="{DAA4B4D4-6D71-4841-9C94-3DE7FCFB9230}">
                <p14:media xmlns:p14="http://schemas.microsoft.com/office/powerpoint/2010/main" r:embed="rId18"/>
              </p:ext>
            </p:extLst>
          </p:nvPr>
        </p:nvPicPr>
        <p:blipFill>
          <a:blip r:embed="rId19"/>
          <a:stretch>
            <a:fillRect/>
          </a:stretch>
        </p:blipFill>
        <p:spPr>
          <a:xfrm>
            <a:off x="7724140" y="5267325"/>
            <a:ext cx="765175" cy="1245870"/>
          </a:xfrm>
          <a:prstGeom prst="rect">
            <a:avLst/>
          </a:prstGeom>
        </p:spPr>
      </p:pic>
      <p:pic>
        <p:nvPicPr>
          <p:cNvPr id="27" name="6826_1785655599">
            <a:hlinkClick r:id="" action="ppaction://media"/>
          </p:cNvPr>
          <p:cNvPicPr/>
          <p:nvPr>
            <a:videoFile r:link="rId20"/>
            <p:extLst>
              <p:ext uri="{DAA4B4D4-6D71-4841-9C94-3DE7FCFB9230}">
                <p14:media xmlns:p14="http://schemas.microsoft.com/office/powerpoint/2010/main" r:embed="rId21"/>
              </p:ext>
            </p:extLst>
          </p:nvPr>
        </p:nvPicPr>
        <p:blipFill>
          <a:blip r:embed="rId22"/>
          <a:stretch>
            <a:fillRect/>
          </a:stretch>
        </p:blipFill>
        <p:spPr>
          <a:xfrm>
            <a:off x="8618220" y="5256530"/>
            <a:ext cx="911860" cy="1262380"/>
          </a:xfrm>
          <a:prstGeom prst="rect">
            <a:avLst/>
          </a:prstGeom>
        </p:spPr>
      </p:pic>
      <p:pic>
        <p:nvPicPr>
          <p:cNvPr id="28" name="6822_1785655471">
            <a:hlinkClick r:id="" action="ppaction://media"/>
          </p:cNvPr>
          <p:cNvPicPr/>
          <p:nvPr>
            <a:videoFile r:link="rId23"/>
            <p:extLst>
              <p:ext uri="{DAA4B4D4-6D71-4841-9C94-3DE7FCFB9230}">
                <p14:media xmlns:p14="http://schemas.microsoft.com/office/powerpoint/2010/main" r:embed="rId24"/>
              </p:ext>
            </p:extLst>
          </p:nvPr>
        </p:nvPicPr>
        <p:blipFill>
          <a:blip r:embed="rId25"/>
          <a:stretch>
            <a:fillRect/>
          </a:stretch>
        </p:blipFill>
        <p:spPr>
          <a:xfrm>
            <a:off x="9712960" y="5408295"/>
            <a:ext cx="2019300" cy="1155700"/>
          </a:xfrm>
          <a:prstGeom prst="rect">
            <a:avLst/>
          </a:prstGeom>
        </p:spPr>
      </p:pic>
      <p:sp>
        <p:nvSpPr>
          <p:cNvPr id="39" name="文本框 38"/>
          <p:cNvSpPr txBox="1"/>
          <p:nvPr/>
        </p:nvSpPr>
        <p:spPr>
          <a:xfrm>
            <a:off x="8828405" y="6516370"/>
            <a:ext cx="1143635" cy="245110"/>
          </a:xfrm>
          <a:prstGeom prst="rect">
            <a:avLst/>
          </a:prstGeom>
          <a:noFill/>
        </p:spPr>
        <p:txBody>
          <a:bodyPr wrap="square" rtlCol="0">
            <a:spAutoFit/>
          </a:bodyPr>
          <a:p>
            <a:pPr algn="ctr"/>
            <a:r>
              <a:rPr lang="en-US" altLang="zh-CN" sz="1000">
                <a:latin typeface="vivo Sans Regular" panose="02000300000000000000" charset="-122"/>
                <a:ea typeface="vivo Sans Regular" panose="02000300000000000000" charset="-122"/>
              </a:rPr>
              <a:t>（</a:t>
            </a:r>
            <a:r>
              <a:rPr lang="zh-CN" altLang="en-US" sz="1000">
                <a:latin typeface="vivo Sans Regular" panose="02000300000000000000" charset="-122"/>
                <a:ea typeface="vivo Sans Regular" panose="02000300000000000000" charset="-122"/>
              </a:rPr>
              <a:t>视频可播放</a:t>
            </a:r>
            <a:r>
              <a:rPr lang="en-US" altLang="zh-CN" sz="1000">
                <a:latin typeface="vivo Sans Regular" panose="02000300000000000000" charset="-122"/>
                <a:ea typeface="vivo Sans Regular" panose="02000300000000000000" charset="-122"/>
              </a:rPr>
              <a:t>）</a:t>
            </a:r>
            <a:endParaRPr lang="en-US" altLang="zh-CN" sz="1000">
              <a:latin typeface="vivo Sans Regular" panose="02000300000000000000" charset="-122"/>
              <a:ea typeface="vivo Sans Regular" panose="02000300000000000000" charset="-122"/>
            </a:endParaRPr>
          </a:p>
        </p:txBody>
      </p:sp>
    </p:spTree>
  </p:cSld>
  <p:clrMapOvr>
    <a:masterClrMapping/>
  </p:clrMapOvr>
  <p:timing>
    <p:tnLst>
      <p:par>
        <p:cTn id="1" dur="indefinite" restart="never" nodeType="tmRoot">
          <p:childTnLst>
            <p:video fullScrn="0">
              <p:cMediaNode>
                <p:cTn id="2" fill="hold" display="1">
                  <p:stCondLst>
                    <p:cond delay="indefinite"/>
                  </p:stCondLst>
                </p:cTn>
                <p:tgtEl>
                  <p:spTgt spid="24"/>
                </p:tgtEl>
              </p:cMediaNode>
            </p:video>
            <p:seq concurrent="1" nextAc="seek">
              <p:cTn id="3" restart="whenNotActive" fill="hold" evtFilter="cancelBubble" nodeType="interactiveSeq">
                <p:stCondLst>
                  <p:cond evt="onClick" delay="0">
                    <p:tgtEl>
                      <p:spTgt spid="2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4"/>
                                        </p:tgtEl>
                                      </p:cBhvr>
                                    </p:cmd>
                                  </p:childTnLst>
                                </p:cTn>
                              </p:par>
                            </p:childTnLst>
                          </p:cTn>
                        </p:par>
                      </p:childTnLst>
                    </p:cTn>
                  </p:par>
                </p:childTnLst>
              </p:cTn>
              <p:nextCondLst>
                <p:cond evt="onClick" delay="0">
                  <p:tgtEl>
                    <p:spTgt spid="24"/>
                  </p:tgtEl>
                </p:cond>
              </p:nextCondLst>
            </p:seq>
            <p:video fullScrn="0">
              <p:cMediaNode>
                <p:cTn id="8" fill="hold" display="1">
                  <p:stCondLst>
                    <p:cond delay="indefinite"/>
                  </p:stCondLst>
                </p:cTn>
                <p:tgtEl>
                  <p:spTgt spid="25"/>
                </p:tgtEl>
              </p:cMediaNode>
            </p:video>
            <p:seq concurrent="1" nextAc="seek">
              <p:cTn id="9" restart="whenNotActive" fill="hold" evtFilter="cancelBubble" nodeType="interactiveSeq">
                <p:stCondLst>
                  <p:cond evt="onClick" delay="0">
                    <p:tgtEl>
                      <p:spTgt spid="25"/>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additive="base">
                                        <p:cTn id="13" dur="1" fill="hold"/>
                                        <p:tgtEl>
                                          <p:spTgt spid="25"/>
                                        </p:tgtEl>
                                      </p:cBhvr>
                                    </p:cmd>
                                  </p:childTnLst>
                                </p:cTn>
                              </p:par>
                            </p:childTnLst>
                          </p:cTn>
                        </p:par>
                      </p:childTnLst>
                    </p:cTn>
                  </p:par>
                </p:childTnLst>
              </p:cTn>
              <p:nextCondLst>
                <p:cond evt="onClick" delay="0">
                  <p:tgtEl>
                    <p:spTgt spid="25"/>
                  </p:tgtEl>
                </p:cond>
              </p:nextCondLst>
            </p:seq>
            <p:video fullScrn="0">
              <p:cMediaNode>
                <p:cTn id="14" fill="hold" display="1">
                  <p:stCondLst>
                    <p:cond delay="indefinite"/>
                  </p:stCondLst>
                </p:cTn>
                <p:tgtEl>
                  <p:spTgt spid="26"/>
                </p:tgtEl>
              </p:cMediaNode>
            </p:video>
            <p:seq concurrent="1" nextAc="seek">
              <p:cTn id="15" restart="whenNotActive" fill="hold" evtFilter="cancelBubble" nodeType="interactiveSeq">
                <p:stCondLst>
                  <p:cond evt="onClick" delay="0">
                    <p:tgtEl>
                      <p:spTgt spid="26"/>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additive="base">
                                        <p:cTn id="19" dur="1" fill="hold"/>
                                        <p:tgtEl>
                                          <p:spTgt spid="26"/>
                                        </p:tgtEl>
                                      </p:cBhvr>
                                    </p:cmd>
                                  </p:childTnLst>
                                </p:cTn>
                              </p:par>
                            </p:childTnLst>
                          </p:cTn>
                        </p:par>
                      </p:childTnLst>
                    </p:cTn>
                  </p:par>
                </p:childTnLst>
              </p:cTn>
              <p:nextCondLst>
                <p:cond evt="onClick" delay="0">
                  <p:tgtEl>
                    <p:spTgt spid="26"/>
                  </p:tgtEl>
                </p:cond>
              </p:nextCondLst>
            </p:seq>
            <p:video fullScrn="0">
              <p:cMediaNode>
                <p:cTn id="20" fill="hold" display="1">
                  <p:stCondLst>
                    <p:cond delay="indefinite"/>
                  </p:stCondLst>
                </p:cTn>
                <p:tgtEl>
                  <p:spTgt spid="27"/>
                </p:tgtEl>
              </p:cMediaNode>
            </p:video>
            <p:seq concurrent="1" nextAc="seek">
              <p:cTn id="21" restart="whenNotActive" fill="hold" evtFilter="cancelBubble" nodeType="interactiveSeq">
                <p:stCondLst>
                  <p:cond evt="onClick" delay="0">
                    <p:tgtEl>
                      <p:spTgt spid="27"/>
                    </p:tgtEl>
                  </p:cond>
                </p:stCondLst>
                <p:endSync evt="end" delay="0">
                  <p:rtn val="all"/>
                </p:endSync>
                <p:childTnLst>
                  <p:par>
                    <p:cTn id="22" fill="hold">
                      <p:stCondLst>
                        <p:cond delay="0"/>
                      </p:stCondLst>
                      <p:childTnLst>
                        <p:par>
                          <p:cTn id="23" fill="hold">
                            <p:stCondLst>
                              <p:cond delay="0"/>
                            </p:stCondLst>
                            <p:childTnLst>
                              <p:par>
                                <p:cTn id="24" presetID="2" presetClass="mediacall" presetSubtype="0" fill="hold" nodeType="clickEffect">
                                  <p:stCondLst>
                                    <p:cond delay="0"/>
                                  </p:stCondLst>
                                  <p:childTnLst>
                                    <p:cmd type="call" cmd="togglePause">
                                      <p:cBhvr additive="base">
                                        <p:cTn id="25" dur="1" fill="hold"/>
                                        <p:tgtEl>
                                          <p:spTgt spid="27"/>
                                        </p:tgtEl>
                                      </p:cBhvr>
                                    </p:cmd>
                                  </p:childTnLst>
                                </p:cTn>
                              </p:par>
                            </p:childTnLst>
                          </p:cTn>
                        </p:par>
                      </p:childTnLst>
                    </p:cTn>
                  </p:par>
                </p:childTnLst>
              </p:cTn>
              <p:nextCondLst>
                <p:cond evt="onClick" delay="0">
                  <p:tgtEl>
                    <p:spTgt spid="27"/>
                  </p:tgtEl>
                </p:cond>
              </p:nextCondLst>
            </p:seq>
            <p:video fullScrn="0">
              <p:cMediaNode>
                <p:cTn id="26" fill="hold" display="1">
                  <p:stCondLst>
                    <p:cond delay="indefinite"/>
                  </p:stCondLst>
                </p:cTn>
                <p:tgtEl>
                  <p:spTgt spid="28"/>
                </p:tgtEl>
              </p:cMediaNode>
            </p:video>
            <p:seq concurrent="1" nextAc="seek">
              <p:cTn id="27" restart="whenNotActive" fill="hold" evtFilter="cancelBubble" nodeType="interactiveSeq">
                <p:stCondLst>
                  <p:cond evt="onClick" delay="0">
                    <p:tgtEl>
                      <p:spTgt spid="28"/>
                    </p:tgtEl>
                  </p:cond>
                </p:stCondLst>
                <p:endSync evt="end" delay="0">
                  <p:rtn val="all"/>
                </p:endSync>
                <p:childTnLst>
                  <p:par>
                    <p:cTn id="28" fill="hold">
                      <p:stCondLst>
                        <p:cond delay="0"/>
                      </p:stCondLst>
                      <p:childTnLst>
                        <p:par>
                          <p:cTn id="29" fill="hold">
                            <p:stCondLst>
                              <p:cond delay="0"/>
                            </p:stCondLst>
                            <p:childTnLst>
                              <p:par>
                                <p:cTn id="30" presetID="2" presetClass="mediacall" presetSubtype="0" fill="hold" nodeType="clickEffect">
                                  <p:stCondLst>
                                    <p:cond delay="0"/>
                                  </p:stCondLst>
                                  <p:childTnLst>
                                    <p:cmd type="call" cmd="togglePause">
                                      <p:cBhvr additive="base">
                                        <p:cTn id="31"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84" name="图片 11"/>
          <p:cNvPicPr>
            <a:picLocks noChangeAspect="1"/>
          </p:cNvPicPr>
          <p:nvPr/>
        </p:nvPicPr>
        <p:blipFill>
          <a:blip r:embed="rId1"/>
          <a:stretch>
            <a:fillRect/>
          </a:stretch>
        </p:blipFill>
        <p:spPr>
          <a:xfrm>
            <a:off x="1619250" y="1390650"/>
            <a:ext cx="1441450" cy="1123950"/>
          </a:xfrm>
          <a:prstGeom prst="roundRect">
            <a:avLst/>
          </a:prstGeom>
        </p:spPr>
      </p:pic>
      <p:pic>
        <p:nvPicPr>
          <p:cNvPr id="85" name="图片 13"/>
          <p:cNvPicPr>
            <a:picLocks noChangeAspect="1"/>
          </p:cNvPicPr>
          <p:nvPr/>
        </p:nvPicPr>
        <p:blipFill>
          <a:blip r:embed="rId2"/>
          <a:stretch>
            <a:fillRect/>
          </a:stretch>
        </p:blipFill>
        <p:spPr>
          <a:xfrm>
            <a:off x="3536315" y="1390650"/>
            <a:ext cx="1441450" cy="1123950"/>
          </a:xfrm>
          <a:prstGeom prst="roundRect">
            <a:avLst/>
          </a:prstGeom>
        </p:spPr>
      </p:pic>
      <p:pic>
        <p:nvPicPr>
          <p:cNvPr id="86" name="图片 17"/>
          <p:cNvPicPr>
            <a:picLocks noChangeAspect="1"/>
          </p:cNvPicPr>
          <p:nvPr/>
        </p:nvPicPr>
        <p:blipFill>
          <a:blip r:embed="rId3"/>
          <a:srcRect l="16928" t="18907" r="21194" b="16287"/>
          <a:stretch>
            <a:fillRect/>
          </a:stretch>
        </p:blipFill>
        <p:spPr>
          <a:xfrm>
            <a:off x="5372100" y="1390650"/>
            <a:ext cx="1026795" cy="1123950"/>
          </a:xfrm>
          <a:prstGeom prst="roundRect">
            <a:avLst/>
          </a:prstGeom>
        </p:spPr>
      </p:pic>
      <p:pic>
        <p:nvPicPr>
          <p:cNvPr id="87" name="图片 21"/>
          <p:cNvPicPr>
            <a:picLocks noChangeAspect="1"/>
          </p:cNvPicPr>
          <p:nvPr/>
        </p:nvPicPr>
        <p:blipFill>
          <a:blip r:embed="rId4"/>
          <a:stretch>
            <a:fillRect/>
          </a:stretch>
        </p:blipFill>
        <p:spPr>
          <a:xfrm>
            <a:off x="6819900" y="1390650"/>
            <a:ext cx="1085850" cy="1123950"/>
          </a:xfrm>
          <a:prstGeom prst="roundRect">
            <a:avLst/>
          </a:prstGeom>
        </p:spPr>
      </p:pic>
      <p:pic>
        <p:nvPicPr>
          <p:cNvPr id="88" name="图片 22"/>
          <p:cNvPicPr>
            <a:picLocks noChangeAspect="1"/>
          </p:cNvPicPr>
          <p:nvPr/>
        </p:nvPicPr>
        <p:blipFill>
          <a:blip r:embed="rId5"/>
          <a:stretch>
            <a:fillRect/>
          </a:stretch>
        </p:blipFill>
        <p:spPr>
          <a:xfrm>
            <a:off x="8300720" y="1390650"/>
            <a:ext cx="1243330" cy="1123950"/>
          </a:xfrm>
          <a:prstGeom prst="roundRect">
            <a:avLst/>
          </a:prstGeom>
        </p:spPr>
      </p:pic>
      <p:pic>
        <p:nvPicPr>
          <p:cNvPr id="90" name="图片 2"/>
          <p:cNvPicPr>
            <a:picLocks noChangeAspect="1"/>
          </p:cNvPicPr>
          <p:nvPr/>
        </p:nvPicPr>
        <p:blipFill>
          <a:blip r:embed="rId6"/>
          <a:srcRect t="487"/>
          <a:stretch>
            <a:fillRect/>
          </a:stretch>
        </p:blipFill>
        <p:spPr>
          <a:xfrm>
            <a:off x="7905750" y="3092450"/>
            <a:ext cx="993140" cy="1200150"/>
          </a:xfrm>
          <a:prstGeom prst="rect">
            <a:avLst/>
          </a:prstGeom>
        </p:spPr>
      </p:pic>
      <p:pic>
        <p:nvPicPr>
          <p:cNvPr id="91" name="图片 3"/>
          <p:cNvPicPr>
            <a:picLocks noChangeAspect="1"/>
          </p:cNvPicPr>
          <p:nvPr/>
        </p:nvPicPr>
        <p:blipFill>
          <a:blip r:embed="rId7"/>
          <a:srcRect r="34101"/>
          <a:stretch>
            <a:fillRect/>
          </a:stretch>
        </p:blipFill>
        <p:spPr>
          <a:xfrm>
            <a:off x="5235575" y="3095625"/>
            <a:ext cx="1242695" cy="1200150"/>
          </a:xfrm>
          <a:prstGeom prst="rect">
            <a:avLst/>
          </a:prstGeom>
        </p:spPr>
      </p:pic>
      <p:pic>
        <p:nvPicPr>
          <p:cNvPr id="92" name="图片 12"/>
          <p:cNvPicPr>
            <a:picLocks noChangeAspect="1"/>
          </p:cNvPicPr>
          <p:nvPr/>
        </p:nvPicPr>
        <p:blipFill>
          <a:blip r:embed="rId8"/>
          <a:stretch>
            <a:fillRect/>
          </a:stretch>
        </p:blipFill>
        <p:spPr>
          <a:xfrm>
            <a:off x="1619250" y="4876800"/>
            <a:ext cx="1809750" cy="1028700"/>
          </a:xfrm>
          <a:prstGeom prst="roundRect">
            <a:avLst/>
          </a:prstGeom>
        </p:spPr>
      </p:pic>
      <p:pic>
        <p:nvPicPr>
          <p:cNvPr id="93" name="图片 38"/>
          <p:cNvPicPr>
            <a:picLocks noChangeAspect="1"/>
          </p:cNvPicPr>
          <p:nvPr/>
        </p:nvPicPr>
        <p:blipFill>
          <a:blip r:embed="rId9"/>
          <a:srcRect l="5012" r="5538"/>
          <a:stretch>
            <a:fillRect/>
          </a:stretch>
        </p:blipFill>
        <p:spPr>
          <a:xfrm>
            <a:off x="9544050" y="4876800"/>
            <a:ext cx="1809750" cy="1028700"/>
          </a:xfrm>
          <a:prstGeom prst="roundRect">
            <a:avLst/>
          </a:prstGeom>
        </p:spPr>
      </p:pic>
      <p:pic>
        <p:nvPicPr>
          <p:cNvPr id="94" name="图片 39"/>
          <p:cNvPicPr>
            <a:picLocks noChangeAspect="1"/>
          </p:cNvPicPr>
          <p:nvPr/>
        </p:nvPicPr>
        <p:blipFill>
          <a:blip r:embed="rId10"/>
          <a:stretch>
            <a:fillRect/>
          </a:stretch>
        </p:blipFill>
        <p:spPr>
          <a:xfrm>
            <a:off x="5581650" y="4876800"/>
            <a:ext cx="1809750" cy="1028700"/>
          </a:xfrm>
          <a:prstGeom prst="roundRect">
            <a:avLst/>
          </a:prstGeom>
        </p:spPr>
      </p:pic>
      <p:pic>
        <p:nvPicPr>
          <p:cNvPr id="95" name="图片 40"/>
          <p:cNvPicPr>
            <a:picLocks noChangeAspect="1"/>
          </p:cNvPicPr>
          <p:nvPr/>
        </p:nvPicPr>
        <p:blipFill>
          <a:blip r:embed="rId11"/>
          <a:stretch>
            <a:fillRect/>
          </a:stretch>
        </p:blipFill>
        <p:spPr>
          <a:xfrm>
            <a:off x="7562850" y="4876800"/>
            <a:ext cx="1809750" cy="1028700"/>
          </a:xfrm>
          <a:prstGeom prst="roundRect">
            <a:avLst/>
          </a:prstGeom>
        </p:spPr>
      </p:pic>
      <p:pic>
        <p:nvPicPr>
          <p:cNvPr id="96" name="图片 42"/>
          <p:cNvPicPr>
            <a:picLocks noChangeAspect="1"/>
          </p:cNvPicPr>
          <p:nvPr/>
        </p:nvPicPr>
        <p:blipFill>
          <a:blip r:embed="rId12"/>
          <a:stretch>
            <a:fillRect/>
          </a:stretch>
        </p:blipFill>
        <p:spPr>
          <a:xfrm>
            <a:off x="8985885" y="3199765"/>
            <a:ext cx="1910080" cy="1085850"/>
          </a:xfrm>
          <a:prstGeom prst="rect">
            <a:avLst/>
          </a:prstGeom>
        </p:spPr>
      </p:pic>
      <p:sp>
        <p:nvSpPr>
          <p:cNvPr id="56"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57"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vivo Sans Regular" panose="02000300000000000000" charset="-122"/>
                <a:ea typeface="vivo Sans Regular" panose="02000300000000000000" charset="-122"/>
                <a:cs typeface="vivo Sans Regular" panose="02000300000000000000" charset="-122"/>
              </a:rPr>
              <a:t>专业设备＋标准</a:t>
            </a:r>
            <a:r>
              <a:rPr lang="zh-CN" sz="1800" b="1">
                <a:solidFill>
                  <a:srgbClr val="FFFFFF"/>
                </a:solidFill>
                <a:latin typeface="vivo Sans Regular" panose="02000300000000000000" charset="-122"/>
                <a:ea typeface="vivo Sans Regular" panose="02000300000000000000" charset="-122"/>
                <a:cs typeface="vivo Sans Regular" panose="02000300000000000000" charset="-122"/>
              </a:rPr>
              <a:t>化执行</a:t>
            </a:r>
            <a:r>
              <a:rPr sz="1800" b="1">
                <a:solidFill>
                  <a:srgbClr val="FFFFFF"/>
                </a:solidFill>
                <a:latin typeface="vivo Sans Regular" panose="02000300000000000000" charset="-122"/>
                <a:ea typeface="vivo Sans Regular" panose="02000300000000000000" charset="-122"/>
                <a:cs typeface="vivo Sans Regular" panose="02000300000000000000" charset="-122"/>
              </a:rPr>
              <a:t>SOP，让测试结论可复现、可对比、可沉淀</a:t>
            </a:r>
            <a:endParaRPr sz="1800" b="1">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60" name="矩形 59"/>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vivo Sans Regular" panose="02000300000000000000" charset="-122"/>
                <a:ea typeface="vivo Sans Regular" panose="02000300000000000000" charset="-122"/>
                <a:cs typeface="微软雅黑" panose="020B0503020204020204" charset="-122"/>
              </a:rPr>
              <a:t>18</a:t>
            </a:r>
            <a:endParaRPr sz="675" b="0">
              <a:solidFill>
                <a:srgbClr val="8A96AA"/>
              </a:solidFill>
              <a:latin typeface="vivo Sans Regular" panose="02000300000000000000" charset="-122"/>
              <a:ea typeface="vivo Sans Regular" panose="02000300000000000000" charset="-122"/>
              <a:cs typeface="微软雅黑" panose="020B0503020204020204" charset="-122"/>
            </a:endParaRPr>
          </a:p>
        </p:txBody>
      </p:sp>
      <p:sp>
        <p:nvSpPr>
          <p:cNvPr id="61" name="矩形 60"/>
          <p:cNvSpPr>
            <a:spLocks noGrp="1"/>
          </p:cNvSpPr>
          <p:nvPr/>
        </p:nvSpPr>
        <p:spPr>
          <a:xfrm>
            <a:off x="400050" y="838200"/>
            <a:ext cx="11391900" cy="285750"/>
          </a:xfrm>
          <a:prstGeom prst="rect">
            <a:avLst/>
          </a:prstGeom>
          <a:noFill/>
          <a:ln w="0">
            <a:noFill/>
            <a:prstDash val="solid"/>
          </a:ln>
        </p:spPr>
        <p:txBody>
          <a:bodyPr anchor="ctr"/>
          <a:lstStyle/>
          <a:p>
            <a:pPr algn="ctr">
              <a:defRPr sz="1275" b="1">
                <a:solidFill>
                  <a:srgbClr val="172033"/>
                </a:solidFill>
                <a:latin typeface="微软雅黑" panose="020B0503020204020204" charset="-122"/>
                <a:ea typeface="微软雅黑" panose="020B0503020204020204" charset="-122"/>
                <a:cs typeface="微软雅黑" panose="020B0503020204020204" charset="-122"/>
              </a:defRPr>
            </a:pPr>
            <a:r>
              <a:rPr sz="1275">
                <a:solidFill>
                  <a:srgbClr val="172033"/>
                </a:solidFill>
                <a:latin typeface="vivo Sans Regular" panose="02000300000000000000" charset="-122"/>
                <a:ea typeface="vivo Sans Regular" panose="02000300000000000000" charset="-122"/>
                <a:cs typeface="vivo Sans Regular" panose="02000300000000000000" charset="-122"/>
              </a:rPr>
              <a:t>三层证据链：</a:t>
            </a:r>
            <a:r>
              <a:rPr lang="zh-CN" sz="1275">
                <a:solidFill>
                  <a:srgbClr val="172033"/>
                </a:solidFill>
                <a:latin typeface="vivo Sans Regular" panose="02000300000000000000" charset="-122"/>
                <a:ea typeface="vivo Sans Regular" panose="02000300000000000000" charset="-122"/>
                <a:cs typeface="vivo Sans Regular" panose="02000300000000000000" charset="-122"/>
              </a:rPr>
              <a:t>专业设备</a:t>
            </a:r>
            <a:r>
              <a:rPr sz="1275">
                <a:solidFill>
                  <a:srgbClr val="172033"/>
                </a:solidFill>
                <a:latin typeface="vivo Sans Regular" panose="02000300000000000000" charset="-122"/>
                <a:ea typeface="vivo Sans Regular" panose="02000300000000000000" charset="-122"/>
                <a:cs typeface="vivo Sans Regular" panose="02000300000000000000" charset="-122"/>
              </a:rPr>
              <a:t> → 执行</a:t>
            </a:r>
            <a:r>
              <a:rPr lang="zh-CN" sz="1275">
                <a:solidFill>
                  <a:srgbClr val="172033"/>
                </a:solidFill>
                <a:latin typeface="vivo Sans Regular" panose="02000300000000000000" charset="-122"/>
                <a:ea typeface="vivo Sans Regular" panose="02000300000000000000" charset="-122"/>
                <a:cs typeface="vivo Sans Regular" panose="02000300000000000000" charset="-122"/>
              </a:rPr>
              <a:t>标准</a:t>
            </a:r>
            <a:r>
              <a:rPr sz="1275">
                <a:solidFill>
                  <a:srgbClr val="172033"/>
                </a:solidFill>
                <a:latin typeface="vivo Sans Regular" panose="02000300000000000000" charset="-122"/>
                <a:ea typeface="vivo Sans Regular" panose="02000300000000000000" charset="-122"/>
                <a:cs typeface="vivo Sans Regular" panose="02000300000000000000" charset="-122"/>
              </a:rPr>
              <a:t> → 结果输出</a:t>
            </a:r>
            <a:endParaRPr sz="1275">
              <a:solidFill>
                <a:srgbClr val="172033"/>
              </a:solidFill>
              <a:latin typeface="vivo Sans Regular" panose="02000300000000000000" charset="-122"/>
              <a:ea typeface="vivo Sans Regular" panose="02000300000000000000" charset="-122"/>
              <a:cs typeface="vivo Sans Regular" panose="02000300000000000000" charset="-122"/>
            </a:endParaRPr>
          </a:p>
        </p:txBody>
      </p:sp>
      <p:sp>
        <p:nvSpPr>
          <p:cNvPr id="62" name="圆角矩形 61"/>
          <p:cNvSpPr>
            <a:spLocks noGrp="1"/>
          </p:cNvSpPr>
          <p:nvPr/>
        </p:nvSpPr>
        <p:spPr>
          <a:xfrm>
            <a:off x="1619250" y="1390650"/>
            <a:ext cx="1468120" cy="1123950"/>
          </a:xfrm>
          <a:prstGeom prst="roundRect">
            <a:avLst>
              <a:gd name="adj" fmla="val 6780"/>
            </a:avLst>
          </a:prstGeom>
          <a:noFill/>
          <a:ln w="9525">
            <a:solidFill>
              <a:srgbClr val="DCE3F2"/>
            </a:solidFill>
            <a:prstDash val="solid"/>
          </a:ln>
        </p:spPr>
      </p:sp>
      <p:sp>
        <p:nvSpPr>
          <p:cNvPr id="63" name="圆角矩形 62"/>
          <p:cNvSpPr>
            <a:spLocks noGrp="1"/>
          </p:cNvSpPr>
          <p:nvPr/>
        </p:nvSpPr>
        <p:spPr>
          <a:xfrm>
            <a:off x="3429000" y="1390650"/>
            <a:ext cx="1548765" cy="1123950"/>
          </a:xfrm>
          <a:prstGeom prst="roundRect">
            <a:avLst>
              <a:gd name="adj" fmla="val 6780"/>
            </a:avLst>
          </a:prstGeom>
          <a:noFill/>
          <a:ln w="9525">
            <a:solidFill>
              <a:srgbClr val="DCE3F2"/>
            </a:solidFill>
            <a:prstDash val="solid"/>
          </a:ln>
        </p:spPr>
      </p:sp>
      <p:sp>
        <p:nvSpPr>
          <p:cNvPr id="64" name="圆角矩形 63"/>
          <p:cNvSpPr>
            <a:spLocks noGrp="1"/>
          </p:cNvSpPr>
          <p:nvPr/>
        </p:nvSpPr>
        <p:spPr>
          <a:xfrm>
            <a:off x="5305425" y="1390650"/>
            <a:ext cx="1172845" cy="1123950"/>
          </a:xfrm>
          <a:prstGeom prst="roundRect">
            <a:avLst>
              <a:gd name="adj" fmla="val 6780"/>
            </a:avLst>
          </a:prstGeom>
          <a:noFill/>
          <a:ln w="9525">
            <a:solidFill>
              <a:srgbClr val="DCE3F2"/>
            </a:solidFill>
            <a:prstDash val="solid"/>
          </a:ln>
        </p:spPr>
      </p:sp>
      <p:sp>
        <p:nvSpPr>
          <p:cNvPr id="65" name="圆角矩形 64"/>
          <p:cNvSpPr>
            <a:spLocks noGrp="1"/>
          </p:cNvSpPr>
          <p:nvPr/>
        </p:nvSpPr>
        <p:spPr>
          <a:xfrm>
            <a:off x="6730365" y="1390650"/>
            <a:ext cx="1243330" cy="1123950"/>
          </a:xfrm>
          <a:prstGeom prst="roundRect">
            <a:avLst>
              <a:gd name="adj" fmla="val 6780"/>
            </a:avLst>
          </a:prstGeom>
          <a:noFill/>
          <a:ln w="9525">
            <a:solidFill>
              <a:srgbClr val="DCE3F2"/>
            </a:solidFill>
            <a:prstDash val="solid"/>
          </a:ln>
        </p:spPr>
      </p:sp>
      <p:sp>
        <p:nvSpPr>
          <p:cNvPr id="66" name="圆角矩形 65"/>
          <p:cNvSpPr>
            <a:spLocks noGrp="1"/>
          </p:cNvSpPr>
          <p:nvPr/>
        </p:nvSpPr>
        <p:spPr>
          <a:xfrm>
            <a:off x="8224520" y="1390650"/>
            <a:ext cx="1401445" cy="1123950"/>
          </a:xfrm>
          <a:prstGeom prst="roundRect">
            <a:avLst>
              <a:gd name="adj" fmla="val 6780"/>
            </a:avLst>
          </a:prstGeom>
          <a:noFill/>
          <a:ln w="9525">
            <a:solidFill>
              <a:srgbClr val="DCE3F2"/>
            </a:solidFill>
            <a:prstDash val="solid"/>
          </a:ln>
        </p:spPr>
      </p:sp>
      <p:sp>
        <p:nvSpPr>
          <p:cNvPr id="67" name="圆角矩形 66"/>
          <p:cNvSpPr>
            <a:spLocks noGrp="1"/>
          </p:cNvSpPr>
          <p:nvPr/>
        </p:nvSpPr>
        <p:spPr>
          <a:xfrm>
            <a:off x="1619250" y="3095625"/>
            <a:ext cx="2774950" cy="1200150"/>
          </a:xfrm>
          <a:prstGeom prst="roundRect">
            <a:avLst>
              <a:gd name="adj" fmla="val 6349"/>
            </a:avLst>
          </a:prstGeom>
          <a:noFill/>
          <a:ln w="9525">
            <a:solidFill>
              <a:srgbClr val="DCE3F2"/>
            </a:solidFill>
            <a:prstDash val="solid"/>
          </a:ln>
        </p:spPr>
      </p:sp>
      <p:sp>
        <p:nvSpPr>
          <p:cNvPr id="68" name="圆角矩形 67"/>
          <p:cNvSpPr>
            <a:spLocks noGrp="1"/>
          </p:cNvSpPr>
          <p:nvPr/>
        </p:nvSpPr>
        <p:spPr>
          <a:xfrm>
            <a:off x="4652645" y="3095625"/>
            <a:ext cx="2656205" cy="1200150"/>
          </a:xfrm>
          <a:prstGeom prst="roundRect">
            <a:avLst>
              <a:gd name="adj" fmla="val 6349"/>
            </a:avLst>
          </a:prstGeom>
          <a:noFill/>
          <a:ln w="9525">
            <a:solidFill>
              <a:srgbClr val="DCE3F2"/>
            </a:solidFill>
            <a:prstDash val="solid"/>
          </a:ln>
        </p:spPr>
      </p:sp>
      <p:sp>
        <p:nvSpPr>
          <p:cNvPr id="69" name="圆角矩形 68"/>
          <p:cNvSpPr>
            <a:spLocks noGrp="1"/>
          </p:cNvSpPr>
          <p:nvPr/>
        </p:nvSpPr>
        <p:spPr>
          <a:xfrm>
            <a:off x="7563485" y="3095625"/>
            <a:ext cx="3580765" cy="1200150"/>
          </a:xfrm>
          <a:prstGeom prst="roundRect">
            <a:avLst>
              <a:gd name="adj" fmla="val 6349"/>
            </a:avLst>
          </a:prstGeom>
          <a:noFill/>
          <a:ln w="9525">
            <a:solidFill>
              <a:srgbClr val="DCE3F2"/>
            </a:solidFill>
            <a:prstDash val="solid"/>
          </a:ln>
        </p:spPr>
      </p:sp>
      <p:sp>
        <p:nvSpPr>
          <p:cNvPr id="75" name="矩形 74"/>
          <p:cNvSpPr>
            <a:spLocks noGrp="1"/>
          </p:cNvSpPr>
          <p:nvPr/>
        </p:nvSpPr>
        <p:spPr>
          <a:xfrm>
            <a:off x="400050" y="1390650"/>
            <a:ext cx="609600" cy="419100"/>
          </a:xfrm>
          <a:prstGeom prst="rect">
            <a:avLst/>
          </a:prstGeom>
          <a:noFill/>
          <a:ln w="0">
            <a:noFill/>
            <a:prstDash val="solid"/>
          </a:ln>
        </p:spPr>
        <p:txBody>
          <a:bodyPr anchor="ctr"/>
          <a:lstStyle/>
          <a:p>
            <a:pPr algn="ctr">
              <a:defRPr sz="2100" b="1">
                <a:solidFill>
                  <a:srgbClr val="3157FF"/>
                </a:solidFill>
                <a:latin typeface="微软雅黑" panose="020B0503020204020204" charset="-122"/>
                <a:ea typeface="微软雅黑" panose="020B0503020204020204" charset="-122"/>
                <a:cs typeface="微软雅黑" panose="020B0503020204020204" charset="-122"/>
              </a:defRPr>
            </a:pPr>
            <a:r>
              <a:rPr sz="2100" b="1">
                <a:solidFill>
                  <a:srgbClr val="3157FF"/>
                </a:solidFill>
                <a:latin typeface="vivo Sans Regular" panose="02000300000000000000" charset="-122"/>
                <a:ea typeface="vivo Sans Regular" panose="02000300000000000000" charset="-122"/>
                <a:cs typeface="微软雅黑" panose="020B0503020204020204" charset="-122"/>
              </a:rPr>
              <a:t>01</a:t>
            </a:r>
            <a:endParaRPr sz="2100" b="1">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76" name="矩形 75"/>
          <p:cNvSpPr>
            <a:spLocks noGrp="1"/>
          </p:cNvSpPr>
          <p:nvPr/>
        </p:nvSpPr>
        <p:spPr>
          <a:xfrm>
            <a:off x="400050" y="1828800"/>
            <a:ext cx="800100" cy="228600"/>
          </a:xfrm>
          <a:prstGeom prst="rect">
            <a:avLst/>
          </a:prstGeom>
          <a:noFill/>
          <a:ln w="0">
            <a:noFill/>
            <a:prstDash val="solid"/>
          </a:ln>
        </p:spPr>
        <p:txBody>
          <a:bodyPr anchor="ctr"/>
          <a:lstStyle/>
          <a:p>
            <a:pPr algn="ctr">
              <a:defRPr sz="900" b="1">
                <a:solidFill>
                  <a:srgbClr val="172033"/>
                </a:solidFill>
                <a:latin typeface="微软雅黑" panose="020B0503020204020204" charset="-122"/>
                <a:ea typeface="微软雅黑" panose="020B0503020204020204" charset="-122"/>
                <a:cs typeface="微软雅黑" panose="020B0503020204020204" charset="-122"/>
              </a:defRPr>
            </a:pPr>
            <a:r>
              <a:rPr sz="900" b="1">
                <a:solidFill>
                  <a:srgbClr val="172033"/>
                </a:solidFill>
                <a:latin typeface="vivo Sans Regular" panose="02000300000000000000" charset="-122"/>
                <a:ea typeface="vivo Sans Regular" panose="02000300000000000000" charset="-122"/>
                <a:cs typeface="微软雅黑" panose="020B0503020204020204" charset="-122"/>
              </a:rPr>
              <a:t>专业设备</a:t>
            </a:r>
            <a:endParaRPr sz="90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77" name="矩形 76"/>
          <p:cNvSpPr>
            <a:spLocks noGrp="1"/>
          </p:cNvSpPr>
          <p:nvPr/>
        </p:nvSpPr>
        <p:spPr>
          <a:xfrm>
            <a:off x="400050" y="3095625"/>
            <a:ext cx="609600" cy="419100"/>
          </a:xfrm>
          <a:prstGeom prst="rect">
            <a:avLst/>
          </a:prstGeom>
          <a:noFill/>
          <a:ln w="0">
            <a:noFill/>
            <a:prstDash val="solid"/>
          </a:ln>
        </p:spPr>
        <p:txBody>
          <a:bodyPr anchor="ctr"/>
          <a:lstStyle/>
          <a:p>
            <a:pPr algn="ctr">
              <a:defRPr sz="2100" b="1">
                <a:solidFill>
                  <a:srgbClr val="3157FF"/>
                </a:solidFill>
                <a:latin typeface="微软雅黑" panose="020B0503020204020204" charset="-122"/>
                <a:ea typeface="微软雅黑" panose="020B0503020204020204" charset="-122"/>
                <a:cs typeface="微软雅黑" panose="020B0503020204020204" charset="-122"/>
              </a:defRPr>
            </a:pPr>
            <a:r>
              <a:rPr sz="2100" b="1">
                <a:solidFill>
                  <a:srgbClr val="3157FF"/>
                </a:solidFill>
                <a:latin typeface="vivo Sans Regular" panose="02000300000000000000" charset="-122"/>
                <a:ea typeface="vivo Sans Regular" panose="02000300000000000000" charset="-122"/>
                <a:cs typeface="微软雅黑" panose="020B0503020204020204" charset="-122"/>
              </a:rPr>
              <a:t>02</a:t>
            </a:r>
            <a:endParaRPr sz="2100" b="1">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78" name="矩形 77"/>
          <p:cNvSpPr>
            <a:spLocks noGrp="1"/>
          </p:cNvSpPr>
          <p:nvPr/>
        </p:nvSpPr>
        <p:spPr>
          <a:xfrm>
            <a:off x="400050" y="3533775"/>
            <a:ext cx="800100" cy="228600"/>
          </a:xfrm>
          <a:prstGeom prst="rect">
            <a:avLst/>
          </a:prstGeom>
          <a:noFill/>
          <a:ln w="0">
            <a:noFill/>
            <a:prstDash val="solid"/>
          </a:ln>
        </p:spPr>
        <p:txBody>
          <a:bodyPr anchor="ctr"/>
          <a:lstStyle/>
          <a:p>
            <a:pPr algn="ctr">
              <a:defRPr sz="900" b="1">
                <a:solidFill>
                  <a:srgbClr val="172033"/>
                </a:solidFill>
                <a:latin typeface="微软雅黑" panose="020B0503020204020204" charset="-122"/>
                <a:ea typeface="微软雅黑" panose="020B0503020204020204" charset="-122"/>
                <a:cs typeface="微软雅黑" panose="020B0503020204020204" charset="-122"/>
              </a:defRPr>
            </a:pPr>
            <a:r>
              <a:rPr sz="900">
                <a:solidFill>
                  <a:srgbClr val="172033"/>
                </a:solidFill>
                <a:latin typeface="vivo Sans Regular" panose="02000300000000000000" charset="-122"/>
                <a:ea typeface="vivo Sans Regular" panose="02000300000000000000" charset="-122"/>
                <a:cs typeface="vivo Sans Regular" panose="02000300000000000000" charset="-122"/>
              </a:rPr>
              <a:t>执行SOP</a:t>
            </a:r>
            <a:endParaRPr sz="900">
              <a:solidFill>
                <a:srgbClr val="172033"/>
              </a:solidFill>
              <a:latin typeface="vivo Sans Regular" panose="02000300000000000000" charset="-122"/>
              <a:ea typeface="vivo Sans Regular" panose="02000300000000000000" charset="-122"/>
              <a:cs typeface="vivo Sans Regular" panose="02000300000000000000" charset="-122"/>
            </a:endParaRPr>
          </a:p>
        </p:txBody>
      </p:sp>
      <p:sp>
        <p:nvSpPr>
          <p:cNvPr id="79" name="矩形 78"/>
          <p:cNvSpPr>
            <a:spLocks noGrp="1"/>
          </p:cNvSpPr>
          <p:nvPr/>
        </p:nvSpPr>
        <p:spPr>
          <a:xfrm>
            <a:off x="400050" y="4876800"/>
            <a:ext cx="609600" cy="419100"/>
          </a:xfrm>
          <a:prstGeom prst="rect">
            <a:avLst/>
          </a:prstGeom>
          <a:noFill/>
          <a:ln w="0">
            <a:noFill/>
            <a:prstDash val="solid"/>
          </a:ln>
        </p:spPr>
        <p:txBody>
          <a:bodyPr anchor="ctr"/>
          <a:lstStyle/>
          <a:p>
            <a:pPr algn="ctr">
              <a:defRPr sz="2100" b="1">
                <a:solidFill>
                  <a:srgbClr val="3157FF"/>
                </a:solidFill>
                <a:latin typeface="微软雅黑" panose="020B0503020204020204" charset="-122"/>
                <a:ea typeface="微软雅黑" panose="020B0503020204020204" charset="-122"/>
                <a:cs typeface="微软雅黑" panose="020B0503020204020204" charset="-122"/>
              </a:defRPr>
            </a:pPr>
            <a:r>
              <a:rPr sz="2100" b="1">
                <a:solidFill>
                  <a:srgbClr val="3157FF"/>
                </a:solidFill>
                <a:latin typeface="vivo Sans Regular" panose="02000300000000000000" charset="-122"/>
                <a:ea typeface="vivo Sans Regular" panose="02000300000000000000" charset="-122"/>
                <a:cs typeface="微软雅黑" panose="020B0503020204020204" charset="-122"/>
              </a:rPr>
              <a:t>03</a:t>
            </a:r>
            <a:endParaRPr sz="2100" b="1">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80" name="矩形 79"/>
          <p:cNvSpPr>
            <a:spLocks noGrp="1"/>
          </p:cNvSpPr>
          <p:nvPr/>
        </p:nvSpPr>
        <p:spPr>
          <a:xfrm>
            <a:off x="400050" y="5314950"/>
            <a:ext cx="800100" cy="228600"/>
          </a:xfrm>
          <a:prstGeom prst="rect">
            <a:avLst/>
          </a:prstGeom>
          <a:noFill/>
          <a:ln w="0">
            <a:noFill/>
            <a:prstDash val="solid"/>
          </a:ln>
        </p:spPr>
        <p:txBody>
          <a:bodyPr anchor="ctr"/>
          <a:lstStyle/>
          <a:p>
            <a:pPr algn="ctr">
              <a:defRPr sz="900" b="1">
                <a:solidFill>
                  <a:srgbClr val="172033"/>
                </a:solidFill>
                <a:latin typeface="微软雅黑" panose="020B0503020204020204" charset="-122"/>
                <a:ea typeface="微软雅黑" panose="020B0503020204020204" charset="-122"/>
                <a:cs typeface="微软雅黑" panose="020B0503020204020204" charset="-122"/>
              </a:defRPr>
            </a:pPr>
            <a:r>
              <a:rPr sz="900" b="1">
                <a:solidFill>
                  <a:srgbClr val="172033"/>
                </a:solidFill>
                <a:latin typeface="vivo Sans Regular" panose="02000300000000000000" charset="-122"/>
                <a:ea typeface="vivo Sans Regular" panose="02000300000000000000" charset="-122"/>
                <a:cs typeface="微软雅黑" panose="020B0503020204020204" charset="-122"/>
              </a:rPr>
              <a:t>结果输出</a:t>
            </a:r>
            <a:endParaRPr sz="900"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81" name="矩形 80"/>
          <p:cNvSpPr>
            <a:spLocks noGrp="1"/>
          </p:cNvSpPr>
          <p:nvPr/>
        </p:nvSpPr>
        <p:spPr>
          <a:xfrm>
            <a:off x="1619250" y="2552700"/>
            <a:ext cx="9810750" cy="2286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sz="865" b="0">
                <a:solidFill>
                  <a:srgbClr val="667085"/>
                </a:solidFill>
                <a:latin typeface="vivo Sans Regular" panose="02000300000000000000" charset="-122"/>
                <a:ea typeface="vivo Sans Regular" panose="02000300000000000000" charset="-122"/>
                <a:cs typeface="vivo Sans Regular" panose="02000300000000000000" charset="-122"/>
              </a:rPr>
              <a:t>设备：i1 </a:t>
            </a:r>
            <a:r>
              <a:rPr lang="zh-CN" sz="865" b="0">
                <a:solidFill>
                  <a:srgbClr val="667085"/>
                </a:solidFill>
                <a:latin typeface="vivo Sans Regular" panose="02000300000000000000" charset="-122"/>
                <a:ea typeface="vivo Sans Regular" panose="02000300000000000000" charset="-122"/>
                <a:cs typeface="vivo Sans Regular" panose="02000300000000000000" charset="-122"/>
              </a:rPr>
              <a:t>校色仪</a:t>
            </a:r>
            <a:r>
              <a:rPr sz="865" b="0">
                <a:solidFill>
                  <a:srgbClr val="667085"/>
                </a:solidFill>
                <a:latin typeface="vivo Sans Regular" panose="02000300000000000000" charset="-122"/>
                <a:ea typeface="vivo Sans Regular" panose="02000300000000000000" charset="-122"/>
                <a:cs typeface="vivo Sans Regular" panose="02000300000000000000" charset="-122"/>
              </a:rPr>
              <a:t> / i1 Studio / Calman / 光谱仪 / 专业摄影设备</a:t>
            </a:r>
            <a:r>
              <a:rPr lang="en-US" sz="865" b="0">
                <a:solidFill>
                  <a:srgbClr val="667085"/>
                </a:solidFill>
                <a:latin typeface="vivo Sans Regular" panose="02000300000000000000" charset="-122"/>
                <a:ea typeface="vivo Sans Regular" panose="02000300000000000000" charset="-122"/>
                <a:cs typeface="vivo Sans Regular" panose="02000300000000000000" charset="-122"/>
              </a:rPr>
              <a:t>/</a:t>
            </a:r>
            <a:r>
              <a:rPr lang="zh-CN" altLang="en-US" sz="865" b="0">
                <a:solidFill>
                  <a:srgbClr val="667085"/>
                </a:solidFill>
                <a:latin typeface="vivo Sans Regular" panose="02000300000000000000" charset="-122"/>
                <a:ea typeface="vivo Sans Regular" panose="02000300000000000000" charset="-122"/>
                <a:cs typeface="vivo Sans Regular" panose="02000300000000000000" charset="-122"/>
              </a:rPr>
              <a:t>亮度</a:t>
            </a:r>
            <a:r>
              <a:rPr lang="zh-CN" altLang="en-US" sz="865" b="0">
                <a:solidFill>
                  <a:srgbClr val="667085"/>
                </a:solidFill>
                <a:latin typeface="vivo Sans Regular" panose="02000300000000000000" charset="-122"/>
                <a:ea typeface="vivo Sans Regular" panose="02000300000000000000" charset="-122"/>
                <a:cs typeface="vivo Sans Regular" panose="02000300000000000000" charset="-122"/>
              </a:rPr>
              <a:t>测试仪</a:t>
            </a:r>
            <a:endParaRPr lang="zh-CN" altLang="en-US" sz="865" b="0">
              <a:solidFill>
                <a:srgbClr val="667085"/>
              </a:solidFill>
              <a:latin typeface="vivo Sans Regular" panose="02000300000000000000" charset="-122"/>
              <a:ea typeface="vivo Sans Regular" panose="02000300000000000000" charset="-122"/>
              <a:cs typeface="vivo Sans Regular" panose="02000300000000000000" charset="-122"/>
            </a:endParaRPr>
          </a:p>
        </p:txBody>
      </p:sp>
      <p:sp>
        <p:nvSpPr>
          <p:cNvPr id="82" name="矩形 81"/>
          <p:cNvSpPr>
            <a:spLocks noGrp="1"/>
          </p:cNvSpPr>
          <p:nvPr/>
        </p:nvSpPr>
        <p:spPr>
          <a:xfrm>
            <a:off x="1619250" y="4343400"/>
            <a:ext cx="9810750" cy="2286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sz="865" b="0">
                <a:solidFill>
                  <a:srgbClr val="667085"/>
                </a:solidFill>
                <a:latin typeface="vivo Sans Regular" panose="02000300000000000000" charset="-122"/>
                <a:ea typeface="vivo Sans Regular" panose="02000300000000000000" charset="-122"/>
                <a:cs typeface="vivo Sans Regular" panose="02000300000000000000" charset="-122"/>
              </a:rPr>
              <a:t>SOP：</a:t>
            </a:r>
            <a:r>
              <a:rPr lang="zh-CN" sz="865" b="0">
                <a:solidFill>
                  <a:srgbClr val="667085"/>
                </a:solidFill>
                <a:latin typeface="vivo Sans Regular" panose="02000300000000000000" charset="-122"/>
                <a:ea typeface="vivo Sans Regular" panose="02000300000000000000" charset="-122"/>
                <a:cs typeface="vivo Sans Regular" panose="02000300000000000000" charset="-122"/>
              </a:rPr>
              <a:t>测试维度</a:t>
            </a:r>
            <a:r>
              <a:rPr sz="865" b="0">
                <a:solidFill>
                  <a:srgbClr val="667085"/>
                </a:solidFill>
                <a:latin typeface="vivo Sans Regular" panose="02000300000000000000" charset="-122"/>
                <a:ea typeface="vivo Sans Regular" panose="02000300000000000000" charset="-122"/>
                <a:cs typeface="vivo Sans Regular" panose="02000300000000000000" charset="-122"/>
              </a:rPr>
              <a:t>、</a:t>
            </a:r>
            <a:r>
              <a:rPr lang="zh-CN" sz="865" b="0">
                <a:solidFill>
                  <a:srgbClr val="667085"/>
                </a:solidFill>
                <a:latin typeface="vivo Sans Regular" panose="02000300000000000000" charset="-122"/>
                <a:ea typeface="vivo Sans Regular" panose="02000300000000000000" charset="-122"/>
                <a:cs typeface="vivo Sans Regular" panose="02000300000000000000" charset="-122"/>
              </a:rPr>
              <a:t>测试标准与流程</a:t>
            </a:r>
            <a:r>
              <a:rPr sz="865" b="0">
                <a:solidFill>
                  <a:srgbClr val="667085"/>
                </a:solidFill>
                <a:latin typeface="vivo Sans Regular" panose="02000300000000000000" charset="-122"/>
                <a:ea typeface="vivo Sans Regular" panose="02000300000000000000" charset="-122"/>
                <a:cs typeface="vivo Sans Regular" panose="02000300000000000000" charset="-122"/>
              </a:rPr>
              <a:t>、结果录入与交叉复核</a:t>
            </a:r>
            <a:endParaRPr sz="865" b="0">
              <a:solidFill>
                <a:srgbClr val="667085"/>
              </a:solidFill>
              <a:latin typeface="vivo Sans Regular" panose="02000300000000000000" charset="-122"/>
              <a:ea typeface="vivo Sans Regular" panose="02000300000000000000" charset="-122"/>
              <a:cs typeface="vivo Sans Regular" panose="02000300000000000000" charset="-122"/>
            </a:endParaRPr>
          </a:p>
        </p:txBody>
      </p:sp>
      <p:sp>
        <p:nvSpPr>
          <p:cNvPr id="83" name="矩形 82"/>
          <p:cNvSpPr>
            <a:spLocks noGrp="1"/>
          </p:cNvSpPr>
          <p:nvPr/>
        </p:nvSpPr>
        <p:spPr>
          <a:xfrm>
            <a:off x="1619250" y="5962650"/>
            <a:ext cx="9810750" cy="228600"/>
          </a:xfrm>
          <a:prstGeom prst="rect">
            <a:avLst/>
          </a:prstGeom>
          <a:noFill/>
          <a:ln w="0">
            <a:noFill/>
            <a:prstDash val="solid"/>
          </a:ln>
        </p:spPr>
        <p:txBody>
          <a:bodyPr anchor="ctr"/>
          <a:lstStyle/>
          <a:p>
            <a:pPr algn="ctr">
              <a:defRPr sz="865" b="0">
                <a:solidFill>
                  <a:srgbClr val="667085"/>
                </a:solidFill>
                <a:latin typeface="微软雅黑" panose="020B0503020204020204" charset="-122"/>
                <a:ea typeface="微软雅黑" panose="020B0503020204020204" charset="-122"/>
                <a:cs typeface="微软雅黑" panose="020B0503020204020204" charset="-122"/>
              </a:defRPr>
            </a:pPr>
            <a:r>
              <a:rPr sz="865" b="0">
                <a:solidFill>
                  <a:srgbClr val="667085"/>
                </a:solidFill>
                <a:latin typeface="vivo Sans Regular" panose="02000300000000000000" charset="-122"/>
                <a:ea typeface="vivo Sans Regular" panose="02000300000000000000" charset="-122"/>
                <a:cs typeface="微软雅黑" panose="020B0503020204020204" charset="-122"/>
              </a:rPr>
              <a:t>输出：</a:t>
            </a:r>
            <a:r>
              <a:rPr lang="zh-CN" sz="865" b="0">
                <a:solidFill>
                  <a:srgbClr val="667085"/>
                </a:solidFill>
                <a:latin typeface="vivo Sans Regular" panose="02000300000000000000" charset="-122"/>
                <a:ea typeface="vivo Sans Regular" panose="02000300000000000000" charset="-122"/>
                <a:cs typeface="微软雅黑" panose="020B0503020204020204" charset="-122"/>
              </a:rPr>
              <a:t>各维度数据参数及机型排名</a:t>
            </a:r>
            <a:r>
              <a:rPr lang="zh-CN" sz="865" b="0">
                <a:solidFill>
                  <a:srgbClr val="667085"/>
                </a:solidFill>
                <a:latin typeface="vivo Sans Regular" panose="02000300000000000000" charset="-122"/>
                <a:ea typeface="vivo Sans Regular" panose="02000300000000000000" charset="-122"/>
                <a:cs typeface="微软雅黑" panose="020B0503020204020204" charset="-122"/>
              </a:rPr>
              <a:t>榜单</a:t>
            </a:r>
            <a:endParaRPr lang="zh-CN" sz="86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2" name="圆角矩形 1"/>
          <p:cNvSpPr>
            <a:spLocks noGrp="1"/>
          </p:cNvSpPr>
          <p:nvPr/>
        </p:nvSpPr>
        <p:spPr>
          <a:xfrm>
            <a:off x="9900920" y="1390650"/>
            <a:ext cx="1243330" cy="1123950"/>
          </a:xfrm>
          <a:prstGeom prst="roundRect">
            <a:avLst>
              <a:gd name="adj" fmla="val 6780"/>
            </a:avLst>
          </a:prstGeom>
          <a:noFill/>
          <a:ln w="9525">
            <a:solidFill>
              <a:srgbClr val="DCE3F2"/>
            </a:solidFill>
            <a:prstDash val="solid"/>
          </a:ln>
        </p:spPr>
      </p:sp>
      <p:pic>
        <p:nvPicPr>
          <p:cNvPr id="24" name="图片 23"/>
          <p:cNvPicPr/>
          <p:nvPr/>
        </p:nvPicPr>
        <p:blipFill>
          <a:blip r:embed="rId13"/>
          <a:stretch>
            <a:fillRect/>
          </a:stretch>
        </p:blipFill>
        <p:spPr>
          <a:xfrm>
            <a:off x="10050145" y="1447165"/>
            <a:ext cx="924560" cy="1028700"/>
          </a:xfrm>
          <a:prstGeom prst="roundRect">
            <a:avLst/>
          </a:prstGeom>
        </p:spPr>
      </p:pic>
      <p:pic>
        <p:nvPicPr>
          <p:cNvPr id="3" name="图片 2" descr="截屏2026-08-01 14.23.15"/>
          <p:cNvPicPr>
            <a:picLocks noChangeAspect="1"/>
          </p:cNvPicPr>
          <p:nvPr/>
        </p:nvPicPr>
        <p:blipFill>
          <a:blip r:embed="rId14"/>
          <a:stretch>
            <a:fillRect/>
          </a:stretch>
        </p:blipFill>
        <p:spPr>
          <a:xfrm>
            <a:off x="1676400" y="3095625"/>
            <a:ext cx="2656205" cy="1133475"/>
          </a:xfrm>
          <a:prstGeom prst="rect">
            <a:avLst/>
          </a:prstGeom>
        </p:spPr>
      </p:pic>
      <p:pic>
        <p:nvPicPr>
          <p:cNvPr id="6" name="图片 5"/>
          <p:cNvPicPr>
            <a:picLocks noChangeAspect="1"/>
          </p:cNvPicPr>
          <p:nvPr/>
        </p:nvPicPr>
        <p:blipFill>
          <a:blip r:embed="rId15"/>
          <a:srcRect l="10792" r="11034" b="12327"/>
          <a:stretch>
            <a:fillRect/>
          </a:stretch>
        </p:blipFill>
        <p:spPr>
          <a:xfrm>
            <a:off x="3577590" y="4876800"/>
            <a:ext cx="1809115" cy="1028700"/>
          </a:xfrm>
          <a:prstGeom prst="round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2"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vivo Sans Regular" panose="02000300000000000000" charset="-122"/>
                <a:ea typeface="vivo Sans Regular" panose="02000300000000000000" charset="-122"/>
                <a:cs typeface="vivo Sans Regular" panose="02000300000000000000" charset="-122"/>
              </a:rPr>
              <a:t>H1完成启动，</a:t>
            </a:r>
            <a:r>
              <a:rPr>
                <a:latin typeface="vivo Sans Regular" panose="02000300000000000000" charset="-122"/>
                <a:ea typeface="vivo Sans Regular" panose="02000300000000000000" charset="-122"/>
                <a:cs typeface="vivo Sans Regular" panose="02000300000000000000" charset="-122"/>
                <a:sym typeface="+mn-ea"/>
              </a:rPr>
              <a:t>首拆稀缺性与深度解析驱动增长</a:t>
            </a:r>
            <a:r>
              <a:rPr sz="1800" b="1">
                <a:solidFill>
                  <a:srgbClr val="FFFFFF"/>
                </a:solidFill>
                <a:latin typeface="vivo Sans Regular" panose="02000300000000000000" charset="-122"/>
                <a:ea typeface="vivo Sans Regular" panose="02000300000000000000" charset="-122"/>
                <a:cs typeface="vivo Sans Regular" panose="02000300000000000000" charset="-122"/>
              </a:rPr>
              <a:t>——回声拆机少女</a:t>
            </a:r>
            <a:endParaRPr sz="1800" b="1">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vivo Sans Regular" panose="02000300000000000000" charset="-122"/>
                <a:ea typeface="vivo Sans Regular" panose="02000300000000000000" charset="-122"/>
                <a:cs typeface="微软雅黑" panose="020B0503020204020204" charset="-122"/>
              </a:rPr>
              <a:t>19</a:t>
            </a:r>
            <a:endParaRPr sz="675" b="0">
              <a:solidFill>
                <a:srgbClr val="8A96AA"/>
              </a:solidFill>
              <a:latin typeface="vivo Sans Regular" panose="02000300000000000000" charset="-122"/>
              <a:ea typeface="vivo Sans Regular" panose="02000300000000000000" charset="-122"/>
              <a:cs typeface="微软雅黑" panose="020B0503020204020204" charset="-122"/>
            </a:endParaRPr>
          </a:p>
        </p:txBody>
      </p:sp>
      <p:sp>
        <p:nvSpPr>
          <p:cNvPr id="6" name="矩形 5"/>
          <p:cNvSpPr>
            <a:spLocks noGrp="1"/>
          </p:cNvSpPr>
          <p:nvPr/>
        </p:nvSpPr>
        <p:spPr>
          <a:xfrm>
            <a:off x="400050" y="81915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vivo Sans Regular" panose="02000300000000000000" charset="-122"/>
                <a:ea typeface="vivo Sans Regular" panose="02000300000000000000" charset="-122"/>
                <a:cs typeface="微软雅黑" panose="020B0503020204020204" charset="-122"/>
              </a:rPr>
              <a:t>账号定位</a:t>
            </a:r>
            <a:endParaRPr sz="975" b="1">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7" name="矩形 6"/>
          <p:cNvSpPr>
            <a:spLocks noGrp="1"/>
          </p:cNvSpPr>
          <p:nvPr/>
        </p:nvSpPr>
        <p:spPr>
          <a:xfrm>
            <a:off x="400050" y="1076325"/>
            <a:ext cx="1524000" cy="19050"/>
          </a:xfrm>
          <a:prstGeom prst="rect">
            <a:avLst/>
          </a:prstGeom>
          <a:solidFill>
            <a:srgbClr val="3157FF"/>
          </a:solidFill>
          <a:ln w="0">
            <a:noFill/>
            <a:prstDash val="solid"/>
          </a:ln>
        </p:spPr>
      </p:sp>
      <p:sp>
        <p:nvSpPr>
          <p:cNvPr id="8" name="矩形 7"/>
          <p:cNvSpPr>
            <a:spLocks noGrp="1"/>
          </p:cNvSpPr>
          <p:nvPr/>
        </p:nvSpPr>
        <p:spPr>
          <a:xfrm>
            <a:off x="400050" y="1104900"/>
            <a:ext cx="4762500" cy="361950"/>
          </a:xfrm>
          <a:prstGeom prst="rect">
            <a:avLst/>
          </a:prstGeom>
          <a:noFill/>
          <a:ln w="0">
            <a:noFill/>
            <a:prstDash val="solid"/>
          </a:ln>
        </p:spPr>
        <p:txBody>
          <a:bodyPr anchor="ctr"/>
          <a:lstStyle/>
          <a:p>
            <a:pPr algn="l">
              <a:defRPr sz="1875" b="1">
                <a:solidFill>
                  <a:srgbClr val="172033"/>
                </a:solidFill>
                <a:latin typeface="微软雅黑" panose="020B0503020204020204" charset="-122"/>
                <a:ea typeface="微软雅黑" panose="020B0503020204020204" charset="-122"/>
                <a:cs typeface="微软雅黑" panose="020B0503020204020204" charset="-122"/>
              </a:defRPr>
            </a:pPr>
            <a:r>
              <a:rPr sz="1875" b="1">
                <a:solidFill>
                  <a:srgbClr val="172033"/>
                </a:solidFill>
                <a:latin typeface="vivo Sans Regular" panose="02000300000000000000" charset="-122"/>
                <a:ea typeface="vivo Sans Regular" panose="02000300000000000000" charset="-122"/>
                <a:cs typeface="微软雅黑" panose="020B0503020204020204" charset="-122"/>
              </a:rPr>
              <a:t>女性</a:t>
            </a:r>
            <a:r>
              <a:rPr lang="zh-CN" sz="1875" b="1">
                <a:solidFill>
                  <a:srgbClr val="172033"/>
                </a:solidFill>
                <a:latin typeface="vivo Sans Regular" panose="02000300000000000000" charset="-122"/>
                <a:ea typeface="vivo Sans Regular" panose="02000300000000000000" charset="-122"/>
                <a:cs typeface="微软雅黑" panose="020B0503020204020204" charset="-122"/>
              </a:rPr>
              <a:t>反差</a:t>
            </a:r>
            <a:r>
              <a:rPr sz="1875" b="1">
                <a:solidFill>
                  <a:srgbClr val="172033"/>
                </a:solidFill>
                <a:latin typeface="vivo Sans Regular" panose="02000300000000000000" charset="-122"/>
                <a:ea typeface="vivo Sans Regular" panose="02000300000000000000" charset="-122"/>
                <a:cs typeface="微软雅黑" panose="020B0503020204020204" charset="-122"/>
              </a:rPr>
              <a:t>硬件拆解</a:t>
            </a:r>
            <a:endParaRPr sz="1875"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9" name="矩形 8"/>
          <p:cNvSpPr>
            <a:spLocks noGrp="1"/>
          </p:cNvSpPr>
          <p:nvPr/>
        </p:nvSpPr>
        <p:spPr>
          <a:xfrm>
            <a:off x="400050" y="1438275"/>
            <a:ext cx="4762500" cy="266700"/>
          </a:xfrm>
          <a:prstGeom prst="rect">
            <a:avLst/>
          </a:prstGeom>
          <a:noFill/>
          <a:ln w="0">
            <a:noFill/>
            <a:prstDash val="solid"/>
          </a:ln>
        </p:spPr>
        <p:txBody>
          <a:bodyPr anchor="ctr"/>
          <a:lstStyle/>
          <a:p>
            <a:pPr algn="l">
              <a:defRPr sz="975" b="0">
                <a:solidFill>
                  <a:srgbClr val="667085"/>
                </a:solidFill>
                <a:latin typeface="微软雅黑" panose="020B0503020204020204" charset="-122"/>
                <a:ea typeface="微软雅黑" panose="020B0503020204020204" charset="-122"/>
                <a:cs typeface="微软雅黑" panose="020B0503020204020204" charset="-122"/>
              </a:defRPr>
            </a:pPr>
            <a:r>
              <a:rPr sz="975" b="0">
                <a:solidFill>
                  <a:srgbClr val="667085"/>
                </a:solidFill>
                <a:latin typeface="vivo Sans Regular" panose="02000300000000000000" charset="-122"/>
                <a:ea typeface="vivo Sans Regular" panose="02000300000000000000" charset="-122"/>
                <a:cs typeface="vivo Sans Regular" panose="02000300000000000000" charset="-122"/>
              </a:rPr>
              <a:t>全网首拆 × 结构解析 × 真实体验验证</a:t>
            </a:r>
            <a:endParaRPr sz="975" b="0">
              <a:solidFill>
                <a:srgbClr val="667085"/>
              </a:solidFill>
              <a:latin typeface="vivo Sans Regular" panose="02000300000000000000" charset="-122"/>
              <a:ea typeface="vivo Sans Regular" panose="02000300000000000000" charset="-122"/>
              <a:cs typeface="vivo Sans Regular" panose="02000300000000000000" charset="-122"/>
            </a:endParaRPr>
          </a:p>
        </p:txBody>
      </p:sp>
      <p:sp>
        <p:nvSpPr>
          <p:cNvPr id="10" name="圆角矩形 9"/>
          <p:cNvSpPr>
            <a:spLocks noGrp="1"/>
          </p:cNvSpPr>
          <p:nvPr/>
        </p:nvSpPr>
        <p:spPr>
          <a:xfrm>
            <a:off x="400050" y="1790700"/>
            <a:ext cx="142875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51435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1万+</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2" name="矩形 11"/>
          <p:cNvSpPr>
            <a:spLocks noGrp="1"/>
          </p:cNvSpPr>
          <p:nvPr/>
        </p:nvSpPr>
        <p:spPr>
          <a:xfrm>
            <a:off x="49530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粉丝沉淀</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13" name="圆角矩形 12"/>
          <p:cNvSpPr>
            <a:spLocks noGrp="1"/>
          </p:cNvSpPr>
          <p:nvPr/>
        </p:nvSpPr>
        <p:spPr>
          <a:xfrm>
            <a:off x="1971675" y="1790700"/>
            <a:ext cx="142875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2085975"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31条</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5" name="矩形 14"/>
          <p:cNvSpPr>
            <a:spLocks noGrp="1"/>
          </p:cNvSpPr>
          <p:nvPr/>
        </p:nvSpPr>
        <p:spPr>
          <a:xfrm>
            <a:off x="2066925"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内容发布</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21" name="矩形 20"/>
          <p:cNvSpPr>
            <a:spLocks noGrp="1"/>
          </p:cNvSpPr>
          <p:nvPr/>
        </p:nvSpPr>
        <p:spPr>
          <a:xfrm>
            <a:off x="90487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vivo Sans Regular" panose="02000300000000000000" charset="-122"/>
                <a:ea typeface="vivo Sans Regular" panose="02000300000000000000" charset="-122"/>
                <a:cs typeface="微软雅黑" panose="020B0503020204020204" charset="-122"/>
              </a:rPr>
              <a:t>+</a:t>
            </a:r>
            <a:endParaRPr sz="2550" b="1">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24" name="矩形 23"/>
          <p:cNvSpPr>
            <a:spLocks noGrp="1"/>
          </p:cNvSpPr>
          <p:nvPr/>
        </p:nvSpPr>
        <p:spPr>
          <a:xfrm>
            <a:off x="495300" y="430657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vivo Sans Regular" panose="02000300000000000000" charset="-122"/>
                <a:ea typeface="vivo Sans Regular" panose="02000300000000000000" charset="-122"/>
                <a:cs typeface="vivo Sans Regular" panose="02000300000000000000" charset="-122"/>
              </a:rPr>
              <a:t>X Fold6深拆</a:t>
            </a:r>
            <a:endParaRPr sz="790" b="0">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28" name="矩形 27"/>
          <p:cNvSpPr>
            <a:spLocks noGrp="1"/>
          </p:cNvSpPr>
          <p:nvPr/>
        </p:nvSpPr>
        <p:spPr>
          <a:xfrm>
            <a:off x="207645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vivo Sans Regular" panose="02000300000000000000" charset="-122"/>
                <a:ea typeface="vivo Sans Regular" panose="02000300000000000000" charset="-122"/>
                <a:cs typeface="微软雅黑" panose="020B0503020204020204" charset="-122"/>
              </a:rPr>
              <a:t>完整发布页截图</a:t>
            </a:r>
            <a:endParaRPr sz="975" b="1">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30" name="矩形 29"/>
          <p:cNvSpPr>
            <a:spLocks noGrp="1"/>
          </p:cNvSpPr>
          <p:nvPr/>
        </p:nvSpPr>
        <p:spPr>
          <a:xfrm>
            <a:off x="2076450" y="430657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vivo Sans Regular" panose="02000300000000000000" charset="-122"/>
                <a:ea typeface="vivo Sans Regular" panose="02000300000000000000" charset="-122"/>
                <a:cs typeface="vivo Sans Regular" panose="02000300000000000000" charset="-122"/>
              </a:rPr>
              <a:t>X Fold6开箱</a:t>
            </a:r>
            <a:endParaRPr sz="790" b="0">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38" name="圆角矩形 37"/>
          <p:cNvSpPr>
            <a:spLocks noGrp="1"/>
          </p:cNvSpPr>
          <p:nvPr/>
        </p:nvSpPr>
        <p:spPr>
          <a:xfrm>
            <a:off x="5334000" y="838200"/>
            <a:ext cx="6457950" cy="4876800"/>
          </a:xfrm>
          <a:prstGeom prst="roundRect">
            <a:avLst>
              <a:gd name="adj" fmla="val 1563"/>
            </a:avLst>
          </a:prstGeom>
          <a:solidFill>
            <a:srgbClr val="FFFFFF"/>
          </a:solidFill>
          <a:ln w="9525">
            <a:solidFill>
              <a:srgbClr val="DCE3F2"/>
            </a:solidFill>
            <a:prstDash val="solid"/>
          </a:ln>
        </p:spPr>
      </p:sp>
      <p:sp>
        <p:nvSpPr>
          <p:cNvPr id="39" name="矩形 38"/>
          <p:cNvSpPr>
            <a:spLocks noGrp="1"/>
          </p:cNvSpPr>
          <p:nvPr/>
        </p:nvSpPr>
        <p:spPr>
          <a:xfrm>
            <a:off x="5562600" y="1000125"/>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vivo Sans Regular" panose="02000300000000000000" charset="-122"/>
                <a:ea typeface="vivo Sans Regular" panose="02000300000000000000" charset="-122"/>
                <a:cs typeface="微软雅黑" panose="020B0503020204020204" charset="-122"/>
              </a:rPr>
              <a:t>播放趋势（千次）</a:t>
            </a:r>
            <a:endParaRPr sz="975" b="1">
              <a:solidFill>
                <a:srgbClr val="1230A5"/>
              </a:solidFill>
              <a:latin typeface="vivo Sans Regular" panose="02000300000000000000" charset="-122"/>
              <a:ea typeface="vivo Sans Regular" panose="02000300000000000000" charset="-122"/>
              <a:cs typeface="微软雅黑" panose="020B0503020204020204" charset="-122"/>
            </a:endParaRPr>
          </a:p>
        </p:txBody>
      </p:sp>
      <p:graphicFrame>
        <p:nvGraphicFramePr>
          <p:cNvPr id="91" name="Chart"/>
          <p:cNvGraphicFramePr/>
          <p:nvPr/>
        </p:nvGraphicFramePr>
        <p:xfrm>
          <a:off x="5562600" y="1228725"/>
          <a:ext cx="5981700" cy="2038350"/>
        </p:xfrm>
        <a:graphic>
          <a:graphicData uri="http://schemas.openxmlformats.org/drawingml/2006/chart">
            <c:chart xmlns:c="http://schemas.openxmlformats.org/drawingml/2006/chart" xmlns:r="http://schemas.openxmlformats.org/officeDocument/2006/relationships" r:id="rId1"/>
          </a:graphicData>
        </a:graphic>
      </p:graphicFrame>
      <p:sp>
        <p:nvSpPr>
          <p:cNvPr id="41" name="矩形 40"/>
          <p:cNvSpPr>
            <a:spLocks noGrp="1"/>
          </p:cNvSpPr>
          <p:nvPr/>
        </p:nvSpPr>
        <p:spPr>
          <a:xfrm>
            <a:off x="5562600" y="3409950"/>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vivo Sans Regular" panose="02000300000000000000" charset="-122"/>
                <a:ea typeface="vivo Sans Regular" panose="02000300000000000000" charset="-122"/>
                <a:cs typeface="微软雅黑" panose="020B0503020204020204" charset="-122"/>
              </a:rPr>
              <a:t>粉丝趋势（千人）</a:t>
            </a:r>
            <a:endParaRPr sz="975" b="1">
              <a:solidFill>
                <a:srgbClr val="1230A5"/>
              </a:solidFill>
              <a:latin typeface="vivo Sans Regular" panose="02000300000000000000" charset="-122"/>
              <a:ea typeface="vivo Sans Regular" panose="02000300000000000000" charset="-122"/>
              <a:cs typeface="微软雅黑" panose="020B0503020204020204" charset="-122"/>
            </a:endParaRPr>
          </a:p>
        </p:txBody>
      </p:sp>
      <p:graphicFrame>
        <p:nvGraphicFramePr>
          <p:cNvPr id="93" name="Chart"/>
          <p:cNvGraphicFramePr/>
          <p:nvPr/>
        </p:nvGraphicFramePr>
        <p:xfrm>
          <a:off x="5562600" y="3638550"/>
          <a:ext cx="5981700" cy="1657350"/>
        </p:xfrm>
        <a:graphic>
          <a:graphicData uri="http://schemas.openxmlformats.org/drawingml/2006/chart">
            <c:chart xmlns:c="http://schemas.openxmlformats.org/drawingml/2006/chart" xmlns:r="http://schemas.openxmlformats.org/officeDocument/2006/relationships" r:id="rId2"/>
          </a:graphicData>
        </a:graphic>
      </p:graphicFrame>
      <p:sp>
        <p:nvSpPr>
          <p:cNvPr id="43" name="圆角矩形 42"/>
          <p:cNvSpPr>
            <a:spLocks noGrp="1"/>
          </p:cNvSpPr>
          <p:nvPr/>
        </p:nvSpPr>
        <p:spPr>
          <a:xfrm>
            <a:off x="5334000" y="5829300"/>
            <a:ext cx="2038350" cy="571500"/>
          </a:xfrm>
          <a:prstGeom prst="roundRect">
            <a:avLst>
              <a:gd name="adj" fmla="val 13333"/>
            </a:avLst>
          </a:prstGeom>
          <a:solidFill>
            <a:srgbClr val="F5F7FF"/>
          </a:solidFill>
          <a:ln w="9525">
            <a:solidFill>
              <a:srgbClr val="DCE3F2"/>
            </a:solidFill>
            <a:prstDash val="solid"/>
          </a:ln>
        </p:spPr>
      </p:sp>
      <p:sp>
        <p:nvSpPr>
          <p:cNvPr id="44" name="矩形 43"/>
          <p:cNvSpPr>
            <a:spLocks noGrp="1"/>
          </p:cNvSpPr>
          <p:nvPr/>
        </p:nvSpPr>
        <p:spPr>
          <a:xfrm>
            <a:off x="54483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vivo Sans Regular" panose="02000300000000000000" charset="-122"/>
                <a:ea typeface="vivo Sans Regular" panose="02000300000000000000" charset="-122"/>
                <a:cs typeface="vivo Sans Regular" panose="02000300000000000000" charset="-122"/>
              </a:rPr>
              <a:t>1–</a:t>
            </a:r>
            <a:r>
              <a:rPr lang="en-US" sz="865" b="1">
                <a:solidFill>
                  <a:srgbClr val="3157FF"/>
                </a:solidFill>
                <a:latin typeface="vivo Sans Regular" panose="02000300000000000000" charset="-122"/>
                <a:ea typeface="vivo Sans Regular" panose="02000300000000000000" charset="-122"/>
                <a:cs typeface="vivo Sans Regular" panose="02000300000000000000" charset="-122"/>
              </a:rPr>
              <a:t>4</a:t>
            </a:r>
            <a:r>
              <a:rPr sz="865" b="1">
                <a:solidFill>
                  <a:srgbClr val="3157FF"/>
                </a:solidFill>
                <a:latin typeface="vivo Sans Regular" panose="02000300000000000000" charset="-122"/>
                <a:ea typeface="vivo Sans Regular" panose="02000300000000000000" charset="-122"/>
                <a:cs typeface="vivo Sans Regular" panose="02000300000000000000" charset="-122"/>
              </a:rPr>
              <a:t>月｜冷启动</a:t>
            </a:r>
            <a:endParaRPr sz="86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45" name="矩形 44"/>
          <p:cNvSpPr>
            <a:spLocks noGrp="1"/>
          </p:cNvSpPr>
          <p:nvPr/>
        </p:nvSpPr>
        <p:spPr>
          <a:xfrm>
            <a:off x="54483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lang="zh-CN" sz="790" b="0">
                <a:solidFill>
                  <a:srgbClr val="172033"/>
                </a:solidFill>
                <a:latin typeface="vivo Sans Regular" panose="02000300000000000000" charset="-122"/>
                <a:ea typeface="vivo Sans Regular" panose="02000300000000000000" charset="-122"/>
                <a:cs typeface="微软雅黑" panose="020B0503020204020204" charset="-122"/>
              </a:rPr>
              <a:t>产能不固定导致启动</a:t>
            </a:r>
            <a:r>
              <a:rPr lang="zh-CN" sz="790" b="0">
                <a:solidFill>
                  <a:srgbClr val="172033"/>
                </a:solidFill>
                <a:latin typeface="vivo Sans Regular" panose="02000300000000000000" charset="-122"/>
                <a:ea typeface="vivo Sans Regular" panose="02000300000000000000" charset="-122"/>
                <a:cs typeface="微软雅黑" panose="020B0503020204020204" charset="-122"/>
              </a:rPr>
              <a:t>缓慢</a:t>
            </a:r>
            <a:endParaRPr lang="zh-CN" sz="79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46" name="圆角矩形 45"/>
          <p:cNvSpPr>
            <a:spLocks noGrp="1"/>
          </p:cNvSpPr>
          <p:nvPr/>
        </p:nvSpPr>
        <p:spPr>
          <a:xfrm>
            <a:off x="7486650" y="5829300"/>
            <a:ext cx="2038350" cy="571500"/>
          </a:xfrm>
          <a:prstGeom prst="roundRect">
            <a:avLst>
              <a:gd name="adj" fmla="val 13333"/>
            </a:avLst>
          </a:prstGeom>
          <a:solidFill>
            <a:srgbClr val="F5F7FF"/>
          </a:solidFill>
          <a:ln w="9525">
            <a:solidFill>
              <a:srgbClr val="DCE3F2"/>
            </a:solidFill>
            <a:prstDash val="solid"/>
          </a:ln>
        </p:spPr>
      </p:sp>
      <p:sp>
        <p:nvSpPr>
          <p:cNvPr id="47" name="矩形 46"/>
          <p:cNvSpPr>
            <a:spLocks noGrp="1"/>
          </p:cNvSpPr>
          <p:nvPr/>
        </p:nvSpPr>
        <p:spPr>
          <a:xfrm>
            <a:off x="760095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vivo Sans Regular" panose="02000300000000000000" charset="-122"/>
                <a:ea typeface="vivo Sans Regular" panose="02000300000000000000" charset="-122"/>
                <a:cs typeface="vivo Sans Regular" panose="02000300000000000000" charset="-122"/>
              </a:rPr>
              <a:t>5月｜调整</a:t>
            </a:r>
            <a:endParaRPr sz="86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48" name="矩形 47"/>
          <p:cNvSpPr>
            <a:spLocks noGrp="1"/>
          </p:cNvSpPr>
          <p:nvPr/>
        </p:nvSpPr>
        <p:spPr>
          <a:xfrm>
            <a:off x="760095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lang="zh-CN" sz="790" b="0">
                <a:solidFill>
                  <a:srgbClr val="172033"/>
                </a:solidFill>
                <a:latin typeface="vivo Sans Regular" panose="02000300000000000000" charset="-122"/>
                <a:ea typeface="vivo Sans Regular" panose="02000300000000000000" charset="-122"/>
                <a:cs typeface="微软雅黑" panose="020B0503020204020204" charset="-122"/>
              </a:rPr>
              <a:t>优化选题制作</a:t>
            </a:r>
            <a:r>
              <a:rPr lang="en-US" altLang="zh-CN" sz="790" b="0">
                <a:solidFill>
                  <a:srgbClr val="172033"/>
                </a:solidFill>
                <a:latin typeface="vivo Sans Regular" panose="02000300000000000000" charset="-122"/>
                <a:ea typeface="vivo Sans Regular" panose="02000300000000000000" charset="-122"/>
                <a:cs typeface="微软雅黑" panose="020B0503020204020204" charset="-122"/>
              </a:rPr>
              <a:t>，</a:t>
            </a:r>
            <a:r>
              <a:rPr lang="zh-CN" altLang="en-US" sz="790" b="0">
                <a:solidFill>
                  <a:srgbClr val="172033"/>
                </a:solidFill>
                <a:latin typeface="vivo Sans Regular" panose="02000300000000000000" charset="-122"/>
                <a:ea typeface="vivo Sans Regular" panose="02000300000000000000" charset="-122"/>
                <a:cs typeface="微软雅黑" panose="020B0503020204020204" charset="-122"/>
              </a:rPr>
              <a:t>规律产出后表现</a:t>
            </a:r>
            <a:r>
              <a:rPr lang="zh-CN" altLang="en-US" sz="790" b="0">
                <a:solidFill>
                  <a:srgbClr val="172033"/>
                </a:solidFill>
                <a:latin typeface="vivo Sans Regular" panose="02000300000000000000" charset="-122"/>
                <a:ea typeface="vivo Sans Regular" panose="02000300000000000000" charset="-122"/>
                <a:cs typeface="微软雅黑" panose="020B0503020204020204" charset="-122"/>
              </a:rPr>
              <a:t>提升</a:t>
            </a:r>
            <a:endParaRPr lang="zh-CN" altLang="en-US" sz="79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49" name="圆角矩形 48"/>
          <p:cNvSpPr>
            <a:spLocks noGrp="1"/>
          </p:cNvSpPr>
          <p:nvPr/>
        </p:nvSpPr>
        <p:spPr>
          <a:xfrm>
            <a:off x="9639300" y="5829300"/>
            <a:ext cx="2038350" cy="571500"/>
          </a:xfrm>
          <a:prstGeom prst="roundRect">
            <a:avLst>
              <a:gd name="adj" fmla="val 13333"/>
            </a:avLst>
          </a:prstGeom>
          <a:solidFill>
            <a:srgbClr val="F5F7FF"/>
          </a:solidFill>
          <a:ln w="9525">
            <a:solidFill>
              <a:srgbClr val="DCE3F2"/>
            </a:solidFill>
            <a:prstDash val="solid"/>
          </a:ln>
        </p:spPr>
      </p:sp>
      <p:sp>
        <p:nvSpPr>
          <p:cNvPr id="50" name="矩形 49"/>
          <p:cNvSpPr>
            <a:spLocks noGrp="1"/>
          </p:cNvSpPr>
          <p:nvPr/>
        </p:nvSpPr>
        <p:spPr>
          <a:xfrm>
            <a:off x="97536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vivo Sans Regular" panose="02000300000000000000" charset="-122"/>
                <a:ea typeface="vivo Sans Regular" panose="02000300000000000000" charset="-122"/>
                <a:cs typeface="vivo Sans Regular" panose="02000300000000000000" charset="-122"/>
              </a:rPr>
              <a:t>6–7月｜加速增长</a:t>
            </a:r>
            <a:endParaRPr sz="86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51" name="矩形 50"/>
          <p:cNvSpPr>
            <a:spLocks noGrp="1"/>
          </p:cNvSpPr>
          <p:nvPr/>
        </p:nvSpPr>
        <p:spPr>
          <a:xfrm>
            <a:off x="97536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vivo Sans Regular" panose="02000300000000000000" charset="-122"/>
                <a:ea typeface="vivo Sans Regular" panose="02000300000000000000" charset="-122"/>
                <a:cs typeface="微软雅黑" panose="020B0503020204020204" charset="-122"/>
              </a:rPr>
              <a:t>全网首拆</a:t>
            </a:r>
            <a:r>
              <a:rPr lang="en-US" sz="790" b="0">
                <a:solidFill>
                  <a:srgbClr val="172033"/>
                </a:solidFill>
                <a:latin typeface="vivo Sans Regular" panose="02000300000000000000" charset="-122"/>
                <a:ea typeface="vivo Sans Regular" panose="02000300000000000000" charset="-122"/>
                <a:cs typeface="微软雅黑" panose="020B0503020204020204" charset="-122"/>
              </a:rPr>
              <a:t>、</a:t>
            </a:r>
            <a:r>
              <a:rPr lang="zh-CN" altLang="en-US" sz="790" b="0">
                <a:solidFill>
                  <a:srgbClr val="172033"/>
                </a:solidFill>
                <a:latin typeface="vivo Sans Regular" panose="02000300000000000000" charset="-122"/>
                <a:ea typeface="vivo Sans Regular" panose="02000300000000000000" charset="-122"/>
                <a:cs typeface="微软雅黑" panose="020B0503020204020204" charset="-122"/>
              </a:rPr>
              <a:t>新品开箱</a:t>
            </a:r>
            <a:r>
              <a:rPr sz="790" b="0">
                <a:solidFill>
                  <a:srgbClr val="172033"/>
                </a:solidFill>
                <a:latin typeface="vivo Sans Regular" panose="02000300000000000000" charset="-122"/>
                <a:ea typeface="vivo Sans Regular" panose="02000300000000000000" charset="-122"/>
                <a:cs typeface="微软雅黑" panose="020B0503020204020204" charset="-122"/>
              </a:rPr>
              <a:t>带动播放与粉丝</a:t>
            </a:r>
            <a:endParaRPr sz="79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40" name="圆角矩形 39"/>
          <p:cNvSpPr>
            <a:spLocks noGrp="1"/>
          </p:cNvSpPr>
          <p:nvPr/>
        </p:nvSpPr>
        <p:spPr>
          <a:xfrm>
            <a:off x="371475" y="4924425"/>
            <a:ext cx="2060575" cy="1409700"/>
          </a:xfrm>
          <a:prstGeom prst="roundRect">
            <a:avLst>
              <a:gd name="adj" fmla="val 5405"/>
            </a:avLst>
          </a:prstGeom>
          <a:solidFill>
            <a:srgbClr val="FFFFFF"/>
          </a:solidFill>
          <a:ln w="9525">
            <a:solidFill>
              <a:srgbClr val="DCE3F2"/>
            </a:solidFill>
            <a:prstDash val="solid"/>
          </a:ln>
        </p:spPr>
      </p:sp>
      <p:sp>
        <p:nvSpPr>
          <p:cNvPr id="42" name="矩形 41"/>
          <p:cNvSpPr>
            <a:spLocks noGrp="1"/>
          </p:cNvSpPr>
          <p:nvPr/>
        </p:nvSpPr>
        <p:spPr>
          <a:xfrm>
            <a:off x="371475" y="5029200"/>
            <a:ext cx="1419860" cy="209550"/>
          </a:xfrm>
          <a:prstGeom prst="rect">
            <a:avLst/>
          </a:prstGeom>
          <a:noFill/>
          <a:ln w="0">
            <a:noFill/>
            <a:prstDash val="solid"/>
          </a:ln>
        </p:spPr>
        <p:txBody>
          <a:bodyPr anchor="ctr"/>
          <a:lstStyle/>
          <a:p>
            <a:pPr algn="l">
              <a:defRPr sz="1050" b="1">
                <a:solidFill>
                  <a:srgbClr val="3157FF"/>
                </a:solidFill>
                <a:latin typeface="微软雅黑" panose="020B0503020204020204" charset="-122"/>
                <a:ea typeface="微软雅黑" panose="020B0503020204020204" charset="-122"/>
                <a:cs typeface="微软雅黑" panose="020B0503020204020204" charset="-122"/>
              </a:defRPr>
            </a:pPr>
            <a:r>
              <a:rPr lang="zh-CN" sz="1050" b="1">
                <a:solidFill>
                  <a:srgbClr val="3157FF"/>
                </a:solidFill>
                <a:latin typeface="vivo Sans Regular" panose="02000300000000000000" charset="-122"/>
                <a:ea typeface="vivo Sans Regular" panose="02000300000000000000" charset="-122"/>
                <a:cs typeface="微软雅黑" panose="020B0503020204020204" charset="-122"/>
              </a:rPr>
              <a:t>现有</a:t>
            </a:r>
            <a:r>
              <a:rPr sz="1050" b="1">
                <a:solidFill>
                  <a:srgbClr val="3157FF"/>
                </a:solidFill>
                <a:latin typeface="vivo Sans Regular" panose="02000300000000000000" charset="-122"/>
                <a:ea typeface="vivo Sans Regular" panose="02000300000000000000" charset="-122"/>
                <a:cs typeface="微软雅黑" panose="020B0503020204020204" charset="-122"/>
              </a:rPr>
              <a:t>优势</a:t>
            </a:r>
            <a:endParaRPr sz="1050" b="1">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53" name="圆角矩形 52"/>
          <p:cNvSpPr>
            <a:spLocks noGrp="1"/>
          </p:cNvSpPr>
          <p:nvPr/>
        </p:nvSpPr>
        <p:spPr>
          <a:xfrm>
            <a:off x="476250" y="5353050"/>
            <a:ext cx="66675" cy="66675"/>
          </a:xfrm>
          <a:prstGeom prst="roundRect">
            <a:avLst>
              <a:gd name="adj" fmla="val 50000"/>
            </a:avLst>
          </a:prstGeom>
          <a:solidFill>
            <a:srgbClr val="3157FF"/>
          </a:solidFill>
          <a:ln w="0">
            <a:noFill/>
            <a:prstDash val="solid"/>
          </a:ln>
        </p:spPr>
      </p:sp>
      <p:sp>
        <p:nvSpPr>
          <p:cNvPr id="54" name="矩形 53"/>
          <p:cNvSpPr>
            <a:spLocks noGrp="1"/>
          </p:cNvSpPr>
          <p:nvPr/>
        </p:nvSpPr>
        <p:spPr>
          <a:xfrm>
            <a:off x="628650" y="5276850"/>
            <a:ext cx="3181350" cy="247650"/>
          </a:xfrm>
          <a:prstGeom prst="rect">
            <a:avLst/>
          </a:prstGeom>
          <a:noFill/>
          <a:ln w="0">
            <a:noFill/>
            <a:prstDash val="solid"/>
          </a:ln>
        </p:spPr>
        <p:txBody>
          <a:bodyPr anchor="ctr"/>
          <a:lstStyle/>
          <a:p>
            <a:pPr algn="l">
              <a:defRPr sz="940" b="0">
                <a:solidFill>
                  <a:srgbClr val="172033"/>
                </a:solidFill>
                <a:latin typeface="微软雅黑" panose="020B0503020204020204" charset="-122"/>
                <a:ea typeface="微软雅黑" panose="020B0503020204020204" charset="-122"/>
                <a:cs typeface="微软雅黑" panose="020B0503020204020204" charset="-122"/>
              </a:defRPr>
            </a:pPr>
            <a:r>
              <a:rPr sz="940" b="0">
                <a:solidFill>
                  <a:srgbClr val="172033"/>
                </a:solidFill>
                <a:latin typeface="vivo Sans Regular" panose="02000300000000000000" charset="-122"/>
                <a:ea typeface="vivo Sans Regular" panose="02000300000000000000" charset="-122"/>
                <a:cs typeface="微软雅黑" panose="020B0503020204020204" charset="-122"/>
              </a:rPr>
              <a:t>女性拆机形成差异化人设</a:t>
            </a:r>
            <a:endParaRPr sz="94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55" name="圆角矩形 54"/>
          <p:cNvSpPr>
            <a:spLocks noGrp="1"/>
          </p:cNvSpPr>
          <p:nvPr/>
        </p:nvSpPr>
        <p:spPr>
          <a:xfrm>
            <a:off x="476250" y="5629275"/>
            <a:ext cx="66675" cy="66675"/>
          </a:xfrm>
          <a:prstGeom prst="roundRect">
            <a:avLst>
              <a:gd name="adj" fmla="val 50000"/>
            </a:avLst>
          </a:prstGeom>
          <a:solidFill>
            <a:srgbClr val="3157FF"/>
          </a:solidFill>
          <a:ln w="0">
            <a:noFill/>
            <a:prstDash val="solid"/>
          </a:ln>
        </p:spPr>
      </p:sp>
      <p:sp>
        <p:nvSpPr>
          <p:cNvPr id="56" name="矩形 55"/>
          <p:cNvSpPr>
            <a:spLocks noGrp="1"/>
          </p:cNvSpPr>
          <p:nvPr/>
        </p:nvSpPr>
        <p:spPr>
          <a:xfrm>
            <a:off x="628650" y="5553075"/>
            <a:ext cx="3181350" cy="247650"/>
          </a:xfrm>
          <a:prstGeom prst="rect">
            <a:avLst/>
          </a:prstGeom>
          <a:noFill/>
          <a:ln w="0">
            <a:noFill/>
            <a:prstDash val="solid"/>
          </a:ln>
        </p:spPr>
        <p:txBody>
          <a:bodyPr anchor="ctr"/>
          <a:lstStyle/>
          <a:p>
            <a:pPr algn="l">
              <a:defRPr sz="940" b="0">
                <a:solidFill>
                  <a:srgbClr val="172033"/>
                </a:solidFill>
                <a:latin typeface="微软雅黑" panose="020B0503020204020204" charset="-122"/>
                <a:ea typeface="微软雅黑" panose="020B0503020204020204" charset="-122"/>
                <a:cs typeface="微软雅黑" panose="020B0503020204020204" charset="-122"/>
              </a:defRPr>
            </a:pPr>
            <a:r>
              <a:rPr sz="940" b="0">
                <a:solidFill>
                  <a:srgbClr val="172033"/>
                </a:solidFill>
                <a:latin typeface="vivo Sans Regular" panose="02000300000000000000" charset="-122"/>
                <a:ea typeface="vivo Sans Regular" panose="02000300000000000000" charset="-122"/>
                <a:cs typeface="微软雅黑" panose="020B0503020204020204" charset="-122"/>
              </a:rPr>
              <a:t>全网首拆具备稀缺流量价值</a:t>
            </a:r>
            <a:endParaRPr sz="94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57" name="圆角矩形 56"/>
          <p:cNvSpPr>
            <a:spLocks noGrp="1"/>
          </p:cNvSpPr>
          <p:nvPr/>
        </p:nvSpPr>
        <p:spPr>
          <a:xfrm>
            <a:off x="476250" y="5905500"/>
            <a:ext cx="66675" cy="66675"/>
          </a:xfrm>
          <a:prstGeom prst="roundRect">
            <a:avLst>
              <a:gd name="adj" fmla="val 50000"/>
            </a:avLst>
          </a:prstGeom>
          <a:solidFill>
            <a:srgbClr val="3157FF"/>
          </a:solidFill>
          <a:ln w="0">
            <a:noFill/>
            <a:prstDash val="solid"/>
          </a:ln>
        </p:spPr>
      </p:sp>
      <p:sp>
        <p:nvSpPr>
          <p:cNvPr id="58" name="矩形 57"/>
          <p:cNvSpPr>
            <a:spLocks noGrp="1"/>
          </p:cNvSpPr>
          <p:nvPr/>
        </p:nvSpPr>
        <p:spPr>
          <a:xfrm>
            <a:off x="628650" y="5829300"/>
            <a:ext cx="3181350" cy="247650"/>
          </a:xfrm>
          <a:prstGeom prst="rect">
            <a:avLst/>
          </a:prstGeom>
          <a:noFill/>
          <a:ln w="0">
            <a:noFill/>
            <a:prstDash val="solid"/>
          </a:ln>
        </p:spPr>
        <p:txBody>
          <a:bodyPr anchor="ctr"/>
          <a:lstStyle/>
          <a:p>
            <a:pPr algn="l">
              <a:defRPr sz="940" b="0">
                <a:solidFill>
                  <a:srgbClr val="172033"/>
                </a:solidFill>
                <a:latin typeface="微软雅黑" panose="020B0503020204020204" charset="-122"/>
                <a:ea typeface="微软雅黑" panose="020B0503020204020204" charset="-122"/>
                <a:cs typeface="微软雅黑" panose="020B0503020204020204" charset="-122"/>
              </a:defRPr>
            </a:pPr>
            <a:r>
              <a:rPr sz="940" b="0">
                <a:solidFill>
                  <a:srgbClr val="172033"/>
                </a:solidFill>
                <a:latin typeface="vivo Sans Regular" panose="02000300000000000000" charset="-122"/>
                <a:ea typeface="vivo Sans Regular" panose="02000300000000000000" charset="-122"/>
                <a:cs typeface="微软雅黑" panose="020B0503020204020204" charset="-122"/>
              </a:rPr>
              <a:t>结构解析建立</a:t>
            </a:r>
            <a:r>
              <a:rPr lang="zh-CN" sz="940" b="0">
                <a:solidFill>
                  <a:srgbClr val="172033"/>
                </a:solidFill>
                <a:latin typeface="vivo Sans Regular" panose="02000300000000000000" charset="-122"/>
                <a:ea typeface="vivo Sans Regular" panose="02000300000000000000" charset="-122"/>
                <a:cs typeface="微软雅黑" panose="020B0503020204020204" charset="-122"/>
              </a:rPr>
              <a:t>基础</a:t>
            </a:r>
            <a:r>
              <a:rPr sz="940" b="0">
                <a:solidFill>
                  <a:srgbClr val="172033"/>
                </a:solidFill>
                <a:latin typeface="vivo Sans Regular" panose="02000300000000000000" charset="-122"/>
                <a:ea typeface="vivo Sans Regular" panose="02000300000000000000" charset="-122"/>
                <a:cs typeface="微软雅黑" panose="020B0503020204020204" charset="-122"/>
              </a:rPr>
              <a:t>专业</a:t>
            </a:r>
            <a:r>
              <a:rPr lang="zh-CN" sz="940" b="0">
                <a:solidFill>
                  <a:srgbClr val="172033"/>
                </a:solidFill>
                <a:latin typeface="vivo Sans Regular" panose="02000300000000000000" charset="-122"/>
                <a:ea typeface="vivo Sans Regular" panose="02000300000000000000" charset="-122"/>
                <a:cs typeface="微软雅黑" panose="020B0503020204020204" charset="-122"/>
              </a:rPr>
              <a:t>信任</a:t>
            </a:r>
            <a:endParaRPr lang="zh-CN" sz="94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59" name="圆角矩形 58"/>
          <p:cNvSpPr>
            <a:spLocks noGrp="1"/>
          </p:cNvSpPr>
          <p:nvPr/>
        </p:nvSpPr>
        <p:spPr>
          <a:xfrm>
            <a:off x="2621915" y="4924425"/>
            <a:ext cx="2407285" cy="1409700"/>
          </a:xfrm>
          <a:prstGeom prst="roundRect">
            <a:avLst>
              <a:gd name="adj" fmla="val 5405"/>
            </a:avLst>
          </a:prstGeom>
          <a:solidFill>
            <a:srgbClr val="1230A5">
              <a:alpha val="13000"/>
            </a:srgbClr>
          </a:solidFill>
          <a:ln w="9525">
            <a:solidFill>
              <a:srgbClr val="DCE3F2"/>
            </a:solidFill>
            <a:prstDash val="solid"/>
          </a:ln>
        </p:spPr>
        <p:txBody>
          <a:bodyPr/>
          <a:p>
            <a:endParaRPr lang="zh-CN" altLang="en-US">
              <a:latin typeface="vivo Sans Regular" panose="02000300000000000000" charset="-122"/>
              <a:ea typeface="vivo Sans Regular" panose="02000300000000000000" charset="-122"/>
            </a:endParaRPr>
          </a:p>
        </p:txBody>
      </p:sp>
      <p:sp>
        <p:nvSpPr>
          <p:cNvPr id="60" name="矩形 59"/>
          <p:cNvSpPr>
            <a:spLocks noGrp="1"/>
          </p:cNvSpPr>
          <p:nvPr/>
        </p:nvSpPr>
        <p:spPr>
          <a:xfrm>
            <a:off x="2793365" y="5029200"/>
            <a:ext cx="2000250" cy="228600"/>
          </a:xfrm>
          <a:prstGeom prst="rect">
            <a:avLst/>
          </a:prstGeom>
          <a:noFill/>
          <a:ln w="0">
            <a:noFill/>
            <a:prstDash val="solid"/>
          </a:ln>
        </p:spPr>
        <p:txBody>
          <a:bodyPr anchor="ctr"/>
          <a:lstStyle/>
          <a:p>
            <a:pPr algn="l">
              <a:defRPr sz="1050" b="1">
                <a:solidFill>
                  <a:srgbClr val="8C98AA"/>
                </a:solidFill>
                <a:latin typeface="微软雅黑" panose="020B0503020204020204" charset="-122"/>
                <a:ea typeface="微软雅黑" panose="020B0503020204020204" charset="-122"/>
                <a:cs typeface="微软雅黑" panose="020B0503020204020204" charset="-122"/>
              </a:defRPr>
            </a:pPr>
            <a:r>
              <a:rPr lang="zh-CN" sz="1050" b="1">
                <a:solidFill>
                  <a:srgbClr val="1230A5"/>
                </a:solidFill>
                <a:latin typeface="vivo Sans Regular" panose="02000300000000000000" charset="-122"/>
                <a:ea typeface="vivo Sans Regular" panose="02000300000000000000" charset="-122"/>
                <a:cs typeface="微软雅黑" panose="020B0503020204020204" charset="-122"/>
              </a:rPr>
              <a:t>账号瓶颈</a:t>
            </a:r>
            <a:endParaRPr lang="zh-CN" sz="1050" b="1">
              <a:solidFill>
                <a:srgbClr val="1230A5"/>
              </a:solidFill>
              <a:latin typeface="vivo Sans Regular" panose="02000300000000000000" charset="-122"/>
              <a:ea typeface="vivo Sans Regular" panose="02000300000000000000" charset="-122"/>
              <a:cs typeface="微软雅黑" panose="020B0503020204020204" charset="-122"/>
            </a:endParaRPr>
          </a:p>
        </p:txBody>
      </p:sp>
      <p:sp>
        <p:nvSpPr>
          <p:cNvPr id="61" name="圆角矩形 60"/>
          <p:cNvSpPr>
            <a:spLocks noGrp="1"/>
          </p:cNvSpPr>
          <p:nvPr/>
        </p:nvSpPr>
        <p:spPr>
          <a:xfrm>
            <a:off x="2793365" y="5353050"/>
            <a:ext cx="66675" cy="66675"/>
          </a:xfrm>
          <a:prstGeom prst="roundRect">
            <a:avLst>
              <a:gd name="adj" fmla="val 50000"/>
            </a:avLst>
          </a:prstGeom>
          <a:solidFill>
            <a:srgbClr val="8C98AA"/>
          </a:solidFill>
          <a:ln w="0">
            <a:noFill/>
            <a:prstDash val="solid"/>
          </a:ln>
        </p:spPr>
      </p:sp>
      <p:sp>
        <p:nvSpPr>
          <p:cNvPr id="62" name="矩形 61"/>
          <p:cNvSpPr>
            <a:spLocks noGrp="1"/>
          </p:cNvSpPr>
          <p:nvPr/>
        </p:nvSpPr>
        <p:spPr>
          <a:xfrm>
            <a:off x="2945765" y="5276850"/>
            <a:ext cx="1847850" cy="247650"/>
          </a:xfrm>
          <a:prstGeom prst="rect">
            <a:avLst/>
          </a:prstGeom>
          <a:noFill/>
          <a:ln w="0">
            <a:noFill/>
            <a:prstDash val="solid"/>
          </a:ln>
        </p:spPr>
        <p:txBody>
          <a:bodyPr anchor="ctr"/>
          <a:lstStyle/>
          <a:p>
            <a:pPr algn="l">
              <a:defRPr sz="940" b="0">
                <a:solidFill>
                  <a:srgbClr val="172033"/>
                </a:solidFill>
                <a:latin typeface="微软雅黑" panose="020B0503020204020204" charset="-122"/>
                <a:ea typeface="微软雅黑" panose="020B0503020204020204" charset="-122"/>
                <a:cs typeface="微软雅黑" panose="020B0503020204020204" charset="-122"/>
              </a:defRPr>
            </a:pPr>
            <a:r>
              <a:rPr sz="940" b="0">
                <a:solidFill>
                  <a:srgbClr val="172033"/>
                </a:solidFill>
                <a:latin typeface="vivo Sans Regular" panose="02000300000000000000" charset="-122"/>
                <a:ea typeface="vivo Sans Regular" panose="02000300000000000000" charset="-122"/>
                <a:cs typeface="微软雅黑" panose="020B0503020204020204" charset="-122"/>
              </a:rPr>
              <a:t>增长依赖热门</a:t>
            </a:r>
            <a:r>
              <a:rPr lang="zh-CN" sz="940" b="0">
                <a:solidFill>
                  <a:srgbClr val="172033"/>
                </a:solidFill>
                <a:latin typeface="vivo Sans Regular" panose="02000300000000000000" charset="-122"/>
                <a:ea typeface="vivo Sans Regular" panose="02000300000000000000" charset="-122"/>
                <a:cs typeface="微软雅黑" panose="020B0503020204020204" charset="-122"/>
              </a:rPr>
              <a:t>机型</a:t>
            </a:r>
            <a:r>
              <a:rPr sz="940" b="0">
                <a:solidFill>
                  <a:srgbClr val="172033"/>
                </a:solidFill>
                <a:latin typeface="vivo Sans Regular" panose="02000300000000000000" charset="-122"/>
                <a:ea typeface="vivo Sans Regular" panose="02000300000000000000" charset="-122"/>
                <a:cs typeface="微软雅黑" panose="020B0503020204020204" charset="-122"/>
              </a:rPr>
              <a:t>供给</a:t>
            </a:r>
            <a:endParaRPr sz="94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63" name="圆角矩形 62"/>
          <p:cNvSpPr>
            <a:spLocks noGrp="1"/>
          </p:cNvSpPr>
          <p:nvPr/>
        </p:nvSpPr>
        <p:spPr>
          <a:xfrm>
            <a:off x="2793365" y="5629275"/>
            <a:ext cx="66675" cy="66675"/>
          </a:xfrm>
          <a:prstGeom prst="roundRect">
            <a:avLst>
              <a:gd name="adj" fmla="val 50000"/>
            </a:avLst>
          </a:prstGeom>
          <a:solidFill>
            <a:srgbClr val="8C98AA"/>
          </a:solidFill>
          <a:ln w="0">
            <a:noFill/>
            <a:prstDash val="solid"/>
          </a:ln>
        </p:spPr>
      </p:sp>
      <p:sp>
        <p:nvSpPr>
          <p:cNvPr id="64" name="矩形 63"/>
          <p:cNvSpPr>
            <a:spLocks noGrp="1"/>
          </p:cNvSpPr>
          <p:nvPr/>
        </p:nvSpPr>
        <p:spPr>
          <a:xfrm>
            <a:off x="2945765" y="5553075"/>
            <a:ext cx="1847850" cy="247650"/>
          </a:xfrm>
          <a:prstGeom prst="rect">
            <a:avLst/>
          </a:prstGeom>
          <a:noFill/>
          <a:ln w="0">
            <a:noFill/>
            <a:prstDash val="solid"/>
          </a:ln>
        </p:spPr>
        <p:txBody>
          <a:bodyPr anchor="ctr"/>
          <a:lstStyle/>
          <a:p>
            <a:pPr algn="l">
              <a:defRPr sz="940" b="0">
                <a:solidFill>
                  <a:srgbClr val="172033"/>
                </a:solidFill>
                <a:latin typeface="微软雅黑" panose="020B0503020204020204" charset="-122"/>
                <a:ea typeface="微软雅黑" panose="020B0503020204020204" charset="-122"/>
                <a:cs typeface="微软雅黑" panose="020B0503020204020204" charset="-122"/>
              </a:defRPr>
            </a:pPr>
            <a:r>
              <a:rPr sz="940" b="0">
                <a:solidFill>
                  <a:srgbClr val="172033"/>
                </a:solidFill>
                <a:latin typeface="vivo Sans Regular" panose="02000300000000000000" charset="-122"/>
                <a:ea typeface="vivo Sans Regular" panose="02000300000000000000" charset="-122"/>
                <a:cs typeface="微软雅黑" panose="020B0503020204020204" charset="-122"/>
              </a:rPr>
              <a:t>深拆制作门槛</a:t>
            </a:r>
            <a:r>
              <a:rPr lang="zh-CN" sz="940" b="0">
                <a:solidFill>
                  <a:srgbClr val="172033"/>
                </a:solidFill>
                <a:latin typeface="vivo Sans Regular" panose="02000300000000000000" charset="-122"/>
                <a:ea typeface="vivo Sans Regular" panose="02000300000000000000" charset="-122"/>
                <a:cs typeface="微软雅黑" panose="020B0503020204020204" charset="-122"/>
              </a:rPr>
              <a:t>高且</a:t>
            </a:r>
            <a:r>
              <a:rPr sz="940" b="0">
                <a:solidFill>
                  <a:srgbClr val="172033"/>
                </a:solidFill>
                <a:latin typeface="vivo Sans Regular" panose="02000300000000000000" charset="-122"/>
                <a:ea typeface="vivo Sans Regular" panose="02000300000000000000" charset="-122"/>
                <a:cs typeface="微软雅黑" panose="020B0503020204020204" charset="-122"/>
              </a:rPr>
              <a:t>产能</a:t>
            </a:r>
            <a:r>
              <a:rPr lang="zh-CN" sz="940" b="0">
                <a:solidFill>
                  <a:srgbClr val="172033"/>
                </a:solidFill>
                <a:latin typeface="vivo Sans Regular" panose="02000300000000000000" charset="-122"/>
                <a:ea typeface="vivo Sans Regular" panose="02000300000000000000" charset="-122"/>
                <a:cs typeface="微软雅黑" panose="020B0503020204020204" charset="-122"/>
              </a:rPr>
              <a:t>低</a:t>
            </a:r>
            <a:endParaRPr lang="zh-CN" sz="94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65" name="圆角矩形 64"/>
          <p:cNvSpPr>
            <a:spLocks noGrp="1"/>
          </p:cNvSpPr>
          <p:nvPr/>
        </p:nvSpPr>
        <p:spPr>
          <a:xfrm>
            <a:off x="2790825" y="5905500"/>
            <a:ext cx="66675" cy="66675"/>
          </a:xfrm>
          <a:prstGeom prst="roundRect">
            <a:avLst>
              <a:gd name="adj" fmla="val 50000"/>
            </a:avLst>
          </a:prstGeom>
          <a:solidFill>
            <a:srgbClr val="8C98AA"/>
          </a:solidFill>
          <a:ln w="0">
            <a:noFill/>
            <a:prstDash val="solid"/>
          </a:ln>
        </p:spPr>
      </p:sp>
      <p:sp>
        <p:nvSpPr>
          <p:cNvPr id="66" name="矩形 65"/>
          <p:cNvSpPr>
            <a:spLocks noGrp="1"/>
          </p:cNvSpPr>
          <p:nvPr/>
        </p:nvSpPr>
        <p:spPr>
          <a:xfrm>
            <a:off x="2943225" y="5829300"/>
            <a:ext cx="1847850" cy="247650"/>
          </a:xfrm>
          <a:prstGeom prst="rect">
            <a:avLst/>
          </a:prstGeom>
          <a:noFill/>
          <a:ln w="0">
            <a:noFill/>
            <a:prstDash val="solid"/>
          </a:ln>
        </p:spPr>
        <p:txBody>
          <a:bodyPr anchor="ctr"/>
          <a:lstStyle/>
          <a:p>
            <a:pPr algn="l">
              <a:defRPr sz="940" b="0">
                <a:solidFill>
                  <a:srgbClr val="172033"/>
                </a:solidFill>
                <a:latin typeface="微软雅黑" panose="020B0503020204020204" charset="-122"/>
                <a:ea typeface="微软雅黑" panose="020B0503020204020204" charset="-122"/>
                <a:cs typeface="微软雅黑" panose="020B0503020204020204" charset="-122"/>
              </a:defRPr>
            </a:pPr>
            <a:r>
              <a:rPr lang="zh-CN" sz="940" b="0">
                <a:solidFill>
                  <a:srgbClr val="172033"/>
                </a:solidFill>
                <a:latin typeface="vivo Sans Regular" panose="02000300000000000000" charset="-122"/>
                <a:ea typeface="vivo Sans Regular" panose="02000300000000000000" charset="-122"/>
                <a:cs typeface="微软雅黑" panose="020B0503020204020204" charset="-122"/>
              </a:rPr>
              <a:t>反差人设融合待</a:t>
            </a:r>
            <a:r>
              <a:rPr lang="zh-CN" sz="940" b="0">
                <a:solidFill>
                  <a:srgbClr val="172033"/>
                </a:solidFill>
                <a:latin typeface="vivo Sans Regular" panose="02000300000000000000" charset="-122"/>
                <a:ea typeface="vivo Sans Regular" panose="02000300000000000000" charset="-122"/>
                <a:cs typeface="微软雅黑" panose="020B0503020204020204" charset="-122"/>
              </a:rPr>
              <a:t>提升</a:t>
            </a:r>
            <a:endParaRPr lang="zh-CN" sz="940" b="0">
              <a:solidFill>
                <a:srgbClr val="172033"/>
              </a:solidFill>
              <a:latin typeface="vivo Sans Regular" panose="02000300000000000000" charset="-122"/>
              <a:ea typeface="vivo Sans Regular" panose="02000300000000000000" charset="-122"/>
              <a:cs typeface="微软雅黑" panose="020B0503020204020204" charset="-122"/>
            </a:endParaRPr>
          </a:p>
        </p:txBody>
      </p:sp>
      <p:pic>
        <p:nvPicPr>
          <p:cNvPr id="67" name="图片 66"/>
          <p:cNvPicPr>
            <a:picLocks noChangeAspect="1"/>
          </p:cNvPicPr>
          <p:nvPr/>
        </p:nvPicPr>
        <p:blipFill>
          <a:blip r:embed="rId3"/>
          <a:stretch>
            <a:fillRect/>
          </a:stretch>
        </p:blipFill>
        <p:spPr>
          <a:xfrm>
            <a:off x="400050" y="2612390"/>
            <a:ext cx="4571365" cy="2102485"/>
          </a:xfrm>
          <a:prstGeom prst="round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 name="圆角矩形 39"/>
          <p:cNvSpPr>
            <a:spLocks noGrp="1"/>
          </p:cNvSpPr>
          <p:nvPr/>
        </p:nvSpPr>
        <p:spPr>
          <a:xfrm>
            <a:off x="3575050" y="2628900"/>
            <a:ext cx="1466850" cy="2857500"/>
          </a:xfrm>
          <a:prstGeom prst="roundRect">
            <a:avLst>
              <a:gd name="adj" fmla="val 5195"/>
            </a:avLst>
          </a:prstGeom>
          <a:solidFill>
            <a:srgbClr val="07194D"/>
          </a:solidFill>
          <a:ln w="9525">
            <a:solidFill>
              <a:srgbClr val="6F89FF"/>
            </a:solidFill>
            <a:prstDash val="solid"/>
          </a:ln>
        </p:spPr>
      </p:sp>
      <p:sp>
        <p:nvSpPr>
          <p:cNvPr id="52"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a:solidFill>
                  <a:srgbClr val="FFFFFF"/>
                </a:solidFill>
                <a:latin typeface="vivo Sans" panose="02000300000000000000" charset="-122"/>
                <a:ea typeface="vivo Sans" panose="02000300000000000000" charset="-122"/>
                <a:cs typeface="vivo Sans" panose="02000300000000000000" charset="-122"/>
              </a:rPr>
              <a:t>H1验证商业观察入口，沉淀1万+粉丝——回声行业观察</a:t>
            </a:r>
            <a:endParaRPr sz="1800">
              <a:solidFill>
                <a:srgbClr val="FFFFFF"/>
              </a:solidFill>
              <a:latin typeface="vivo Sans" panose="02000300000000000000" charset="-122"/>
              <a:ea typeface="vivo Sans" panose="02000300000000000000" charset="-122"/>
              <a:cs typeface="vivo Sans" panose="02000300000000000000"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a:solidFill>
                  <a:srgbClr val="8A96AA"/>
                </a:solidFill>
                <a:latin typeface="vivo Sans" panose="02000300000000000000" charset="-122"/>
                <a:ea typeface="vivo Sans" panose="02000300000000000000" charset="-122"/>
                <a:cs typeface="微软雅黑" panose="020B0503020204020204" charset="-122"/>
              </a:rPr>
              <a:t>22</a:t>
            </a:r>
            <a:endParaRPr sz="675">
              <a:solidFill>
                <a:srgbClr val="8A96AA"/>
              </a:solidFill>
              <a:latin typeface="vivo Sans" panose="02000300000000000000" charset="-122"/>
              <a:ea typeface="vivo Sans" panose="02000300000000000000" charset="-122"/>
              <a:cs typeface="微软雅黑" panose="020B0503020204020204" charset="-122"/>
            </a:endParaRPr>
          </a:p>
        </p:txBody>
      </p:sp>
      <p:sp>
        <p:nvSpPr>
          <p:cNvPr id="6" name="矩形 5"/>
          <p:cNvSpPr>
            <a:spLocks noGrp="1"/>
          </p:cNvSpPr>
          <p:nvPr/>
        </p:nvSpPr>
        <p:spPr>
          <a:xfrm>
            <a:off x="400050" y="81915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0">
                <a:solidFill>
                  <a:srgbClr val="3157FF"/>
                </a:solidFill>
                <a:latin typeface="vivo Sans" panose="02000300000000000000" charset="-122"/>
                <a:ea typeface="vivo Sans" panose="02000300000000000000" charset="-122"/>
                <a:cs typeface="微软雅黑" panose="020B0503020204020204" charset="-122"/>
              </a:rPr>
              <a:t>账号定位</a:t>
            </a:r>
            <a:endParaRPr sz="975" b="0">
              <a:solidFill>
                <a:srgbClr val="3157FF"/>
              </a:solidFill>
              <a:latin typeface="vivo Sans" panose="02000300000000000000" charset="-122"/>
              <a:ea typeface="vivo Sans" panose="02000300000000000000" charset="-122"/>
              <a:cs typeface="微软雅黑" panose="020B0503020204020204" charset="-122"/>
            </a:endParaRPr>
          </a:p>
        </p:txBody>
      </p:sp>
      <p:sp>
        <p:nvSpPr>
          <p:cNvPr id="7" name="矩形 6"/>
          <p:cNvSpPr>
            <a:spLocks noGrp="1"/>
          </p:cNvSpPr>
          <p:nvPr/>
        </p:nvSpPr>
        <p:spPr>
          <a:xfrm>
            <a:off x="400050" y="1076325"/>
            <a:ext cx="1524000" cy="19050"/>
          </a:xfrm>
          <a:prstGeom prst="rect">
            <a:avLst/>
          </a:prstGeom>
          <a:solidFill>
            <a:srgbClr val="3157FF"/>
          </a:solidFill>
          <a:ln w="0">
            <a:noFill/>
            <a:prstDash val="solid"/>
          </a:ln>
        </p:spPr>
      </p:sp>
      <p:sp>
        <p:nvSpPr>
          <p:cNvPr id="8" name="矩形 7"/>
          <p:cNvSpPr>
            <a:spLocks noGrp="1"/>
          </p:cNvSpPr>
          <p:nvPr/>
        </p:nvSpPr>
        <p:spPr>
          <a:xfrm>
            <a:off x="400050" y="1104900"/>
            <a:ext cx="4762500" cy="361950"/>
          </a:xfrm>
          <a:prstGeom prst="rect">
            <a:avLst/>
          </a:prstGeom>
          <a:noFill/>
          <a:ln w="0">
            <a:noFill/>
            <a:prstDash val="solid"/>
          </a:ln>
        </p:spPr>
        <p:txBody>
          <a:bodyPr anchor="ctr"/>
          <a:lstStyle/>
          <a:p>
            <a:pPr algn="l">
              <a:defRPr sz="1875" b="1">
                <a:solidFill>
                  <a:srgbClr val="172033"/>
                </a:solidFill>
                <a:latin typeface="微软雅黑" panose="020B0503020204020204" charset="-122"/>
                <a:ea typeface="微软雅黑" panose="020B0503020204020204" charset="-122"/>
                <a:cs typeface="微软雅黑" panose="020B0503020204020204" charset="-122"/>
              </a:defRPr>
            </a:pPr>
            <a:r>
              <a:rPr sz="1875" b="0">
                <a:solidFill>
                  <a:srgbClr val="172033"/>
                </a:solidFill>
                <a:latin typeface="vivo Sans" panose="02000300000000000000" charset="-122"/>
                <a:ea typeface="vivo Sans" panose="02000300000000000000" charset="-122"/>
                <a:cs typeface="微软雅黑" panose="020B0503020204020204" charset="-122"/>
              </a:rPr>
              <a:t>品牌与行业商业观察</a:t>
            </a:r>
            <a:endParaRPr sz="1875" b="0">
              <a:solidFill>
                <a:srgbClr val="172033"/>
              </a:solidFill>
              <a:latin typeface="vivo Sans" panose="02000300000000000000" charset="-122"/>
              <a:ea typeface="vivo Sans" panose="02000300000000000000" charset="-122"/>
              <a:cs typeface="微软雅黑" panose="020B0503020204020204" charset="-122"/>
            </a:endParaRPr>
          </a:p>
        </p:txBody>
      </p:sp>
      <p:sp>
        <p:nvSpPr>
          <p:cNvPr id="9" name="矩形 8"/>
          <p:cNvSpPr>
            <a:spLocks noGrp="1"/>
          </p:cNvSpPr>
          <p:nvPr/>
        </p:nvSpPr>
        <p:spPr>
          <a:xfrm>
            <a:off x="400050" y="1438275"/>
            <a:ext cx="4762500" cy="266700"/>
          </a:xfrm>
          <a:prstGeom prst="rect">
            <a:avLst/>
          </a:prstGeom>
          <a:noFill/>
          <a:ln w="0">
            <a:noFill/>
            <a:prstDash val="solid"/>
          </a:ln>
        </p:spPr>
        <p:txBody>
          <a:bodyPr anchor="ctr"/>
          <a:lstStyle/>
          <a:p>
            <a:pPr algn="l">
              <a:defRPr sz="975" b="0">
                <a:solidFill>
                  <a:srgbClr val="667085"/>
                </a:solidFill>
                <a:latin typeface="微软雅黑" panose="020B0503020204020204" charset="-122"/>
                <a:ea typeface="微软雅黑" panose="020B0503020204020204" charset="-122"/>
                <a:cs typeface="微软雅黑" panose="020B0503020204020204" charset="-122"/>
              </a:defRPr>
            </a:pPr>
            <a:r>
              <a:rPr sz="975">
                <a:solidFill>
                  <a:srgbClr val="667085"/>
                </a:solidFill>
                <a:latin typeface="vivo Sans" panose="02000300000000000000" charset="-122"/>
                <a:ea typeface="vivo Sans" panose="02000300000000000000" charset="-122"/>
                <a:cs typeface="vivo Sans" panose="02000300000000000000" charset="-122"/>
              </a:rPr>
              <a:t>价格战 × 品牌命运 × 行业趋势</a:t>
            </a:r>
            <a:endParaRPr sz="975">
              <a:solidFill>
                <a:srgbClr val="667085"/>
              </a:solidFill>
              <a:latin typeface="vivo Sans" panose="02000300000000000000" charset="-122"/>
              <a:ea typeface="vivo Sans" panose="02000300000000000000" charset="-122"/>
              <a:cs typeface="vivo Sans" panose="02000300000000000000" charset="-122"/>
            </a:endParaRPr>
          </a:p>
        </p:txBody>
      </p:sp>
      <p:sp>
        <p:nvSpPr>
          <p:cNvPr id="10" name="圆角矩形 9"/>
          <p:cNvSpPr>
            <a:spLocks noGrp="1"/>
          </p:cNvSpPr>
          <p:nvPr/>
        </p:nvSpPr>
        <p:spPr>
          <a:xfrm>
            <a:off x="400050" y="1790700"/>
            <a:ext cx="142875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51435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vivo Sans" panose="02000300000000000000" charset="-122"/>
              </a:rPr>
              <a:t>1万+</a:t>
            </a:r>
            <a:endParaRPr sz="1875">
              <a:solidFill>
                <a:srgbClr val="3157FF"/>
              </a:solidFill>
              <a:latin typeface="vivo Sans" panose="02000300000000000000" charset="-122"/>
              <a:ea typeface="vivo Sans" panose="02000300000000000000" charset="-122"/>
              <a:cs typeface="vivo Sans" panose="02000300000000000000" charset="-122"/>
            </a:endParaRPr>
          </a:p>
        </p:txBody>
      </p:sp>
      <p:sp>
        <p:nvSpPr>
          <p:cNvPr id="12" name="矩形 11"/>
          <p:cNvSpPr>
            <a:spLocks noGrp="1"/>
          </p:cNvSpPr>
          <p:nvPr/>
        </p:nvSpPr>
        <p:spPr>
          <a:xfrm>
            <a:off x="49530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粉丝沉淀</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13" name="圆角矩形 12"/>
          <p:cNvSpPr>
            <a:spLocks noGrp="1"/>
          </p:cNvSpPr>
          <p:nvPr/>
        </p:nvSpPr>
        <p:spPr>
          <a:xfrm>
            <a:off x="1971675" y="1790700"/>
            <a:ext cx="142875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2085975"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a:solidFill>
                  <a:srgbClr val="3157FF"/>
                </a:solidFill>
                <a:latin typeface="vivo Sans" panose="02000300000000000000" charset="-122"/>
                <a:ea typeface="vivo Sans" panose="02000300000000000000" charset="-122"/>
                <a:cs typeface="vivo Sans" panose="02000300000000000000" charset="-122"/>
              </a:rPr>
              <a:t>39条</a:t>
            </a:r>
            <a:endParaRPr sz="1875">
              <a:solidFill>
                <a:srgbClr val="3157FF"/>
              </a:solidFill>
              <a:latin typeface="vivo Sans" panose="02000300000000000000" charset="-122"/>
              <a:ea typeface="vivo Sans" panose="02000300000000000000" charset="-122"/>
              <a:cs typeface="vivo Sans" panose="02000300000000000000" charset="-122"/>
            </a:endParaRPr>
          </a:p>
        </p:txBody>
      </p:sp>
      <p:sp>
        <p:nvSpPr>
          <p:cNvPr id="15" name="矩形 14"/>
          <p:cNvSpPr>
            <a:spLocks noGrp="1"/>
          </p:cNvSpPr>
          <p:nvPr/>
        </p:nvSpPr>
        <p:spPr>
          <a:xfrm>
            <a:off x="2066925"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a:solidFill>
                  <a:srgbClr val="667085"/>
                </a:solidFill>
                <a:latin typeface="vivo Sans" panose="02000300000000000000" charset="-122"/>
                <a:ea typeface="vivo Sans" panose="02000300000000000000" charset="-122"/>
                <a:cs typeface="微软雅黑" panose="020B0503020204020204" charset="-122"/>
              </a:rPr>
              <a:t>内容发布</a:t>
            </a:r>
            <a:endParaRPr sz="825">
              <a:solidFill>
                <a:srgbClr val="667085"/>
              </a:solidFill>
              <a:latin typeface="vivo Sans" panose="02000300000000000000" charset="-122"/>
              <a:ea typeface="vivo Sans" panose="02000300000000000000" charset="-122"/>
              <a:cs typeface="微软雅黑" panose="020B0503020204020204" charset="-122"/>
            </a:endParaRPr>
          </a:p>
        </p:txBody>
      </p:sp>
      <p:sp>
        <p:nvSpPr>
          <p:cNvPr id="19" name="圆角矩形 18"/>
          <p:cNvSpPr>
            <a:spLocks noGrp="1"/>
          </p:cNvSpPr>
          <p:nvPr/>
        </p:nvSpPr>
        <p:spPr>
          <a:xfrm>
            <a:off x="400050" y="2628900"/>
            <a:ext cx="1466850" cy="2857500"/>
          </a:xfrm>
          <a:prstGeom prst="roundRect">
            <a:avLst>
              <a:gd name="adj" fmla="val 5195"/>
            </a:avLst>
          </a:prstGeom>
          <a:solidFill>
            <a:srgbClr val="07194D"/>
          </a:solidFill>
          <a:ln w="9525">
            <a:solidFill>
              <a:srgbClr val="6F89FF"/>
            </a:solidFill>
            <a:prstDash val="solid"/>
          </a:ln>
        </p:spPr>
      </p:sp>
      <p:pic>
        <p:nvPicPr>
          <p:cNvPr id="42" name="图片 41"/>
          <p:cNvPicPr>
            <a:picLocks noChangeAspect="1"/>
          </p:cNvPicPr>
          <p:nvPr/>
        </p:nvPicPr>
        <p:blipFill>
          <a:blip r:embed="rId3"/>
          <a:stretch>
            <a:fillRect/>
          </a:stretch>
        </p:blipFill>
        <p:spPr>
          <a:xfrm>
            <a:off x="511810" y="2750820"/>
            <a:ext cx="1238885" cy="2609850"/>
          </a:xfrm>
          <a:prstGeom prst="roundRect">
            <a:avLst/>
          </a:prstGeom>
        </p:spPr>
      </p:pic>
      <p:sp>
        <p:nvSpPr>
          <p:cNvPr id="20" name="圆角矩形 19"/>
          <p:cNvSpPr>
            <a:spLocks noGrp="1"/>
          </p:cNvSpPr>
          <p:nvPr/>
        </p:nvSpPr>
        <p:spPr>
          <a:xfrm>
            <a:off x="476250" y="2705100"/>
            <a:ext cx="1314450" cy="2705100"/>
          </a:xfrm>
          <a:prstGeom prst="roundRect">
            <a:avLst>
              <a:gd name="adj" fmla="val 5797"/>
            </a:avLst>
          </a:prstGeom>
          <a:noFill/>
          <a:ln w="9525">
            <a:solidFill>
              <a:srgbClr val="7890FF"/>
            </a:solidFill>
            <a:prstDash val="solid"/>
          </a:ln>
        </p:spPr>
      </p:sp>
      <p:sp>
        <p:nvSpPr>
          <p:cNvPr id="23" name="矩形 22"/>
          <p:cNvSpPr>
            <a:spLocks noGrp="1"/>
          </p:cNvSpPr>
          <p:nvPr/>
        </p:nvSpPr>
        <p:spPr>
          <a:xfrm>
            <a:off x="457200" y="5600700"/>
            <a:ext cx="1276350" cy="266700"/>
          </a:xfrm>
          <a:prstGeom prst="rect">
            <a:avLst/>
          </a:prstGeom>
          <a:noFill/>
          <a:ln w="0">
            <a:noFill/>
            <a:prstDash val="solid"/>
          </a:ln>
        </p:spPr>
        <p:txBody>
          <a:bodyPr anchor="ctr"/>
          <a:lstStyle/>
          <a:p>
            <a:pPr algn="ctr">
              <a:defRPr sz="1500" b="1">
                <a:solidFill>
                  <a:srgbClr val="C7D2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31.9万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24" name="矩形 23"/>
          <p:cNvSpPr>
            <a:spLocks noGrp="1"/>
          </p:cNvSpPr>
          <p:nvPr/>
        </p:nvSpPr>
        <p:spPr>
          <a:xfrm>
            <a:off x="457200" y="586740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a:solidFill>
                  <a:schemeClr val="tx1"/>
                </a:solidFill>
                <a:latin typeface="vivo Sans" panose="02000300000000000000" charset="-122"/>
                <a:ea typeface="vivo Sans" panose="02000300000000000000" charset="-122"/>
                <a:cs typeface="vivo Sans" panose="02000300000000000000" charset="-122"/>
              </a:rPr>
              <a:t>真我GT8 Pro暴降</a:t>
            </a:r>
            <a:endParaRPr sz="790">
              <a:solidFill>
                <a:schemeClr val="tx1"/>
              </a:solidFill>
              <a:latin typeface="vivo Sans" panose="02000300000000000000" charset="-122"/>
              <a:ea typeface="vivo Sans" panose="02000300000000000000" charset="-122"/>
              <a:cs typeface="vivo Sans" panose="02000300000000000000" charset="-122"/>
            </a:endParaRPr>
          </a:p>
        </p:txBody>
      </p:sp>
      <p:sp>
        <p:nvSpPr>
          <p:cNvPr id="25" name="圆角矩形 24"/>
          <p:cNvSpPr>
            <a:spLocks noGrp="1"/>
          </p:cNvSpPr>
          <p:nvPr/>
        </p:nvSpPr>
        <p:spPr>
          <a:xfrm>
            <a:off x="1981200" y="2628900"/>
            <a:ext cx="1466850" cy="2857500"/>
          </a:xfrm>
          <a:prstGeom prst="roundRect">
            <a:avLst>
              <a:gd name="adj" fmla="val 5195"/>
            </a:avLst>
          </a:prstGeom>
          <a:solidFill>
            <a:srgbClr val="07194D"/>
          </a:solidFill>
          <a:ln w="9525">
            <a:solidFill>
              <a:srgbClr val="6F89FF"/>
            </a:solidFill>
            <a:prstDash val="solid"/>
          </a:ln>
        </p:spPr>
      </p:sp>
      <p:pic>
        <p:nvPicPr>
          <p:cNvPr id="53" name="图片 52"/>
          <p:cNvPicPr>
            <a:picLocks noChangeAspect="1"/>
          </p:cNvPicPr>
          <p:nvPr/>
        </p:nvPicPr>
        <p:blipFill>
          <a:blip r:embed="rId4"/>
          <a:stretch>
            <a:fillRect/>
          </a:stretch>
        </p:blipFill>
        <p:spPr>
          <a:xfrm>
            <a:off x="2105660" y="2752725"/>
            <a:ext cx="1199515" cy="2609215"/>
          </a:xfrm>
          <a:prstGeom prst="roundRect">
            <a:avLst/>
          </a:prstGeom>
        </p:spPr>
      </p:pic>
      <p:sp>
        <p:nvSpPr>
          <p:cNvPr id="26" name="圆角矩形 25"/>
          <p:cNvSpPr>
            <a:spLocks noGrp="1"/>
          </p:cNvSpPr>
          <p:nvPr/>
        </p:nvSpPr>
        <p:spPr>
          <a:xfrm>
            <a:off x="2057400" y="2705100"/>
            <a:ext cx="1314450" cy="2705100"/>
          </a:xfrm>
          <a:prstGeom prst="roundRect">
            <a:avLst>
              <a:gd name="adj" fmla="val 5797"/>
            </a:avLst>
          </a:prstGeom>
          <a:noFill/>
          <a:ln w="9525">
            <a:solidFill>
              <a:srgbClr val="7890FF"/>
            </a:solidFill>
            <a:prstDash val="solid"/>
          </a:ln>
        </p:spPr>
      </p:sp>
      <p:sp>
        <p:nvSpPr>
          <p:cNvPr id="29" name="矩形 28"/>
          <p:cNvSpPr>
            <a:spLocks noGrp="1"/>
          </p:cNvSpPr>
          <p:nvPr/>
        </p:nvSpPr>
        <p:spPr>
          <a:xfrm>
            <a:off x="2028825" y="5600700"/>
            <a:ext cx="1276350" cy="266700"/>
          </a:xfrm>
          <a:prstGeom prst="rect">
            <a:avLst/>
          </a:prstGeom>
          <a:noFill/>
          <a:ln w="0">
            <a:noFill/>
            <a:prstDash val="solid"/>
          </a:ln>
        </p:spPr>
        <p:txBody>
          <a:bodyPr anchor="ctr"/>
          <a:lstStyle/>
          <a:p>
            <a:pPr algn="ctr">
              <a:defRPr sz="1500" b="1">
                <a:solidFill>
                  <a:srgbClr val="C7D2FF"/>
                </a:solidFill>
                <a:latin typeface="微软雅黑" panose="020B0503020204020204" charset="-122"/>
                <a:ea typeface="微软雅黑" panose="020B0503020204020204" charset="-122"/>
                <a:cs typeface="微软雅黑" panose="020B0503020204020204" charset="-122"/>
              </a:defRPr>
            </a:pPr>
            <a:r>
              <a:rPr sz="1500">
                <a:solidFill>
                  <a:srgbClr val="3157FF"/>
                </a:solidFill>
                <a:latin typeface="vivo Sans" panose="02000300000000000000" charset="-122"/>
                <a:ea typeface="vivo Sans" panose="02000300000000000000" charset="-122"/>
                <a:cs typeface="vivo Sans" panose="02000300000000000000" charset="-122"/>
              </a:rPr>
              <a:t>22.4万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30" name="矩形 29"/>
          <p:cNvSpPr>
            <a:spLocks noGrp="1"/>
          </p:cNvSpPr>
          <p:nvPr/>
        </p:nvSpPr>
        <p:spPr>
          <a:xfrm>
            <a:off x="2028825" y="586740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lang="zh-CN" sz="790">
                <a:solidFill>
                  <a:schemeClr val="tx1"/>
                </a:solidFill>
                <a:latin typeface="vivo Sans" panose="02000300000000000000" charset="-122"/>
                <a:ea typeface="vivo Sans" panose="02000300000000000000" charset="-122"/>
                <a:cs typeface="vivo Sans" panose="02000300000000000000" charset="-122"/>
              </a:rPr>
              <a:t>魅族没了</a:t>
            </a:r>
            <a:r>
              <a:rPr lang="en-US" altLang="zh-CN" sz="790">
                <a:solidFill>
                  <a:schemeClr val="tx1"/>
                </a:solidFill>
                <a:latin typeface="vivo Sans" panose="02000300000000000000" charset="-122"/>
                <a:ea typeface="vivo Sans" panose="02000300000000000000" charset="-122"/>
                <a:cs typeface="vivo Sans" panose="02000300000000000000" charset="-122"/>
              </a:rPr>
              <a:t>Flyme</a:t>
            </a:r>
            <a:endParaRPr lang="en-US" altLang="zh-CN" sz="790">
              <a:solidFill>
                <a:schemeClr val="tx1"/>
              </a:solidFill>
              <a:latin typeface="vivo Sans" panose="02000300000000000000" charset="-122"/>
              <a:ea typeface="vivo Sans" panose="02000300000000000000" charset="-122"/>
              <a:cs typeface="vivo Sans" panose="02000300000000000000" charset="-122"/>
            </a:endParaRPr>
          </a:p>
        </p:txBody>
      </p:sp>
      <p:sp>
        <p:nvSpPr>
          <p:cNvPr id="32" name="圆角矩形 31"/>
          <p:cNvSpPr>
            <a:spLocks noGrp="1"/>
          </p:cNvSpPr>
          <p:nvPr/>
        </p:nvSpPr>
        <p:spPr>
          <a:xfrm>
            <a:off x="3638550" y="2705100"/>
            <a:ext cx="1314450" cy="2705100"/>
          </a:xfrm>
          <a:prstGeom prst="roundRect">
            <a:avLst>
              <a:gd name="adj" fmla="val 5797"/>
            </a:avLst>
          </a:prstGeom>
          <a:noFill/>
          <a:ln w="9525">
            <a:solidFill>
              <a:srgbClr val="7890FF"/>
            </a:solidFill>
            <a:prstDash val="solid"/>
          </a:ln>
        </p:spPr>
      </p:sp>
      <p:sp>
        <p:nvSpPr>
          <p:cNvPr id="35" name="矩形 34"/>
          <p:cNvSpPr>
            <a:spLocks noGrp="1"/>
          </p:cNvSpPr>
          <p:nvPr/>
        </p:nvSpPr>
        <p:spPr>
          <a:xfrm>
            <a:off x="3638550" y="5600700"/>
            <a:ext cx="1276350" cy="266700"/>
          </a:xfrm>
          <a:prstGeom prst="rect">
            <a:avLst/>
          </a:prstGeom>
          <a:noFill/>
          <a:ln w="0">
            <a:noFill/>
            <a:prstDash val="solid"/>
          </a:ln>
        </p:spPr>
        <p:txBody>
          <a:bodyPr anchor="ctr"/>
          <a:lstStyle/>
          <a:p>
            <a:pPr algn="ctr">
              <a:defRPr sz="1500" b="1">
                <a:solidFill>
                  <a:srgbClr val="C7D2FF"/>
                </a:solidFill>
                <a:latin typeface="微软雅黑" panose="020B0503020204020204" charset="-122"/>
                <a:ea typeface="微软雅黑" panose="020B0503020204020204" charset="-122"/>
                <a:cs typeface="微软雅黑" panose="020B0503020204020204" charset="-122"/>
              </a:defRPr>
            </a:pPr>
            <a:r>
              <a:rPr lang="en-US" sz="1500">
                <a:solidFill>
                  <a:srgbClr val="3157FF"/>
                </a:solidFill>
                <a:latin typeface="vivo Sans" panose="02000300000000000000" charset="-122"/>
                <a:ea typeface="vivo Sans" panose="02000300000000000000" charset="-122"/>
                <a:cs typeface="vivo Sans" panose="02000300000000000000" charset="-122"/>
              </a:rPr>
              <a:t>20</a:t>
            </a:r>
            <a:r>
              <a:rPr sz="1500">
                <a:solidFill>
                  <a:srgbClr val="3157FF"/>
                </a:solidFill>
                <a:latin typeface="vivo Sans" panose="02000300000000000000" charset="-122"/>
                <a:ea typeface="vivo Sans" panose="02000300000000000000" charset="-122"/>
                <a:cs typeface="vivo Sans" panose="02000300000000000000" charset="-122"/>
              </a:rPr>
              <a:t>万</a:t>
            </a:r>
            <a:endParaRPr sz="1500">
              <a:solidFill>
                <a:srgbClr val="3157FF"/>
              </a:solidFill>
              <a:latin typeface="vivo Sans" panose="02000300000000000000" charset="-122"/>
              <a:ea typeface="vivo Sans" panose="02000300000000000000" charset="-122"/>
              <a:cs typeface="vivo Sans" panose="02000300000000000000" charset="-122"/>
            </a:endParaRPr>
          </a:p>
        </p:txBody>
      </p:sp>
      <p:sp>
        <p:nvSpPr>
          <p:cNvPr id="36" name="矩形 35"/>
          <p:cNvSpPr>
            <a:spLocks noGrp="1"/>
          </p:cNvSpPr>
          <p:nvPr/>
        </p:nvSpPr>
        <p:spPr>
          <a:xfrm>
            <a:off x="3638550" y="586740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lang="zh-CN" sz="790">
                <a:solidFill>
                  <a:schemeClr val="tx1"/>
                </a:solidFill>
                <a:latin typeface="vivo Sans" panose="02000300000000000000" charset="-122"/>
                <a:ea typeface="vivo Sans" panose="02000300000000000000" charset="-122"/>
                <a:cs typeface="vivo Sans" panose="02000300000000000000" charset="-122"/>
              </a:rPr>
              <a:t>魅族四年</a:t>
            </a:r>
            <a:r>
              <a:rPr lang="en-US" altLang="zh-CN" sz="790">
                <a:solidFill>
                  <a:schemeClr val="tx1"/>
                </a:solidFill>
                <a:latin typeface="vivo Sans" panose="02000300000000000000" charset="-122"/>
                <a:ea typeface="vivo Sans" panose="02000300000000000000" charset="-122"/>
                <a:cs typeface="vivo Sans" panose="02000300000000000000" charset="-122"/>
              </a:rPr>
              <a:t>3</a:t>
            </a:r>
            <a:r>
              <a:rPr lang="zh-CN" altLang="en-US" sz="790">
                <a:solidFill>
                  <a:schemeClr val="tx1"/>
                </a:solidFill>
                <a:latin typeface="vivo Sans" panose="02000300000000000000" charset="-122"/>
                <a:ea typeface="vivo Sans" panose="02000300000000000000" charset="-122"/>
                <a:cs typeface="vivo Sans" panose="02000300000000000000" charset="-122"/>
              </a:rPr>
              <a:t>任</a:t>
            </a:r>
            <a:r>
              <a:rPr lang="en-US" altLang="zh-CN" sz="790">
                <a:solidFill>
                  <a:schemeClr val="tx1"/>
                </a:solidFill>
                <a:latin typeface="vivo Sans" panose="02000300000000000000" charset="-122"/>
                <a:ea typeface="vivo Sans" panose="02000300000000000000" charset="-122"/>
                <a:cs typeface="vivo Sans" panose="02000300000000000000" charset="-122"/>
              </a:rPr>
              <a:t>CEO</a:t>
            </a:r>
            <a:endParaRPr lang="en-US" altLang="zh-CN" sz="790">
              <a:solidFill>
                <a:schemeClr val="tx1"/>
              </a:solidFill>
              <a:latin typeface="vivo Sans" panose="02000300000000000000" charset="-122"/>
              <a:ea typeface="vivo Sans" panose="02000300000000000000" charset="-122"/>
              <a:cs typeface="vivo Sans" panose="02000300000000000000" charset="-122"/>
            </a:endParaRPr>
          </a:p>
        </p:txBody>
      </p:sp>
      <p:sp>
        <p:nvSpPr>
          <p:cNvPr id="38" name="圆角矩形 37"/>
          <p:cNvSpPr>
            <a:spLocks noGrp="1"/>
          </p:cNvSpPr>
          <p:nvPr/>
        </p:nvSpPr>
        <p:spPr>
          <a:xfrm>
            <a:off x="5334000" y="838200"/>
            <a:ext cx="6457950" cy="4876800"/>
          </a:xfrm>
          <a:prstGeom prst="roundRect">
            <a:avLst>
              <a:gd name="adj" fmla="val 1563"/>
            </a:avLst>
          </a:prstGeom>
          <a:solidFill>
            <a:srgbClr val="FFFFFF"/>
          </a:solidFill>
          <a:ln w="9525">
            <a:solidFill>
              <a:srgbClr val="DCE3F2"/>
            </a:solidFill>
            <a:prstDash val="solid"/>
          </a:ln>
        </p:spPr>
      </p:sp>
      <p:sp>
        <p:nvSpPr>
          <p:cNvPr id="39" name="矩形 38"/>
          <p:cNvSpPr>
            <a:spLocks noGrp="1"/>
          </p:cNvSpPr>
          <p:nvPr/>
        </p:nvSpPr>
        <p:spPr>
          <a:xfrm>
            <a:off x="5562600" y="1000125"/>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0">
                <a:solidFill>
                  <a:srgbClr val="1230A5"/>
                </a:solidFill>
                <a:latin typeface="vivo Sans" panose="02000300000000000000" charset="-122"/>
                <a:ea typeface="vivo Sans" panose="02000300000000000000" charset="-122"/>
                <a:cs typeface="微软雅黑" panose="020B0503020204020204" charset="-122"/>
              </a:rPr>
              <a:t>播放趋势（千次）</a:t>
            </a:r>
            <a:endParaRPr sz="975" b="0">
              <a:solidFill>
                <a:srgbClr val="1230A5"/>
              </a:solidFill>
              <a:latin typeface="vivo Sans" panose="02000300000000000000" charset="-122"/>
              <a:ea typeface="vivo Sans" panose="02000300000000000000" charset="-122"/>
              <a:cs typeface="微软雅黑" panose="020B0503020204020204" charset="-122"/>
            </a:endParaRPr>
          </a:p>
        </p:txBody>
      </p:sp>
      <p:graphicFrame>
        <p:nvGraphicFramePr>
          <p:cNvPr id="91" name="Chart"/>
          <p:cNvGraphicFramePr/>
          <p:nvPr/>
        </p:nvGraphicFramePr>
        <p:xfrm>
          <a:off x="5562600" y="1228725"/>
          <a:ext cx="5981700" cy="2038350"/>
        </p:xfrm>
        <a:graphic>
          <a:graphicData uri="http://schemas.openxmlformats.org/drawingml/2006/chart">
            <c:chart xmlns:c="http://schemas.openxmlformats.org/drawingml/2006/chart" xmlns:r="http://schemas.openxmlformats.org/officeDocument/2006/relationships" r:id="rId1"/>
          </a:graphicData>
        </a:graphic>
      </p:graphicFrame>
      <p:sp>
        <p:nvSpPr>
          <p:cNvPr id="41" name="矩形 40"/>
          <p:cNvSpPr>
            <a:spLocks noGrp="1"/>
          </p:cNvSpPr>
          <p:nvPr/>
        </p:nvSpPr>
        <p:spPr>
          <a:xfrm>
            <a:off x="5562600" y="3409950"/>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0">
                <a:solidFill>
                  <a:srgbClr val="1230A5"/>
                </a:solidFill>
                <a:latin typeface="vivo Sans" panose="02000300000000000000" charset="-122"/>
                <a:ea typeface="vivo Sans" panose="02000300000000000000" charset="-122"/>
                <a:cs typeface="微软雅黑" panose="020B0503020204020204" charset="-122"/>
              </a:rPr>
              <a:t>粉丝趋势（千人）</a:t>
            </a:r>
            <a:endParaRPr sz="975" b="0">
              <a:solidFill>
                <a:srgbClr val="1230A5"/>
              </a:solidFill>
              <a:latin typeface="vivo Sans" panose="02000300000000000000" charset="-122"/>
              <a:ea typeface="vivo Sans" panose="02000300000000000000" charset="-122"/>
              <a:cs typeface="微软雅黑" panose="020B0503020204020204" charset="-122"/>
            </a:endParaRPr>
          </a:p>
        </p:txBody>
      </p:sp>
      <p:graphicFrame>
        <p:nvGraphicFramePr>
          <p:cNvPr id="93" name="Chart"/>
          <p:cNvGraphicFramePr/>
          <p:nvPr/>
        </p:nvGraphicFramePr>
        <p:xfrm>
          <a:off x="5562600" y="3638550"/>
          <a:ext cx="5981700" cy="1657350"/>
        </p:xfrm>
        <a:graphic>
          <a:graphicData uri="http://schemas.openxmlformats.org/drawingml/2006/chart">
            <c:chart xmlns:c="http://schemas.openxmlformats.org/drawingml/2006/chart" xmlns:r="http://schemas.openxmlformats.org/officeDocument/2006/relationships" r:id="rId2"/>
          </a:graphicData>
        </a:graphic>
      </p:graphicFrame>
      <p:sp>
        <p:nvSpPr>
          <p:cNvPr id="43" name="圆角矩形 42"/>
          <p:cNvSpPr>
            <a:spLocks noGrp="1"/>
          </p:cNvSpPr>
          <p:nvPr/>
        </p:nvSpPr>
        <p:spPr>
          <a:xfrm>
            <a:off x="5334000" y="5829300"/>
            <a:ext cx="2038350" cy="571500"/>
          </a:xfrm>
          <a:prstGeom prst="roundRect">
            <a:avLst>
              <a:gd name="adj" fmla="val 13333"/>
            </a:avLst>
          </a:prstGeom>
          <a:solidFill>
            <a:srgbClr val="F5F7FF"/>
          </a:solidFill>
          <a:ln w="9525">
            <a:solidFill>
              <a:srgbClr val="DCE3F2"/>
            </a:solidFill>
            <a:prstDash val="solid"/>
          </a:ln>
        </p:spPr>
      </p:sp>
      <p:sp>
        <p:nvSpPr>
          <p:cNvPr id="44" name="矩形 43"/>
          <p:cNvSpPr>
            <a:spLocks noGrp="1"/>
          </p:cNvSpPr>
          <p:nvPr/>
        </p:nvSpPr>
        <p:spPr>
          <a:xfrm>
            <a:off x="54483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a:solidFill>
                  <a:srgbClr val="3157FF"/>
                </a:solidFill>
                <a:latin typeface="vivo Sans" panose="02000300000000000000" charset="-122"/>
                <a:ea typeface="vivo Sans" panose="02000300000000000000" charset="-122"/>
                <a:cs typeface="vivo Sans" panose="02000300000000000000" charset="-122"/>
              </a:rPr>
              <a:t>1–2月｜启动</a:t>
            </a:r>
            <a:endParaRPr sz="865">
              <a:solidFill>
                <a:srgbClr val="3157FF"/>
              </a:solidFill>
              <a:latin typeface="vivo Sans" panose="02000300000000000000" charset="-122"/>
              <a:ea typeface="vivo Sans" panose="02000300000000000000" charset="-122"/>
              <a:cs typeface="vivo Sans" panose="02000300000000000000" charset="-122"/>
            </a:endParaRPr>
          </a:p>
        </p:txBody>
      </p:sp>
      <p:sp>
        <p:nvSpPr>
          <p:cNvPr id="45" name="矩形 44"/>
          <p:cNvSpPr>
            <a:spLocks noGrp="1"/>
          </p:cNvSpPr>
          <p:nvPr/>
        </p:nvSpPr>
        <p:spPr>
          <a:xfrm>
            <a:off x="54483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a:solidFill>
                  <a:srgbClr val="172033"/>
                </a:solidFill>
                <a:latin typeface="vivo Sans" panose="02000300000000000000" charset="-122"/>
                <a:ea typeface="vivo Sans" panose="02000300000000000000" charset="-122"/>
                <a:cs typeface="微软雅黑" panose="020B0503020204020204" charset="-122"/>
              </a:rPr>
              <a:t>价格战切入价格敏感人群</a:t>
            </a:r>
            <a:endParaRPr sz="790">
              <a:solidFill>
                <a:srgbClr val="172033"/>
              </a:solidFill>
              <a:latin typeface="vivo Sans" panose="02000300000000000000" charset="-122"/>
              <a:ea typeface="vivo Sans" panose="02000300000000000000" charset="-122"/>
              <a:cs typeface="微软雅黑" panose="020B0503020204020204" charset="-122"/>
            </a:endParaRPr>
          </a:p>
        </p:txBody>
      </p:sp>
      <p:sp>
        <p:nvSpPr>
          <p:cNvPr id="46" name="圆角矩形 45"/>
          <p:cNvSpPr>
            <a:spLocks noGrp="1"/>
          </p:cNvSpPr>
          <p:nvPr/>
        </p:nvSpPr>
        <p:spPr>
          <a:xfrm>
            <a:off x="7486650" y="5829300"/>
            <a:ext cx="2038350" cy="571500"/>
          </a:xfrm>
          <a:prstGeom prst="roundRect">
            <a:avLst>
              <a:gd name="adj" fmla="val 13333"/>
            </a:avLst>
          </a:prstGeom>
          <a:solidFill>
            <a:srgbClr val="F5F7FF"/>
          </a:solidFill>
          <a:ln w="9525">
            <a:solidFill>
              <a:srgbClr val="DCE3F2"/>
            </a:solidFill>
            <a:prstDash val="solid"/>
          </a:ln>
        </p:spPr>
      </p:sp>
      <p:sp>
        <p:nvSpPr>
          <p:cNvPr id="47" name="矩形 46"/>
          <p:cNvSpPr>
            <a:spLocks noGrp="1"/>
          </p:cNvSpPr>
          <p:nvPr/>
        </p:nvSpPr>
        <p:spPr>
          <a:xfrm>
            <a:off x="760095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a:solidFill>
                  <a:srgbClr val="3157FF"/>
                </a:solidFill>
                <a:latin typeface="vivo Sans" panose="02000300000000000000" charset="-122"/>
                <a:ea typeface="vivo Sans" panose="02000300000000000000" charset="-122"/>
                <a:cs typeface="vivo Sans" panose="02000300000000000000" charset="-122"/>
              </a:rPr>
              <a:t>3月｜拓宽</a:t>
            </a:r>
            <a:endParaRPr sz="865">
              <a:solidFill>
                <a:srgbClr val="3157FF"/>
              </a:solidFill>
              <a:latin typeface="vivo Sans" panose="02000300000000000000" charset="-122"/>
              <a:ea typeface="vivo Sans" panose="02000300000000000000" charset="-122"/>
              <a:cs typeface="vivo Sans" panose="02000300000000000000" charset="-122"/>
            </a:endParaRPr>
          </a:p>
        </p:txBody>
      </p:sp>
      <p:sp>
        <p:nvSpPr>
          <p:cNvPr id="48" name="矩形 47"/>
          <p:cNvSpPr>
            <a:spLocks noGrp="1"/>
          </p:cNvSpPr>
          <p:nvPr/>
        </p:nvSpPr>
        <p:spPr>
          <a:xfrm>
            <a:off x="760095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a:solidFill>
                  <a:srgbClr val="172033"/>
                </a:solidFill>
                <a:latin typeface="vivo Sans" panose="02000300000000000000" charset="-122"/>
                <a:ea typeface="vivo Sans" panose="02000300000000000000" charset="-122"/>
                <a:cs typeface="微软雅黑" panose="020B0503020204020204" charset="-122"/>
              </a:rPr>
              <a:t>品牌故事打开泛商业受众</a:t>
            </a:r>
            <a:endParaRPr sz="790">
              <a:solidFill>
                <a:srgbClr val="172033"/>
              </a:solidFill>
              <a:latin typeface="vivo Sans" panose="02000300000000000000" charset="-122"/>
              <a:ea typeface="vivo Sans" panose="02000300000000000000" charset="-122"/>
              <a:cs typeface="微软雅黑" panose="020B0503020204020204" charset="-122"/>
            </a:endParaRPr>
          </a:p>
        </p:txBody>
      </p:sp>
      <p:sp>
        <p:nvSpPr>
          <p:cNvPr id="49" name="圆角矩形 48"/>
          <p:cNvSpPr>
            <a:spLocks noGrp="1"/>
          </p:cNvSpPr>
          <p:nvPr/>
        </p:nvSpPr>
        <p:spPr>
          <a:xfrm>
            <a:off x="9639300" y="5829300"/>
            <a:ext cx="2038350" cy="571500"/>
          </a:xfrm>
          <a:prstGeom prst="roundRect">
            <a:avLst>
              <a:gd name="adj" fmla="val 13333"/>
            </a:avLst>
          </a:prstGeom>
          <a:solidFill>
            <a:srgbClr val="F5F7FF"/>
          </a:solidFill>
          <a:ln w="9525">
            <a:solidFill>
              <a:srgbClr val="DCE3F2"/>
            </a:solidFill>
            <a:prstDash val="solid"/>
          </a:ln>
        </p:spPr>
      </p:sp>
      <p:sp>
        <p:nvSpPr>
          <p:cNvPr id="50" name="矩形 49"/>
          <p:cNvSpPr>
            <a:spLocks noGrp="1"/>
          </p:cNvSpPr>
          <p:nvPr/>
        </p:nvSpPr>
        <p:spPr>
          <a:xfrm>
            <a:off x="97536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a:solidFill>
                  <a:srgbClr val="3157FF"/>
                </a:solidFill>
                <a:latin typeface="vivo Sans" panose="02000300000000000000" charset="-122"/>
                <a:ea typeface="vivo Sans" panose="02000300000000000000" charset="-122"/>
                <a:cs typeface="vivo Sans" panose="02000300000000000000" charset="-122"/>
              </a:rPr>
              <a:t>4–7月｜波动</a:t>
            </a:r>
            <a:endParaRPr sz="865">
              <a:solidFill>
                <a:srgbClr val="3157FF"/>
              </a:solidFill>
              <a:latin typeface="vivo Sans" panose="02000300000000000000" charset="-122"/>
              <a:ea typeface="vivo Sans" panose="02000300000000000000" charset="-122"/>
              <a:cs typeface="vivo Sans" panose="02000300000000000000" charset="-122"/>
            </a:endParaRPr>
          </a:p>
        </p:txBody>
      </p:sp>
      <p:sp>
        <p:nvSpPr>
          <p:cNvPr id="51" name="矩形 50"/>
          <p:cNvSpPr>
            <a:spLocks noGrp="1"/>
          </p:cNvSpPr>
          <p:nvPr/>
        </p:nvSpPr>
        <p:spPr>
          <a:xfrm>
            <a:off x="97536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a:solidFill>
                  <a:srgbClr val="172033"/>
                </a:solidFill>
                <a:latin typeface="vivo Sans" panose="02000300000000000000" charset="-122"/>
                <a:ea typeface="vivo Sans" panose="02000300000000000000" charset="-122"/>
                <a:cs typeface="微软雅黑" panose="020B0503020204020204" charset="-122"/>
              </a:rPr>
              <a:t>回归价格与争议，定位仍需收敛</a:t>
            </a:r>
            <a:endParaRPr sz="790">
              <a:solidFill>
                <a:srgbClr val="172033"/>
              </a:solidFill>
              <a:latin typeface="vivo Sans" panose="02000300000000000000" charset="-122"/>
              <a:ea typeface="vivo Sans" panose="02000300000000000000" charset="-122"/>
              <a:cs typeface="微软雅黑" panose="020B0503020204020204" charset="-122"/>
            </a:endParaRPr>
          </a:p>
        </p:txBody>
      </p:sp>
      <p:pic>
        <p:nvPicPr>
          <p:cNvPr id="54" name="图片 53"/>
          <p:cNvPicPr>
            <a:picLocks noChangeAspect="1"/>
          </p:cNvPicPr>
          <p:nvPr/>
        </p:nvPicPr>
        <p:blipFill>
          <a:blip r:embed="rId5"/>
          <a:srcRect t="4066" b="-4066"/>
          <a:stretch>
            <a:fillRect/>
          </a:stretch>
        </p:blipFill>
        <p:spPr>
          <a:xfrm>
            <a:off x="3665220" y="2750820"/>
            <a:ext cx="1238885" cy="2694305"/>
          </a:xfrm>
          <a:prstGeom prst="round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 name="圆角矩形 57"/>
          <p:cNvSpPr>
            <a:spLocks noGrp="1"/>
          </p:cNvSpPr>
          <p:nvPr/>
        </p:nvSpPr>
        <p:spPr>
          <a:xfrm>
            <a:off x="447675" y="5505450"/>
            <a:ext cx="4506595" cy="895350"/>
          </a:xfrm>
          <a:prstGeom prst="roundRect">
            <a:avLst>
              <a:gd name="adj" fmla="val 13333"/>
            </a:avLst>
          </a:prstGeom>
          <a:solidFill>
            <a:srgbClr val="1230A5"/>
          </a:solidFill>
          <a:ln w="9525">
            <a:solidFill>
              <a:srgbClr val="DCE3F2"/>
            </a:solidFill>
            <a:prstDash val="solid"/>
          </a:ln>
        </p:spPr>
      </p:sp>
      <p:sp>
        <p:nvSpPr>
          <p:cNvPr id="52"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vivo Sans Regular" panose="02000300000000000000" charset="-122"/>
                <a:ea typeface="vivo Sans Regular" panose="02000300000000000000" charset="-122"/>
                <a:cs typeface="vivo Sans Regular" panose="02000300000000000000" charset="-122"/>
              </a:rPr>
              <a:t>H1验证系统功能入口，沉淀1.1万+粉丝——回声系统测评</a:t>
            </a:r>
            <a:endParaRPr sz="1800" b="1">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vivo Sans Regular" panose="02000300000000000000" charset="-122"/>
                <a:ea typeface="vivo Sans Regular" panose="02000300000000000000" charset="-122"/>
                <a:cs typeface="微软雅黑" panose="020B0503020204020204" charset="-122"/>
              </a:rPr>
              <a:t>25</a:t>
            </a:r>
            <a:endParaRPr sz="675" b="0">
              <a:solidFill>
                <a:srgbClr val="8A96AA"/>
              </a:solidFill>
              <a:latin typeface="vivo Sans Regular" panose="02000300000000000000" charset="-122"/>
              <a:ea typeface="vivo Sans Regular" panose="02000300000000000000" charset="-122"/>
              <a:cs typeface="微软雅黑" panose="020B0503020204020204" charset="-122"/>
            </a:endParaRPr>
          </a:p>
        </p:txBody>
      </p:sp>
      <p:sp>
        <p:nvSpPr>
          <p:cNvPr id="6" name="矩形 5"/>
          <p:cNvSpPr>
            <a:spLocks noGrp="1"/>
          </p:cNvSpPr>
          <p:nvPr/>
        </p:nvSpPr>
        <p:spPr>
          <a:xfrm>
            <a:off x="400050" y="81915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vivo Sans Regular" panose="02000300000000000000" charset="-122"/>
                <a:ea typeface="vivo Sans Regular" panose="02000300000000000000" charset="-122"/>
                <a:cs typeface="微软雅黑" panose="020B0503020204020204" charset="-122"/>
              </a:rPr>
              <a:t>账号定位</a:t>
            </a:r>
            <a:endParaRPr sz="975" b="1">
              <a:solidFill>
                <a:srgbClr val="3157FF"/>
              </a:solidFill>
              <a:latin typeface="vivo Sans Regular" panose="02000300000000000000" charset="-122"/>
              <a:ea typeface="vivo Sans Regular" panose="02000300000000000000" charset="-122"/>
              <a:cs typeface="微软雅黑" panose="020B0503020204020204" charset="-122"/>
            </a:endParaRPr>
          </a:p>
        </p:txBody>
      </p:sp>
      <p:sp>
        <p:nvSpPr>
          <p:cNvPr id="7" name="矩形 6"/>
          <p:cNvSpPr>
            <a:spLocks noGrp="1"/>
          </p:cNvSpPr>
          <p:nvPr/>
        </p:nvSpPr>
        <p:spPr>
          <a:xfrm>
            <a:off x="400050" y="1076325"/>
            <a:ext cx="1524000" cy="19050"/>
          </a:xfrm>
          <a:prstGeom prst="rect">
            <a:avLst/>
          </a:prstGeom>
          <a:solidFill>
            <a:srgbClr val="3157FF"/>
          </a:solidFill>
          <a:ln w="0">
            <a:noFill/>
            <a:prstDash val="solid"/>
          </a:ln>
        </p:spPr>
      </p:sp>
      <p:sp>
        <p:nvSpPr>
          <p:cNvPr id="8" name="矩形 7"/>
          <p:cNvSpPr>
            <a:spLocks noGrp="1"/>
          </p:cNvSpPr>
          <p:nvPr/>
        </p:nvSpPr>
        <p:spPr>
          <a:xfrm>
            <a:off x="400050" y="1104900"/>
            <a:ext cx="4762500" cy="361950"/>
          </a:xfrm>
          <a:prstGeom prst="rect">
            <a:avLst/>
          </a:prstGeom>
          <a:noFill/>
          <a:ln w="0">
            <a:noFill/>
            <a:prstDash val="solid"/>
          </a:ln>
        </p:spPr>
        <p:txBody>
          <a:bodyPr anchor="ctr"/>
          <a:lstStyle/>
          <a:p>
            <a:pPr algn="l">
              <a:defRPr sz="1875" b="1">
                <a:solidFill>
                  <a:srgbClr val="172033"/>
                </a:solidFill>
                <a:latin typeface="微软雅黑" panose="020B0503020204020204" charset="-122"/>
                <a:ea typeface="微软雅黑" panose="020B0503020204020204" charset="-122"/>
                <a:cs typeface="微软雅黑" panose="020B0503020204020204" charset="-122"/>
              </a:defRPr>
            </a:pPr>
            <a:r>
              <a:rPr sz="1875" b="1">
                <a:solidFill>
                  <a:srgbClr val="172033"/>
                </a:solidFill>
                <a:latin typeface="vivo Sans Regular" panose="02000300000000000000" charset="-122"/>
                <a:ea typeface="vivo Sans Regular" panose="02000300000000000000" charset="-122"/>
                <a:cs typeface="微软雅黑" panose="020B0503020204020204" charset="-122"/>
              </a:rPr>
              <a:t>手机系统体验与功能挖掘</a:t>
            </a:r>
            <a:endParaRPr sz="1875" b="1">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9" name="矩形 8"/>
          <p:cNvSpPr>
            <a:spLocks noGrp="1"/>
          </p:cNvSpPr>
          <p:nvPr/>
        </p:nvSpPr>
        <p:spPr>
          <a:xfrm>
            <a:off x="400050" y="1438275"/>
            <a:ext cx="4762500" cy="266700"/>
          </a:xfrm>
          <a:prstGeom prst="rect">
            <a:avLst/>
          </a:prstGeom>
          <a:noFill/>
          <a:ln w="0">
            <a:noFill/>
            <a:prstDash val="solid"/>
          </a:ln>
        </p:spPr>
        <p:txBody>
          <a:bodyPr anchor="ctr"/>
          <a:lstStyle/>
          <a:p>
            <a:pPr algn="l">
              <a:defRPr sz="975" b="0">
                <a:solidFill>
                  <a:srgbClr val="667085"/>
                </a:solidFill>
                <a:latin typeface="微软雅黑" panose="020B0503020204020204" charset="-122"/>
                <a:ea typeface="微软雅黑" panose="020B0503020204020204" charset="-122"/>
                <a:cs typeface="微软雅黑" panose="020B0503020204020204" charset="-122"/>
              </a:defRPr>
            </a:pPr>
            <a:r>
              <a:rPr sz="975" b="0">
                <a:solidFill>
                  <a:srgbClr val="667085"/>
                </a:solidFill>
                <a:latin typeface="vivo Sans Regular" panose="02000300000000000000" charset="-122"/>
                <a:ea typeface="vivo Sans Regular" panose="02000300000000000000" charset="-122"/>
                <a:cs typeface="vivo Sans Regular" panose="02000300000000000000" charset="-122"/>
              </a:rPr>
              <a:t>隐藏功能 × 系统更新 × 实用技巧</a:t>
            </a:r>
            <a:endParaRPr sz="975" b="0">
              <a:solidFill>
                <a:srgbClr val="667085"/>
              </a:solidFill>
              <a:latin typeface="vivo Sans Regular" panose="02000300000000000000" charset="-122"/>
              <a:ea typeface="vivo Sans Regular" panose="02000300000000000000" charset="-122"/>
              <a:cs typeface="vivo Sans Regular" panose="02000300000000000000" charset="-122"/>
            </a:endParaRPr>
          </a:p>
        </p:txBody>
      </p:sp>
      <p:sp>
        <p:nvSpPr>
          <p:cNvPr id="10" name="圆角矩形 9"/>
          <p:cNvSpPr>
            <a:spLocks noGrp="1"/>
          </p:cNvSpPr>
          <p:nvPr/>
        </p:nvSpPr>
        <p:spPr>
          <a:xfrm>
            <a:off x="400050" y="1790700"/>
            <a:ext cx="142875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51435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1.1万+</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2" name="矩形 11"/>
          <p:cNvSpPr>
            <a:spLocks noGrp="1"/>
          </p:cNvSpPr>
          <p:nvPr/>
        </p:nvSpPr>
        <p:spPr>
          <a:xfrm>
            <a:off x="49530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粉丝沉淀</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13" name="圆角矩形 12"/>
          <p:cNvSpPr>
            <a:spLocks noGrp="1"/>
          </p:cNvSpPr>
          <p:nvPr/>
        </p:nvSpPr>
        <p:spPr>
          <a:xfrm>
            <a:off x="1971675" y="1790700"/>
            <a:ext cx="142875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2085975"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vivo Sans Regular" panose="02000300000000000000" charset="-122"/>
                <a:ea typeface="vivo Sans Regular" panose="02000300000000000000" charset="-122"/>
                <a:cs typeface="vivo Sans Regular" panose="02000300000000000000" charset="-122"/>
              </a:rPr>
              <a:t>31条</a:t>
            </a:r>
            <a:endParaRPr sz="187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15" name="矩形 14"/>
          <p:cNvSpPr>
            <a:spLocks noGrp="1"/>
          </p:cNvSpPr>
          <p:nvPr/>
        </p:nvSpPr>
        <p:spPr>
          <a:xfrm>
            <a:off x="2066925"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vivo Sans Regular" panose="02000300000000000000" charset="-122"/>
                <a:ea typeface="vivo Sans Regular" panose="02000300000000000000" charset="-122"/>
                <a:cs typeface="微软雅黑" panose="020B0503020204020204" charset="-122"/>
              </a:rPr>
              <a:t>内容发布</a:t>
            </a:r>
            <a:endParaRPr sz="825" b="0">
              <a:solidFill>
                <a:srgbClr val="667085"/>
              </a:solidFill>
              <a:latin typeface="vivo Sans Regular" panose="02000300000000000000" charset="-122"/>
              <a:ea typeface="vivo Sans Regular" panose="02000300000000000000" charset="-122"/>
              <a:cs typeface="微软雅黑" panose="020B0503020204020204" charset="-122"/>
            </a:endParaRPr>
          </a:p>
        </p:txBody>
      </p:sp>
      <p:sp>
        <p:nvSpPr>
          <p:cNvPr id="21" name="矩形 20"/>
          <p:cNvSpPr>
            <a:spLocks noGrp="1"/>
          </p:cNvSpPr>
          <p:nvPr/>
        </p:nvSpPr>
        <p:spPr>
          <a:xfrm>
            <a:off x="90487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vivo Sans Regular" panose="02000300000000000000" charset="-122"/>
                <a:ea typeface="vivo Sans Regular" panose="02000300000000000000" charset="-122"/>
                <a:cs typeface="微软雅黑" panose="020B0503020204020204" charset="-122"/>
              </a:rPr>
              <a:t>+</a:t>
            </a:r>
            <a:endParaRPr sz="2550" b="1">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24" name="矩形 23"/>
          <p:cNvSpPr>
            <a:spLocks noGrp="1"/>
          </p:cNvSpPr>
          <p:nvPr/>
        </p:nvSpPr>
        <p:spPr>
          <a:xfrm>
            <a:off x="4953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vivo Sans Regular" panose="02000300000000000000" charset="-122"/>
                <a:ea typeface="vivo Sans Regular" panose="02000300000000000000" charset="-122"/>
                <a:cs typeface="微软雅黑" panose="020B0503020204020204" charset="-122"/>
              </a:rPr>
              <a:t>人生第一课</a:t>
            </a:r>
            <a:endParaRPr sz="790" b="0">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27" name="矩形 26"/>
          <p:cNvSpPr>
            <a:spLocks noGrp="1"/>
          </p:cNvSpPr>
          <p:nvPr/>
        </p:nvSpPr>
        <p:spPr>
          <a:xfrm>
            <a:off x="2486025" y="2895600"/>
            <a:ext cx="457200" cy="457200"/>
          </a:xfrm>
          <a:prstGeom prst="rect">
            <a:avLst/>
          </a:prstGeom>
          <a:noFill/>
          <a:ln w="0">
            <a:noFill/>
            <a:prstDash val="solid"/>
          </a:ln>
        </p:spPr>
        <p:txBody>
          <a:bodyPr anchor="ctr"/>
          <a:lstStyle/>
          <a:p>
            <a:pPr algn="ctr">
              <a:defRPr sz="2550" b="1">
                <a:solidFill>
                  <a:srgbClr val="FFFFFF"/>
                </a:solidFill>
                <a:latin typeface="微软雅黑" panose="020B0503020204020204" charset="-122"/>
                <a:ea typeface="微软雅黑" panose="020B0503020204020204" charset="-122"/>
                <a:cs typeface="微软雅黑" panose="020B0503020204020204" charset="-122"/>
              </a:defRPr>
            </a:pPr>
            <a:r>
              <a:rPr sz="2550" b="1">
                <a:solidFill>
                  <a:srgbClr val="FFFFFF"/>
                </a:solidFill>
                <a:latin typeface="vivo Sans Regular" panose="02000300000000000000" charset="-122"/>
                <a:ea typeface="vivo Sans Regular" panose="02000300000000000000" charset="-122"/>
                <a:cs typeface="微软雅黑" panose="020B0503020204020204" charset="-122"/>
              </a:rPr>
              <a:t>+</a:t>
            </a:r>
            <a:endParaRPr sz="2550" b="1">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28" name="矩形 27"/>
          <p:cNvSpPr>
            <a:spLocks noGrp="1"/>
          </p:cNvSpPr>
          <p:nvPr/>
        </p:nvSpPr>
        <p:spPr>
          <a:xfrm>
            <a:off x="2076450" y="3429000"/>
            <a:ext cx="1276350" cy="266700"/>
          </a:xfrm>
          <a:prstGeom prst="rect">
            <a:avLst/>
          </a:prstGeom>
          <a:noFill/>
          <a:ln w="0">
            <a:noFill/>
            <a:prstDash val="solid"/>
          </a:ln>
        </p:spPr>
        <p:txBody>
          <a:bodyPr anchor="ct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vivo Sans Regular" panose="02000300000000000000" charset="-122"/>
                <a:ea typeface="vivo Sans Regular" panose="02000300000000000000" charset="-122"/>
                <a:cs typeface="微软雅黑" panose="020B0503020204020204" charset="-122"/>
              </a:rPr>
              <a:t>完整发布页截图</a:t>
            </a:r>
            <a:endParaRPr sz="975" b="1">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30" name="矩形 29"/>
          <p:cNvSpPr>
            <a:spLocks noGrp="1"/>
          </p:cNvSpPr>
          <p:nvPr/>
        </p:nvSpPr>
        <p:spPr>
          <a:xfrm>
            <a:off x="207645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vivo Sans Regular" panose="02000300000000000000" charset="-122"/>
                <a:ea typeface="vivo Sans Regular" panose="02000300000000000000" charset="-122"/>
                <a:cs typeface="vivo Sans Regular" panose="02000300000000000000" charset="-122"/>
              </a:rPr>
              <a:t>X Fold6原子工作台</a:t>
            </a:r>
            <a:endParaRPr sz="790" b="0">
              <a:solidFill>
                <a:srgbClr val="FFFFFF"/>
              </a:solidFill>
              <a:latin typeface="vivo Sans Regular" panose="02000300000000000000" charset="-122"/>
              <a:ea typeface="vivo Sans Regular" panose="02000300000000000000" charset="-122"/>
              <a:cs typeface="vivo Sans Regular" panose="02000300000000000000" charset="-122"/>
            </a:endParaRPr>
          </a:p>
        </p:txBody>
      </p:sp>
      <p:sp>
        <p:nvSpPr>
          <p:cNvPr id="36" name="矩形 35"/>
          <p:cNvSpPr>
            <a:spLocks noGrp="1"/>
          </p:cNvSpPr>
          <p:nvPr/>
        </p:nvSpPr>
        <p:spPr>
          <a:xfrm>
            <a:off x="36576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vivo Sans Regular" panose="02000300000000000000" charset="-122"/>
                <a:ea typeface="vivo Sans Regular" panose="02000300000000000000" charset="-122"/>
                <a:cs typeface="微软雅黑" panose="020B0503020204020204" charset="-122"/>
              </a:rPr>
              <a:t>安卓集体涨价</a:t>
            </a:r>
            <a:endParaRPr sz="790" b="0">
              <a:solidFill>
                <a:srgbClr val="FFFFFF"/>
              </a:solidFill>
              <a:latin typeface="vivo Sans Regular" panose="02000300000000000000" charset="-122"/>
              <a:ea typeface="vivo Sans Regular" panose="02000300000000000000" charset="-122"/>
              <a:cs typeface="微软雅黑" panose="020B0503020204020204" charset="-122"/>
            </a:endParaRPr>
          </a:p>
        </p:txBody>
      </p:sp>
      <p:sp>
        <p:nvSpPr>
          <p:cNvPr id="38" name="圆角矩形 37"/>
          <p:cNvSpPr>
            <a:spLocks noGrp="1"/>
          </p:cNvSpPr>
          <p:nvPr/>
        </p:nvSpPr>
        <p:spPr>
          <a:xfrm>
            <a:off x="5334000" y="838200"/>
            <a:ext cx="6457950" cy="4876800"/>
          </a:xfrm>
          <a:prstGeom prst="roundRect">
            <a:avLst>
              <a:gd name="adj" fmla="val 1563"/>
            </a:avLst>
          </a:prstGeom>
          <a:solidFill>
            <a:srgbClr val="FFFFFF"/>
          </a:solidFill>
          <a:ln w="9525">
            <a:solidFill>
              <a:srgbClr val="DCE3F2"/>
            </a:solidFill>
            <a:prstDash val="solid"/>
          </a:ln>
        </p:spPr>
      </p:sp>
      <p:sp>
        <p:nvSpPr>
          <p:cNvPr id="39" name="矩形 38"/>
          <p:cNvSpPr>
            <a:spLocks noGrp="1"/>
          </p:cNvSpPr>
          <p:nvPr/>
        </p:nvSpPr>
        <p:spPr>
          <a:xfrm>
            <a:off x="5562600" y="1000125"/>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vivo Sans Regular" panose="02000300000000000000" charset="-122"/>
                <a:ea typeface="vivo Sans Regular" panose="02000300000000000000" charset="-122"/>
                <a:cs typeface="微软雅黑" panose="020B0503020204020204" charset="-122"/>
              </a:rPr>
              <a:t>播放趋势（千次）</a:t>
            </a:r>
            <a:endParaRPr sz="975" b="1">
              <a:solidFill>
                <a:srgbClr val="1230A5"/>
              </a:solidFill>
              <a:latin typeface="vivo Sans Regular" panose="02000300000000000000" charset="-122"/>
              <a:ea typeface="vivo Sans Regular" panose="02000300000000000000" charset="-122"/>
              <a:cs typeface="微软雅黑" panose="020B0503020204020204" charset="-122"/>
            </a:endParaRPr>
          </a:p>
        </p:txBody>
      </p:sp>
      <p:graphicFrame>
        <p:nvGraphicFramePr>
          <p:cNvPr id="91" name="Chart"/>
          <p:cNvGraphicFramePr/>
          <p:nvPr/>
        </p:nvGraphicFramePr>
        <p:xfrm>
          <a:off x="5562600" y="1228725"/>
          <a:ext cx="5981700" cy="2038350"/>
        </p:xfrm>
        <a:graphic>
          <a:graphicData uri="http://schemas.openxmlformats.org/drawingml/2006/chart">
            <c:chart xmlns:c="http://schemas.openxmlformats.org/drawingml/2006/chart" xmlns:r="http://schemas.openxmlformats.org/officeDocument/2006/relationships" r:id="rId1"/>
          </a:graphicData>
        </a:graphic>
      </p:graphicFrame>
      <p:sp>
        <p:nvSpPr>
          <p:cNvPr id="41" name="矩形 40"/>
          <p:cNvSpPr>
            <a:spLocks noGrp="1"/>
          </p:cNvSpPr>
          <p:nvPr/>
        </p:nvSpPr>
        <p:spPr>
          <a:xfrm>
            <a:off x="5562600" y="3409950"/>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vivo Sans Regular" panose="02000300000000000000" charset="-122"/>
                <a:ea typeface="vivo Sans Regular" panose="02000300000000000000" charset="-122"/>
                <a:cs typeface="微软雅黑" panose="020B0503020204020204" charset="-122"/>
              </a:rPr>
              <a:t>粉丝趋势（千人）</a:t>
            </a:r>
            <a:endParaRPr sz="975" b="1">
              <a:solidFill>
                <a:srgbClr val="1230A5"/>
              </a:solidFill>
              <a:latin typeface="vivo Sans Regular" panose="02000300000000000000" charset="-122"/>
              <a:ea typeface="vivo Sans Regular" panose="02000300000000000000" charset="-122"/>
              <a:cs typeface="微软雅黑" panose="020B0503020204020204" charset="-122"/>
            </a:endParaRPr>
          </a:p>
        </p:txBody>
      </p:sp>
      <p:graphicFrame>
        <p:nvGraphicFramePr>
          <p:cNvPr id="93" name="Chart"/>
          <p:cNvGraphicFramePr/>
          <p:nvPr/>
        </p:nvGraphicFramePr>
        <p:xfrm>
          <a:off x="5562600" y="3638550"/>
          <a:ext cx="5981700" cy="1657350"/>
        </p:xfrm>
        <a:graphic>
          <a:graphicData uri="http://schemas.openxmlformats.org/drawingml/2006/chart">
            <c:chart xmlns:c="http://schemas.openxmlformats.org/drawingml/2006/chart" xmlns:r="http://schemas.openxmlformats.org/officeDocument/2006/relationships" r:id="rId2"/>
          </a:graphicData>
        </a:graphic>
      </p:graphicFrame>
      <p:sp>
        <p:nvSpPr>
          <p:cNvPr id="43" name="圆角矩形 42"/>
          <p:cNvSpPr>
            <a:spLocks noGrp="1"/>
          </p:cNvSpPr>
          <p:nvPr/>
        </p:nvSpPr>
        <p:spPr>
          <a:xfrm>
            <a:off x="5334000" y="5829300"/>
            <a:ext cx="2038350" cy="571500"/>
          </a:xfrm>
          <a:prstGeom prst="roundRect">
            <a:avLst>
              <a:gd name="adj" fmla="val 13333"/>
            </a:avLst>
          </a:prstGeom>
          <a:solidFill>
            <a:srgbClr val="F5F7FF"/>
          </a:solidFill>
          <a:ln w="9525">
            <a:solidFill>
              <a:srgbClr val="DCE3F2"/>
            </a:solidFill>
            <a:prstDash val="solid"/>
          </a:ln>
        </p:spPr>
      </p:sp>
      <p:sp>
        <p:nvSpPr>
          <p:cNvPr id="44" name="矩形 43"/>
          <p:cNvSpPr>
            <a:spLocks noGrp="1"/>
          </p:cNvSpPr>
          <p:nvPr/>
        </p:nvSpPr>
        <p:spPr>
          <a:xfrm>
            <a:off x="54483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vivo Sans Regular" panose="02000300000000000000" charset="-122"/>
                <a:ea typeface="vivo Sans Regular" panose="02000300000000000000" charset="-122"/>
                <a:cs typeface="vivo Sans Regular" panose="02000300000000000000" charset="-122"/>
              </a:rPr>
              <a:t>1–2月｜启动</a:t>
            </a:r>
            <a:endParaRPr sz="86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45" name="矩形 44"/>
          <p:cNvSpPr>
            <a:spLocks noGrp="1"/>
          </p:cNvSpPr>
          <p:nvPr/>
        </p:nvSpPr>
        <p:spPr>
          <a:xfrm>
            <a:off x="54483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vivo Sans Regular" panose="02000300000000000000" charset="-122"/>
                <a:ea typeface="vivo Sans Regular" panose="02000300000000000000" charset="-122"/>
                <a:cs typeface="微软雅黑" panose="020B0503020204020204" charset="-122"/>
              </a:rPr>
              <a:t>热点跟进完成初步验证</a:t>
            </a:r>
            <a:endParaRPr sz="79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46" name="圆角矩形 45"/>
          <p:cNvSpPr>
            <a:spLocks noGrp="1"/>
          </p:cNvSpPr>
          <p:nvPr/>
        </p:nvSpPr>
        <p:spPr>
          <a:xfrm>
            <a:off x="7486650" y="5829300"/>
            <a:ext cx="2038350" cy="571500"/>
          </a:xfrm>
          <a:prstGeom prst="roundRect">
            <a:avLst>
              <a:gd name="adj" fmla="val 13333"/>
            </a:avLst>
          </a:prstGeom>
          <a:solidFill>
            <a:srgbClr val="F5F7FF"/>
          </a:solidFill>
          <a:ln w="9525">
            <a:solidFill>
              <a:srgbClr val="DCE3F2"/>
            </a:solidFill>
            <a:prstDash val="solid"/>
          </a:ln>
        </p:spPr>
      </p:sp>
      <p:sp>
        <p:nvSpPr>
          <p:cNvPr id="47" name="矩形 46"/>
          <p:cNvSpPr>
            <a:spLocks noGrp="1"/>
          </p:cNvSpPr>
          <p:nvPr/>
        </p:nvSpPr>
        <p:spPr>
          <a:xfrm>
            <a:off x="760095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vivo Sans Regular" panose="02000300000000000000" charset="-122"/>
                <a:ea typeface="vivo Sans Regular" panose="02000300000000000000" charset="-122"/>
                <a:cs typeface="vivo Sans Regular" panose="02000300000000000000" charset="-122"/>
              </a:rPr>
              <a:t>3月｜增长</a:t>
            </a:r>
            <a:endParaRPr sz="86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48" name="矩形 47"/>
          <p:cNvSpPr>
            <a:spLocks noGrp="1"/>
          </p:cNvSpPr>
          <p:nvPr/>
        </p:nvSpPr>
        <p:spPr>
          <a:xfrm>
            <a:off x="760095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vivo Sans Regular" panose="02000300000000000000" charset="-122"/>
                <a:ea typeface="vivo Sans Regular" panose="02000300000000000000" charset="-122"/>
                <a:cs typeface="微软雅黑" panose="020B0503020204020204" charset="-122"/>
              </a:rPr>
              <a:t>功能挖掘切中日常痛点</a:t>
            </a:r>
            <a:endParaRPr sz="79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49" name="圆角矩形 48"/>
          <p:cNvSpPr>
            <a:spLocks noGrp="1"/>
          </p:cNvSpPr>
          <p:nvPr/>
        </p:nvSpPr>
        <p:spPr>
          <a:xfrm>
            <a:off x="9639300" y="5829300"/>
            <a:ext cx="2038350" cy="571500"/>
          </a:xfrm>
          <a:prstGeom prst="roundRect">
            <a:avLst>
              <a:gd name="adj" fmla="val 13333"/>
            </a:avLst>
          </a:prstGeom>
          <a:solidFill>
            <a:srgbClr val="F5F7FF"/>
          </a:solidFill>
          <a:ln w="9525">
            <a:solidFill>
              <a:srgbClr val="DCE3F2"/>
            </a:solidFill>
            <a:prstDash val="solid"/>
          </a:ln>
        </p:spPr>
      </p:sp>
      <p:sp>
        <p:nvSpPr>
          <p:cNvPr id="50" name="矩形 49"/>
          <p:cNvSpPr>
            <a:spLocks noGrp="1"/>
          </p:cNvSpPr>
          <p:nvPr/>
        </p:nvSpPr>
        <p:spPr>
          <a:xfrm>
            <a:off x="9753600" y="5886450"/>
            <a:ext cx="1809750" cy="1905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vivo Sans Regular" panose="02000300000000000000" charset="-122"/>
                <a:ea typeface="vivo Sans Regular" panose="02000300000000000000" charset="-122"/>
                <a:cs typeface="vivo Sans Regular" panose="02000300000000000000" charset="-122"/>
              </a:rPr>
              <a:t>4–7月｜波动回升</a:t>
            </a:r>
            <a:endParaRPr sz="865" b="1">
              <a:solidFill>
                <a:srgbClr val="3157FF"/>
              </a:solidFill>
              <a:latin typeface="vivo Sans Regular" panose="02000300000000000000" charset="-122"/>
              <a:ea typeface="vivo Sans Regular" panose="02000300000000000000" charset="-122"/>
              <a:cs typeface="vivo Sans Regular" panose="02000300000000000000" charset="-122"/>
            </a:endParaRPr>
          </a:p>
        </p:txBody>
      </p:sp>
      <p:sp>
        <p:nvSpPr>
          <p:cNvPr id="51" name="矩形 50"/>
          <p:cNvSpPr>
            <a:spLocks noGrp="1"/>
          </p:cNvSpPr>
          <p:nvPr/>
        </p:nvSpPr>
        <p:spPr>
          <a:xfrm>
            <a:off x="9753600" y="6096000"/>
            <a:ext cx="1809750" cy="23812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vivo Sans Regular" panose="02000300000000000000" charset="-122"/>
                <a:ea typeface="vivo Sans Regular" panose="02000300000000000000" charset="-122"/>
                <a:cs typeface="微软雅黑" panose="020B0503020204020204" charset="-122"/>
              </a:rPr>
              <a:t>系统更新与新机内容带动增长</a:t>
            </a:r>
            <a:endParaRPr sz="790" b="0">
              <a:solidFill>
                <a:srgbClr val="172033"/>
              </a:solidFill>
              <a:latin typeface="vivo Sans Regular" panose="02000300000000000000" charset="-122"/>
              <a:ea typeface="vivo Sans Regular" panose="02000300000000000000" charset="-122"/>
              <a:cs typeface="微软雅黑" panose="020B0503020204020204" charset="-122"/>
            </a:endParaRPr>
          </a:p>
        </p:txBody>
      </p:sp>
      <p:sp>
        <p:nvSpPr>
          <p:cNvPr id="42" name="文本框 41"/>
          <p:cNvSpPr txBox="1"/>
          <p:nvPr/>
        </p:nvSpPr>
        <p:spPr>
          <a:xfrm>
            <a:off x="466090" y="5191760"/>
            <a:ext cx="4506595" cy="213995"/>
          </a:xfrm>
          <a:prstGeom prst="rect">
            <a:avLst/>
          </a:prstGeom>
          <a:noFill/>
        </p:spPr>
        <p:txBody>
          <a:bodyPr wrap="square" rtlCol="0">
            <a:spAutoFit/>
          </a:bodyPr>
          <a:p>
            <a:r>
              <a:rPr lang="en-US" altLang="zh-CN" sz="800">
                <a:latin typeface="vivo Sans Regular" panose="02000300000000000000" charset="-122"/>
                <a:ea typeface="vivo Sans Regular" panose="02000300000000000000" charset="-122"/>
                <a:cs typeface="vivo Sans Regular" panose="02000300000000000000" charset="-122"/>
              </a:rPr>
              <a:t>B</a:t>
            </a:r>
            <a:r>
              <a:rPr lang="zh-CN" altLang="en-US" sz="800">
                <a:latin typeface="vivo Sans Regular" panose="02000300000000000000" charset="-122"/>
                <a:ea typeface="vivo Sans Regular" panose="02000300000000000000" charset="-122"/>
                <a:cs typeface="vivo Sans Regular" panose="02000300000000000000" charset="-122"/>
              </a:rPr>
              <a:t>站链接</a:t>
            </a:r>
            <a:r>
              <a:rPr lang="en-US" altLang="zh-CN" sz="800">
                <a:latin typeface="vivo Sans Regular" panose="02000300000000000000" charset="-122"/>
                <a:ea typeface="vivo Sans Regular" panose="02000300000000000000" charset="-122"/>
                <a:cs typeface="vivo Sans Regular" panose="02000300000000000000" charset="-122"/>
              </a:rPr>
              <a:t>：https://www.bilibili.com/video/BV1AKTR6VEF5/</a:t>
            </a:r>
            <a:endParaRPr lang="en-US" altLang="zh-CN" sz="800">
              <a:latin typeface="vivo Sans Regular" panose="02000300000000000000" charset="-122"/>
              <a:ea typeface="vivo Sans Regular" panose="02000300000000000000" charset="-122"/>
              <a:cs typeface="vivo Sans Regular" panose="02000300000000000000" charset="-122"/>
            </a:endParaRPr>
          </a:p>
        </p:txBody>
      </p:sp>
      <p:grpSp>
        <p:nvGrpSpPr>
          <p:cNvPr id="56" name="组合 55"/>
          <p:cNvGrpSpPr/>
          <p:nvPr/>
        </p:nvGrpSpPr>
        <p:grpSpPr>
          <a:xfrm>
            <a:off x="3962400" y="2895600"/>
            <a:ext cx="1200150" cy="2074545"/>
            <a:chOff x="6240" y="4226"/>
            <a:chExt cx="1890" cy="3267"/>
          </a:xfrm>
        </p:grpSpPr>
        <p:sp>
          <p:nvSpPr>
            <p:cNvPr id="53" name="文本框 52"/>
            <p:cNvSpPr txBox="1"/>
            <p:nvPr/>
          </p:nvSpPr>
          <p:spPr>
            <a:xfrm>
              <a:off x="6240" y="4226"/>
              <a:ext cx="1890" cy="919"/>
            </a:xfrm>
            <a:prstGeom prst="rect">
              <a:avLst/>
            </a:prstGeom>
            <a:noFill/>
          </p:spPr>
          <p:txBody>
            <a:bodyPr wrap="square" rtlCol="0">
              <a:spAutoFit/>
            </a:bodyPr>
            <a:p>
              <a:r>
                <a:rPr lang="en-US" altLang="zh-CN" sz="2000" b="1">
                  <a:solidFill>
                    <a:srgbClr val="3157FF"/>
                  </a:solidFill>
                  <a:latin typeface="vivo Sans Regular" panose="02000300000000000000" charset="-122"/>
                  <a:ea typeface="vivo Sans Regular" panose="02000300000000000000" charset="-122"/>
                  <a:cs typeface="vivo Sans Regular" panose="02000300000000000000" charset="-122"/>
                </a:rPr>
                <a:t>180w+</a:t>
              </a:r>
              <a:endParaRPr lang="en-US" altLang="zh-CN" sz="2000" b="1">
                <a:solidFill>
                  <a:srgbClr val="3157FF"/>
                </a:solidFill>
                <a:latin typeface="vivo Sans Regular" panose="02000300000000000000" charset="-122"/>
                <a:ea typeface="vivo Sans Regular" panose="02000300000000000000" charset="-122"/>
                <a:cs typeface="vivo Sans Regular" panose="02000300000000000000" charset="-122"/>
              </a:endParaRPr>
            </a:p>
            <a:p>
              <a:r>
                <a:rPr lang="zh-CN" altLang="en-US" sz="1200">
                  <a:latin typeface="vivo Sans Regular" panose="02000300000000000000" charset="-122"/>
                  <a:ea typeface="vivo Sans Regular" panose="02000300000000000000" charset="-122"/>
                  <a:cs typeface="vivo Sans Regular" panose="02000300000000000000" charset="-122"/>
                </a:rPr>
                <a:t>播放量</a:t>
              </a:r>
              <a:endParaRPr lang="zh-CN" altLang="en-US" sz="1200">
                <a:latin typeface="vivo Sans Regular" panose="02000300000000000000" charset="-122"/>
                <a:ea typeface="vivo Sans Regular" panose="02000300000000000000" charset="-122"/>
                <a:cs typeface="vivo Sans Regular" panose="02000300000000000000" charset="-122"/>
              </a:endParaRPr>
            </a:p>
          </p:txBody>
        </p:sp>
        <p:sp>
          <p:nvSpPr>
            <p:cNvPr id="54" name="文本框 53"/>
            <p:cNvSpPr txBox="1"/>
            <p:nvPr/>
          </p:nvSpPr>
          <p:spPr>
            <a:xfrm>
              <a:off x="6240" y="5280"/>
              <a:ext cx="1890" cy="919"/>
            </a:xfrm>
            <a:prstGeom prst="rect">
              <a:avLst/>
            </a:prstGeom>
            <a:noFill/>
          </p:spPr>
          <p:txBody>
            <a:bodyPr wrap="square" rtlCol="0">
              <a:spAutoFit/>
            </a:bodyPr>
            <a:p>
              <a:r>
                <a:rPr lang="en-US" altLang="zh-CN" sz="2000" b="1">
                  <a:solidFill>
                    <a:srgbClr val="3157FF"/>
                  </a:solidFill>
                  <a:latin typeface="vivo Sans Regular" panose="02000300000000000000" charset="-122"/>
                  <a:ea typeface="vivo Sans Regular" panose="02000300000000000000" charset="-122"/>
                  <a:cs typeface="vivo Sans Regular" panose="02000300000000000000" charset="-122"/>
                </a:rPr>
                <a:t>4.7w+</a:t>
              </a:r>
              <a:endParaRPr lang="en-US" altLang="zh-CN" sz="2000" b="1">
                <a:solidFill>
                  <a:srgbClr val="3157FF"/>
                </a:solidFill>
                <a:latin typeface="vivo Sans Regular" panose="02000300000000000000" charset="-122"/>
                <a:ea typeface="vivo Sans Regular" panose="02000300000000000000" charset="-122"/>
                <a:cs typeface="vivo Sans Regular" panose="02000300000000000000" charset="-122"/>
              </a:endParaRPr>
            </a:p>
            <a:p>
              <a:r>
                <a:rPr lang="zh-CN" altLang="en-US" sz="1200">
                  <a:latin typeface="vivo Sans Regular" panose="02000300000000000000" charset="-122"/>
                  <a:ea typeface="vivo Sans Regular" panose="02000300000000000000" charset="-122"/>
                  <a:cs typeface="vivo Sans Regular" panose="02000300000000000000" charset="-122"/>
                </a:rPr>
                <a:t>互动量</a:t>
              </a:r>
              <a:endParaRPr lang="zh-CN" altLang="en-US" sz="1200">
                <a:latin typeface="vivo Sans Regular" panose="02000300000000000000" charset="-122"/>
                <a:ea typeface="vivo Sans Regular" panose="02000300000000000000" charset="-122"/>
                <a:cs typeface="vivo Sans Regular" panose="02000300000000000000" charset="-122"/>
              </a:endParaRPr>
            </a:p>
          </p:txBody>
        </p:sp>
        <p:sp>
          <p:nvSpPr>
            <p:cNvPr id="55" name="文本框 54"/>
            <p:cNvSpPr txBox="1"/>
            <p:nvPr/>
          </p:nvSpPr>
          <p:spPr>
            <a:xfrm>
              <a:off x="6240" y="6575"/>
              <a:ext cx="1890" cy="919"/>
            </a:xfrm>
            <a:prstGeom prst="rect">
              <a:avLst/>
            </a:prstGeom>
            <a:noFill/>
          </p:spPr>
          <p:txBody>
            <a:bodyPr wrap="square" rtlCol="0">
              <a:spAutoFit/>
            </a:bodyPr>
            <a:p>
              <a:r>
                <a:rPr lang="en-US" altLang="zh-CN" sz="2000" b="1">
                  <a:solidFill>
                    <a:srgbClr val="3157FF"/>
                  </a:solidFill>
                  <a:latin typeface="vivo Sans Regular" panose="02000300000000000000" charset="-122"/>
                  <a:ea typeface="vivo Sans Regular" panose="02000300000000000000" charset="-122"/>
                  <a:cs typeface="vivo Sans Regular" panose="02000300000000000000" charset="-122"/>
                </a:rPr>
                <a:t>54%</a:t>
              </a:r>
              <a:endParaRPr lang="en-US" altLang="zh-CN" sz="2000" b="1">
                <a:solidFill>
                  <a:srgbClr val="3157FF"/>
                </a:solidFill>
                <a:latin typeface="vivo Sans Regular" panose="02000300000000000000" charset="-122"/>
                <a:ea typeface="vivo Sans Regular" panose="02000300000000000000" charset="-122"/>
                <a:cs typeface="vivo Sans Regular" panose="02000300000000000000" charset="-122"/>
              </a:endParaRPr>
            </a:p>
            <a:p>
              <a:r>
                <a:rPr lang="zh-CN" altLang="en-US" sz="1200">
                  <a:latin typeface="vivo Sans Regular" panose="02000300000000000000" charset="-122"/>
                  <a:ea typeface="vivo Sans Regular" panose="02000300000000000000" charset="-122"/>
                  <a:cs typeface="vivo Sans Regular" panose="02000300000000000000" charset="-122"/>
                </a:rPr>
                <a:t>完播</a:t>
              </a:r>
              <a:r>
                <a:rPr lang="zh-CN" altLang="en-US" sz="1200">
                  <a:latin typeface="vivo Sans Regular" panose="02000300000000000000" charset="-122"/>
                  <a:ea typeface="vivo Sans Regular" panose="02000300000000000000" charset="-122"/>
                  <a:cs typeface="vivo Sans Regular" panose="02000300000000000000" charset="-122"/>
                </a:rPr>
                <a:t>率</a:t>
              </a:r>
              <a:endParaRPr lang="zh-CN" altLang="en-US" sz="1200">
                <a:latin typeface="vivo Sans Regular" panose="02000300000000000000" charset="-122"/>
                <a:ea typeface="vivo Sans Regular" panose="02000300000000000000" charset="-122"/>
                <a:cs typeface="vivo Sans Regular" panose="02000300000000000000" charset="-122"/>
              </a:endParaRPr>
            </a:p>
          </p:txBody>
        </p:sp>
      </p:grpSp>
      <p:sp>
        <p:nvSpPr>
          <p:cNvPr id="57" name="矩形 56"/>
          <p:cNvSpPr>
            <a:spLocks noGrp="1"/>
          </p:cNvSpPr>
          <p:nvPr/>
        </p:nvSpPr>
        <p:spPr>
          <a:xfrm>
            <a:off x="2164080" y="5575300"/>
            <a:ext cx="1044575" cy="228600"/>
          </a:xfrm>
          <a:prstGeom prst="rect">
            <a:avLst/>
          </a:prstGeom>
          <a:noFill/>
          <a:ln w="0">
            <a:noFill/>
            <a:prstDash val="solid"/>
          </a:ln>
        </p:spPr>
        <p:txBody>
          <a:bodyPr anchor="ctr"/>
          <a:lstStyle/>
          <a:p>
            <a:pPr algn="l">
              <a:defRPr sz="865" b="1">
                <a:solidFill>
                  <a:srgbClr val="172033"/>
                </a:solidFill>
                <a:latin typeface="微软雅黑" panose="020B0503020204020204" charset="-122"/>
                <a:ea typeface="微软雅黑" panose="020B0503020204020204" charset="-122"/>
                <a:cs typeface="微软雅黑" panose="020B0503020204020204" charset="-122"/>
              </a:defRPr>
            </a:pPr>
            <a:r>
              <a:rPr sz="1200" b="0">
                <a:solidFill>
                  <a:srgbClr val="00B0F0"/>
                </a:solidFill>
                <a:latin typeface="vivo Sans Regular" panose="02000300000000000000" charset="-122"/>
                <a:ea typeface="vivo Sans Regular" panose="02000300000000000000" charset="-122"/>
                <a:cs typeface="微软雅黑" panose="020B0503020204020204" charset="-122"/>
              </a:rPr>
              <a:t>案例结论</a:t>
            </a:r>
            <a:endParaRPr sz="1200" b="0">
              <a:solidFill>
                <a:srgbClr val="00B0F0"/>
              </a:solidFill>
              <a:latin typeface="vivo Sans Regular" panose="02000300000000000000" charset="-122"/>
              <a:ea typeface="vivo Sans Regular" panose="02000300000000000000" charset="-122"/>
              <a:cs typeface="微软雅黑" panose="020B0503020204020204" charset="-122"/>
            </a:endParaRPr>
          </a:p>
        </p:txBody>
      </p:sp>
      <p:sp>
        <p:nvSpPr>
          <p:cNvPr id="59" name="文本框 58"/>
          <p:cNvSpPr txBox="1"/>
          <p:nvPr/>
        </p:nvSpPr>
        <p:spPr>
          <a:xfrm>
            <a:off x="1362075" y="5803900"/>
            <a:ext cx="2503170" cy="470535"/>
          </a:xfrm>
          <a:prstGeom prst="rect">
            <a:avLst/>
          </a:prstGeom>
          <a:noFill/>
        </p:spPr>
        <p:txBody>
          <a:bodyPr wrap="square" rtlCol="0" anchor="t">
            <a:spAutoFit/>
          </a:bodyPr>
          <a:p>
            <a:pPr algn="ctr">
              <a:defRPr sz="865" b="1">
                <a:solidFill>
                  <a:srgbClr val="172033"/>
                </a:solidFill>
                <a:latin typeface="微软雅黑" panose="020B0503020204020204" charset="-122"/>
                <a:ea typeface="微软雅黑" panose="020B0503020204020204" charset="-122"/>
                <a:cs typeface="微软雅黑" panose="020B0503020204020204" charset="-122"/>
              </a:defRPr>
            </a:pPr>
            <a:r>
              <a:rPr sz="1600">
                <a:solidFill>
                  <a:schemeClr val="bg1"/>
                </a:solidFill>
                <a:latin typeface="vivo Sans Regular" panose="02000300000000000000" charset="-122"/>
                <a:ea typeface="vivo Sans Regular" panose="02000300000000000000" charset="-122"/>
                <a:cs typeface="微软雅黑" panose="020B0503020204020204" charset="-122"/>
                <a:sym typeface="+mn-ea"/>
              </a:rPr>
              <a:t>功能应用场景化＋情绪化</a:t>
            </a:r>
            <a:endParaRPr sz="1600">
              <a:solidFill>
                <a:schemeClr val="bg1"/>
              </a:solidFill>
              <a:latin typeface="vivo Sans Regular" panose="02000300000000000000" charset="-122"/>
              <a:ea typeface="vivo Sans Regular" panose="02000300000000000000" charset="-122"/>
              <a:cs typeface="微软雅黑" panose="020B0503020204020204" charset="-122"/>
              <a:sym typeface="+mn-ea"/>
            </a:endParaRPr>
          </a:p>
          <a:p>
            <a:pPr algn="ctr">
              <a:defRPr sz="865" b="1">
                <a:solidFill>
                  <a:srgbClr val="172033"/>
                </a:solidFill>
                <a:latin typeface="微软雅黑" panose="020B0503020204020204" charset="-122"/>
                <a:ea typeface="微软雅黑" panose="020B0503020204020204" charset="-122"/>
                <a:cs typeface="微软雅黑" panose="020B0503020204020204" charset="-122"/>
              </a:defRPr>
            </a:pPr>
            <a:r>
              <a:rPr sz="865" b="0">
                <a:solidFill>
                  <a:schemeClr val="bg1"/>
                </a:solidFill>
                <a:latin typeface="vivo Sans Regular" panose="02000300000000000000" charset="-122"/>
                <a:ea typeface="vivo Sans Regular" panose="02000300000000000000" charset="-122"/>
                <a:cs typeface="微软雅黑" panose="020B0503020204020204" charset="-122"/>
                <a:sym typeface="+mn-ea"/>
              </a:rPr>
              <a:t>是垂直账号突破流量池的有效方式</a:t>
            </a:r>
            <a:endParaRPr lang="zh-CN" altLang="en-US" sz="865" b="0">
              <a:solidFill>
                <a:schemeClr val="bg1"/>
              </a:solidFill>
              <a:latin typeface="vivo Sans Regular" panose="02000300000000000000" charset="-122"/>
              <a:ea typeface="vivo Sans Regular" panose="02000300000000000000" charset="-122"/>
              <a:cs typeface="微软雅黑" panose="020B0503020204020204" charset="-122"/>
              <a:sym typeface="+mn-ea"/>
            </a:endParaRPr>
          </a:p>
        </p:txBody>
      </p:sp>
      <p:pic>
        <p:nvPicPr>
          <p:cNvPr id="3" name="人生第一课：提防身边人 - 001 - 人生第一课：提防身边人">
            <a:hlinkClick r:id="" action="ppaction://media"/>
          </p:cNvPr>
          <p:cNvPicPr/>
          <p:nvPr>
            <a:videoFile r:link="rId3"/>
            <p:extLst>
              <p:ext uri="{DAA4B4D4-6D71-4841-9C94-3DE7FCFB9230}">
                <p14:media xmlns:p14="http://schemas.microsoft.com/office/powerpoint/2010/main" r:embed="rId4"/>
              </p:ext>
            </p:extLst>
          </p:nvPr>
        </p:nvPicPr>
        <p:blipFill>
          <a:blip r:embed="rId5"/>
          <a:stretch>
            <a:fillRect/>
          </a:stretch>
        </p:blipFill>
        <p:spPr>
          <a:xfrm>
            <a:off x="2372360" y="2567305"/>
            <a:ext cx="1492885" cy="2489200"/>
          </a:xfrm>
          <a:prstGeom prst="rect">
            <a:avLst/>
          </a:prstGeom>
        </p:spPr>
      </p:pic>
      <p:pic>
        <p:nvPicPr>
          <p:cNvPr id="4" name="图片 3" descr="截屏2026-07-29 18.54.09"/>
          <p:cNvPicPr>
            <a:picLocks noChangeAspect="1"/>
          </p:cNvPicPr>
          <p:nvPr/>
        </p:nvPicPr>
        <p:blipFill>
          <a:blip r:embed="rId6"/>
          <a:stretch>
            <a:fillRect/>
          </a:stretch>
        </p:blipFill>
        <p:spPr>
          <a:xfrm>
            <a:off x="400050" y="2567305"/>
            <a:ext cx="1871345" cy="944880"/>
          </a:xfrm>
          <a:prstGeom prst="roundRect">
            <a:avLst/>
          </a:prstGeom>
        </p:spPr>
      </p:pic>
      <p:pic>
        <p:nvPicPr>
          <p:cNvPr id="16" name="图片 15" descr="截屏2026-07-29 18.54.23"/>
          <p:cNvPicPr>
            <a:picLocks noChangeAspect="1"/>
          </p:cNvPicPr>
          <p:nvPr/>
        </p:nvPicPr>
        <p:blipFill>
          <a:blip r:embed="rId7"/>
          <a:stretch>
            <a:fillRect/>
          </a:stretch>
        </p:blipFill>
        <p:spPr>
          <a:xfrm>
            <a:off x="400050" y="3547110"/>
            <a:ext cx="1870710" cy="582930"/>
          </a:xfrm>
          <a:prstGeom prst="roundRect">
            <a:avLst/>
          </a:prstGeom>
        </p:spPr>
      </p:pic>
      <p:pic>
        <p:nvPicPr>
          <p:cNvPr id="18" name="图片 17" descr="截屏2026-07-29 18.58.21"/>
          <p:cNvPicPr>
            <a:picLocks noChangeAspect="1"/>
          </p:cNvPicPr>
          <p:nvPr/>
        </p:nvPicPr>
        <p:blipFill>
          <a:blip r:embed="rId8"/>
          <a:srcRect r="45796"/>
          <a:stretch>
            <a:fillRect/>
          </a:stretch>
        </p:blipFill>
        <p:spPr>
          <a:xfrm>
            <a:off x="400050" y="4158615"/>
            <a:ext cx="1858645" cy="895350"/>
          </a:xfrm>
          <a:prstGeom prst="round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 name="截图占位-账号定位"/>
          <p:cNvSpPr>
            <a:spLocks noGrp="1"/>
          </p:cNvSpPr>
          <p:nvPr/>
        </p:nvSpPr>
        <p:spPr>
          <a:xfrm>
            <a:off x="5391150" y="4215130"/>
            <a:ext cx="6400800" cy="2051050"/>
          </a:xfrm>
          <a:prstGeom prst="roundRect">
            <a:avLst>
              <a:gd name="adj" fmla="val 6061"/>
            </a:avLst>
          </a:prstGeom>
          <a:solidFill>
            <a:srgbClr val="FFFFFF"/>
          </a:solidFill>
          <a:ln w="9525">
            <a:solidFill>
              <a:srgbClr val="AFC0FF"/>
            </a:solidFill>
            <a:prstDash val="solid"/>
          </a:ln>
        </p:spPr>
      </p:sp>
      <p:sp>
        <p:nvSpPr>
          <p:cNvPr id="59" name="矩形 58"/>
          <p:cNvSpPr>
            <a:spLocks noGrp="1"/>
          </p:cNvSpPr>
          <p:nvPr/>
        </p:nvSpPr>
        <p:spPr>
          <a:xfrm>
            <a:off x="6315075" y="5003800"/>
            <a:ext cx="4543425" cy="76200"/>
          </a:xfrm>
          <a:prstGeom prst="rect">
            <a:avLst/>
          </a:prstGeom>
          <a:solidFill>
            <a:srgbClr val="D6DEFF"/>
          </a:solidFill>
          <a:ln w="0">
            <a:noFill/>
            <a:prstDash val="solid"/>
          </a:ln>
        </p:spPr>
      </p:sp>
      <p:sp>
        <p:nvSpPr>
          <p:cNvPr id="73" name="圆角矩形 72"/>
          <p:cNvSpPr>
            <a:spLocks noGrp="1"/>
          </p:cNvSpPr>
          <p:nvPr/>
        </p:nvSpPr>
        <p:spPr>
          <a:xfrm>
            <a:off x="6134100" y="4895850"/>
            <a:ext cx="361950" cy="361950"/>
          </a:xfrm>
          <a:prstGeom prst="roundRect">
            <a:avLst>
              <a:gd name="adj" fmla="val 21053"/>
            </a:avLst>
          </a:prstGeom>
          <a:solidFill>
            <a:srgbClr val="3157FF"/>
          </a:solidFill>
          <a:ln w="0">
            <a:noFill/>
            <a:prstDash val="solid"/>
          </a:ln>
        </p:spPr>
      </p:sp>
      <p:sp>
        <p:nvSpPr>
          <p:cNvPr id="52" name="title-bar"/>
          <p:cNvSpPr>
            <a:spLocks noGrp="1"/>
          </p:cNvSpPr>
          <p:nvPr/>
        </p:nvSpPr>
        <p:spPr>
          <a:xfrm>
            <a:off x="304800" y="228600"/>
            <a:ext cx="11582400" cy="438150"/>
          </a:xfrm>
          <a:prstGeom prst="roundRect">
            <a:avLst>
              <a:gd name="adj" fmla="val 17391"/>
            </a:avLst>
          </a:prstGeom>
          <a:solidFill>
            <a:srgbClr val="3157FF"/>
          </a:solidFill>
          <a:ln w="0">
            <a:noFill/>
            <a:prstDash val="solid"/>
          </a:ln>
        </p:spPr>
      </p:sp>
      <p:sp>
        <p:nvSpPr>
          <p:cNvPr id="2" name="slide-title"/>
          <p:cNvSpPr>
            <a:spLocks noGrp="1"/>
          </p:cNvSpPr>
          <p:nvPr/>
        </p:nvSpPr>
        <p:spPr>
          <a:xfrm>
            <a:off x="552450" y="266700"/>
            <a:ext cx="9906000" cy="361950"/>
          </a:xfrm>
          <a:prstGeom prst="rect">
            <a:avLst/>
          </a:prstGeom>
          <a:noFill/>
          <a:ln w="0">
            <a:noFill/>
            <a:prstDash val="solid"/>
          </a:ln>
        </p:spPr>
        <p:txBody>
          <a:bodyPr anchor="ctr"/>
          <a:lstStyle/>
          <a:p>
            <a:pPr algn="l">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H1验证热点速报入口，粉丝达到6752——回声数码站</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277600" y="6572250"/>
            <a:ext cx="457200" cy="171450"/>
          </a:xfrm>
          <a:prstGeom prst="rect">
            <a:avLst/>
          </a:prstGeom>
          <a:noFill/>
          <a:ln w="0">
            <a:noFill/>
            <a:prstDash val="solid"/>
          </a:ln>
        </p:spPr>
        <p:txBody>
          <a:bodyPr anchor="ctr"/>
          <a:lstStyle/>
          <a:p>
            <a:pPr algn="r">
              <a:defRPr sz="675" b="0">
                <a:solidFill>
                  <a:srgbClr val="8A96AA"/>
                </a:solidFill>
                <a:latin typeface="微软雅黑" panose="020B0503020204020204" charset="-122"/>
                <a:ea typeface="微软雅黑" panose="020B0503020204020204" charset="-122"/>
                <a:cs typeface="微软雅黑" panose="020B0503020204020204" charset="-122"/>
              </a:defRPr>
            </a:pPr>
            <a:r>
              <a:rPr sz="675" b="0">
                <a:solidFill>
                  <a:srgbClr val="8A96AA"/>
                </a:solidFill>
                <a:latin typeface="微软雅黑" panose="020B0503020204020204" charset="-122"/>
                <a:ea typeface="微软雅黑" panose="020B0503020204020204" charset="-122"/>
                <a:cs typeface="微软雅黑" panose="020B0503020204020204" charset="-122"/>
              </a:rPr>
              <a:t>28</a:t>
            </a:r>
            <a:endParaRPr sz="675" b="0">
              <a:solidFill>
                <a:srgbClr val="8A96AA"/>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0050" y="819150"/>
            <a:ext cx="1524000" cy="228600"/>
          </a:xfrm>
          <a:prstGeom prst="rect">
            <a:avLst/>
          </a:prstGeom>
          <a:noFill/>
          <a:ln w="0">
            <a:noFill/>
            <a:prstDash val="solid"/>
          </a:ln>
        </p:spPr>
        <p:txBody>
          <a:bodyPr anchor="ctr"/>
          <a:lstStyle/>
          <a:p>
            <a:pPr algn="l">
              <a:defRPr sz="975" b="1">
                <a:solidFill>
                  <a:srgbClr val="3157FF"/>
                </a:solidFill>
                <a:latin typeface="微软雅黑" panose="020B0503020204020204" charset="-122"/>
                <a:ea typeface="微软雅黑" panose="020B0503020204020204" charset="-122"/>
                <a:cs typeface="微软雅黑" panose="020B0503020204020204" charset="-122"/>
              </a:defRPr>
            </a:pPr>
            <a:r>
              <a:rPr sz="975" b="1">
                <a:solidFill>
                  <a:srgbClr val="3157FF"/>
                </a:solidFill>
                <a:latin typeface="微软雅黑" panose="020B0503020204020204" charset="-122"/>
                <a:ea typeface="微软雅黑" panose="020B0503020204020204" charset="-122"/>
                <a:cs typeface="微软雅黑" panose="020B0503020204020204" charset="-122"/>
              </a:rPr>
              <a:t>账号定位</a:t>
            </a:r>
            <a:endParaRPr sz="9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0050" y="1076325"/>
            <a:ext cx="1524000" cy="19050"/>
          </a:xfrm>
          <a:prstGeom prst="rect">
            <a:avLst/>
          </a:prstGeom>
          <a:solidFill>
            <a:srgbClr val="3157FF"/>
          </a:solidFill>
          <a:ln w="0">
            <a:noFill/>
            <a:prstDash val="solid"/>
          </a:ln>
        </p:spPr>
      </p:sp>
      <p:sp>
        <p:nvSpPr>
          <p:cNvPr id="8" name="矩形 7"/>
          <p:cNvSpPr>
            <a:spLocks noGrp="1"/>
          </p:cNvSpPr>
          <p:nvPr/>
        </p:nvSpPr>
        <p:spPr>
          <a:xfrm>
            <a:off x="400050" y="1104900"/>
            <a:ext cx="4762500" cy="361950"/>
          </a:xfrm>
          <a:prstGeom prst="rect">
            <a:avLst/>
          </a:prstGeom>
          <a:noFill/>
          <a:ln w="0">
            <a:noFill/>
            <a:prstDash val="solid"/>
          </a:ln>
        </p:spPr>
        <p:txBody>
          <a:bodyPr anchor="ctr"/>
          <a:lstStyle/>
          <a:p>
            <a:pPr algn="l">
              <a:defRPr sz="1875" b="1">
                <a:solidFill>
                  <a:srgbClr val="172033"/>
                </a:solidFill>
                <a:latin typeface="微软雅黑" panose="020B0503020204020204" charset="-122"/>
                <a:ea typeface="微软雅黑" panose="020B0503020204020204" charset="-122"/>
                <a:cs typeface="微软雅黑" panose="020B0503020204020204" charset="-122"/>
              </a:defRPr>
            </a:pPr>
            <a:r>
              <a:rPr sz="1875" b="1">
                <a:solidFill>
                  <a:srgbClr val="172033"/>
                </a:solidFill>
                <a:latin typeface="微软雅黑" panose="020B0503020204020204" charset="-122"/>
                <a:ea typeface="微软雅黑" panose="020B0503020204020204" charset="-122"/>
                <a:cs typeface="微软雅黑" panose="020B0503020204020204" charset="-122"/>
              </a:rPr>
              <a:t>数码热点速报站</a:t>
            </a:r>
            <a:endParaRPr sz="18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400050" y="1438275"/>
            <a:ext cx="4762500" cy="266700"/>
          </a:xfrm>
          <a:prstGeom prst="rect">
            <a:avLst/>
          </a:prstGeom>
          <a:noFill/>
          <a:ln w="0">
            <a:noFill/>
            <a:prstDash val="solid"/>
          </a:ln>
        </p:spPr>
        <p:txBody>
          <a:bodyPr anchor="ctr"/>
          <a:lstStyle/>
          <a:p>
            <a:pPr algn="l">
              <a:defRPr sz="975" b="0">
                <a:solidFill>
                  <a:srgbClr val="667085"/>
                </a:solidFill>
                <a:latin typeface="微软雅黑" panose="020B0503020204020204" charset="-122"/>
                <a:ea typeface="微软雅黑" panose="020B0503020204020204" charset="-122"/>
                <a:cs typeface="微软雅黑" panose="020B0503020204020204" charset="-122"/>
              </a:defRPr>
            </a:pPr>
            <a:r>
              <a:rPr sz="975" b="0">
                <a:solidFill>
                  <a:srgbClr val="667085"/>
                </a:solidFill>
                <a:latin typeface="微软雅黑" panose="020B0503020204020204" charset="-122"/>
                <a:ea typeface="微软雅黑" panose="020B0503020204020204" charset="-122"/>
                <a:cs typeface="微软雅黑" panose="020B0503020204020204" charset="-122"/>
              </a:rPr>
              <a:t>价格变化 × 销量榜单 × 行业争议</a:t>
            </a:r>
            <a:endParaRPr sz="97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400050" y="1790700"/>
            <a:ext cx="1428750" cy="666750"/>
          </a:xfrm>
          <a:prstGeom prst="roundRect">
            <a:avLst>
              <a:gd name="adj" fmla="val 11429"/>
            </a:avLst>
          </a:prstGeom>
          <a:solidFill>
            <a:srgbClr val="F5F7FF"/>
          </a:solidFill>
          <a:ln w="9525">
            <a:solidFill>
              <a:srgbClr val="DCE3F2"/>
            </a:solidFill>
            <a:prstDash val="solid"/>
          </a:ln>
        </p:spPr>
      </p:sp>
      <p:sp>
        <p:nvSpPr>
          <p:cNvPr id="11" name="矩形 10"/>
          <p:cNvSpPr>
            <a:spLocks noGrp="1"/>
          </p:cNvSpPr>
          <p:nvPr/>
        </p:nvSpPr>
        <p:spPr>
          <a:xfrm>
            <a:off x="514350"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6752</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495300"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粉丝沉淀</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971675" y="1790700"/>
            <a:ext cx="1428750" cy="666750"/>
          </a:xfrm>
          <a:prstGeom prst="roundRect">
            <a:avLst>
              <a:gd name="adj" fmla="val 11429"/>
            </a:avLst>
          </a:prstGeom>
          <a:solidFill>
            <a:srgbClr val="F5F7FF"/>
          </a:solidFill>
          <a:ln w="9525">
            <a:solidFill>
              <a:srgbClr val="DCE3F2"/>
            </a:solidFill>
            <a:prstDash val="solid"/>
          </a:ln>
        </p:spPr>
      </p:sp>
      <p:sp>
        <p:nvSpPr>
          <p:cNvPr id="14" name="矩形 13"/>
          <p:cNvSpPr>
            <a:spLocks noGrp="1"/>
          </p:cNvSpPr>
          <p:nvPr/>
        </p:nvSpPr>
        <p:spPr>
          <a:xfrm>
            <a:off x="2085975" y="1838325"/>
            <a:ext cx="1200150" cy="361950"/>
          </a:xfrm>
          <a:prstGeom prst="rect">
            <a:avLst/>
          </a:prstGeom>
          <a:noFill/>
          <a:ln w="0">
            <a:noFill/>
            <a:prstDash val="solid"/>
          </a:ln>
        </p:spPr>
        <p:txBody>
          <a:bodyPr anchor="ctr"/>
          <a:lstStyle/>
          <a:p>
            <a:pPr algn="ctr">
              <a:defRPr sz="1875" b="1">
                <a:solidFill>
                  <a:srgbClr val="3157FF"/>
                </a:solidFill>
                <a:latin typeface="微软雅黑" panose="020B0503020204020204" charset="-122"/>
                <a:ea typeface="微软雅黑" panose="020B0503020204020204" charset="-122"/>
                <a:cs typeface="微软雅黑" panose="020B0503020204020204" charset="-122"/>
              </a:defRPr>
            </a:pPr>
            <a:r>
              <a:rPr sz="1875" b="1">
                <a:solidFill>
                  <a:srgbClr val="3157FF"/>
                </a:solidFill>
                <a:latin typeface="微软雅黑" panose="020B0503020204020204" charset="-122"/>
                <a:ea typeface="微软雅黑" panose="020B0503020204020204" charset="-122"/>
                <a:cs typeface="微软雅黑" panose="020B0503020204020204" charset="-122"/>
              </a:rPr>
              <a:t>67条</a:t>
            </a:r>
            <a:endParaRPr sz="187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066925" y="2190750"/>
            <a:ext cx="1238250" cy="190500"/>
          </a:xfrm>
          <a:prstGeom prst="rect">
            <a:avLst/>
          </a:prstGeom>
          <a:noFill/>
          <a:ln w="0">
            <a:noFill/>
            <a:prstDash val="solid"/>
          </a:ln>
        </p:spPr>
        <p:txBody>
          <a:bodyPr anchor="ctr"/>
          <a:lstStyle/>
          <a:p>
            <a:pPr algn="ctr">
              <a:defRPr sz="825" b="0">
                <a:solidFill>
                  <a:srgbClr val="667085"/>
                </a:solidFill>
                <a:latin typeface="微软雅黑" panose="020B0503020204020204" charset="-122"/>
                <a:ea typeface="微软雅黑" panose="020B0503020204020204" charset="-122"/>
                <a:cs typeface="微软雅黑" panose="020B0503020204020204" charset="-122"/>
              </a:defRPr>
            </a:pPr>
            <a:r>
              <a:rPr sz="825" b="0">
                <a:solidFill>
                  <a:srgbClr val="667085"/>
                </a:solidFill>
                <a:latin typeface="微软雅黑" panose="020B0503020204020204" charset="-122"/>
                <a:ea typeface="微软雅黑" panose="020B0503020204020204" charset="-122"/>
                <a:cs typeface="微软雅黑" panose="020B0503020204020204" charset="-122"/>
              </a:rPr>
              <a:t>内容发布</a:t>
            </a:r>
            <a:endParaRPr sz="825" b="0">
              <a:solidFill>
                <a:srgbClr val="667085"/>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400050" y="2628900"/>
            <a:ext cx="1466850" cy="2857500"/>
          </a:xfrm>
          <a:prstGeom prst="roundRect">
            <a:avLst>
              <a:gd name="adj" fmla="val 5195"/>
            </a:avLst>
          </a:prstGeom>
          <a:solidFill>
            <a:srgbClr val="07194D"/>
          </a:solidFill>
          <a:ln w="9525">
            <a:solidFill>
              <a:srgbClr val="6F89FF"/>
            </a:solidFill>
            <a:prstDash val="solid"/>
          </a:ln>
        </p:spPr>
      </p:sp>
      <p:sp>
        <p:nvSpPr>
          <p:cNvPr id="20" name="圆角矩形 19"/>
          <p:cNvSpPr>
            <a:spLocks noGrp="1"/>
          </p:cNvSpPr>
          <p:nvPr/>
        </p:nvSpPr>
        <p:spPr>
          <a:xfrm>
            <a:off x="476250" y="2705100"/>
            <a:ext cx="1314450" cy="2705100"/>
          </a:xfrm>
          <a:prstGeom prst="roundRect">
            <a:avLst>
              <a:gd name="adj" fmla="val 5797"/>
            </a:avLst>
          </a:prstGeom>
          <a:noFill/>
          <a:ln w="9525">
            <a:solidFill>
              <a:srgbClr val="7890FF"/>
            </a:solidFill>
            <a:prstDash val="solid"/>
          </a:ln>
        </p:spPr>
      </p:sp>
      <p:sp>
        <p:nvSpPr>
          <p:cNvPr id="23" name="矩形 22"/>
          <p:cNvSpPr>
            <a:spLocks noGrp="1"/>
          </p:cNvSpPr>
          <p:nvPr/>
        </p:nvSpPr>
        <p:spPr>
          <a:xfrm>
            <a:off x="495300" y="4895850"/>
            <a:ext cx="1276350" cy="266700"/>
          </a:xfrm>
          <a:prstGeom prst="rect">
            <a:avLst/>
          </a:prstGeom>
          <a:noFill/>
          <a:ln w="0">
            <a:noFill/>
            <a:prstDash val="solid"/>
          </a:ln>
        </p:spPr>
        <p:txBody>
          <a:bodyPr anchor="ctr"/>
          <a:lstStyle/>
          <a:p>
            <a:pPr algn="ctr">
              <a:defRPr sz="1500" b="1">
                <a:solidFill>
                  <a:srgbClr val="C7D2FF"/>
                </a:solidFill>
                <a:latin typeface="微软雅黑" panose="020B0503020204020204" charset="-122"/>
                <a:ea typeface="微软雅黑" panose="020B0503020204020204" charset="-122"/>
                <a:cs typeface="微软雅黑" panose="020B0503020204020204" charset="-122"/>
              </a:defRPr>
            </a:pPr>
            <a:r>
              <a:rPr lang="en-US" sz="1500" b="1">
                <a:solidFill>
                  <a:srgbClr val="C7D2FF"/>
                </a:solidFill>
                <a:latin typeface="微软雅黑" panose="020B0503020204020204" charset="-122"/>
                <a:ea typeface="微软雅黑" panose="020B0503020204020204" charset="-122"/>
                <a:cs typeface="微软雅黑" panose="020B0503020204020204" charset="-122"/>
              </a:rPr>
              <a:t>9.7</a:t>
            </a:r>
            <a:r>
              <a:rPr sz="1500" b="1">
                <a:solidFill>
                  <a:srgbClr val="C7D2FF"/>
                </a:solidFill>
                <a:latin typeface="微软雅黑" panose="020B0503020204020204" charset="-122"/>
                <a:ea typeface="微软雅黑" panose="020B0503020204020204" charset="-122"/>
                <a:cs typeface="微软雅黑" panose="020B0503020204020204" charset="-122"/>
              </a:rPr>
              <a:t>万</a:t>
            </a:r>
            <a:endParaRPr sz="1500" b="1">
              <a:solidFill>
                <a:srgbClr val="C7D2FF"/>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4953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一加降价</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5" name="圆角矩形 24"/>
          <p:cNvSpPr>
            <a:spLocks noGrp="1"/>
          </p:cNvSpPr>
          <p:nvPr/>
        </p:nvSpPr>
        <p:spPr>
          <a:xfrm>
            <a:off x="1981200" y="2628900"/>
            <a:ext cx="1466850" cy="2857500"/>
          </a:xfrm>
          <a:prstGeom prst="roundRect">
            <a:avLst>
              <a:gd name="adj" fmla="val 5195"/>
            </a:avLst>
          </a:prstGeom>
          <a:solidFill>
            <a:srgbClr val="07194D"/>
          </a:solidFill>
          <a:ln w="9525">
            <a:solidFill>
              <a:srgbClr val="6F89FF"/>
            </a:solidFill>
            <a:prstDash val="solid"/>
          </a:ln>
        </p:spPr>
      </p:sp>
      <p:sp>
        <p:nvSpPr>
          <p:cNvPr id="26" name="圆角矩形 25"/>
          <p:cNvSpPr>
            <a:spLocks noGrp="1"/>
          </p:cNvSpPr>
          <p:nvPr/>
        </p:nvSpPr>
        <p:spPr>
          <a:xfrm>
            <a:off x="2057400" y="2705100"/>
            <a:ext cx="1314450" cy="2705100"/>
          </a:xfrm>
          <a:prstGeom prst="roundRect">
            <a:avLst>
              <a:gd name="adj" fmla="val 5797"/>
            </a:avLst>
          </a:prstGeom>
          <a:noFill/>
          <a:ln w="9525">
            <a:solidFill>
              <a:srgbClr val="7890FF"/>
            </a:solidFill>
            <a:prstDash val="solid"/>
          </a:ln>
        </p:spPr>
      </p:sp>
      <p:sp>
        <p:nvSpPr>
          <p:cNvPr id="29" name="矩形 28"/>
          <p:cNvSpPr>
            <a:spLocks noGrp="1"/>
          </p:cNvSpPr>
          <p:nvPr/>
        </p:nvSpPr>
        <p:spPr>
          <a:xfrm>
            <a:off x="2076450" y="4895850"/>
            <a:ext cx="1276350" cy="266700"/>
          </a:xfrm>
          <a:prstGeom prst="rect">
            <a:avLst/>
          </a:prstGeom>
          <a:noFill/>
          <a:ln w="0">
            <a:noFill/>
            <a:prstDash val="solid"/>
          </a:ln>
        </p:spPr>
        <p:txBody>
          <a:bodyPr anchor="ctr"/>
          <a:lstStyle/>
          <a:p>
            <a:pPr algn="ctr">
              <a:defRPr sz="1500" b="1">
                <a:solidFill>
                  <a:srgbClr val="C7D2FF"/>
                </a:solidFill>
                <a:latin typeface="微软雅黑" panose="020B0503020204020204" charset="-122"/>
                <a:ea typeface="微软雅黑" panose="020B0503020204020204" charset="-122"/>
                <a:cs typeface="微软雅黑" panose="020B0503020204020204" charset="-122"/>
              </a:defRPr>
            </a:pPr>
            <a:r>
              <a:rPr sz="1500" b="1">
                <a:solidFill>
                  <a:srgbClr val="C7D2FF"/>
                </a:solidFill>
                <a:latin typeface="微软雅黑" panose="020B0503020204020204" charset="-122"/>
                <a:ea typeface="微软雅黑" panose="020B0503020204020204" charset="-122"/>
                <a:cs typeface="微软雅黑" panose="020B0503020204020204" charset="-122"/>
              </a:rPr>
              <a:t>12.9万</a:t>
            </a:r>
            <a:endParaRPr sz="1500" b="1">
              <a:solidFill>
                <a:srgbClr val="C7D2FF"/>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207645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小米流畅风波</a:t>
            </a:r>
            <a:r>
              <a:rPr lang="en-US" sz="790" b="0">
                <a:solidFill>
                  <a:srgbClr val="FFFFFF"/>
                </a:solidFill>
                <a:latin typeface="微软雅黑" panose="020B0503020204020204" charset="-122"/>
                <a:ea typeface="微软雅黑" panose="020B0503020204020204" charset="-122"/>
                <a:cs typeface="微软雅黑" panose="020B0503020204020204" charset="-122"/>
              </a:rPr>
              <a:t>（</a:t>
            </a:r>
            <a:r>
              <a:rPr lang="zh-CN" altLang="en-US" sz="790" b="0">
                <a:solidFill>
                  <a:srgbClr val="FFFFFF"/>
                </a:solidFill>
                <a:latin typeface="微软雅黑" panose="020B0503020204020204" charset="-122"/>
                <a:ea typeface="微软雅黑" panose="020B0503020204020204" charset="-122"/>
                <a:cs typeface="微软雅黑" panose="020B0503020204020204" charset="-122"/>
              </a:rPr>
              <a:t>视频号</a:t>
            </a:r>
            <a:r>
              <a:rPr lang="en-US" sz="790" b="0">
                <a:solidFill>
                  <a:srgbClr val="FFFFFF"/>
                </a:solidFill>
                <a:latin typeface="微软雅黑" panose="020B0503020204020204" charset="-122"/>
                <a:ea typeface="微软雅黑" panose="020B0503020204020204" charset="-122"/>
                <a:cs typeface="微软雅黑" panose="020B0503020204020204" charset="-122"/>
              </a:rPr>
              <a:t>）</a:t>
            </a:r>
            <a:endParaRPr lang="en-US"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1" name="圆角矩形 30"/>
          <p:cNvSpPr>
            <a:spLocks noGrp="1"/>
          </p:cNvSpPr>
          <p:nvPr/>
        </p:nvSpPr>
        <p:spPr>
          <a:xfrm>
            <a:off x="3562350" y="2628900"/>
            <a:ext cx="1466850" cy="2857500"/>
          </a:xfrm>
          <a:prstGeom prst="roundRect">
            <a:avLst>
              <a:gd name="adj" fmla="val 5195"/>
            </a:avLst>
          </a:prstGeom>
          <a:solidFill>
            <a:srgbClr val="07194D"/>
          </a:solidFill>
          <a:ln w="9525">
            <a:solidFill>
              <a:srgbClr val="6F89FF"/>
            </a:solidFill>
            <a:prstDash val="solid"/>
          </a:ln>
        </p:spPr>
      </p:sp>
      <p:sp>
        <p:nvSpPr>
          <p:cNvPr id="32" name="圆角矩形 31"/>
          <p:cNvSpPr>
            <a:spLocks noGrp="1"/>
          </p:cNvSpPr>
          <p:nvPr/>
        </p:nvSpPr>
        <p:spPr>
          <a:xfrm>
            <a:off x="3638550" y="2705100"/>
            <a:ext cx="1314450" cy="2705100"/>
          </a:xfrm>
          <a:prstGeom prst="roundRect">
            <a:avLst>
              <a:gd name="adj" fmla="val 5797"/>
            </a:avLst>
          </a:prstGeom>
          <a:noFill/>
          <a:ln w="9525">
            <a:solidFill>
              <a:srgbClr val="7890FF"/>
            </a:solidFill>
            <a:prstDash val="solid"/>
          </a:ln>
        </p:spPr>
      </p:sp>
      <p:sp>
        <p:nvSpPr>
          <p:cNvPr id="35" name="矩形 34"/>
          <p:cNvSpPr>
            <a:spLocks noGrp="1"/>
          </p:cNvSpPr>
          <p:nvPr/>
        </p:nvSpPr>
        <p:spPr>
          <a:xfrm>
            <a:off x="3657600" y="4895850"/>
            <a:ext cx="1276350" cy="266700"/>
          </a:xfrm>
          <a:prstGeom prst="rect">
            <a:avLst/>
          </a:prstGeom>
          <a:noFill/>
          <a:ln w="0">
            <a:noFill/>
            <a:prstDash val="solid"/>
          </a:ln>
        </p:spPr>
        <p:txBody>
          <a:bodyPr anchor="ctr"/>
          <a:lstStyle/>
          <a:p>
            <a:pPr algn="ctr">
              <a:defRPr sz="1500" b="1">
                <a:solidFill>
                  <a:srgbClr val="C7D2FF"/>
                </a:solidFill>
                <a:latin typeface="微软雅黑" panose="020B0503020204020204" charset="-122"/>
                <a:ea typeface="微软雅黑" panose="020B0503020204020204" charset="-122"/>
                <a:cs typeface="微软雅黑" panose="020B0503020204020204" charset="-122"/>
              </a:defRPr>
            </a:pPr>
            <a:r>
              <a:rPr sz="1500" b="1">
                <a:solidFill>
                  <a:srgbClr val="C7D2FF"/>
                </a:solidFill>
                <a:latin typeface="微软雅黑" panose="020B0503020204020204" charset="-122"/>
                <a:ea typeface="微软雅黑" panose="020B0503020204020204" charset="-122"/>
                <a:cs typeface="微软雅黑" panose="020B0503020204020204" charset="-122"/>
              </a:rPr>
              <a:t>6.8万</a:t>
            </a:r>
            <a:endParaRPr sz="1500" b="1">
              <a:solidFill>
                <a:srgbClr val="C7D2FF"/>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3657600" y="5162550"/>
            <a:ext cx="1276350" cy="209550"/>
          </a:xfrm>
          <a:prstGeom prst="rect">
            <a:avLst/>
          </a:prstGeom>
          <a:noFill/>
          <a:ln w="0">
            <a:noFill/>
            <a:prstDash val="solid"/>
          </a:ln>
        </p:spPr>
        <p:txBody>
          <a:bodyPr anchor="ctr"/>
          <a:lstStyle/>
          <a:p>
            <a:pPr algn="ctr">
              <a:defRPr sz="790" b="0">
                <a:solidFill>
                  <a:srgbClr val="FFFFFF"/>
                </a:solidFill>
                <a:latin typeface="微软雅黑" panose="020B0503020204020204" charset="-122"/>
                <a:ea typeface="微软雅黑" panose="020B0503020204020204" charset="-122"/>
                <a:cs typeface="微软雅黑" panose="020B0503020204020204" charset="-122"/>
              </a:defRPr>
            </a:pPr>
            <a:r>
              <a:rPr sz="790" b="0">
                <a:solidFill>
                  <a:srgbClr val="FFFFFF"/>
                </a:solidFill>
                <a:latin typeface="微软雅黑" panose="020B0503020204020204" charset="-122"/>
                <a:ea typeface="微软雅黑" panose="020B0503020204020204" charset="-122"/>
                <a:cs typeface="微软雅黑" panose="020B0503020204020204" charset="-122"/>
              </a:rPr>
              <a:t>vivo X300FE</a:t>
            </a:r>
            <a:endParaRPr sz="79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圆角矩形 37"/>
          <p:cNvSpPr>
            <a:spLocks noGrp="1"/>
          </p:cNvSpPr>
          <p:nvPr/>
        </p:nvSpPr>
        <p:spPr>
          <a:xfrm>
            <a:off x="5334000" y="838200"/>
            <a:ext cx="6457950" cy="2590800"/>
          </a:xfrm>
          <a:prstGeom prst="roundRect">
            <a:avLst>
              <a:gd name="adj" fmla="val 1563"/>
            </a:avLst>
          </a:prstGeom>
          <a:solidFill>
            <a:srgbClr val="FFFFFF"/>
          </a:solidFill>
          <a:ln w="9525">
            <a:solidFill>
              <a:srgbClr val="DCE3F2"/>
            </a:solidFill>
            <a:prstDash val="solid"/>
          </a:ln>
        </p:spPr>
      </p:sp>
      <p:sp>
        <p:nvSpPr>
          <p:cNvPr id="39" name="矩形 38"/>
          <p:cNvSpPr>
            <a:spLocks noGrp="1"/>
          </p:cNvSpPr>
          <p:nvPr/>
        </p:nvSpPr>
        <p:spPr>
          <a:xfrm>
            <a:off x="5562600" y="1000125"/>
            <a:ext cx="5981700" cy="228600"/>
          </a:xfrm>
          <a:prstGeom prst="rect">
            <a:avLst/>
          </a:prstGeom>
          <a:noFill/>
          <a:ln w="0">
            <a:noFill/>
            <a:prstDash val="solid"/>
          </a:ln>
        </p:spPr>
        <p:txBody>
          <a:bodyPr anchor="ctr"/>
          <a:lstStyle/>
          <a:p>
            <a:pPr algn="l">
              <a:defRPr sz="975" b="1">
                <a:solidFill>
                  <a:srgbClr val="1230A5"/>
                </a:solidFill>
                <a:latin typeface="微软雅黑" panose="020B0503020204020204" charset="-122"/>
                <a:ea typeface="微软雅黑" panose="020B0503020204020204" charset="-122"/>
                <a:cs typeface="微软雅黑" panose="020B0503020204020204" charset="-122"/>
              </a:defRPr>
            </a:pPr>
            <a:r>
              <a:rPr sz="975" b="1">
                <a:solidFill>
                  <a:srgbClr val="1230A5"/>
                </a:solidFill>
                <a:latin typeface="微软雅黑" panose="020B0503020204020204" charset="-122"/>
                <a:ea typeface="微软雅黑" panose="020B0503020204020204" charset="-122"/>
                <a:cs typeface="微软雅黑" panose="020B0503020204020204" charset="-122"/>
              </a:rPr>
              <a:t>播放趋势（千次）</a:t>
            </a:r>
            <a:endParaRPr sz="975" b="1">
              <a:solidFill>
                <a:srgbClr val="1230A5"/>
              </a:solidFill>
              <a:latin typeface="微软雅黑" panose="020B0503020204020204" charset="-122"/>
              <a:ea typeface="微软雅黑" panose="020B0503020204020204" charset="-122"/>
              <a:cs typeface="微软雅黑" panose="020B0503020204020204" charset="-122"/>
            </a:endParaRPr>
          </a:p>
        </p:txBody>
      </p:sp>
      <p:graphicFrame>
        <p:nvGraphicFramePr>
          <p:cNvPr id="91" name="Chart"/>
          <p:cNvGraphicFramePr/>
          <p:nvPr/>
        </p:nvGraphicFramePr>
        <p:xfrm>
          <a:off x="5562600" y="1228725"/>
          <a:ext cx="5981700" cy="2038350"/>
        </p:xfrm>
        <a:graphic>
          <a:graphicData uri="http://schemas.openxmlformats.org/drawingml/2006/chart">
            <c:chart xmlns:c="http://schemas.openxmlformats.org/drawingml/2006/chart" xmlns:r="http://schemas.openxmlformats.org/officeDocument/2006/relationships" r:id="rId1"/>
          </a:graphicData>
        </a:graphic>
      </p:graphicFrame>
      <p:grpSp>
        <p:nvGrpSpPr>
          <p:cNvPr id="40" name="组合 39"/>
          <p:cNvGrpSpPr/>
          <p:nvPr/>
        </p:nvGrpSpPr>
        <p:grpSpPr>
          <a:xfrm>
            <a:off x="5391150" y="3561080"/>
            <a:ext cx="6401435" cy="571500"/>
            <a:chOff x="8400" y="9180"/>
            <a:chExt cx="10081" cy="900"/>
          </a:xfrm>
        </p:grpSpPr>
        <p:sp>
          <p:nvSpPr>
            <p:cNvPr id="43" name="圆角矩形 42"/>
            <p:cNvSpPr>
              <a:spLocks noGrp="1"/>
            </p:cNvSpPr>
            <p:nvPr/>
          </p:nvSpPr>
          <p:spPr>
            <a:xfrm>
              <a:off x="8400" y="9180"/>
              <a:ext cx="3210" cy="900"/>
            </a:xfrm>
            <a:prstGeom prst="roundRect">
              <a:avLst>
                <a:gd name="adj" fmla="val 13333"/>
              </a:avLst>
            </a:prstGeom>
            <a:solidFill>
              <a:srgbClr val="F5F7FF"/>
            </a:solidFill>
            <a:ln w="9525">
              <a:solidFill>
                <a:srgbClr val="DCE3F2"/>
              </a:solidFill>
              <a:prstDash val="solid"/>
            </a:ln>
          </p:spPr>
        </p:sp>
        <p:sp>
          <p:nvSpPr>
            <p:cNvPr id="44" name="矩形 43"/>
            <p:cNvSpPr>
              <a:spLocks noGrp="1"/>
            </p:cNvSpPr>
            <p:nvPr/>
          </p:nvSpPr>
          <p:spPr>
            <a:xfrm>
              <a:off x="8580" y="9270"/>
              <a:ext cx="2850" cy="3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微软雅黑" panose="020B0503020204020204" charset="-122"/>
                  <a:ea typeface="微软雅黑" panose="020B0503020204020204" charset="-122"/>
                  <a:cs typeface="微软雅黑" panose="020B0503020204020204" charset="-122"/>
                </a:rPr>
                <a:t>2月｜启动</a:t>
              </a:r>
              <a:endParaRPr sz="86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45" name="矩形 44"/>
            <p:cNvSpPr>
              <a:spLocks noGrp="1"/>
            </p:cNvSpPr>
            <p:nvPr/>
          </p:nvSpPr>
          <p:spPr>
            <a:xfrm>
              <a:off x="8580" y="9600"/>
              <a:ext cx="2850" cy="37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数据报告切入泛数码用户</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46" name="圆角矩形 45"/>
            <p:cNvSpPr>
              <a:spLocks noGrp="1"/>
            </p:cNvSpPr>
            <p:nvPr/>
          </p:nvSpPr>
          <p:spPr>
            <a:xfrm>
              <a:off x="11790" y="9180"/>
              <a:ext cx="3210" cy="900"/>
            </a:xfrm>
            <a:prstGeom prst="roundRect">
              <a:avLst>
                <a:gd name="adj" fmla="val 13333"/>
              </a:avLst>
            </a:prstGeom>
            <a:solidFill>
              <a:srgbClr val="F5F7FF"/>
            </a:solidFill>
            <a:ln w="9525">
              <a:solidFill>
                <a:srgbClr val="DCE3F2"/>
              </a:solidFill>
              <a:prstDash val="solid"/>
            </a:ln>
          </p:spPr>
        </p:sp>
        <p:sp>
          <p:nvSpPr>
            <p:cNvPr id="47" name="矩形 46"/>
            <p:cNvSpPr>
              <a:spLocks noGrp="1"/>
            </p:cNvSpPr>
            <p:nvPr/>
          </p:nvSpPr>
          <p:spPr>
            <a:xfrm>
              <a:off x="11970" y="9270"/>
              <a:ext cx="2850" cy="3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微软雅黑" panose="020B0503020204020204" charset="-122"/>
                  <a:ea typeface="微软雅黑" panose="020B0503020204020204" charset="-122"/>
                  <a:cs typeface="微软雅黑" panose="020B0503020204020204" charset="-122"/>
                </a:rPr>
                <a:t>5月｜增长</a:t>
              </a:r>
              <a:endParaRPr sz="86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48" name="矩形 47"/>
            <p:cNvSpPr>
              <a:spLocks noGrp="1"/>
            </p:cNvSpPr>
            <p:nvPr/>
          </p:nvSpPr>
          <p:spPr>
            <a:xfrm>
              <a:off x="11970" y="9600"/>
              <a:ext cx="2850" cy="37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新机与行业动态集中发布</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49" name="圆角矩形 48"/>
            <p:cNvSpPr>
              <a:spLocks noGrp="1"/>
            </p:cNvSpPr>
            <p:nvPr/>
          </p:nvSpPr>
          <p:spPr>
            <a:xfrm>
              <a:off x="15180" y="9180"/>
              <a:ext cx="3301" cy="900"/>
            </a:xfrm>
            <a:prstGeom prst="roundRect">
              <a:avLst>
                <a:gd name="adj" fmla="val 13333"/>
              </a:avLst>
            </a:prstGeom>
            <a:solidFill>
              <a:srgbClr val="F5F7FF"/>
            </a:solidFill>
            <a:ln w="9525">
              <a:solidFill>
                <a:srgbClr val="DCE3F2"/>
              </a:solidFill>
              <a:prstDash val="solid"/>
            </a:ln>
          </p:spPr>
        </p:sp>
        <p:sp>
          <p:nvSpPr>
            <p:cNvPr id="50" name="矩形 49"/>
            <p:cNvSpPr>
              <a:spLocks noGrp="1"/>
            </p:cNvSpPr>
            <p:nvPr/>
          </p:nvSpPr>
          <p:spPr>
            <a:xfrm>
              <a:off x="15360" y="9270"/>
              <a:ext cx="2850" cy="300"/>
            </a:xfrm>
            <a:prstGeom prst="rect">
              <a:avLst/>
            </a:prstGeom>
            <a:noFill/>
            <a:ln w="0">
              <a:noFill/>
              <a:prstDash val="solid"/>
            </a:ln>
          </p:spPr>
          <p:txBody>
            <a:bodyPr anchor="ctr"/>
            <a:lstStyle/>
            <a:p>
              <a:pPr algn="l">
                <a:defRPr sz="865" b="1">
                  <a:solidFill>
                    <a:srgbClr val="3157FF"/>
                  </a:solidFill>
                  <a:latin typeface="微软雅黑" panose="020B0503020204020204" charset="-122"/>
                  <a:ea typeface="微软雅黑" panose="020B0503020204020204" charset="-122"/>
                  <a:cs typeface="微软雅黑" panose="020B0503020204020204" charset="-122"/>
                </a:defRPr>
              </a:pPr>
              <a:r>
                <a:rPr sz="865" b="1">
                  <a:solidFill>
                    <a:srgbClr val="3157FF"/>
                  </a:solidFill>
                  <a:latin typeface="微软雅黑" panose="020B0503020204020204" charset="-122"/>
                  <a:ea typeface="微软雅黑" panose="020B0503020204020204" charset="-122"/>
                  <a:cs typeface="微软雅黑" panose="020B0503020204020204" charset="-122"/>
                </a:rPr>
                <a:t>6–7月｜回升</a:t>
              </a:r>
              <a:endParaRPr sz="865"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51" name="矩形 50"/>
            <p:cNvSpPr>
              <a:spLocks noGrp="1"/>
            </p:cNvSpPr>
            <p:nvPr/>
          </p:nvSpPr>
          <p:spPr>
            <a:xfrm>
              <a:off x="15360" y="9600"/>
              <a:ext cx="2850" cy="375"/>
            </a:xfrm>
            <a:prstGeom prst="rect">
              <a:avLst/>
            </a:prstGeom>
            <a:noFill/>
            <a:ln w="0">
              <a:noFill/>
              <a:prstDash val="solid"/>
            </a:ln>
          </p:spPr>
          <p:txBody>
            <a:bodyPr anchor="ctr"/>
            <a:lstStyle/>
            <a:p>
              <a:pPr algn="l">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销量、价格与争议话题带动增长</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grpSp>
      <p:sp>
        <p:nvSpPr>
          <p:cNvPr id="58" name="矩形 57"/>
          <p:cNvSpPr>
            <a:spLocks noGrp="1"/>
          </p:cNvSpPr>
          <p:nvPr/>
        </p:nvSpPr>
        <p:spPr>
          <a:xfrm>
            <a:off x="5505450" y="4356100"/>
            <a:ext cx="1524000" cy="266700"/>
          </a:xfrm>
          <a:prstGeom prst="rect">
            <a:avLst/>
          </a:prstGeom>
          <a:noFill/>
          <a:ln w="0">
            <a:noFill/>
            <a:prstDash val="solid"/>
          </a:ln>
        </p:spPr>
        <p:txBody>
          <a:bodyPr anchor="ctr"/>
          <a:lstStyle/>
          <a:p>
            <a:pPr algn="l">
              <a:defRPr sz="1200" b="1">
                <a:solidFill>
                  <a:srgbClr val="3157FF"/>
                </a:solidFill>
                <a:latin typeface="微软雅黑" panose="020B0503020204020204" charset="-122"/>
                <a:ea typeface="微软雅黑" panose="020B0503020204020204" charset="-122"/>
                <a:cs typeface="微软雅黑" panose="020B0503020204020204" charset="-122"/>
              </a:defRPr>
            </a:pPr>
            <a:r>
              <a:rPr sz="1200" b="1">
                <a:solidFill>
                  <a:srgbClr val="3157FF"/>
                </a:solidFill>
                <a:latin typeface="微软雅黑" panose="020B0503020204020204" charset="-122"/>
                <a:ea typeface="微软雅黑" panose="020B0503020204020204" charset="-122"/>
                <a:cs typeface="微软雅黑" panose="020B0503020204020204" charset="-122"/>
              </a:rPr>
              <a:t>H2升级路径</a:t>
            </a:r>
            <a:endParaRPr sz="1200" b="1">
              <a:solidFill>
                <a:srgbClr val="3157FF"/>
              </a:solidFill>
              <a:latin typeface="微软雅黑" panose="020B0503020204020204" charset="-122"/>
              <a:ea typeface="微软雅黑" panose="020B0503020204020204" charset="-122"/>
              <a:cs typeface="微软雅黑" panose="020B0503020204020204" charset="-122"/>
            </a:endParaRPr>
          </a:p>
        </p:txBody>
      </p:sp>
      <p:sp>
        <p:nvSpPr>
          <p:cNvPr id="60" name="矩形 59"/>
          <p:cNvSpPr>
            <a:spLocks noGrp="1"/>
          </p:cNvSpPr>
          <p:nvPr/>
        </p:nvSpPr>
        <p:spPr>
          <a:xfrm>
            <a:off x="5391150" y="4622800"/>
            <a:ext cx="1847850" cy="24765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1">
                <a:solidFill>
                  <a:srgbClr val="172033"/>
                </a:solidFill>
                <a:latin typeface="微软雅黑" panose="020B0503020204020204" charset="-122"/>
                <a:ea typeface="微软雅黑" panose="020B0503020204020204" charset="-122"/>
                <a:cs typeface="微软雅黑" panose="020B0503020204020204" charset="-122"/>
              </a:rPr>
              <a:t>账号定位</a:t>
            </a:r>
            <a:endParaRPr sz="9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74" name="圆角矩形 73"/>
          <p:cNvSpPr>
            <a:spLocks noGrp="1"/>
          </p:cNvSpPr>
          <p:nvPr/>
        </p:nvSpPr>
        <p:spPr>
          <a:xfrm>
            <a:off x="8315325" y="4889500"/>
            <a:ext cx="361950" cy="361950"/>
          </a:xfrm>
          <a:prstGeom prst="roundRect">
            <a:avLst>
              <a:gd name="adj" fmla="val 21053"/>
            </a:avLst>
          </a:prstGeom>
          <a:solidFill>
            <a:srgbClr val="3157FF"/>
          </a:solidFill>
          <a:ln w="0">
            <a:noFill/>
            <a:prstDash val="solid"/>
          </a:ln>
        </p:spPr>
      </p:sp>
      <p:sp>
        <p:nvSpPr>
          <p:cNvPr id="61" name="矩形 60"/>
          <p:cNvSpPr>
            <a:spLocks noGrp="1"/>
          </p:cNvSpPr>
          <p:nvPr/>
        </p:nvSpPr>
        <p:spPr>
          <a:xfrm>
            <a:off x="6134100" y="4927600"/>
            <a:ext cx="361950" cy="285750"/>
          </a:xfrm>
          <a:prstGeom prst="rect">
            <a:avLst/>
          </a:prstGeom>
          <a:noFill/>
          <a:ln w="0">
            <a:noFill/>
            <a:prstDash val="solid"/>
          </a:ln>
        </p:spPr>
        <p:txBody>
          <a:bodyPr anchor="ctr"/>
          <a:lstStyle/>
          <a:p>
            <a:pPr algn="ctr">
              <a:defRPr sz="900" b="1">
                <a:solidFill>
                  <a:srgbClr val="FFFFFF"/>
                </a:solidFill>
                <a:latin typeface="微软雅黑" panose="020B0503020204020204" charset="-122"/>
                <a:ea typeface="微软雅黑" panose="020B0503020204020204" charset="-122"/>
                <a:cs typeface="微软雅黑" panose="020B0503020204020204" charset="-122"/>
              </a:defRPr>
            </a:pPr>
            <a:r>
              <a:rPr sz="900" b="1">
                <a:solidFill>
                  <a:srgbClr val="FFFFFF"/>
                </a:solidFill>
                <a:latin typeface="微软雅黑" panose="020B0503020204020204" charset="-122"/>
                <a:ea typeface="微软雅黑" panose="020B0503020204020204" charset="-122"/>
                <a:cs typeface="微软雅黑" panose="020B0503020204020204" charset="-122"/>
              </a:rPr>
              <a:t>01</a:t>
            </a:r>
            <a:endParaRPr sz="9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2" name="矩形 61"/>
          <p:cNvSpPr>
            <a:spLocks noGrp="1"/>
          </p:cNvSpPr>
          <p:nvPr/>
        </p:nvSpPr>
        <p:spPr>
          <a:xfrm>
            <a:off x="5391150" y="5327650"/>
            <a:ext cx="1847850" cy="266700"/>
          </a:xfrm>
          <a:prstGeom prst="rect">
            <a:avLst/>
          </a:prstGeom>
          <a:noFill/>
          <a:ln w="0">
            <a:noFill/>
            <a:prstDash val="solid"/>
          </a:ln>
        </p:spPr>
        <p:txBody>
          <a:bodyPr anchor="ctr"/>
          <a:lstStyle/>
          <a:p>
            <a:pPr algn="ctr">
              <a:defRPr sz="1050" b="1">
                <a:solidFill>
                  <a:srgbClr val="1230A5"/>
                </a:solidFill>
                <a:latin typeface="微软雅黑" panose="020B0503020204020204" charset="-122"/>
                <a:ea typeface="微软雅黑" panose="020B0503020204020204" charset="-122"/>
                <a:cs typeface="微软雅黑" panose="020B0503020204020204" charset="-122"/>
              </a:defRPr>
            </a:pPr>
            <a:r>
              <a:rPr sz="1050" b="1">
                <a:solidFill>
                  <a:srgbClr val="1230A5"/>
                </a:solidFill>
                <a:latin typeface="微软雅黑" panose="020B0503020204020204" charset="-122"/>
                <a:ea typeface="微软雅黑" panose="020B0503020204020204" charset="-122"/>
                <a:cs typeface="微软雅黑" panose="020B0503020204020204" charset="-122"/>
              </a:rPr>
              <a:t>强化速报标签</a:t>
            </a:r>
            <a:endParaRPr sz="1050" b="1">
              <a:solidFill>
                <a:srgbClr val="1230A5"/>
              </a:solidFill>
              <a:latin typeface="微软雅黑" panose="020B0503020204020204" charset="-122"/>
              <a:ea typeface="微软雅黑" panose="020B0503020204020204" charset="-122"/>
              <a:cs typeface="微软雅黑" panose="020B0503020204020204" charset="-122"/>
            </a:endParaRPr>
          </a:p>
        </p:txBody>
      </p:sp>
      <p:sp>
        <p:nvSpPr>
          <p:cNvPr id="63" name="矩形 62"/>
          <p:cNvSpPr>
            <a:spLocks noGrp="1"/>
          </p:cNvSpPr>
          <p:nvPr/>
        </p:nvSpPr>
        <p:spPr>
          <a:xfrm>
            <a:off x="5391150" y="5622925"/>
            <a:ext cx="1847850" cy="381000"/>
          </a:xfrm>
          <a:prstGeom prst="rect">
            <a:avLst/>
          </a:prstGeom>
          <a:noFill/>
          <a:ln w="0">
            <a:noFill/>
            <a:prstDash val="solid"/>
          </a:ln>
        </p:spPr>
        <p:txBody>
          <a:bodyPr anchor="ctr"/>
          <a:lstStyle/>
          <a:p>
            <a:pPr algn="ctr">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数码热点速报站</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64" name="矩形 63"/>
          <p:cNvSpPr>
            <a:spLocks noGrp="1"/>
          </p:cNvSpPr>
          <p:nvPr/>
        </p:nvSpPr>
        <p:spPr>
          <a:xfrm>
            <a:off x="7572375" y="4641850"/>
            <a:ext cx="1847850" cy="24765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1">
                <a:solidFill>
                  <a:srgbClr val="172033"/>
                </a:solidFill>
                <a:latin typeface="微软雅黑" panose="020B0503020204020204" charset="-122"/>
                <a:ea typeface="微软雅黑" panose="020B0503020204020204" charset="-122"/>
                <a:cs typeface="微软雅黑" panose="020B0503020204020204" charset="-122"/>
              </a:rPr>
              <a:t>赛道升级</a:t>
            </a:r>
            <a:endParaRPr sz="9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65" name="矩形 64"/>
          <p:cNvSpPr>
            <a:spLocks noGrp="1"/>
          </p:cNvSpPr>
          <p:nvPr/>
        </p:nvSpPr>
        <p:spPr>
          <a:xfrm>
            <a:off x="8315325" y="4927600"/>
            <a:ext cx="361950" cy="285750"/>
          </a:xfrm>
          <a:prstGeom prst="rect">
            <a:avLst/>
          </a:prstGeom>
          <a:noFill/>
          <a:ln w="0">
            <a:noFill/>
            <a:prstDash val="solid"/>
          </a:ln>
        </p:spPr>
        <p:txBody>
          <a:bodyPr anchor="ctr"/>
          <a:lstStyle/>
          <a:p>
            <a:pPr algn="ctr">
              <a:defRPr sz="900" b="1">
                <a:solidFill>
                  <a:srgbClr val="FFFFFF"/>
                </a:solidFill>
                <a:latin typeface="微软雅黑" panose="020B0503020204020204" charset="-122"/>
                <a:ea typeface="微软雅黑" panose="020B0503020204020204" charset="-122"/>
                <a:cs typeface="微软雅黑" panose="020B0503020204020204" charset="-122"/>
              </a:defRPr>
            </a:pPr>
            <a:r>
              <a:rPr sz="900" b="1">
                <a:solidFill>
                  <a:srgbClr val="FFFFFF"/>
                </a:solidFill>
                <a:latin typeface="微软雅黑" panose="020B0503020204020204" charset="-122"/>
                <a:ea typeface="微软雅黑" panose="020B0503020204020204" charset="-122"/>
                <a:cs typeface="微软雅黑" panose="020B0503020204020204" charset="-122"/>
              </a:rPr>
              <a:t>02</a:t>
            </a:r>
            <a:endParaRPr sz="9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6" name="矩形 65"/>
          <p:cNvSpPr>
            <a:spLocks noGrp="1"/>
          </p:cNvSpPr>
          <p:nvPr/>
        </p:nvSpPr>
        <p:spPr>
          <a:xfrm>
            <a:off x="7572375" y="5327650"/>
            <a:ext cx="1847850" cy="266700"/>
          </a:xfrm>
          <a:prstGeom prst="rect">
            <a:avLst/>
          </a:prstGeom>
          <a:noFill/>
          <a:ln w="0">
            <a:noFill/>
            <a:prstDash val="solid"/>
          </a:ln>
        </p:spPr>
        <p:txBody>
          <a:bodyPr anchor="ctr"/>
          <a:lstStyle/>
          <a:p>
            <a:pPr algn="ctr">
              <a:defRPr sz="1050" b="1">
                <a:solidFill>
                  <a:srgbClr val="1230A5"/>
                </a:solidFill>
                <a:latin typeface="微软雅黑" panose="020B0503020204020204" charset="-122"/>
                <a:ea typeface="微软雅黑" panose="020B0503020204020204" charset="-122"/>
                <a:cs typeface="微软雅黑" panose="020B0503020204020204" charset="-122"/>
              </a:defRPr>
            </a:pPr>
            <a:r>
              <a:rPr sz="1050" b="1">
                <a:solidFill>
                  <a:srgbClr val="1230A5"/>
                </a:solidFill>
                <a:latin typeface="微软雅黑" panose="020B0503020204020204" charset="-122"/>
                <a:ea typeface="微软雅黑" panose="020B0503020204020204" charset="-122"/>
                <a:cs typeface="微软雅黑" panose="020B0503020204020204" charset="-122"/>
              </a:rPr>
              <a:t>建立固定栏目</a:t>
            </a:r>
            <a:endParaRPr sz="1050" b="1">
              <a:solidFill>
                <a:srgbClr val="1230A5"/>
              </a:solidFill>
              <a:latin typeface="微软雅黑" panose="020B0503020204020204" charset="-122"/>
              <a:ea typeface="微软雅黑" panose="020B0503020204020204" charset="-122"/>
              <a:cs typeface="微软雅黑" panose="020B0503020204020204" charset="-122"/>
            </a:endParaRPr>
          </a:p>
        </p:txBody>
      </p:sp>
      <p:sp>
        <p:nvSpPr>
          <p:cNvPr id="67" name="矩形 66"/>
          <p:cNvSpPr>
            <a:spLocks noGrp="1"/>
          </p:cNvSpPr>
          <p:nvPr/>
        </p:nvSpPr>
        <p:spPr>
          <a:xfrm>
            <a:off x="7572375" y="5622925"/>
            <a:ext cx="1847850" cy="381000"/>
          </a:xfrm>
          <a:prstGeom prst="rect">
            <a:avLst/>
          </a:prstGeom>
          <a:noFill/>
          <a:ln w="0">
            <a:noFill/>
            <a:prstDash val="solid"/>
          </a:ln>
        </p:spPr>
        <p:txBody>
          <a:bodyPr anchor="ctr"/>
          <a:lstStyle/>
          <a:p>
            <a:pPr algn="ctr">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数码快报＋销量周榜</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68" name="矩形 67"/>
          <p:cNvSpPr>
            <a:spLocks noGrp="1"/>
          </p:cNvSpPr>
          <p:nvPr/>
        </p:nvSpPr>
        <p:spPr>
          <a:xfrm>
            <a:off x="9753600" y="4641850"/>
            <a:ext cx="1847850" cy="247650"/>
          </a:xfrm>
          <a:prstGeom prst="rect">
            <a:avLst/>
          </a:prstGeom>
          <a:noFill/>
          <a:ln w="0">
            <a:noFill/>
            <a:prstDash val="solid"/>
          </a:ln>
        </p:spPr>
        <p:txBody>
          <a:bodyPr anchor="ctr"/>
          <a:lstStyle/>
          <a:p>
            <a:pPr algn="ctr">
              <a:defRPr sz="975" b="1">
                <a:solidFill>
                  <a:srgbClr val="172033"/>
                </a:solidFill>
                <a:latin typeface="微软雅黑" panose="020B0503020204020204" charset="-122"/>
                <a:ea typeface="微软雅黑" panose="020B0503020204020204" charset="-122"/>
                <a:cs typeface="微软雅黑" panose="020B0503020204020204" charset="-122"/>
              </a:defRPr>
            </a:pPr>
            <a:r>
              <a:rPr sz="975" b="1">
                <a:solidFill>
                  <a:srgbClr val="172033"/>
                </a:solidFill>
                <a:latin typeface="微软雅黑" panose="020B0503020204020204" charset="-122"/>
                <a:ea typeface="微软雅黑" panose="020B0503020204020204" charset="-122"/>
                <a:cs typeface="微软雅黑" panose="020B0503020204020204" charset="-122"/>
              </a:rPr>
              <a:t>流量入口</a:t>
            </a:r>
            <a:endParaRPr sz="975" b="1">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69" name="圆角矩形 68"/>
          <p:cNvSpPr>
            <a:spLocks noGrp="1"/>
          </p:cNvSpPr>
          <p:nvPr/>
        </p:nvSpPr>
        <p:spPr>
          <a:xfrm>
            <a:off x="10496550" y="4889500"/>
            <a:ext cx="361950" cy="361950"/>
          </a:xfrm>
          <a:prstGeom prst="roundRect">
            <a:avLst>
              <a:gd name="adj" fmla="val 21053"/>
            </a:avLst>
          </a:prstGeom>
          <a:solidFill>
            <a:srgbClr val="3157FF"/>
          </a:solidFill>
          <a:ln w="0">
            <a:noFill/>
            <a:prstDash val="solid"/>
          </a:ln>
        </p:spPr>
      </p:sp>
      <p:sp>
        <p:nvSpPr>
          <p:cNvPr id="70" name="矩形 69"/>
          <p:cNvSpPr>
            <a:spLocks noGrp="1"/>
          </p:cNvSpPr>
          <p:nvPr/>
        </p:nvSpPr>
        <p:spPr>
          <a:xfrm>
            <a:off x="10496550" y="4927600"/>
            <a:ext cx="361950" cy="285750"/>
          </a:xfrm>
          <a:prstGeom prst="rect">
            <a:avLst/>
          </a:prstGeom>
          <a:noFill/>
          <a:ln w="0">
            <a:noFill/>
            <a:prstDash val="solid"/>
          </a:ln>
        </p:spPr>
        <p:txBody>
          <a:bodyPr anchor="ctr"/>
          <a:lstStyle/>
          <a:p>
            <a:pPr algn="ctr">
              <a:defRPr sz="900" b="1">
                <a:solidFill>
                  <a:srgbClr val="FFFFFF"/>
                </a:solidFill>
                <a:latin typeface="微软雅黑" panose="020B0503020204020204" charset="-122"/>
                <a:ea typeface="微软雅黑" panose="020B0503020204020204" charset="-122"/>
                <a:cs typeface="微软雅黑" panose="020B0503020204020204" charset="-122"/>
              </a:defRPr>
            </a:pPr>
            <a:r>
              <a:rPr sz="900" b="1">
                <a:solidFill>
                  <a:srgbClr val="FFFFFF"/>
                </a:solidFill>
                <a:latin typeface="微软雅黑" panose="020B0503020204020204" charset="-122"/>
                <a:ea typeface="微软雅黑" panose="020B0503020204020204" charset="-122"/>
                <a:cs typeface="微软雅黑" panose="020B0503020204020204" charset="-122"/>
              </a:rPr>
              <a:t>03</a:t>
            </a:r>
            <a:endParaRPr sz="9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1" name="矩形 70"/>
          <p:cNvSpPr>
            <a:spLocks noGrp="1"/>
          </p:cNvSpPr>
          <p:nvPr/>
        </p:nvSpPr>
        <p:spPr>
          <a:xfrm>
            <a:off x="9753600" y="5327650"/>
            <a:ext cx="1847850" cy="266700"/>
          </a:xfrm>
          <a:prstGeom prst="rect">
            <a:avLst/>
          </a:prstGeom>
          <a:noFill/>
          <a:ln w="0">
            <a:noFill/>
            <a:prstDash val="solid"/>
          </a:ln>
        </p:spPr>
        <p:txBody>
          <a:bodyPr anchor="ctr"/>
          <a:lstStyle/>
          <a:p>
            <a:pPr algn="ctr">
              <a:defRPr sz="1050" b="1">
                <a:solidFill>
                  <a:srgbClr val="1230A5"/>
                </a:solidFill>
                <a:latin typeface="微软雅黑" panose="020B0503020204020204" charset="-122"/>
                <a:ea typeface="微软雅黑" panose="020B0503020204020204" charset="-122"/>
                <a:cs typeface="微软雅黑" panose="020B0503020204020204" charset="-122"/>
              </a:defRPr>
            </a:pPr>
            <a:r>
              <a:rPr sz="1050" b="1">
                <a:solidFill>
                  <a:srgbClr val="1230A5"/>
                </a:solidFill>
                <a:latin typeface="微软雅黑" panose="020B0503020204020204" charset="-122"/>
                <a:ea typeface="微软雅黑" panose="020B0503020204020204" charset="-122"/>
                <a:cs typeface="微软雅黑" panose="020B0503020204020204" charset="-122"/>
              </a:rPr>
              <a:t>绑定高频议题</a:t>
            </a:r>
            <a:endParaRPr sz="1050" b="1">
              <a:solidFill>
                <a:srgbClr val="1230A5"/>
              </a:solidFill>
              <a:latin typeface="微软雅黑" panose="020B0503020204020204" charset="-122"/>
              <a:ea typeface="微软雅黑" panose="020B0503020204020204" charset="-122"/>
              <a:cs typeface="微软雅黑" panose="020B0503020204020204" charset="-122"/>
            </a:endParaRPr>
          </a:p>
        </p:txBody>
      </p:sp>
      <p:sp>
        <p:nvSpPr>
          <p:cNvPr id="72" name="矩形 71"/>
          <p:cNvSpPr>
            <a:spLocks noGrp="1"/>
          </p:cNvSpPr>
          <p:nvPr/>
        </p:nvSpPr>
        <p:spPr>
          <a:xfrm>
            <a:off x="9753600" y="5622925"/>
            <a:ext cx="1847850" cy="381000"/>
          </a:xfrm>
          <a:prstGeom prst="rect">
            <a:avLst/>
          </a:prstGeom>
          <a:noFill/>
          <a:ln w="0">
            <a:noFill/>
            <a:prstDash val="solid"/>
          </a:ln>
        </p:spPr>
        <p:txBody>
          <a:bodyPr anchor="ctr"/>
          <a:lstStyle/>
          <a:p>
            <a:pPr algn="ctr">
              <a:defRPr sz="790" b="0">
                <a:solidFill>
                  <a:srgbClr val="172033"/>
                </a:solidFill>
                <a:latin typeface="微软雅黑" panose="020B0503020204020204" charset="-122"/>
                <a:ea typeface="微软雅黑" panose="020B0503020204020204" charset="-122"/>
                <a:cs typeface="微软雅黑" panose="020B0503020204020204" charset="-122"/>
              </a:defRPr>
            </a:pPr>
            <a:r>
              <a:rPr sz="790" b="0">
                <a:solidFill>
                  <a:srgbClr val="172033"/>
                </a:solidFill>
                <a:latin typeface="微软雅黑" panose="020B0503020204020204" charset="-122"/>
                <a:ea typeface="微软雅黑" panose="020B0503020204020204" charset="-122"/>
                <a:cs typeface="微软雅黑" panose="020B0503020204020204" charset="-122"/>
              </a:rPr>
              <a:t>价格、争议、销量</a:t>
            </a:r>
            <a:endParaRPr sz="790" b="0">
              <a:solidFill>
                <a:srgbClr val="172033"/>
              </a:solidFill>
              <a:latin typeface="微软雅黑" panose="020B0503020204020204" charset="-122"/>
              <a:ea typeface="微软雅黑" panose="020B0503020204020204" charset="-122"/>
              <a:cs typeface="微软雅黑" panose="020B0503020204020204" charset="-122"/>
            </a:endParaRPr>
          </a:p>
        </p:txBody>
      </p:sp>
      <p:pic>
        <p:nvPicPr>
          <p:cNvPr id="76" name="图片 75"/>
          <p:cNvPicPr>
            <a:picLocks noChangeAspect="1"/>
          </p:cNvPicPr>
          <p:nvPr/>
        </p:nvPicPr>
        <p:blipFill>
          <a:blip r:embed="rId2"/>
          <a:srcRect t="5787" b="13639"/>
          <a:stretch>
            <a:fillRect/>
          </a:stretch>
        </p:blipFill>
        <p:spPr>
          <a:xfrm>
            <a:off x="2123440" y="2826385"/>
            <a:ext cx="1162685" cy="2037080"/>
          </a:xfrm>
          <a:prstGeom prst="rect">
            <a:avLst/>
          </a:prstGeom>
        </p:spPr>
      </p:pic>
      <p:pic>
        <p:nvPicPr>
          <p:cNvPr id="77" name="图片 76"/>
          <p:cNvPicPr>
            <a:picLocks noChangeAspect="1"/>
          </p:cNvPicPr>
          <p:nvPr/>
        </p:nvPicPr>
        <p:blipFill>
          <a:blip r:embed="rId3"/>
          <a:srcRect t="5787" b="15074"/>
          <a:stretch>
            <a:fillRect/>
          </a:stretch>
        </p:blipFill>
        <p:spPr>
          <a:xfrm>
            <a:off x="552450" y="2826385"/>
            <a:ext cx="1162050" cy="1999615"/>
          </a:xfrm>
          <a:prstGeom prst="rect">
            <a:avLst/>
          </a:prstGeom>
        </p:spPr>
      </p:pic>
      <p:pic>
        <p:nvPicPr>
          <p:cNvPr id="78" name="图片 77"/>
          <p:cNvPicPr>
            <a:picLocks noChangeAspect="1"/>
          </p:cNvPicPr>
          <p:nvPr/>
        </p:nvPicPr>
        <p:blipFill>
          <a:blip r:embed="rId4"/>
          <a:srcRect t="6444" b="14546"/>
          <a:stretch>
            <a:fillRect/>
          </a:stretch>
        </p:blipFill>
        <p:spPr>
          <a:xfrm>
            <a:off x="3694430" y="2826385"/>
            <a:ext cx="1193800" cy="2050415"/>
          </a:xfrm>
          <a:prstGeom prst="rect">
            <a:avLst/>
          </a:prstGeom>
        </p:spPr>
      </p:pic>
      <p:sp>
        <p:nvSpPr>
          <p:cNvPr id="79" name="文本框 78"/>
          <p:cNvSpPr txBox="1"/>
          <p:nvPr/>
        </p:nvSpPr>
        <p:spPr>
          <a:xfrm>
            <a:off x="290830" y="5875655"/>
            <a:ext cx="4738370" cy="337185"/>
          </a:xfrm>
          <a:prstGeom prst="rect">
            <a:avLst/>
          </a:prstGeom>
          <a:noFill/>
        </p:spPr>
        <p:txBody>
          <a:bodyPr wrap="square" rtlCol="0">
            <a:spAutoFit/>
          </a:bodyPr>
          <a:p>
            <a:pPr algn="ctr"/>
            <a:r>
              <a:rPr lang="en-US" altLang="zh-CN" sz="1600" b="1">
                <a:solidFill>
                  <a:srgbClr val="1230A5"/>
                </a:solidFill>
                <a:latin typeface="vivo Sans" panose="02000300000000000000" charset="-122"/>
                <a:ea typeface="vivo Sans" panose="02000300000000000000" charset="-122"/>
              </a:rPr>
              <a:t>「</a:t>
            </a:r>
            <a:r>
              <a:rPr lang="zh-CN" altLang="en-US" sz="1600" b="1">
                <a:solidFill>
                  <a:srgbClr val="1230A5"/>
                </a:solidFill>
                <a:latin typeface="vivo Sans" panose="02000300000000000000" charset="-122"/>
                <a:ea typeface="vivo Sans" panose="02000300000000000000" charset="-122"/>
              </a:rPr>
              <a:t>从数据图</a:t>
            </a:r>
            <a:r>
              <a:rPr lang="zh-CN" altLang="en-US" sz="1600" b="1">
                <a:solidFill>
                  <a:srgbClr val="1230A5"/>
                </a:solidFill>
                <a:latin typeface="vivo Sans" panose="02000300000000000000" charset="-122"/>
                <a:ea typeface="vivo Sans" panose="02000300000000000000" charset="-122"/>
              </a:rPr>
              <a:t>表快报转向动态咨</a:t>
            </a:r>
            <a:r>
              <a:rPr lang="zh-CN" altLang="en-US" sz="1600" b="1">
                <a:solidFill>
                  <a:srgbClr val="1230A5"/>
                </a:solidFill>
                <a:latin typeface="vivo Sans" panose="02000300000000000000" charset="-122"/>
                <a:ea typeface="vivo Sans" panose="02000300000000000000" charset="-122"/>
              </a:rPr>
              <a:t>讯站</a:t>
            </a:r>
            <a:r>
              <a:rPr lang="en-US" altLang="zh-CN" sz="1600" b="1">
                <a:solidFill>
                  <a:srgbClr val="1230A5"/>
                </a:solidFill>
                <a:latin typeface="vivo Sans" panose="02000300000000000000" charset="-122"/>
                <a:ea typeface="vivo Sans" panose="02000300000000000000" charset="-122"/>
              </a:rPr>
              <a:t>，</a:t>
            </a:r>
            <a:r>
              <a:rPr lang="zh-CN" altLang="en-US" sz="1600" b="1">
                <a:solidFill>
                  <a:srgbClr val="1230A5"/>
                </a:solidFill>
                <a:latin typeface="vivo Sans" panose="02000300000000000000" charset="-122"/>
                <a:ea typeface="vivo Sans" panose="02000300000000000000" charset="-122"/>
              </a:rPr>
              <a:t>数据实现增长</a:t>
            </a:r>
            <a:r>
              <a:rPr lang="en-US" altLang="zh-CN" sz="1600" b="1">
                <a:solidFill>
                  <a:srgbClr val="1230A5"/>
                </a:solidFill>
                <a:latin typeface="vivo Sans" panose="02000300000000000000" charset="-122"/>
                <a:ea typeface="vivo Sans" panose="02000300000000000000" charset="-122"/>
              </a:rPr>
              <a:t>」</a:t>
            </a:r>
            <a:endParaRPr lang="en-US" altLang="zh-CN" sz="1600" b="1">
              <a:solidFill>
                <a:srgbClr val="1230A5"/>
              </a:solidFill>
              <a:latin typeface="vivo Sans" panose="02000300000000000000" charset="-122"/>
              <a:ea typeface="vivo Sans" panose="02000300000000000000" charset="-122"/>
            </a:endParaRPr>
          </a:p>
        </p:txBody>
      </p:sp>
    </p:spTree>
  </p:cSld>
  <p:clrMapOvr>
    <a:masterClrMapping/>
  </p:clrMapOvr>
</p:sld>
</file>

<file path=ppt/tags/tag1.xml><?xml version="1.0" encoding="utf-8"?>
<p:tagLst xmlns:p="http://schemas.openxmlformats.org/presentationml/2006/main">
  <p:tag name="TABLE_ENDDRAG_ORIGIN_RECT" val="908*242"/>
  <p:tag name="TABLE_ENDDRAG_RECT" val="27*89*908*242"/>
</p:tagLst>
</file>

<file path=ppt/tags/tag2.xml><?xml version="1.0" encoding="utf-8"?>
<p:tagLst xmlns:p="http://schemas.openxmlformats.org/presentationml/2006/main">
  <p:tag name="TABLE_ENDDRAG_ORIGIN_RECT" val="889*201"/>
  <p:tag name="TABLE_ENDDRAG_RECT" val="27*72*889*201"/>
</p:tagLst>
</file>

<file path=ppt/tags/tag3.xml><?xml version="1.0" encoding="utf-8"?>
<p:tagLst xmlns:p="http://schemas.openxmlformats.org/presentationml/2006/main">
  <p:tag name="resource_record_key" val="{&quot;10&quot;:[5005944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qm2lx4w1">
      <a:majorFont>
        <a:latin typeface="Agency FB"/>
        <a:ea typeface="微软雅黑"/>
        <a:cs typeface=""/>
      </a:majorFont>
      <a:minorFont>
        <a:latin typeface="Agency FB"/>
        <a:ea typeface="微软雅黑"/>
        <a:cs typeface=""/>
      </a:minorFont>
    </a:fontScheme>
    <a:fmtScheme name="蓝绿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7">
    <a:dk1>
      <a:srgbClr val="000000"/>
    </a:dk1>
    <a:lt1>
      <a:srgbClr val="FFFFFF"/>
    </a:lt1>
    <a:dk2>
      <a:srgbClr val="44546A"/>
    </a:dk2>
    <a:lt2>
      <a:srgbClr val="E7E6E6"/>
    </a:lt2>
    <a:accent1>
      <a:srgbClr val="4F80FF"/>
    </a:accent1>
    <a:accent2>
      <a:srgbClr val="16CC8A"/>
    </a:accent2>
    <a:accent3>
      <a:srgbClr val="FFC619"/>
    </a:accent3>
    <a:accent4>
      <a:srgbClr val="FF7F41"/>
    </a:accent4>
    <a:accent5>
      <a:srgbClr val="FE5366"/>
    </a:accent5>
    <a:accent6>
      <a:srgbClr val="AB69F6"/>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4352</Words>
  <Application>WPS 演示</Application>
  <PresentationFormat>Converted Presentation</PresentationFormat>
  <Paragraphs>1061</Paragraphs>
  <Slides>21</Slides>
  <Notes>0</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21</vt:i4>
      </vt:variant>
    </vt:vector>
  </HeadingPairs>
  <TitlesOfParts>
    <vt:vector size="41" baseType="lpstr">
      <vt:lpstr>Arial</vt:lpstr>
      <vt:lpstr>宋体</vt:lpstr>
      <vt:lpstr>Wingdings</vt:lpstr>
      <vt:lpstr>Arial</vt:lpstr>
      <vt:lpstr>Wingdings</vt:lpstr>
      <vt:lpstr>微软雅黑</vt:lpstr>
      <vt:lpstr>vivo type 简 Bold</vt:lpstr>
      <vt:lpstr>FFont-Family</vt:lpstr>
      <vt:lpstr>vivo Sans Regular</vt:lpstr>
      <vt:lpstr>Agency FB</vt:lpstr>
      <vt:lpstr>vivo Sans Bold</vt:lpstr>
      <vt:lpstr>vivo Sans</vt:lpstr>
      <vt:lpstr>Wingdings</vt:lpstr>
      <vt:lpstr>Arial Unicode MS</vt:lpstr>
      <vt:lpstr>苹方-简</vt:lpstr>
      <vt:lpstr>Noto Sans SC</vt:lpstr>
      <vt:lpstr>Trebuchet MS</vt:lpstr>
      <vt:lpstr>WPS</vt:lpstr>
      <vt:lpstr>1_WPS</vt:lpstr>
      <vt:lpstr>Office 主题​​</vt:lpstr>
      <vt:lpstr>矩阵账号孵化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KVL矩阵账号孵化复盘</dc:title>
  <dc:creator>Walnut Exporter</dc:creator>
  <cp:lastModifiedBy>Xxx.</cp:lastModifiedBy>
  <cp:revision>89</cp:revision>
  <dcterms:created xsi:type="dcterms:W3CDTF">2026-08-06T09:06:00Z</dcterms:created>
  <dcterms:modified xsi:type="dcterms:W3CDTF">2026-10-23T06:24:51Z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4C896CEBEF68406A8D8E9EF646AF20CA_13</vt:lpwstr>
  </property>
</Properties>
</file>